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1430000" cy="642937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1" d="100"/>
          <a:sy n="131" d="100"/>
        </p:scale>
        <p:origin x="41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sz="13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a  交替误差 / MAE=1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残差</c:v>
          </c:tx>
          <c:spPr>
            <a:ln w="12383">
              <a:solidFill>
                <a:srgbClr val="38385B"/>
              </a:solidFill>
            </a:ln>
          </c:spPr>
          <c:marker>
            <c:symbol val="none"/>
          </c:marker>
          <c:xVal>
            <c:numLit>
              <c:formatCode>General</c:formatCode>
              <c:ptCount val="48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</c:numLit>
          </c:xVal>
          <c:yVal>
            <c:numLit>
              <c:formatCode>0.0</c:formatCode>
              <c:ptCount val="48"/>
              <c:pt idx="0">
                <c:v>1</c:v>
              </c:pt>
              <c:pt idx="1">
                <c:v>-1</c:v>
              </c:pt>
              <c:pt idx="2">
                <c:v>1</c:v>
              </c:pt>
              <c:pt idx="3">
                <c:v>-1</c:v>
              </c:pt>
              <c:pt idx="4">
                <c:v>1</c:v>
              </c:pt>
              <c:pt idx="5">
                <c:v>-1</c:v>
              </c:pt>
              <c:pt idx="6">
                <c:v>1</c:v>
              </c:pt>
              <c:pt idx="7">
                <c:v>-1</c:v>
              </c:pt>
              <c:pt idx="8">
                <c:v>1</c:v>
              </c:pt>
              <c:pt idx="9">
                <c:v>-1</c:v>
              </c:pt>
              <c:pt idx="10">
                <c:v>1</c:v>
              </c:pt>
              <c:pt idx="11">
                <c:v>-1</c:v>
              </c:pt>
              <c:pt idx="12">
                <c:v>1</c:v>
              </c:pt>
              <c:pt idx="13">
                <c:v>-1</c:v>
              </c:pt>
              <c:pt idx="14">
                <c:v>1</c:v>
              </c:pt>
              <c:pt idx="15">
                <c:v>-1</c:v>
              </c:pt>
              <c:pt idx="16">
                <c:v>1</c:v>
              </c:pt>
              <c:pt idx="17">
                <c:v>-1</c:v>
              </c:pt>
              <c:pt idx="18">
                <c:v>1</c:v>
              </c:pt>
              <c:pt idx="19">
                <c:v>-1</c:v>
              </c:pt>
              <c:pt idx="20">
                <c:v>1</c:v>
              </c:pt>
              <c:pt idx="21">
                <c:v>-1</c:v>
              </c:pt>
              <c:pt idx="22">
                <c:v>1</c:v>
              </c:pt>
              <c:pt idx="23">
                <c:v>-1</c:v>
              </c:pt>
              <c:pt idx="24">
                <c:v>1</c:v>
              </c:pt>
              <c:pt idx="25">
                <c:v>-1</c:v>
              </c:pt>
              <c:pt idx="26">
                <c:v>1</c:v>
              </c:pt>
              <c:pt idx="27">
                <c:v>-1</c:v>
              </c:pt>
              <c:pt idx="28">
                <c:v>1</c:v>
              </c:pt>
              <c:pt idx="29">
                <c:v>-1</c:v>
              </c:pt>
              <c:pt idx="30">
                <c:v>1</c:v>
              </c:pt>
              <c:pt idx="31">
                <c:v>-1</c:v>
              </c:pt>
              <c:pt idx="32">
                <c:v>1</c:v>
              </c:pt>
              <c:pt idx="33">
                <c:v>-1</c:v>
              </c:pt>
              <c:pt idx="34">
                <c:v>1</c:v>
              </c:pt>
              <c:pt idx="35">
                <c:v>-1</c:v>
              </c:pt>
              <c:pt idx="36">
                <c:v>1</c:v>
              </c:pt>
              <c:pt idx="37">
                <c:v>-1</c:v>
              </c:pt>
              <c:pt idx="38">
                <c:v>1</c:v>
              </c:pt>
              <c:pt idx="39">
                <c:v>-1</c:v>
              </c:pt>
              <c:pt idx="40">
                <c:v>1</c:v>
              </c:pt>
              <c:pt idx="41">
                <c:v>-1</c:v>
              </c:pt>
              <c:pt idx="42">
                <c:v>1</c:v>
              </c:pt>
              <c:pt idx="43">
                <c:v>-1</c:v>
              </c:pt>
              <c:pt idx="44">
                <c:v>1</c:v>
              </c:pt>
              <c:pt idx="45">
                <c:v>-1</c:v>
              </c:pt>
              <c:pt idx="46">
                <c:v>1</c:v>
              </c:pt>
              <c:pt idx="47">
                <c:v>-1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520A-4EBA-8791-52FB68A882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-1.5"/>
        </c:scaling>
        <c:delete val="0"/>
        <c:axPos val="l"/>
        <c:majorGridlines>
          <c:spPr>
            <a:ln w="4763">
              <a:solidFill>
                <a:srgbClr val="D8D9E3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endParaRPr lang="zh-CN"/>
          </a:p>
        </c:txPr>
        <c:crossAx val="48650112"/>
        <c:crosses val="autoZero"/>
        <c:crossBetween val="midCat"/>
        <c:majorUnit val="1"/>
      </c:valAx>
      <c:valAx>
        <c:axId val="48650112"/>
        <c:scaling>
          <c:orientation val="minMax"/>
          <c:max val="48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sz="975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观测索引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5715">
            <a:solidFill>
              <a:srgbClr val="6C7182"/>
            </a:solidFill>
          </a:ln>
        </c:spPr>
        <c:txPr>
          <a:bodyPr anchorCtr="1"/>
          <a:lstStyle/>
          <a:p>
            <a:pPr>
              <a:defRPr sz="90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endParaRPr lang="zh-CN"/>
          </a:p>
        </c:txPr>
        <c:crossAx val="48672768"/>
        <c:crosses val="autoZero"/>
        <c:crossBetween val="midCat"/>
        <c:majorUnit val="12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sz="13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c  高频交替结构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ACF</c:v>
          </c:tx>
          <c:spPr>
            <a:solidFill>
              <a:srgbClr val="38385B"/>
            </a:solidFill>
            <a:ln w="12383">
              <a:solidFill>
                <a:srgbClr val="38385B"/>
              </a:solidFill>
            </a:ln>
          </c:spPr>
          <c:invertIfNegative val="0"/>
          <c:cat>
            <c:numLit>
              <c:formatCode>0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0.0</c:formatCode>
              <c:ptCount val="8"/>
              <c:pt idx="0">
                <c:v>-0.97916666666666663</c:v>
              </c:pt>
              <c:pt idx="1">
                <c:v>0.95833333333333337</c:v>
              </c:pt>
              <c:pt idx="2">
                <c:v>-0.9375</c:v>
              </c:pt>
              <c:pt idx="3">
                <c:v>0.91666666666666663</c:v>
              </c:pt>
              <c:pt idx="4">
                <c:v>-0.89583333333333337</c:v>
              </c:pt>
              <c:pt idx="5">
                <c:v>0.875</c:v>
              </c:pt>
              <c:pt idx="6">
                <c:v>-0.85416666666666663</c:v>
              </c:pt>
              <c:pt idx="7">
                <c:v>0.83333333333333337</c:v>
              </c:pt>
            </c:numLit>
          </c:val>
          <c:extLst>
            <c:ext xmlns:c16="http://schemas.microsoft.com/office/drawing/2014/chart" uri="{C3380CC4-5D6E-409C-BE32-E72D297353CC}">
              <c16:uniqueId val="{00000000-D331-46C7-8D06-5AC87C34A7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975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滞后 lag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low"/>
        <c:spPr>
          <a:ln w="5715">
            <a:solidFill>
              <a:srgbClr val="6C7182"/>
            </a:solidFill>
          </a:ln>
        </c:spPr>
        <c:txPr>
          <a:bodyPr anchorCtr="1"/>
          <a:lstStyle/>
          <a:p>
            <a:pPr>
              <a:defRPr sz="90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5"/>
          <c:min val="-1.5"/>
        </c:scaling>
        <c:delete val="0"/>
        <c:axPos val="l"/>
        <c:majorGridlines>
          <c:spPr>
            <a:ln w="4763">
              <a:solidFill>
                <a:srgbClr val="D8D9E3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endParaRPr lang="zh-CN"/>
          </a:p>
        </c:txPr>
        <c:crossAx val="48650112"/>
        <c:crosses val="autoZero"/>
        <c:crossBetween val="between"/>
        <c:majorUnit val="1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sz="13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b  成段偏差 / MAE=1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残差</c:v>
          </c:tx>
          <c:spPr>
            <a:ln w="12383">
              <a:solidFill>
                <a:srgbClr val="9C5875"/>
              </a:solidFill>
            </a:ln>
          </c:spPr>
          <c:marker>
            <c:symbol val="none"/>
          </c:marker>
          <c:xVal>
            <c:numLit>
              <c:formatCode>General</c:formatCode>
              <c:ptCount val="48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  <c:pt idx="13">
                <c:v>13</c:v>
              </c:pt>
              <c:pt idx="14">
                <c:v>14</c:v>
              </c:pt>
              <c:pt idx="15">
                <c:v>15</c:v>
              </c:pt>
              <c:pt idx="16">
                <c:v>16</c:v>
              </c:pt>
              <c:pt idx="17">
                <c:v>17</c:v>
              </c:pt>
              <c:pt idx="18">
                <c:v>18</c:v>
              </c:pt>
              <c:pt idx="19">
                <c:v>19</c:v>
              </c:pt>
              <c:pt idx="20">
                <c:v>20</c:v>
              </c:pt>
              <c:pt idx="21">
                <c:v>21</c:v>
              </c:pt>
              <c:pt idx="22">
                <c:v>22</c:v>
              </c:pt>
              <c:pt idx="23">
                <c:v>23</c:v>
              </c:pt>
              <c:pt idx="24">
                <c:v>24</c:v>
              </c:pt>
              <c:pt idx="25">
                <c:v>25</c:v>
              </c:pt>
              <c:pt idx="26">
                <c:v>26</c:v>
              </c:pt>
              <c:pt idx="27">
                <c:v>27</c:v>
              </c:pt>
              <c:pt idx="28">
                <c:v>28</c:v>
              </c:pt>
              <c:pt idx="29">
                <c:v>29</c:v>
              </c:pt>
              <c:pt idx="30">
                <c:v>30</c:v>
              </c:pt>
              <c:pt idx="31">
                <c:v>31</c:v>
              </c:pt>
              <c:pt idx="32">
                <c:v>32</c:v>
              </c:pt>
              <c:pt idx="33">
                <c:v>33</c:v>
              </c:pt>
              <c:pt idx="34">
                <c:v>34</c:v>
              </c:pt>
              <c:pt idx="35">
                <c:v>35</c:v>
              </c:pt>
              <c:pt idx="36">
                <c:v>36</c:v>
              </c:pt>
              <c:pt idx="37">
                <c:v>37</c:v>
              </c:pt>
              <c:pt idx="38">
                <c:v>38</c:v>
              </c:pt>
              <c:pt idx="39">
                <c:v>39</c:v>
              </c:pt>
              <c:pt idx="40">
                <c:v>40</c:v>
              </c:pt>
              <c:pt idx="41">
                <c:v>41</c:v>
              </c:pt>
              <c:pt idx="42">
                <c:v>42</c:v>
              </c:pt>
              <c:pt idx="43">
                <c:v>43</c:v>
              </c:pt>
              <c:pt idx="44">
                <c:v>44</c:v>
              </c:pt>
              <c:pt idx="45">
                <c:v>45</c:v>
              </c:pt>
              <c:pt idx="46">
                <c:v>46</c:v>
              </c:pt>
              <c:pt idx="47">
                <c:v>47</c:v>
              </c:pt>
            </c:numLit>
          </c:xVal>
          <c:yVal>
            <c:numLit>
              <c:formatCode>0.0</c:formatCode>
              <c:ptCount val="48"/>
              <c:pt idx="0">
                <c:v>1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  <c:pt idx="4">
                <c:v>1</c:v>
              </c:pt>
              <c:pt idx="5">
                <c:v>1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  <c:pt idx="9">
                <c:v>1</c:v>
              </c:pt>
              <c:pt idx="10">
                <c:v>1</c:v>
              </c:pt>
              <c:pt idx="11">
                <c:v>1</c:v>
              </c:pt>
              <c:pt idx="12">
                <c:v>1</c:v>
              </c:pt>
              <c:pt idx="13">
                <c:v>1</c:v>
              </c:pt>
              <c:pt idx="14">
                <c:v>1</c:v>
              </c:pt>
              <c:pt idx="15">
                <c:v>1</c:v>
              </c:pt>
              <c:pt idx="16">
                <c:v>1</c:v>
              </c:pt>
              <c:pt idx="17">
                <c:v>1</c:v>
              </c:pt>
              <c:pt idx="18">
                <c:v>1</c:v>
              </c:pt>
              <c:pt idx="19">
                <c:v>1</c:v>
              </c:pt>
              <c:pt idx="20">
                <c:v>1</c:v>
              </c:pt>
              <c:pt idx="21">
                <c:v>1</c:v>
              </c:pt>
              <c:pt idx="22">
                <c:v>1</c:v>
              </c:pt>
              <c:pt idx="23">
                <c:v>1</c:v>
              </c:pt>
              <c:pt idx="24">
                <c:v>-1</c:v>
              </c:pt>
              <c:pt idx="25">
                <c:v>-1</c:v>
              </c:pt>
              <c:pt idx="26">
                <c:v>-1</c:v>
              </c:pt>
              <c:pt idx="27">
                <c:v>-1</c:v>
              </c:pt>
              <c:pt idx="28">
                <c:v>-1</c:v>
              </c:pt>
              <c:pt idx="29">
                <c:v>-1</c:v>
              </c:pt>
              <c:pt idx="30">
                <c:v>-1</c:v>
              </c:pt>
              <c:pt idx="31">
                <c:v>-1</c:v>
              </c:pt>
              <c:pt idx="32">
                <c:v>-1</c:v>
              </c:pt>
              <c:pt idx="33">
                <c:v>-1</c:v>
              </c:pt>
              <c:pt idx="34">
                <c:v>-1</c:v>
              </c:pt>
              <c:pt idx="35">
                <c:v>-1</c:v>
              </c:pt>
              <c:pt idx="36">
                <c:v>-1</c:v>
              </c:pt>
              <c:pt idx="37">
                <c:v>-1</c:v>
              </c:pt>
              <c:pt idx="38">
                <c:v>-1</c:v>
              </c:pt>
              <c:pt idx="39">
                <c:v>-1</c:v>
              </c:pt>
              <c:pt idx="40">
                <c:v>-1</c:v>
              </c:pt>
              <c:pt idx="41">
                <c:v>-1</c:v>
              </c:pt>
              <c:pt idx="42">
                <c:v>-1</c:v>
              </c:pt>
              <c:pt idx="43">
                <c:v>-1</c:v>
              </c:pt>
              <c:pt idx="44">
                <c:v>-1</c:v>
              </c:pt>
              <c:pt idx="45">
                <c:v>-1</c:v>
              </c:pt>
              <c:pt idx="46">
                <c:v>-1</c:v>
              </c:pt>
              <c:pt idx="47">
                <c:v>-1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DC68-4A9C-B778-442C272E27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-1.5"/>
        </c:scaling>
        <c:delete val="0"/>
        <c:axPos val="l"/>
        <c:majorGridlines>
          <c:spPr>
            <a:ln w="4763">
              <a:solidFill>
                <a:srgbClr val="D8D9E3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endParaRPr lang="zh-CN"/>
          </a:p>
        </c:txPr>
        <c:crossAx val="48650112"/>
        <c:crosses val="autoZero"/>
        <c:crossBetween val="midCat"/>
        <c:majorUnit val="1"/>
      </c:valAx>
      <c:valAx>
        <c:axId val="48650112"/>
        <c:scaling>
          <c:orientation val="minMax"/>
          <c:max val="48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sz="975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观测索引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5715">
            <a:solidFill>
              <a:srgbClr val="6C7182"/>
            </a:solidFill>
          </a:ln>
        </c:spPr>
        <c:txPr>
          <a:bodyPr anchorCtr="1"/>
          <a:lstStyle/>
          <a:p>
            <a:pPr>
              <a:defRPr sz="90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endParaRPr lang="zh-CN"/>
          </a:p>
        </c:txPr>
        <c:crossAx val="48672768"/>
        <c:crosses val="autoZero"/>
        <c:crossBetween val="midCat"/>
        <c:majorUnit val="12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sz="13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d  短滞后持续相关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ACF</c:v>
          </c:tx>
          <c:spPr>
            <a:solidFill>
              <a:srgbClr val="9C5875"/>
            </a:solidFill>
            <a:ln w="12383">
              <a:solidFill>
                <a:srgbClr val="9C5875"/>
              </a:solidFill>
            </a:ln>
          </c:spPr>
          <c:invertIfNegative val="0"/>
          <c:cat>
            <c:numLit>
              <c:formatCode>0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0.0</c:formatCode>
              <c:ptCount val="8"/>
              <c:pt idx="0">
                <c:v>0.9375</c:v>
              </c:pt>
              <c:pt idx="1">
                <c:v>0.875</c:v>
              </c:pt>
              <c:pt idx="2">
                <c:v>0.8125</c:v>
              </c:pt>
              <c:pt idx="3">
                <c:v>0.75</c:v>
              </c:pt>
              <c:pt idx="4">
                <c:v>0.6875</c:v>
              </c:pt>
              <c:pt idx="5">
                <c:v>0.625</c:v>
              </c:pt>
              <c:pt idx="6">
                <c:v>0.5625</c:v>
              </c:pt>
              <c:pt idx="7">
                <c:v>0.5</c:v>
              </c:pt>
            </c:numLit>
          </c:val>
          <c:extLst>
            <c:ext xmlns:c16="http://schemas.microsoft.com/office/drawing/2014/chart" uri="{C3380CC4-5D6E-409C-BE32-E72D297353CC}">
              <c16:uniqueId val="{00000000-EE0E-4BE4-94F2-0E6BBE1916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975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滞后 lag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low"/>
        <c:spPr>
          <a:ln w="5715">
            <a:solidFill>
              <a:srgbClr val="6C7182"/>
            </a:solidFill>
          </a:ln>
        </c:spPr>
        <c:txPr>
          <a:bodyPr anchorCtr="1"/>
          <a:lstStyle/>
          <a:p>
            <a:pPr>
              <a:defRPr sz="90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.5"/>
          <c:min val="-1.5"/>
        </c:scaling>
        <c:delete val="0"/>
        <c:axPos val="l"/>
        <c:majorGridlines>
          <c:spPr>
            <a:ln w="4763">
              <a:solidFill>
                <a:srgbClr val="D8D9E3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endParaRPr lang="zh-CN"/>
          </a:p>
        </c:txPr>
        <c:crossAx val="48650112"/>
        <c:crosses val="autoZero"/>
        <c:crossBetween val="between"/>
        <c:majorUnit val="1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时序预测自动化建模：从实验反馈到下一次选择</a:t>
            </a:r>
          </a:p>
          <a:p>
            <a:r>
              <a:t>主线：描述任务 → 估计表现 → 执行实验 → 从反馈更新选择。</a:t>
            </a:r>
          </a:p>
          <a:p>
            <a:r>
              <a:t>用途：视觉与动画效果测试；研究路线仍待完善。内容依据：研究路线 V1.0。研究设计与待验证假设按正文标识。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01  研究问题：把每次试验变成下一次选择的依据</a:t>
            </a:r>
          </a:p>
          <a:p>
            <a:r>
              <a:t>Q2 是方法关卡：C 必须在已知整体误差之后，仍能提供有用信息。</a:t>
            </a:r>
          </a:p>
          <a:p>
            <a:r>
              <a:t>用途：视觉与动画效果测试；研究路线仍待完善。内容依据：研究路线 V1.0。研究设计与待验证假设按正文标识。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02  三个候选模型提供三种不同的序列建模方式</a:t>
            </a:r>
          </a:p>
          <a:p>
            <a:r>
              <a:t>候选池需要机制差异；模型是否更适合某项任务，要由统一实验回答。</a:t>
            </a:r>
          </a:p>
          <a:p>
            <a:r>
              <a:t>用途：视觉与动画效果测试；研究路线仍待完善。内容依据：研究路线 V1.0。研究设计与待验证假设按正文标识。</a:t>
            </a:r>
          </a:p>
          <a:p>
            <a:r>
              <a:t>机制来源：DLinear https://arxiv.org/abs/2205.13504 ; PatchTST https://openreview.net/forum?id=Jbdc0vTOcol ; TimesNet https://openreview.net/forum?id=ju_Uqw384Oq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03  首轮实验：把“同一个任务”定义清楚</a:t>
            </a:r>
          </a:p>
          <a:p>
            <a:r>
              <a:t>先让三种模型的输出真正可比，再讨论谁更好。</a:t>
            </a:r>
          </a:p>
          <a:p>
            <a:r>
              <a:t>用途：视觉与动画效果测试；研究路线仍待完善。内容依据：研究路线 V1.0。研究设计与待验证假设按正文标识。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04  一次实验应该留下什么，才能成为可学习的经验？</a:t>
            </a:r>
          </a:p>
          <a:p>
            <a:r>
              <a:t>一条可用样本 = 任务 × 模型 × 配置 × 结果 × 成本。</a:t>
            </a:r>
          </a:p>
          <a:p>
            <a:r>
              <a:t>用途：视觉与动画效果测试；研究路线仍待完善。内容依据：研究路线 V1.0。研究设计与待验证假设按正文标识。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05  两类特征：一类描述任务，一类描述模型怎样出错</a:t>
            </a:r>
          </a:p>
          <a:p>
            <a:r>
              <a:t>首轮依靠任务信息；之后每一轮可以增加真实执行得到的反馈。</a:t>
            </a:r>
          </a:p>
          <a:p>
            <a:r>
              <a:t>用途：视觉与动画效果测试；研究路线仍待完善。内容依据：研究路线 V1.0。研究设计与待验证假设按正文标识。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06  MAE 相同，误差的时间结构也可能完全不同</a:t>
            </a:r>
          </a:p>
          <a:p>
            <a:r>
              <a:t>动机成立：误差标量会丢失结构；方法价值仍需 C 对 B 的实验证据。</a:t>
            </a:r>
          </a:p>
          <a:p>
            <a:r>
              <a:t>用途：视觉与动画效果测试；研究路线仍待完善。内容依据：研究路线 V1.0。研究设计与待验证假设按正文标识。</a:t>
            </a:r>
          </a:p>
          <a:p>
            <a:r>
              <a:t>教学构造：两组各 48 个 ±1 残差。不是模型实验结果。ACF 统一分母为 48，逐滞后计算乘积和。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07  残差怎么提取，才能保留正确的时间含义？</a:t>
            </a:r>
          </a:p>
          <a:p>
            <a:r>
              <a:t>索引约定先固定，再谈残差特征的增量价值。</a:t>
            </a:r>
          </a:p>
          <a:p>
            <a:r>
              <a:t>用途：视觉与动画效果测试；研究路线仍待完善。内容依据：研究路线 V1.0。研究设计与待验证假设按正文标识。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08  元模型：学习“什么任务下，哪个候选可能更好”</a:t>
            </a:r>
          </a:p>
          <a:p>
            <a:r>
              <a:t>未来值预测器解决一次任务；元模型从历史任务中学习选择经验。</a:t>
            </a:r>
          </a:p>
          <a:p>
            <a:r>
              <a:t>用途：视觉与动画效果测试；研究路线仍待完善。内容依据：研究路线 V1.0。研究设计与待验证假设按正文标识。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09  元学习评估：以数据来源隔离陌生任务</a:t>
            </a:r>
          </a:p>
          <a:p>
            <a:r>
              <a:t>真正的测试对象是未见来源上的决策能力。</a:t>
            </a:r>
          </a:p>
          <a:p>
            <a:r>
              <a:t>用途：视觉与动画效果测试；研究路线仍待完善。内容依据：研究路线 V1.0。研究设计与待验证假设按正文标识。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10  主消融：在完全相同历史下比较 B 与 C</a:t>
            </a:r>
          </a:p>
          <a:p>
            <a:r>
              <a:t>B/C 的差异应来自残差信息，而不是 C 多跑了一些候选。</a:t>
            </a:r>
          </a:p>
          <a:p>
            <a:r>
              <a:t>用途：视觉与动画效果测试；研究路线仍待完善。内容依据：研究路线 V1.0。研究设计与待验证假设按正文标识。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11  从静态排序到序贯决策：状态随实验更新</a:t>
            </a:r>
          </a:p>
          <a:p>
            <a:r>
              <a:t>一次决策只能依赖当时可见的信息。</a:t>
            </a:r>
          </a:p>
          <a:p>
            <a:r>
              <a:t>用途：视觉与动画效果测试；研究路线仍待完善。内容依据：研究路线 V1.0。研究设计与待验证假设按正文标识。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  离线回放：用已有候选池比较不同搜索策略</a:t>
            </a:r>
          </a:p>
          <a:p>
            <a:r>
              <a:t>离线回放节省比较成本；它的接口必须保持真实决策时的信息边界。</a:t>
            </a:r>
          </a:p>
          <a:p>
            <a:r>
              <a:t>用途：视觉与动画效果测试；研究路线仍待完善。内容依据：研究路线 V1.0。研究设计与待验证假设按正文标识。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13  实验矩阵：每一条主张都对应一个可推翻它的对照</a:t>
            </a:r>
          </a:p>
          <a:p>
            <a:r>
              <a:t>方法主张、实验对照和评价指标需要一一对应。</a:t>
            </a:r>
          </a:p>
          <a:p>
            <a:r>
              <a:t>用途：视觉与动画效果测试；研究路线仍待完善。内容依据：研究路线 V1.0。研究设计与待验证假设按正文标识。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14  指标怎么读：把“更快找到好模型”变成可比较量</a:t>
            </a:r>
          </a:p>
          <a:p>
            <a:r>
              <a:t>既看终点，也看过程；既看平均收益，也看哪些任务会退化。</a:t>
            </a:r>
          </a:p>
          <a:p>
            <a:r>
              <a:t>用途：视觉与动画效果测试；研究路线仍待完善。内容依据：研究路线 V1.0。研究设计与待验证假设按正文标识。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15  Agent 集成：让已经验证的方法进入可执行工作流</a:t>
            </a:r>
          </a:p>
          <a:p>
            <a:r>
              <a:t>Agent 系统承接决策方法；接口与执行证据使研究结果可复现。</a:t>
            </a:r>
          </a:p>
          <a:p>
            <a:r>
              <a:t>用途：视觉与动画效果测试；研究路线仍待完善。内容依据：研究路线 V1.0。研究设计与待验证假设按正文标识。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16  已有基础与下一步：把完成记录和研究结果分开</a:t>
            </a:r>
          </a:p>
          <a:p>
            <a:r>
              <a:t>当前可以确认实验基础；反馈方法的效果仍是待回答的研究问题。</a:t>
            </a:r>
          </a:p>
          <a:p>
            <a:r>
              <a:t>用途：视觉与动画效果测试；研究路线仍待完善。内容依据：研究路线 V1.0。研究设计与待验证假设按正文标识。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17  分阶段推进：以可检查产物作为下一阶段的入口</a:t>
            </a:r>
          </a:p>
          <a:p>
            <a:r>
              <a:t>时间表用于安排投入；阶段验收决定是否值得继续扩大系统。</a:t>
            </a:r>
          </a:p>
          <a:p>
            <a:r>
              <a:t>用途：视觉与动画效果测试；研究路线仍待完善。内容依据：研究路线 V1.0。研究设计与待验证假设按正文标识。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18  预期贡献：让每个贡献点都落在可验证的证据上</a:t>
            </a:r>
          </a:p>
          <a:p>
            <a:r>
              <a:t>贡献的强度来自方法与证据的对应关系。</a:t>
            </a:r>
          </a:p>
          <a:p>
            <a:r>
              <a:t>用途：视觉与动画效果测试；研究路线仍待完善。内容依据：研究路线 V1.0。研究设计与待验证假设按正文标识。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19  开始做的第一轮：一项练习、一份记录、一次解释</a:t>
            </a:r>
          </a:p>
          <a:p>
            <a:r>
              <a:t>第一份学习产物：自己能够解释的一次实验记录。</a:t>
            </a:r>
          </a:p>
          <a:p>
            <a:r>
              <a:t>用途：视觉与动画效果测试；研究路线仍待完善。内容依据：研究路线 V1.0。研究设计与待验证假设按正文标识。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20  阅读地图：按你现在要解决的问题进入文献</a:t>
            </a:r>
          </a:p>
          <a:p>
            <a:r>
              <a:t>读完一篇，至少留下：机制图、实验设置、可复现入口、与课题的一个连接点。</a:t>
            </a:r>
          </a:p>
          <a:p>
            <a:r>
              <a:t>用途：视觉与动画效果测试；研究路线仍待完善。内容依据：研究路线 V1.0。研究设计与待验证假设按正文标识。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21  资料与图形说明</a:t>
            </a:r>
          </a:p>
          <a:p>
            <a:r>
              <a:t>图形可以说明方法如何工作；研究结论需要随后真实实验来支持。</a:t>
            </a:r>
          </a:p>
          <a:p>
            <a:r>
              <a:t>用途：视觉与动画效果测试；研究路线仍待完善。内容依据：研究路线 V1.0。研究设计与待验证假设按正文标识。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97E58D1-5F33-4E4B-A86B-2E930281C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428875"/>
            <a:ext cx="9144000" cy="92868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66AA3958-49AD-4890-B386-0CC4AEBF17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4500" y="3536156"/>
            <a:ext cx="8001000" cy="714375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F93CEC15-F366-4842-B2F3-FF90BCC06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678906"/>
            <a:ext cx="9144000" cy="107156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BBD91F6-9301-4325-A202-5C6CEC13F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38" y="500063"/>
            <a:ext cx="10144125" cy="7858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7442A933-93C3-4E47-9E98-32D1F6FBA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2938" y="1785938"/>
            <a:ext cx="10144125" cy="4000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0925B13-61EF-4830-AC51-9566132FE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38" y="500063"/>
            <a:ext cx="10144125" cy="7858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B32D3D8-6B43-4FD2-9297-366D4CF85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2938" y="1785938"/>
            <a:ext cx="4714875" cy="4000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B743600D-7E14-4DB0-AFE3-EB989FC0969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72188" y="1785938"/>
            <a:ext cx="4714875" cy="4000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FA11EF9-B601-429A-A1B8-EF216F97A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38" y="500063"/>
            <a:ext cx="10144125" cy="78581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15EF23E-46E1-46B2-87C7-779CF8259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2938" y="1785938"/>
            <a:ext cx="4714875" cy="4000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1pPr>
            <a:lvl2pPr marL="500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2pPr>
            <a:lvl3pPr marL="785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3pPr>
            <a:lvl4pPr marL="1071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4pPr>
            <a:lvl5pPr marL="1357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5pPr>
            <a:lvl6pPr marL="16430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6pPr>
            <a:lvl7pPr marL="19288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7pPr>
            <a:lvl8pPr marL="221456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8pPr>
            <a:lvl9pPr marL="2500313" indent="-214312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box_1">
            <a:extLst>
              <a:ext uri="{FF2B5EF4-FFF2-40B4-BE49-F238E27FC236}">
                <a16:creationId xmlns:a16="http://schemas.microsoft.com/office/drawing/2014/main" id="{49BBCDE6-8FBA-4B01-A9D0-FEA4519C2F46}"/>
              </a:ext>
            </a:extLst>
          </p:cNvPr>
          <p:cNvSpPr>
            <a:spLocks/>
          </p:cNvSpPr>
          <p:nvPr/>
        </p:nvSpPr>
        <p:spPr>
          <a:xfrm>
            <a:off x="3714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01  研究问题</a:t>
            </a:r>
          </a:p>
        </p:txBody>
      </p:sp>
      <p:sp>
        <p:nvSpPr>
          <p:cNvPr id="2" name="rect_2">
            <a:extLst>
              <a:ext uri="{FF2B5EF4-FFF2-40B4-BE49-F238E27FC236}">
                <a16:creationId xmlns:a16="http://schemas.microsoft.com/office/drawing/2014/main" id="{F6F23FE4-BBE7-411B-ABEC-06179EFF6175}"/>
              </a:ext>
            </a:extLst>
          </p:cNvPr>
          <p:cNvSpPr>
            <a:spLocks/>
          </p:cNvSpPr>
          <p:nvPr/>
        </p:nvSpPr>
        <p:spPr>
          <a:xfrm>
            <a:off x="371475" y="447675"/>
            <a:ext cx="1238250" cy="2857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3" name="textbox_3">
            <a:extLst>
              <a:ext uri="{FF2B5EF4-FFF2-40B4-BE49-F238E27FC236}">
                <a16:creationId xmlns:a16="http://schemas.microsoft.com/office/drawing/2014/main" id="{16564687-7024-4E78-AA35-F9DAFFC8013F}"/>
              </a:ext>
            </a:extLst>
          </p:cNvPr>
          <p:cNvSpPr>
            <a:spLocks/>
          </p:cNvSpPr>
          <p:nvPr/>
        </p:nvSpPr>
        <p:spPr>
          <a:xfrm>
            <a:off x="251460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02  对象与基础</a:t>
            </a:r>
          </a:p>
        </p:txBody>
      </p:sp>
      <p:sp>
        <p:nvSpPr>
          <p:cNvPr id="4" name="textbox_4">
            <a:extLst>
              <a:ext uri="{FF2B5EF4-FFF2-40B4-BE49-F238E27FC236}">
                <a16:creationId xmlns:a16="http://schemas.microsoft.com/office/drawing/2014/main" id="{7D22D831-5B05-49FD-A4B2-D98AF5135A59}"/>
              </a:ext>
            </a:extLst>
          </p:cNvPr>
          <p:cNvSpPr>
            <a:spLocks/>
          </p:cNvSpPr>
          <p:nvPr/>
        </p:nvSpPr>
        <p:spPr>
          <a:xfrm>
            <a:off x="465772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03  方法与机制</a:t>
            </a:r>
          </a:p>
        </p:txBody>
      </p:sp>
      <p:sp>
        <p:nvSpPr>
          <p:cNvPr id="5" name="textbox_5">
            <a:extLst>
              <a:ext uri="{FF2B5EF4-FFF2-40B4-BE49-F238E27FC236}">
                <a16:creationId xmlns:a16="http://schemas.microsoft.com/office/drawing/2014/main" id="{60EC7574-E623-4A20-9CB8-BDC377F99AB8}"/>
              </a:ext>
            </a:extLst>
          </p:cNvPr>
          <p:cNvSpPr>
            <a:spLocks/>
          </p:cNvSpPr>
          <p:nvPr/>
        </p:nvSpPr>
        <p:spPr>
          <a:xfrm>
            <a:off x="680085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04  实验与证据</a:t>
            </a:r>
          </a:p>
        </p:txBody>
      </p:sp>
      <p:sp>
        <p:nvSpPr>
          <p:cNvPr id="6" name="textbox_6">
            <a:extLst>
              <a:ext uri="{FF2B5EF4-FFF2-40B4-BE49-F238E27FC236}">
                <a16:creationId xmlns:a16="http://schemas.microsoft.com/office/drawing/2014/main" id="{1700A765-A0A7-4C77-90B1-72C776DDC8F5}"/>
              </a:ext>
            </a:extLst>
          </p:cNvPr>
          <p:cNvSpPr>
            <a:spLocks/>
          </p:cNvSpPr>
          <p:nvPr/>
        </p:nvSpPr>
        <p:spPr>
          <a:xfrm>
            <a:off x="89439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05  实施与产出</a:t>
            </a:r>
          </a:p>
        </p:txBody>
      </p:sp>
      <p:sp>
        <p:nvSpPr>
          <p:cNvPr id="7" name="line_7">
            <a:extLst>
              <a:ext uri="{FF2B5EF4-FFF2-40B4-BE49-F238E27FC236}">
                <a16:creationId xmlns:a16="http://schemas.microsoft.com/office/drawing/2014/main" id="{513CDD73-1432-4926-A3D3-BFF8AEE3D608}"/>
              </a:ext>
            </a:extLst>
          </p:cNvPr>
          <p:cNvSpPr>
            <a:spLocks/>
          </p:cNvSpPr>
          <p:nvPr/>
        </p:nvSpPr>
        <p:spPr>
          <a:xfrm>
            <a:off x="371475" y="476250"/>
            <a:ext cx="10677525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8" name="slide_title">
            <a:extLst>
              <a:ext uri="{FF2B5EF4-FFF2-40B4-BE49-F238E27FC236}">
                <a16:creationId xmlns:a16="http://schemas.microsoft.com/office/drawing/2014/main" id="{2A61261D-3839-4016-9DD9-7804DAFCD76B}"/>
              </a:ext>
            </a:extLst>
          </p:cNvPr>
          <p:cNvSpPr>
            <a:spLocks/>
          </p:cNvSpPr>
          <p:nvPr/>
        </p:nvSpPr>
        <p:spPr>
          <a:xfrm>
            <a:off x="361950" y="685800"/>
            <a:ext cx="10706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defPPr>
          </a:lstStyle>
          <a:p>
            <a: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pP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时序预测自动化建模：从实验反馈到下一次选择</a:t>
            </a:r>
          </a:p>
        </p:txBody>
      </p:sp>
      <p:sp>
        <p:nvSpPr>
          <p:cNvPr id="9" name="textbox_8">
            <a:extLst>
              <a:ext uri="{FF2B5EF4-FFF2-40B4-BE49-F238E27FC236}">
                <a16:creationId xmlns:a16="http://schemas.microsoft.com/office/drawing/2014/main" id="{AC761B6E-1A1B-4EB9-9FDF-C17145F34636}"/>
              </a:ext>
            </a:extLst>
          </p:cNvPr>
          <p:cNvSpPr>
            <a:spLocks/>
          </p:cNvSpPr>
          <p:nvPr/>
        </p:nvSpPr>
        <p:spPr>
          <a:xfrm>
            <a:off x="381000" y="1133475"/>
            <a:ext cx="10668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视觉与动画测试版 | 时序特征感知 · 残差反馈 · 预算约束</a:t>
            </a:r>
          </a:p>
        </p:txBody>
      </p:sp>
      <p:grpSp>
        <p:nvGrpSpPr>
          <p:cNvPr id="164" name="overview_inputs">
            <a:extLst>
              <a:ext uri="{FF2B5EF4-FFF2-40B4-BE49-F238E27FC236}">
                <a16:creationId xmlns:a16="http://schemas.microsoft.com/office/drawing/2014/main" id="{1F2527C9-EE0D-98DD-C9E7-2C6DD84F7506}"/>
              </a:ext>
            </a:extLst>
          </p:cNvPr>
          <p:cNvGrpSpPr/>
          <p:nvPr/>
        </p:nvGrpSpPr>
        <p:grpSpPr>
          <a:xfrm>
            <a:off x="419100" y="1504950"/>
            <a:ext cx="2000250" cy="4067175"/>
            <a:chOff x="419100" y="1504950"/>
            <a:chExt cx="2000250" cy="4067175"/>
          </a:xfrm>
        </p:grpSpPr>
        <p:sp>
          <p:nvSpPr>
            <p:cNvPr id="10" name="textbox_9">
              <a:extLst>
                <a:ext uri="{FF2B5EF4-FFF2-40B4-BE49-F238E27FC236}">
                  <a16:creationId xmlns:a16="http://schemas.microsoft.com/office/drawing/2014/main" id="{7FCEC150-201B-4BE3-B068-A6165B489BEE}"/>
                </a:ext>
              </a:extLst>
            </p:cNvPr>
            <p:cNvSpPr>
              <a:spLocks/>
            </p:cNvSpPr>
            <p:nvPr/>
          </p:nvSpPr>
          <p:spPr>
            <a:xfrm>
              <a:off x="419100" y="1504950"/>
              <a:ext cx="20002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5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5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历史实验档案</a:t>
              </a:r>
            </a:p>
          </p:txBody>
        </p:sp>
        <p:sp>
          <p:nvSpPr>
            <p:cNvPr id="11" name="roundRect_10">
              <a:extLst>
                <a:ext uri="{FF2B5EF4-FFF2-40B4-BE49-F238E27FC236}">
                  <a16:creationId xmlns:a16="http://schemas.microsoft.com/office/drawing/2014/main" id="{C7AEE84D-AE88-4CCE-A469-31C2578A6CCD}"/>
                </a:ext>
              </a:extLst>
            </p:cNvPr>
            <p:cNvSpPr>
              <a:spLocks/>
            </p:cNvSpPr>
            <p:nvPr/>
          </p:nvSpPr>
          <p:spPr>
            <a:xfrm>
              <a:off x="571500" y="2000250"/>
              <a:ext cx="1628775" cy="2209800"/>
            </a:xfrm>
            <a:prstGeom prst="roundRect">
              <a:avLst>
                <a:gd name="adj" fmla="val 5263"/>
              </a:avLst>
            </a:prstGeom>
            <a:solidFill>
              <a:srgbClr val="EEF0F7"/>
            </a:solidFill>
            <a:ln w="9525">
              <a:solidFill>
                <a:srgbClr val="929CBC"/>
              </a:solidFill>
              <a:prstDash val="solid"/>
            </a:ln>
          </p:spPr>
        </p:sp>
        <p:sp>
          <p:nvSpPr>
            <p:cNvPr id="12" name="roundRect_11">
              <a:extLst>
                <a:ext uri="{FF2B5EF4-FFF2-40B4-BE49-F238E27FC236}">
                  <a16:creationId xmlns:a16="http://schemas.microsoft.com/office/drawing/2014/main" id="{998F98EF-32A9-4D0F-A932-0213501E79A1}"/>
                </a:ext>
              </a:extLst>
            </p:cNvPr>
            <p:cNvSpPr>
              <a:spLocks/>
            </p:cNvSpPr>
            <p:nvPr/>
          </p:nvSpPr>
          <p:spPr>
            <a:xfrm>
              <a:off x="495300" y="1924050"/>
              <a:ext cx="1628775" cy="2209800"/>
            </a:xfrm>
            <a:prstGeom prst="roundRect">
              <a:avLst>
                <a:gd name="adj" fmla="val 5263"/>
              </a:avLst>
            </a:prstGeom>
            <a:solidFill>
              <a:srgbClr val="EEF0F7"/>
            </a:solidFill>
            <a:ln w="9525">
              <a:solidFill>
                <a:srgbClr val="929CBC"/>
              </a:solidFill>
              <a:prstDash val="solid"/>
            </a:ln>
          </p:spPr>
        </p:sp>
        <p:sp>
          <p:nvSpPr>
            <p:cNvPr id="13" name="roundRect_12">
              <a:extLst>
                <a:ext uri="{FF2B5EF4-FFF2-40B4-BE49-F238E27FC236}">
                  <a16:creationId xmlns:a16="http://schemas.microsoft.com/office/drawing/2014/main" id="{4C7C0E47-CBB1-40AD-AF4E-62C643C82C98}"/>
                </a:ext>
              </a:extLst>
            </p:cNvPr>
            <p:cNvSpPr>
              <a:spLocks/>
            </p:cNvSpPr>
            <p:nvPr/>
          </p:nvSpPr>
          <p:spPr>
            <a:xfrm>
              <a:off x="419100" y="1847850"/>
              <a:ext cx="1628775" cy="2209800"/>
            </a:xfrm>
            <a:prstGeom prst="roundRect">
              <a:avLst>
                <a:gd name="adj" fmla="val 5263"/>
              </a:avLst>
            </a:prstGeom>
            <a:solidFill>
              <a:srgbClr val="FFFFFF"/>
            </a:solidFill>
            <a:ln w="9525">
              <a:solidFill>
                <a:srgbClr val="929CBC"/>
              </a:solidFill>
              <a:prstDash val="solid"/>
            </a:ln>
          </p:spPr>
        </p:sp>
        <p:sp>
          <p:nvSpPr>
            <p:cNvPr id="14" name="textbox_13">
              <a:extLst>
                <a:ext uri="{FF2B5EF4-FFF2-40B4-BE49-F238E27FC236}">
                  <a16:creationId xmlns:a16="http://schemas.microsoft.com/office/drawing/2014/main" id="{E1A80DF5-D004-4F40-8FE1-16F54700E942}"/>
                </a:ext>
              </a:extLst>
            </p:cNvPr>
            <p:cNvSpPr>
              <a:spLocks/>
            </p:cNvSpPr>
            <p:nvPr/>
          </p:nvSpPr>
          <p:spPr>
            <a:xfrm>
              <a:off x="533400" y="1952625"/>
              <a:ext cx="1381125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任务序列</a:t>
              </a:r>
            </a:p>
          </p:txBody>
        </p:sp>
        <p:sp>
          <p:nvSpPr>
            <p:cNvPr id="15" name="trace_14">
              <a:extLst>
                <a:ext uri="{FF2B5EF4-FFF2-40B4-BE49-F238E27FC236}">
                  <a16:creationId xmlns:a16="http://schemas.microsoft.com/office/drawing/2014/main" id="{7059EB2D-87B3-4941-9571-7EE8F541737E}"/>
                </a:ext>
              </a:extLst>
            </p:cNvPr>
            <p:cNvSpPr>
              <a:spLocks/>
            </p:cNvSpPr>
            <p:nvPr/>
          </p:nvSpPr>
          <p:spPr>
            <a:xfrm>
              <a:off x="533400" y="2192605"/>
              <a:ext cx="1381125" cy="153603"/>
            </a:xfrm>
            <a:custGeom>
              <a:avLst/>
              <a:gdLst/>
              <a:ahLst/>
              <a:cxnLst/>
              <a:rect l="0" t="0" r="0" b="0"/>
              <a:pathLst>
                <a:path w="1381125" h="153603">
                  <a:moveTo>
                    <a:pt x="0" y="101777"/>
                  </a:moveTo>
                  <a:lnTo>
                    <a:pt x="33686" y="83075"/>
                  </a:lnTo>
                  <a:lnTo>
                    <a:pt x="67372" y="138130"/>
                  </a:lnTo>
                  <a:lnTo>
                    <a:pt x="101058" y="124062"/>
                  </a:lnTo>
                  <a:lnTo>
                    <a:pt x="134744" y="84236"/>
                  </a:lnTo>
                  <a:lnTo>
                    <a:pt x="168430" y="90944"/>
                  </a:lnTo>
                  <a:lnTo>
                    <a:pt x="202116" y="8687"/>
                  </a:lnTo>
                  <a:lnTo>
                    <a:pt x="235802" y="43836"/>
                  </a:lnTo>
                  <a:lnTo>
                    <a:pt x="269488" y="19845"/>
                  </a:lnTo>
                  <a:lnTo>
                    <a:pt x="303174" y="52230"/>
                  </a:lnTo>
                  <a:lnTo>
                    <a:pt x="336860" y="108471"/>
                  </a:lnTo>
                  <a:lnTo>
                    <a:pt x="370546" y="91927"/>
                  </a:lnTo>
                  <a:lnTo>
                    <a:pt x="404232" y="153603"/>
                  </a:lnTo>
                  <a:lnTo>
                    <a:pt x="437918" y="93733"/>
                  </a:lnTo>
                  <a:lnTo>
                    <a:pt x="471604" y="91366"/>
                  </a:lnTo>
                  <a:lnTo>
                    <a:pt x="505290" y="57603"/>
                  </a:lnTo>
                  <a:lnTo>
                    <a:pt x="538976" y="6779"/>
                  </a:lnTo>
                  <a:lnTo>
                    <a:pt x="572662" y="49870"/>
                  </a:lnTo>
                  <a:lnTo>
                    <a:pt x="606348" y="15019"/>
                  </a:lnTo>
                  <a:lnTo>
                    <a:pt x="640034" y="90742"/>
                  </a:lnTo>
                  <a:lnTo>
                    <a:pt x="673720" y="101004"/>
                  </a:lnTo>
                  <a:lnTo>
                    <a:pt x="707405" y="114795"/>
                  </a:lnTo>
                  <a:lnTo>
                    <a:pt x="741091" y="144933"/>
                  </a:lnTo>
                  <a:lnTo>
                    <a:pt x="774777" y="73565"/>
                  </a:lnTo>
                  <a:lnTo>
                    <a:pt x="808463" y="92336"/>
                  </a:lnTo>
                  <a:lnTo>
                    <a:pt x="842149" y="21491"/>
                  </a:lnTo>
                  <a:lnTo>
                    <a:pt x="875835" y="23666"/>
                  </a:lnTo>
                  <a:lnTo>
                    <a:pt x="909521" y="42091"/>
                  </a:lnTo>
                  <a:lnTo>
                    <a:pt x="943207" y="31872"/>
                  </a:lnTo>
                  <a:lnTo>
                    <a:pt x="976893" y="116834"/>
                  </a:lnTo>
                  <a:lnTo>
                    <a:pt x="1010579" y="93595"/>
                  </a:lnTo>
                  <a:lnTo>
                    <a:pt x="1044265" y="139777"/>
                  </a:lnTo>
                  <a:lnTo>
                    <a:pt x="1077951" y="116002"/>
                  </a:lnTo>
                  <a:lnTo>
                    <a:pt x="1111637" y="70016"/>
                  </a:lnTo>
                  <a:lnTo>
                    <a:pt x="1145323" y="76402"/>
                  </a:lnTo>
                  <a:lnTo>
                    <a:pt x="1179009" y="0"/>
                  </a:lnTo>
                  <a:lnTo>
                    <a:pt x="1212695" y="44669"/>
                  </a:lnTo>
                  <a:lnTo>
                    <a:pt x="1246381" y="29752"/>
                  </a:lnTo>
                  <a:lnTo>
                    <a:pt x="1280067" y="67198"/>
                  </a:lnTo>
                  <a:lnTo>
                    <a:pt x="1313753" y="122056"/>
                  </a:lnTo>
                  <a:lnTo>
                    <a:pt x="1347439" y="98545"/>
                  </a:lnTo>
                  <a:lnTo>
                    <a:pt x="1381125" y="150423"/>
                  </a:lnTo>
                </a:path>
              </a:pathLst>
            </a:custGeom>
            <a:noFill/>
            <a:ln w="13335">
              <a:solidFill>
                <a:srgbClr val="38385B"/>
              </a:solidFill>
            </a:ln>
          </p:spPr>
        </p:sp>
        <p:sp>
          <p:nvSpPr>
            <p:cNvPr id="16" name="textbox_15">
              <a:extLst>
                <a:ext uri="{FF2B5EF4-FFF2-40B4-BE49-F238E27FC236}">
                  <a16:creationId xmlns:a16="http://schemas.microsoft.com/office/drawing/2014/main" id="{F63F2072-E59D-4248-AF0A-E594F7547298}"/>
                </a:ext>
              </a:extLst>
            </p:cNvPr>
            <p:cNvSpPr>
              <a:spLocks/>
            </p:cNvSpPr>
            <p:nvPr/>
          </p:nvSpPr>
          <p:spPr>
            <a:xfrm>
              <a:off x="533400" y="2524125"/>
              <a:ext cx="1381125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候选与配置</a:t>
              </a:r>
            </a:p>
          </p:txBody>
        </p:sp>
        <p:sp>
          <p:nvSpPr>
            <p:cNvPr id="17" name="roundRect_16">
              <a:extLst>
                <a:ext uri="{FF2B5EF4-FFF2-40B4-BE49-F238E27FC236}">
                  <a16:creationId xmlns:a16="http://schemas.microsoft.com/office/drawing/2014/main" id="{B34C53A4-EF28-4446-857F-093284471D69}"/>
                </a:ext>
              </a:extLst>
            </p:cNvPr>
            <p:cNvSpPr>
              <a:spLocks/>
            </p:cNvSpPr>
            <p:nvPr/>
          </p:nvSpPr>
          <p:spPr>
            <a:xfrm>
              <a:off x="533400" y="2733675"/>
              <a:ext cx="666750" cy="238125"/>
            </a:xfrm>
            <a:prstGeom prst="roundRect">
              <a:avLst>
                <a:gd name="adj" fmla="val 36000"/>
              </a:avLst>
            </a:prstGeom>
            <a:solidFill>
              <a:srgbClr val="EEF0F7"/>
            </a:solidFill>
            <a:ln w="9525">
              <a:solidFill>
                <a:srgbClr val="D8D9E3"/>
              </a:solidFill>
              <a:prstDash val="solid"/>
            </a:ln>
          </p:spPr>
        </p:sp>
        <p:sp>
          <p:nvSpPr>
            <p:cNvPr id="18" name="textbox_17">
              <a:extLst>
                <a:ext uri="{FF2B5EF4-FFF2-40B4-BE49-F238E27FC236}">
                  <a16:creationId xmlns:a16="http://schemas.microsoft.com/office/drawing/2014/main" id="{D7916397-D62F-4482-BF59-75B0E3FB97A1}"/>
                </a:ext>
              </a:extLst>
            </p:cNvPr>
            <p:cNvSpPr>
              <a:spLocks/>
            </p:cNvSpPr>
            <p:nvPr/>
          </p:nvSpPr>
          <p:spPr>
            <a:xfrm>
              <a:off x="609600" y="2762250"/>
              <a:ext cx="51435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模型</a:t>
              </a:r>
            </a:p>
          </p:txBody>
        </p:sp>
        <p:sp>
          <p:nvSpPr>
            <p:cNvPr id="19" name="roundRect_18">
              <a:extLst>
                <a:ext uri="{FF2B5EF4-FFF2-40B4-BE49-F238E27FC236}">
                  <a16:creationId xmlns:a16="http://schemas.microsoft.com/office/drawing/2014/main" id="{264275A2-6292-4DCD-854B-F335BFA28405}"/>
                </a:ext>
              </a:extLst>
            </p:cNvPr>
            <p:cNvSpPr>
              <a:spLocks/>
            </p:cNvSpPr>
            <p:nvPr/>
          </p:nvSpPr>
          <p:spPr>
            <a:xfrm>
              <a:off x="1266825" y="2733675"/>
              <a:ext cx="647700" cy="238125"/>
            </a:xfrm>
            <a:prstGeom prst="roundRect">
              <a:avLst>
                <a:gd name="adj" fmla="val 36000"/>
              </a:avLst>
            </a:prstGeom>
            <a:solidFill>
              <a:srgbClr val="EEF0F7"/>
            </a:solidFill>
            <a:ln w="9525">
              <a:solidFill>
                <a:srgbClr val="D8D9E3"/>
              </a:solidFill>
              <a:prstDash val="solid"/>
            </a:ln>
          </p:spPr>
        </p:sp>
        <p:sp>
          <p:nvSpPr>
            <p:cNvPr id="20" name="textbox_19">
              <a:extLst>
                <a:ext uri="{FF2B5EF4-FFF2-40B4-BE49-F238E27FC236}">
                  <a16:creationId xmlns:a16="http://schemas.microsoft.com/office/drawing/2014/main" id="{F935D44C-0A1B-4026-A3C0-18867BD49C3F}"/>
                </a:ext>
              </a:extLst>
            </p:cNvPr>
            <p:cNvSpPr>
              <a:spLocks/>
            </p:cNvSpPr>
            <p:nvPr/>
          </p:nvSpPr>
          <p:spPr>
            <a:xfrm>
              <a:off x="1343025" y="2762250"/>
              <a:ext cx="4953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超参数</a:t>
              </a:r>
            </a:p>
          </p:txBody>
        </p:sp>
        <p:sp>
          <p:nvSpPr>
            <p:cNvPr id="21" name="textbox_20">
              <a:extLst>
                <a:ext uri="{FF2B5EF4-FFF2-40B4-BE49-F238E27FC236}">
                  <a16:creationId xmlns:a16="http://schemas.microsoft.com/office/drawing/2014/main" id="{5D1180CC-EA6B-42BF-B1CE-36B1FFD0301C}"/>
                </a:ext>
              </a:extLst>
            </p:cNvPr>
            <p:cNvSpPr>
              <a:spLocks/>
            </p:cNvSpPr>
            <p:nvPr/>
          </p:nvSpPr>
          <p:spPr>
            <a:xfrm>
              <a:off x="533400" y="3095625"/>
              <a:ext cx="1381125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验证表现</a:t>
              </a:r>
            </a:p>
          </p:txBody>
        </p:sp>
        <p:sp>
          <p:nvSpPr>
            <p:cNvPr id="22" name="textbox_21">
              <a:extLst>
                <a:ext uri="{FF2B5EF4-FFF2-40B4-BE49-F238E27FC236}">
                  <a16:creationId xmlns:a16="http://schemas.microsoft.com/office/drawing/2014/main" id="{CEFE7466-94D0-4BED-941C-CA542E0DBAC3}"/>
                </a:ext>
              </a:extLst>
            </p:cNvPr>
            <p:cNvSpPr>
              <a:spLocks/>
            </p:cNvSpPr>
            <p:nvPr/>
          </p:nvSpPr>
          <p:spPr>
            <a:xfrm>
              <a:off x="533400" y="3343275"/>
              <a:ext cx="138112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误差 · 索引 · 预测产物</a:t>
              </a:r>
            </a:p>
          </p:txBody>
        </p:sp>
        <p:sp>
          <p:nvSpPr>
            <p:cNvPr id="23" name="textbox_22">
              <a:extLst>
                <a:ext uri="{FF2B5EF4-FFF2-40B4-BE49-F238E27FC236}">
                  <a16:creationId xmlns:a16="http://schemas.microsoft.com/office/drawing/2014/main" id="{5CC5D139-3577-47DD-8C6E-5BD31C6717A1}"/>
                </a:ext>
              </a:extLst>
            </p:cNvPr>
            <p:cNvSpPr>
              <a:spLocks/>
            </p:cNvSpPr>
            <p:nvPr/>
          </p:nvSpPr>
          <p:spPr>
            <a:xfrm>
              <a:off x="514350" y="3714750"/>
              <a:ext cx="1419225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8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8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8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来源 · 种子 · 真实成本</a:t>
              </a:r>
            </a:p>
          </p:txBody>
        </p:sp>
        <p:sp>
          <p:nvSpPr>
            <p:cNvPr id="24" name="roundRect_23">
              <a:extLst>
                <a:ext uri="{FF2B5EF4-FFF2-40B4-BE49-F238E27FC236}">
                  <a16:creationId xmlns:a16="http://schemas.microsoft.com/office/drawing/2014/main" id="{9901C73D-DC67-4EA0-B33C-D58DD79C083A}"/>
                </a:ext>
              </a:extLst>
            </p:cNvPr>
            <p:cNvSpPr>
              <a:spLocks/>
            </p:cNvSpPr>
            <p:nvPr/>
          </p:nvSpPr>
          <p:spPr>
            <a:xfrm>
              <a:off x="419100" y="4457700"/>
              <a:ext cx="1781175" cy="1114425"/>
            </a:xfrm>
            <a:prstGeom prst="roundRect">
              <a:avLst>
                <a:gd name="adj" fmla="val 7692"/>
              </a:avLst>
            </a:prstGeom>
            <a:solidFill>
              <a:srgbClr val="F4F5FA"/>
            </a:solidFill>
            <a:ln w="9525">
              <a:solidFill>
                <a:srgbClr val="D8D9E3"/>
              </a:solidFill>
              <a:prstDash val="solid"/>
            </a:ln>
          </p:spPr>
        </p:sp>
        <p:sp>
          <p:nvSpPr>
            <p:cNvPr id="25" name="textbox_24">
              <a:extLst>
                <a:ext uri="{FF2B5EF4-FFF2-40B4-BE49-F238E27FC236}">
                  <a16:creationId xmlns:a16="http://schemas.microsoft.com/office/drawing/2014/main" id="{EDE599EE-9E62-409C-801F-065DC8AE2D00}"/>
                </a:ext>
              </a:extLst>
            </p:cNvPr>
            <p:cNvSpPr>
              <a:spLocks/>
            </p:cNvSpPr>
            <p:nvPr/>
          </p:nvSpPr>
          <p:spPr>
            <a:xfrm>
              <a:off x="533400" y="4562475"/>
              <a:ext cx="1543050" cy="219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3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3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当前训练段</a:t>
              </a:r>
            </a:p>
          </p:txBody>
        </p:sp>
        <p:sp>
          <p:nvSpPr>
            <p:cNvPr id="26" name="trace_25">
              <a:extLst>
                <a:ext uri="{FF2B5EF4-FFF2-40B4-BE49-F238E27FC236}">
                  <a16:creationId xmlns:a16="http://schemas.microsoft.com/office/drawing/2014/main" id="{8C5440A0-3147-4958-91A4-388C065D5C86}"/>
                </a:ext>
              </a:extLst>
            </p:cNvPr>
            <p:cNvSpPr>
              <a:spLocks/>
            </p:cNvSpPr>
            <p:nvPr/>
          </p:nvSpPr>
          <p:spPr>
            <a:xfrm>
              <a:off x="542925" y="4886979"/>
              <a:ext cx="1524000" cy="185604"/>
            </a:xfrm>
            <a:custGeom>
              <a:avLst/>
              <a:gdLst/>
              <a:ahLst/>
              <a:cxnLst/>
              <a:rect l="0" t="0" r="0" b="0"/>
              <a:pathLst>
                <a:path w="1524000" h="185604">
                  <a:moveTo>
                    <a:pt x="0" y="122980"/>
                  </a:moveTo>
                  <a:lnTo>
                    <a:pt x="37171" y="100382"/>
                  </a:lnTo>
                  <a:lnTo>
                    <a:pt x="74341" y="166907"/>
                  </a:lnTo>
                  <a:lnTo>
                    <a:pt x="111512" y="149908"/>
                  </a:lnTo>
                  <a:lnTo>
                    <a:pt x="148683" y="101786"/>
                  </a:lnTo>
                  <a:lnTo>
                    <a:pt x="185854" y="109890"/>
                  </a:lnTo>
                  <a:lnTo>
                    <a:pt x="223024" y="10497"/>
                  </a:lnTo>
                  <a:lnTo>
                    <a:pt x="260195" y="52969"/>
                  </a:lnTo>
                  <a:lnTo>
                    <a:pt x="297366" y="23980"/>
                  </a:lnTo>
                  <a:lnTo>
                    <a:pt x="334537" y="63111"/>
                  </a:lnTo>
                  <a:lnTo>
                    <a:pt x="371707" y="131069"/>
                  </a:lnTo>
                  <a:lnTo>
                    <a:pt x="408878" y="111078"/>
                  </a:lnTo>
                  <a:lnTo>
                    <a:pt x="446049" y="185604"/>
                  </a:lnTo>
                  <a:lnTo>
                    <a:pt x="483220" y="113261"/>
                  </a:lnTo>
                  <a:lnTo>
                    <a:pt x="520390" y="110401"/>
                  </a:lnTo>
                  <a:lnTo>
                    <a:pt x="557561" y="69603"/>
                  </a:lnTo>
                  <a:lnTo>
                    <a:pt x="594732" y="8191"/>
                  </a:lnTo>
                  <a:lnTo>
                    <a:pt x="631902" y="60259"/>
                  </a:lnTo>
                  <a:lnTo>
                    <a:pt x="669073" y="18147"/>
                  </a:lnTo>
                  <a:lnTo>
                    <a:pt x="706244" y="109646"/>
                  </a:lnTo>
                  <a:lnTo>
                    <a:pt x="743415" y="122046"/>
                  </a:lnTo>
                  <a:lnTo>
                    <a:pt x="780585" y="138711"/>
                  </a:lnTo>
                  <a:lnTo>
                    <a:pt x="817756" y="175127"/>
                  </a:lnTo>
                  <a:lnTo>
                    <a:pt x="854927" y="88891"/>
                  </a:lnTo>
                  <a:lnTo>
                    <a:pt x="892098" y="111573"/>
                  </a:lnTo>
                  <a:lnTo>
                    <a:pt x="929268" y="25968"/>
                  </a:lnTo>
                  <a:lnTo>
                    <a:pt x="966439" y="28596"/>
                  </a:lnTo>
                  <a:lnTo>
                    <a:pt x="1003610" y="50860"/>
                  </a:lnTo>
                  <a:lnTo>
                    <a:pt x="1040780" y="38512"/>
                  </a:lnTo>
                  <a:lnTo>
                    <a:pt x="1077951" y="141174"/>
                  </a:lnTo>
                  <a:lnTo>
                    <a:pt x="1115122" y="113094"/>
                  </a:lnTo>
                  <a:lnTo>
                    <a:pt x="1152293" y="168897"/>
                  </a:lnTo>
                  <a:lnTo>
                    <a:pt x="1189463" y="140169"/>
                  </a:lnTo>
                  <a:lnTo>
                    <a:pt x="1226634" y="84602"/>
                  </a:lnTo>
                  <a:lnTo>
                    <a:pt x="1263805" y="92319"/>
                  </a:lnTo>
                  <a:lnTo>
                    <a:pt x="1300976" y="0"/>
                  </a:lnTo>
                  <a:lnTo>
                    <a:pt x="1338146" y="53976"/>
                  </a:lnTo>
                  <a:lnTo>
                    <a:pt x="1375317" y="35950"/>
                  </a:lnTo>
                  <a:lnTo>
                    <a:pt x="1412488" y="81197"/>
                  </a:lnTo>
                  <a:lnTo>
                    <a:pt x="1449659" y="147484"/>
                  </a:lnTo>
                  <a:lnTo>
                    <a:pt x="1486829" y="119075"/>
                  </a:lnTo>
                  <a:lnTo>
                    <a:pt x="1524000" y="181761"/>
                  </a:lnTo>
                </a:path>
              </a:pathLst>
            </a:custGeom>
            <a:noFill/>
            <a:ln w="13335">
              <a:solidFill>
                <a:srgbClr val="7884B4"/>
              </a:solidFill>
            </a:ln>
          </p:spPr>
        </p:sp>
        <p:sp>
          <p:nvSpPr>
            <p:cNvPr id="27" name="textbox_26">
              <a:extLst>
                <a:ext uri="{FF2B5EF4-FFF2-40B4-BE49-F238E27FC236}">
                  <a16:creationId xmlns:a16="http://schemas.microsoft.com/office/drawing/2014/main" id="{451C910A-DD7E-4FCB-9F41-9A26E086FD08}"/>
                </a:ext>
              </a:extLst>
            </p:cNvPr>
            <p:cNvSpPr>
              <a:spLocks/>
            </p:cNvSpPr>
            <p:nvPr/>
          </p:nvSpPr>
          <p:spPr>
            <a:xfrm>
              <a:off x="533400" y="5219700"/>
              <a:ext cx="1543050" cy="2762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趋势 / 周期 / 任务设置</a:t>
              </a:r>
            </a:p>
          </p:txBody>
        </p:sp>
      </p:grpSp>
      <p:grpSp>
        <p:nvGrpSpPr>
          <p:cNvPr id="165" name="overview_estimator">
            <a:extLst>
              <a:ext uri="{FF2B5EF4-FFF2-40B4-BE49-F238E27FC236}">
                <a16:creationId xmlns:a16="http://schemas.microsoft.com/office/drawing/2014/main" id="{034E2FD1-EA7A-3931-28ED-F1E7D990B21D}"/>
              </a:ext>
            </a:extLst>
          </p:cNvPr>
          <p:cNvGrpSpPr/>
          <p:nvPr/>
        </p:nvGrpSpPr>
        <p:grpSpPr>
          <a:xfrm>
            <a:off x="2200275" y="1562100"/>
            <a:ext cx="4229100" cy="1219200"/>
            <a:chOff x="2200275" y="1562100"/>
            <a:chExt cx="4229100" cy="1219200"/>
          </a:xfrm>
        </p:grpSpPr>
        <p:sp>
          <p:nvSpPr>
            <p:cNvPr id="28" name="native_curve_27">
              <a:extLst>
                <a:ext uri="{FF2B5EF4-FFF2-40B4-BE49-F238E27FC236}">
                  <a16:creationId xmlns:a16="http://schemas.microsoft.com/office/drawing/2014/main" id="{E0B84BD6-396E-4835-9CA9-4EE5E887D9C2}"/>
                </a:ext>
              </a:extLst>
            </p:cNvPr>
            <p:cNvSpPr>
              <a:spLocks/>
            </p:cNvSpPr>
            <p:nvPr/>
          </p:nvSpPr>
          <p:spPr>
            <a:xfrm>
              <a:off x="2200275" y="2162175"/>
              <a:ext cx="704850" cy="428625"/>
            </a:xfrm>
            <a:custGeom>
              <a:avLst/>
              <a:gdLst/>
              <a:ahLst/>
              <a:cxnLst/>
              <a:rect l="0" t="0" r="0" b="0"/>
              <a:pathLst>
                <a:path w="704850" h="428625">
                  <a:moveTo>
                    <a:pt x="0" y="428625"/>
                  </a:moveTo>
                  <a:lnTo>
                    <a:pt x="216694" y="428625"/>
                  </a:lnTo>
                  <a:cubicBezTo>
                    <a:pt x="294481" y="428625"/>
                    <a:pt x="333375" y="389731"/>
                    <a:pt x="333375" y="311944"/>
                  </a:cubicBezTo>
                  <a:lnTo>
                    <a:pt x="333375" y="130016"/>
                  </a:lnTo>
                  <a:cubicBezTo>
                    <a:pt x="333375" y="43339"/>
                    <a:pt x="376714" y="0"/>
                    <a:pt x="463391" y="0"/>
                  </a:cubicBezTo>
                  <a:lnTo>
                    <a:pt x="704850" y="0"/>
                  </a:lnTo>
                </a:path>
              </a:pathLst>
            </a:custGeom>
            <a:noFill/>
            <a:ln w="17145">
              <a:solidFill>
                <a:srgbClr val="8994B4"/>
              </a:solidFill>
              <a:prstDash val="dash"/>
            </a:ln>
          </p:spPr>
        </p:sp>
        <p:sp>
          <p:nvSpPr>
            <p:cNvPr id="29" name="arrow_tip_28">
              <a:extLst>
                <a:ext uri="{FF2B5EF4-FFF2-40B4-BE49-F238E27FC236}">
                  <a16:creationId xmlns:a16="http://schemas.microsoft.com/office/drawing/2014/main" id="{22916E4D-47A7-48FC-8C90-9257579307D7}"/>
                </a:ext>
              </a:extLst>
            </p:cNvPr>
            <p:cNvSpPr>
              <a:spLocks/>
            </p:cNvSpPr>
            <p:nvPr/>
          </p:nvSpPr>
          <p:spPr>
            <a:xfrm>
              <a:off x="2838450" y="2127885"/>
              <a:ext cx="66675" cy="68580"/>
            </a:xfrm>
            <a:custGeom>
              <a:avLst/>
              <a:gdLst/>
              <a:ahLst/>
              <a:cxnLst/>
              <a:rect l="0" t="0" r="0" b="0"/>
              <a:pathLst>
                <a:path w="66675" h="68580">
                  <a:moveTo>
                    <a:pt x="66675" y="34290"/>
                  </a:moveTo>
                  <a:lnTo>
                    <a:pt x="0" y="68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94B4"/>
            </a:solidFill>
            <a:ln w="0">
              <a:noFill/>
            </a:ln>
          </p:spPr>
        </p:sp>
        <p:sp>
          <p:nvSpPr>
            <p:cNvPr id="30" name="roundRect_29">
              <a:extLst>
                <a:ext uri="{FF2B5EF4-FFF2-40B4-BE49-F238E27FC236}">
                  <a16:creationId xmlns:a16="http://schemas.microsoft.com/office/drawing/2014/main" id="{F61F9F14-89A8-4F2A-A2EE-12C8AE481E3F}"/>
                </a:ext>
              </a:extLst>
            </p:cNvPr>
            <p:cNvSpPr>
              <a:spLocks/>
            </p:cNvSpPr>
            <p:nvPr/>
          </p:nvSpPr>
          <p:spPr>
            <a:xfrm>
              <a:off x="2905125" y="1562100"/>
              <a:ext cx="3524250" cy="1219200"/>
            </a:xfrm>
            <a:prstGeom prst="roundRect">
              <a:avLst>
                <a:gd name="adj" fmla="val 7031"/>
              </a:avLst>
            </a:prstGeom>
            <a:solidFill>
              <a:srgbClr val="F5F5FA"/>
            </a:solidFill>
            <a:ln w="9525">
              <a:solidFill>
                <a:srgbClr val="A9B1CD"/>
              </a:solidFill>
              <a:prstDash val="solid"/>
            </a:ln>
          </p:spPr>
        </p:sp>
        <p:sp>
          <p:nvSpPr>
            <p:cNvPr id="31" name="textbox_30">
              <a:extLst>
                <a:ext uri="{FF2B5EF4-FFF2-40B4-BE49-F238E27FC236}">
                  <a16:creationId xmlns:a16="http://schemas.microsoft.com/office/drawing/2014/main" id="{38BA5A30-1463-41DE-AAA9-91BF9E4AC74F}"/>
                </a:ext>
              </a:extLst>
            </p:cNvPr>
            <p:cNvSpPr>
              <a:spLocks/>
            </p:cNvSpPr>
            <p:nvPr/>
          </p:nvSpPr>
          <p:spPr>
            <a:xfrm>
              <a:off x="3067050" y="1666875"/>
              <a:ext cx="3190875" cy="2762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6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6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离线学习：候选表现估计</a:t>
              </a:r>
            </a:p>
          </p:txBody>
        </p:sp>
        <p:sp>
          <p:nvSpPr>
            <p:cNvPr id="32" name="line_31">
              <a:extLst>
                <a:ext uri="{FF2B5EF4-FFF2-40B4-BE49-F238E27FC236}">
                  <a16:creationId xmlns:a16="http://schemas.microsoft.com/office/drawing/2014/main" id="{1070F3C0-4C06-4817-B8B0-CF5358D54150}"/>
                </a:ext>
              </a:extLst>
            </p:cNvPr>
            <p:cNvSpPr>
              <a:spLocks/>
            </p:cNvSpPr>
            <p:nvPr/>
          </p:nvSpPr>
          <p:spPr>
            <a:xfrm flipV="1">
              <a:off x="3251073" y="2143125"/>
              <a:ext cx="149352" cy="158591"/>
            </a:xfrm>
            <a:prstGeom prst="line">
              <a:avLst/>
            </a:prstGeom>
            <a:noFill/>
            <a:ln w="11430">
              <a:solidFill>
                <a:srgbClr val="38385B"/>
              </a:solidFill>
              <a:prstDash val="solid"/>
            </a:ln>
          </p:spPr>
        </p:sp>
        <p:sp>
          <p:nvSpPr>
            <p:cNvPr id="33" name="line_32">
              <a:extLst>
                <a:ext uri="{FF2B5EF4-FFF2-40B4-BE49-F238E27FC236}">
                  <a16:creationId xmlns:a16="http://schemas.microsoft.com/office/drawing/2014/main" id="{85E98C4F-CE7F-4295-BE91-C5A715FBE74E}"/>
                </a:ext>
              </a:extLst>
            </p:cNvPr>
            <p:cNvSpPr>
              <a:spLocks/>
            </p:cNvSpPr>
            <p:nvPr/>
          </p:nvSpPr>
          <p:spPr>
            <a:xfrm>
              <a:off x="3400425" y="2143125"/>
              <a:ext cx="149352" cy="158591"/>
            </a:xfrm>
            <a:prstGeom prst="line">
              <a:avLst/>
            </a:prstGeom>
            <a:noFill/>
            <a:ln w="11430">
              <a:solidFill>
                <a:srgbClr val="38385B"/>
              </a:solidFill>
              <a:prstDash val="solid"/>
            </a:ln>
          </p:spPr>
        </p:sp>
        <p:sp>
          <p:nvSpPr>
            <p:cNvPr id="34" name="line_33">
              <a:extLst>
                <a:ext uri="{FF2B5EF4-FFF2-40B4-BE49-F238E27FC236}">
                  <a16:creationId xmlns:a16="http://schemas.microsoft.com/office/drawing/2014/main" id="{25902F23-273F-4BE7-99D1-2878055B1294}"/>
                </a:ext>
              </a:extLst>
            </p:cNvPr>
            <p:cNvSpPr>
              <a:spLocks/>
            </p:cNvSpPr>
            <p:nvPr/>
          </p:nvSpPr>
          <p:spPr>
            <a:xfrm flipV="1">
              <a:off x="3133725" y="2301716"/>
              <a:ext cx="117348" cy="193834"/>
            </a:xfrm>
            <a:prstGeom prst="line">
              <a:avLst/>
            </a:prstGeom>
            <a:noFill/>
            <a:ln w="11430">
              <a:solidFill>
                <a:srgbClr val="38385B"/>
              </a:solidFill>
              <a:prstDash val="solid"/>
            </a:ln>
          </p:spPr>
        </p:sp>
        <p:sp>
          <p:nvSpPr>
            <p:cNvPr id="35" name="line_34">
              <a:extLst>
                <a:ext uri="{FF2B5EF4-FFF2-40B4-BE49-F238E27FC236}">
                  <a16:creationId xmlns:a16="http://schemas.microsoft.com/office/drawing/2014/main" id="{0100F91A-D1C3-4AD9-9D0C-73974691B419}"/>
                </a:ext>
              </a:extLst>
            </p:cNvPr>
            <p:cNvSpPr>
              <a:spLocks/>
            </p:cNvSpPr>
            <p:nvPr/>
          </p:nvSpPr>
          <p:spPr>
            <a:xfrm>
              <a:off x="3251073" y="2301716"/>
              <a:ext cx="112014" cy="193834"/>
            </a:xfrm>
            <a:prstGeom prst="line">
              <a:avLst/>
            </a:prstGeom>
            <a:noFill/>
            <a:ln w="11430">
              <a:solidFill>
                <a:srgbClr val="38385B"/>
              </a:solidFill>
              <a:prstDash val="solid"/>
            </a:ln>
          </p:spPr>
        </p:sp>
        <p:sp>
          <p:nvSpPr>
            <p:cNvPr id="36" name="line_35">
              <a:extLst>
                <a:ext uri="{FF2B5EF4-FFF2-40B4-BE49-F238E27FC236}">
                  <a16:creationId xmlns:a16="http://schemas.microsoft.com/office/drawing/2014/main" id="{B4838BD6-17B6-4037-820E-2E41B830B435}"/>
                </a:ext>
              </a:extLst>
            </p:cNvPr>
            <p:cNvSpPr>
              <a:spLocks/>
            </p:cNvSpPr>
            <p:nvPr/>
          </p:nvSpPr>
          <p:spPr>
            <a:xfrm>
              <a:off x="3549777" y="2301716"/>
              <a:ext cx="117348" cy="193834"/>
            </a:xfrm>
            <a:prstGeom prst="line">
              <a:avLst/>
            </a:prstGeom>
            <a:noFill/>
            <a:ln w="11430">
              <a:solidFill>
                <a:srgbClr val="38385B"/>
              </a:solidFill>
              <a:prstDash val="solid"/>
            </a:ln>
          </p:spPr>
        </p:sp>
        <p:sp>
          <p:nvSpPr>
            <p:cNvPr id="37" name="ellipse_36">
              <a:extLst>
                <a:ext uri="{FF2B5EF4-FFF2-40B4-BE49-F238E27FC236}">
                  <a16:creationId xmlns:a16="http://schemas.microsoft.com/office/drawing/2014/main" id="{5E327CFC-C12C-4668-9312-E65DDB9E433B}"/>
                </a:ext>
              </a:extLst>
            </p:cNvPr>
            <p:cNvSpPr>
              <a:spLocks/>
            </p:cNvSpPr>
            <p:nvPr/>
          </p:nvSpPr>
          <p:spPr>
            <a:xfrm>
              <a:off x="3362325" y="2105025"/>
              <a:ext cx="76200" cy="76200"/>
            </a:xfrm>
            <a:prstGeom prst="ellipse">
              <a:avLst/>
            </a:prstGeom>
            <a:solidFill>
              <a:srgbClr val="38385B"/>
            </a:solidFill>
            <a:ln w="7620">
              <a:solidFill>
                <a:srgbClr val="38385B"/>
              </a:solidFill>
              <a:prstDash val="solid"/>
            </a:ln>
          </p:spPr>
        </p:sp>
        <p:sp>
          <p:nvSpPr>
            <p:cNvPr id="38" name="ellipse_37">
              <a:extLst>
                <a:ext uri="{FF2B5EF4-FFF2-40B4-BE49-F238E27FC236}">
                  <a16:creationId xmlns:a16="http://schemas.microsoft.com/office/drawing/2014/main" id="{8657FF6E-2BCA-4613-AD87-71E8810EA73D}"/>
                </a:ext>
              </a:extLst>
            </p:cNvPr>
            <p:cNvSpPr>
              <a:spLocks/>
            </p:cNvSpPr>
            <p:nvPr/>
          </p:nvSpPr>
          <p:spPr>
            <a:xfrm>
              <a:off x="3212973" y="2263616"/>
              <a:ext cx="76200" cy="76200"/>
            </a:xfrm>
            <a:prstGeom prst="ellipse">
              <a:avLst/>
            </a:prstGeom>
            <a:solidFill>
              <a:srgbClr val="CAD0E4"/>
            </a:solidFill>
            <a:ln w="7620">
              <a:solidFill>
                <a:srgbClr val="38385B"/>
              </a:solidFill>
              <a:prstDash val="solid"/>
            </a:ln>
          </p:spPr>
        </p:sp>
        <p:sp>
          <p:nvSpPr>
            <p:cNvPr id="39" name="ellipse_38">
              <a:extLst>
                <a:ext uri="{FF2B5EF4-FFF2-40B4-BE49-F238E27FC236}">
                  <a16:creationId xmlns:a16="http://schemas.microsoft.com/office/drawing/2014/main" id="{C2EE385E-FDB2-4DA0-B965-76D5080CE833}"/>
                </a:ext>
              </a:extLst>
            </p:cNvPr>
            <p:cNvSpPr>
              <a:spLocks/>
            </p:cNvSpPr>
            <p:nvPr/>
          </p:nvSpPr>
          <p:spPr>
            <a:xfrm>
              <a:off x="3511677" y="2263616"/>
              <a:ext cx="76200" cy="76200"/>
            </a:xfrm>
            <a:prstGeom prst="ellipse">
              <a:avLst/>
            </a:prstGeom>
            <a:solidFill>
              <a:srgbClr val="CAD0E4"/>
            </a:solidFill>
            <a:ln w="7620">
              <a:solidFill>
                <a:srgbClr val="38385B"/>
              </a:solidFill>
              <a:prstDash val="solid"/>
            </a:ln>
          </p:spPr>
        </p:sp>
        <p:sp>
          <p:nvSpPr>
            <p:cNvPr id="40" name="ellipse_39">
              <a:extLst>
                <a:ext uri="{FF2B5EF4-FFF2-40B4-BE49-F238E27FC236}">
                  <a16:creationId xmlns:a16="http://schemas.microsoft.com/office/drawing/2014/main" id="{1BA25494-AE64-4085-B710-0E4F2CD4948E}"/>
                </a:ext>
              </a:extLst>
            </p:cNvPr>
            <p:cNvSpPr>
              <a:spLocks/>
            </p:cNvSpPr>
            <p:nvPr/>
          </p:nvSpPr>
          <p:spPr>
            <a:xfrm>
              <a:off x="3095625" y="2457450"/>
              <a:ext cx="76200" cy="76200"/>
            </a:xfrm>
            <a:prstGeom prst="ellipse">
              <a:avLst/>
            </a:prstGeom>
            <a:solidFill>
              <a:srgbClr val="CAD0E4"/>
            </a:solidFill>
            <a:ln w="7620">
              <a:solidFill>
                <a:srgbClr val="38385B"/>
              </a:solidFill>
              <a:prstDash val="solid"/>
            </a:ln>
          </p:spPr>
        </p:sp>
        <p:sp>
          <p:nvSpPr>
            <p:cNvPr id="41" name="ellipse_40">
              <a:extLst>
                <a:ext uri="{FF2B5EF4-FFF2-40B4-BE49-F238E27FC236}">
                  <a16:creationId xmlns:a16="http://schemas.microsoft.com/office/drawing/2014/main" id="{3552830E-6932-4CEC-938B-F8E00DBDC5FB}"/>
                </a:ext>
              </a:extLst>
            </p:cNvPr>
            <p:cNvSpPr>
              <a:spLocks/>
            </p:cNvSpPr>
            <p:nvPr/>
          </p:nvSpPr>
          <p:spPr>
            <a:xfrm>
              <a:off x="3324987" y="2457450"/>
              <a:ext cx="76200" cy="76200"/>
            </a:xfrm>
            <a:prstGeom prst="ellipse">
              <a:avLst/>
            </a:prstGeom>
            <a:solidFill>
              <a:srgbClr val="CAD0E4"/>
            </a:solidFill>
            <a:ln w="7620">
              <a:solidFill>
                <a:srgbClr val="38385B"/>
              </a:solidFill>
              <a:prstDash val="solid"/>
            </a:ln>
          </p:spPr>
        </p:sp>
        <p:sp>
          <p:nvSpPr>
            <p:cNvPr id="42" name="ellipse_41">
              <a:extLst>
                <a:ext uri="{FF2B5EF4-FFF2-40B4-BE49-F238E27FC236}">
                  <a16:creationId xmlns:a16="http://schemas.microsoft.com/office/drawing/2014/main" id="{D103032F-4375-4355-B4BC-8087F2B584D9}"/>
                </a:ext>
              </a:extLst>
            </p:cNvPr>
            <p:cNvSpPr>
              <a:spLocks/>
            </p:cNvSpPr>
            <p:nvPr/>
          </p:nvSpPr>
          <p:spPr>
            <a:xfrm>
              <a:off x="3629025" y="2457450"/>
              <a:ext cx="76200" cy="76200"/>
            </a:xfrm>
            <a:prstGeom prst="ellipse">
              <a:avLst/>
            </a:prstGeom>
            <a:solidFill>
              <a:srgbClr val="CAD0E4"/>
            </a:solidFill>
            <a:ln w="7620">
              <a:solidFill>
                <a:srgbClr val="38385B"/>
              </a:solidFill>
              <a:prstDash val="solid"/>
            </a:ln>
          </p:spPr>
        </p:sp>
        <p:sp>
          <p:nvSpPr>
            <p:cNvPr id="43" name="line_42">
              <a:extLst>
                <a:ext uri="{FF2B5EF4-FFF2-40B4-BE49-F238E27FC236}">
                  <a16:creationId xmlns:a16="http://schemas.microsoft.com/office/drawing/2014/main" id="{2BB96994-EDA2-4C8E-B72F-50CAE5091883}"/>
                </a:ext>
              </a:extLst>
            </p:cNvPr>
            <p:cNvSpPr>
              <a:spLocks/>
            </p:cNvSpPr>
            <p:nvPr/>
          </p:nvSpPr>
          <p:spPr>
            <a:xfrm flipV="1">
              <a:off x="3955923" y="2143125"/>
              <a:ext cx="149352" cy="158591"/>
            </a:xfrm>
            <a:prstGeom prst="line">
              <a:avLst/>
            </a:prstGeom>
            <a:noFill/>
            <a:ln w="11430">
              <a:solidFill>
                <a:srgbClr val="8498C4"/>
              </a:solidFill>
              <a:prstDash val="solid"/>
            </a:ln>
          </p:spPr>
        </p:sp>
        <p:sp>
          <p:nvSpPr>
            <p:cNvPr id="44" name="line_43">
              <a:extLst>
                <a:ext uri="{FF2B5EF4-FFF2-40B4-BE49-F238E27FC236}">
                  <a16:creationId xmlns:a16="http://schemas.microsoft.com/office/drawing/2014/main" id="{121C81D2-9E52-45C4-8755-19FFBCE9D44E}"/>
                </a:ext>
              </a:extLst>
            </p:cNvPr>
            <p:cNvSpPr>
              <a:spLocks/>
            </p:cNvSpPr>
            <p:nvPr/>
          </p:nvSpPr>
          <p:spPr>
            <a:xfrm>
              <a:off x="4105275" y="2143125"/>
              <a:ext cx="149352" cy="158591"/>
            </a:xfrm>
            <a:prstGeom prst="line">
              <a:avLst/>
            </a:prstGeom>
            <a:noFill/>
            <a:ln w="11430">
              <a:solidFill>
                <a:srgbClr val="8498C4"/>
              </a:solidFill>
              <a:prstDash val="solid"/>
            </a:ln>
          </p:spPr>
        </p:sp>
        <p:sp>
          <p:nvSpPr>
            <p:cNvPr id="45" name="line_44">
              <a:extLst>
                <a:ext uri="{FF2B5EF4-FFF2-40B4-BE49-F238E27FC236}">
                  <a16:creationId xmlns:a16="http://schemas.microsoft.com/office/drawing/2014/main" id="{2F4F7F3F-5239-431C-BAD2-00E2CD38845B}"/>
                </a:ext>
              </a:extLst>
            </p:cNvPr>
            <p:cNvSpPr>
              <a:spLocks/>
            </p:cNvSpPr>
            <p:nvPr/>
          </p:nvSpPr>
          <p:spPr>
            <a:xfrm flipV="1">
              <a:off x="3838575" y="2301716"/>
              <a:ext cx="117348" cy="193834"/>
            </a:xfrm>
            <a:prstGeom prst="line">
              <a:avLst/>
            </a:prstGeom>
            <a:noFill/>
            <a:ln w="11430">
              <a:solidFill>
                <a:srgbClr val="8498C4"/>
              </a:solidFill>
              <a:prstDash val="solid"/>
            </a:ln>
          </p:spPr>
        </p:sp>
        <p:sp>
          <p:nvSpPr>
            <p:cNvPr id="46" name="line_45">
              <a:extLst>
                <a:ext uri="{FF2B5EF4-FFF2-40B4-BE49-F238E27FC236}">
                  <a16:creationId xmlns:a16="http://schemas.microsoft.com/office/drawing/2014/main" id="{C9F8C7BC-DEE4-42EC-8340-6FD8348A14AE}"/>
                </a:ext>
              </a:extLst>
            </p:cNvPr>
            <p:cNvSpPr>
              <a:spLocks/>
            </p:cNvSpPr>
            <p:nvPr/>
          </p:nvSpPr>
          <p:spPr>
            <a:xfrm>
              <a:off x="3955923" y="2301716"/>
              <a:ext cx="112014" cy="193834"/>
            </a:xfrm>
            <a:prstGeom prst="line">
              <a:avLst/>
            </a:prstGeom>
            <a:noFill/>
            <a:ln w="11430">
              <a:solidFill>
                <a:srgbClr val="8498C4"/>
              </a:solidFill>
              <a:prstDash val="solid"/>
            </a:ln>
          </p:spPr>
        </p:sp>
        <p:sp>
          <p:nvSpPr>
            <p:cNvPr id="47" name="line_46">
              <a:extLst>
                <a:ext uri="{FF2B5EF4-FFF2-40B4-BE49-F238E27FC236}">
                  <a16:creationId xmlns:a16="http://schemas.microsoft.com/office/drawing/2014/main" id="{C09A38CF-E1FD-4ECB-A4BE-93BA8338FE64}"/>
                </a:ext>
              </a:extLst>
            </p:cNvPr>
            <p:cNvSpPr>
              <a:spLocks/>
            </p:cNvSpPr>
            <p:nvPr/>
          </p:nvSpPr>
          <p:spPr>
            <a:xfrm>
              <a:off x="4254627" y="2301716"/>
              <a:ext cx="117348" cy="193834"/>
            </a:xfrm>
            <a:prstGeom prst="line">
              <a:avLst/>
            </a:prstGeom>
            <a:noFill/>
            <a:ln w="11430">
              <a:solidFill>
                <a:srgbClr val="8498C4"/>
              </a:solidFill>
              <a:prstDash val="solid"/>
            </a:ln>
          </p:spPr>
        </p:sp>
        <p:sp>
          <p:nvSpPr>
            <p:cNvPr id="48" name="ellipse_47">
              <a:extLst>
                <a:ext uri="{FF2B5EF4-FFF2-40B4-BE49-F238E27FC236}">
                  <a16:creationId xmlns:a16="http://schemas.microsoft.com/office/drawing/2014/main" id="{6BB452B2-3808-4B4A-9A8F-D02C1ACFF90C}"/>
                </a:ext>
              </a:extLst>
            </p:cNvPr>
            <p:cNvSpPr>
              <a:spLocks/>
            </p:cNvSpPr>
            <p:nvPr/>
          </p:nvSpPr>
          <p:spPr>
            <a:xfrm>
              <a:off x="4067175" y="2105025"/>
              <a:ext cx="76200" cy="76200"/>
            </a:xfrm>
            <a:prstGeom prst="ellipse">
              <a:avLst/>
            </a:prstGeom>
            <a:solidFill>
              <a:srgbClr val="8498C4"/>
            </a:solidFill>
            <a:ln w="7620">
              <a:solidFill>
                <a:srgbClr val="8498C4"/>
              </a:solidFill>
              <a:prstDash val="solid"/>
            </a:ln>
          </p:spPr>
        </p:sp>
        <p:sp>
          <p:nvSpPr>
            <p:cNvPr id="49" name="ellipse_48">
              <a:extLst>
                <a:ext uri="{FF2B5EF4-FFF2-40B4-BE49-F238E27FC236}">
                  <a16:creationId xmlns:a16="http://schemas.microsoft.com/office/drawing/2014/main" id="{D4433BC0-713E-4AB5-9087-F2A19E9F69DD}"/>
                </a:ext>
              </a:extLst>
            </p:cNvPr>
            <p:cNvSpPr>
              <a:spLocks/>
            </p:cNvSpPr>
            <p:nvPr/>
          </p:nvSpPr>
          <p:spPr>
            <a:xfrm>
              <a:off x="3917823" y="2263616"/>
              <a:ext cx="76200" cy="76200"/>
            </a:xfrm>
            <a:prstGeom prst="ellipse">
              <a:avLst/>
            </a:prstGeom>
            <a:solidFill>
              <a:srgbClr val="CAD0E4"/>
            </a:solidFill>
            <a:ln w="7620">
              <a:solidFill>
                <a:srgbClr val="8498C4"/>
              </a:solidFill>
              <a:prstDash val="solid"/>
            </a:ln>
          </p:spPr>
        </p:sp>
        <p:sp>
          <p:nvSpPr>
            <p:cNvPr id="50" name="ellipse_49">
              <a:extLst>
                <a:ext uri="{FF2B5EF4-FFF2-40B4-BE49-F238E27FC236}">
                  <a16:creationId xmlns:a16="http://schemas.microsoft.com/office/drawing/2014/main" id="{939EF1A8-A020-46CB-ABB2-16986B2D7166}"/>
                </a:ext>
              </a:extLst>
            </p:cNvPr>
            <p:cNvSpPr>
              <a:spLocks/>
            </p:cNvSpPr>
            <p:nvPr/>
          </p:nvSpPr>
          <p:spPr>
            <a:xfrm>
              <a:off x="4216527" y="2263616"/>
              <a:ext cx="76200" cy="76200"/>
            </a:xfrm>
            <a:prstGeom prst="ellipse">
              <a:avLst/>
            </a:prstGeom>
            <a:solidFill>
              <a:srgbClr val="CAD0E4"/>
            </a:solidFill>
            <a:ln w="7620">
              <a:solidFill>
                <a:srgbClr val="8498C4"/>
              </a:solidFill>
              <a:prstDash val="solid"/>
            </a:ln>
          </p:spPr>
        </p:sp>
        <p:sp>
          <p:nvSpPr>
            <p:cNvPr id="51" name="ellipse_50">
              <a:extLst>
                <a:ext uri="{FF2B5EF4-FFF2-40B4-BE49-F238E27FC236}">
                  <a16:creationId xmlns:a16="http://schemas.microsoft.com/office/drawing/2014/main" id="{44BE1BC0-C27D-4DAA-9796-7A315C732954}"/>
                </a:ext>
              </a:extLst>
            </p:cNvPr>
            <p:cNvSpPr>
              <a:spLocks/>
            </p:cNvSpPr>
            <p:nvPr/>
          </p:nvSpPr>
          <p:spPr>
            <a:xfrm>
              <a:off x="3800475" y="2457450"/>
              <a:ext cx="76200" cy="76200"/>
            </a:xfrm>
            <a:prstGeom prst="ellipse">
              <a:avLst/>
            </a:prstGeom>
            <a:solidFill>
              <a:srgbClr val="CAD0E4"/>
            </a:solidFill>
            <a:ln w="7620">
              <a:solidFill>
                <a:srgbClr val="8498C4"/>
              </a:solidFill>
              <a:prstDash val="solid"/>
            </a:ln>
          </p:spPr>
        </p:sp>
        <p:sp>
          <p:nvSpPr>
            <p:cNvPr id="52" name="ellipse_51">
              <a:extLst>
                <a:ext uri="{FF2B5EF4-FFF2-40B4-BE49-F238E27FC236}">
                  <a16:creationId xmlns:a16="http://schemas.microsoft.com/office/drawing/2014/main" id="{FCCB02EB-5A72-4520-A70C-BDEC926D5EA7}"/>
                </a:ext>
              </a:extLst>
            </p:cNvPr>
            <p:cNvSpPr>
              <a:spLocks/>
            </p:cNvSpPr>
            <p:nvPr/>
          </p:nvSpPr>
          <p:spPr>
            <a:xfrm>
              <a:off x="4029837" y="2457450"/>
              <a:ext cx="76200" cy="76200"/>
            </a:xfrm>
            <a:prstGeom prst="ellipse">
              <a:avLst/>
            </a:prstGeom>
            <a:solidFill>
              <a:srgbClr val="CAD0E4"/>
            </a:solidFill>
            <a:ln w="7620">
              <a:solidFill>
                <a:srgbClr val="8498C4"/>
              </a:solidFill>
              <a:prstDash val="solid"/>
            </a:ln>
          </p:spPr>
        </p:sp>
        <p:sp>
          <p:nvSpPr>
            <p:cNvPr id="53" name="ellipse_52">
              <a:extLst>
                <a:ext uri="{FF2B5EF4-FFF2-40B4-BE49-F238E27FC236}">
                  <a16:creationId xmlns:a16="http://schemas.microsoft.com/office/drawing/2014/main" id="{F21D60BE-1B69-45ED-8577-0C637FF33F87}"/>
                </a:ext>
              </a:extLst>
            </p:cNvPr>
            <p:cNvSpPr>
              <a:spLocks/>
            </p:cNvSpPr>
            <p:nvPr/>
          </p:nvSpPr>
          <p:spPr>
            <a:xfrm>
              <a:off x="4333875" y="2457450"/>
              <a:ext cx="76200" cy="76200"/>
            </a:xfrm>
            <a:prstGeom prst="ellipse">
              <a:avLst/>
            </a:prstGeom>
            <a:solidFill>
              <a:srgbClr val="CAD0E4"/>
            </a:solidFill>
            <a:ln w="7620">
              <a:solidFill>
                <a:srgbClr val="8498C4"/>
              </a:solidFill>
              <a:prstDash val="solid"/>
            </a:ln>
          </p:spPr>
        </p:sp>
        <p:sp>
          <p:nvSpPr>
            <p:cNvPr id="54" name="textbox_53">
              <a:extLst>
                <a:ext uri="{FF2B5EF4-FFF2-40B4-BE49-F238E27FC236}">
                  <a16:creationId xmlns:a16="http://schemas.microsoft.com/office/drawing/2014/main" id="{F321915F-9258-491D-9F94-B87F17D66DF2}"/>
                </a:ext>
              </a:extLst>
            </p:cNvPr>
            <p:cNvSpPr>
              <a:spLocks/>
            </p:cNvSpPr>
            <p:nvPr/>
          </p:nvSpPr>
          <p:spPr>
            <a:xfrm>
              <a:off x="4572000" y="2076450"/>
              <a:ext cx="1714500" cy="219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2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2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2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RandomForest</a:t>
              </a:r>
            </a:p>
          </p:txBody>
        </p:sp>
        <p:sp>
          <p:nvSpPr>
            <p:cNvPr id="55" name="textbox_54">
              <a:extLst>
                <a:ext uri="{FF2B5EF4-FFF2-40B4-BE49-F238E27FC236}">
                  <a16:creationId xmlns:a16="http://schemas.microsoft.com/office/drawing/2014/main" id="{89278881-75C3-47EA-96A1-DD7241B66AA7}"/>
                </a:ext>
              </a:extLst>
            </p:cNvPr>
            <p:cNvSpPr>
              <a:spLocks/>
            </p:cNvSpPr>
            <p:nvPr/>
          </p:nvSpPr>
          <p:spPr>
            <a:xfrm>
              <a:off x="4572000" y="2343150"/>
              <a:ext cx="1704975" cy="3333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7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7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7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任务、模型与配置</a:t>
              </a:r>
            </a:p>
            <a:p>
              <a:pPr algn="l">
                <a:defRPr sz="97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7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→ 预计验证误差</a:t>
              </a:r>
            </a:p>
          </p:txBody>
        </p:sp>
      </p:grpSp>
      <p:grpSp>
        <p:nvGrpSpPr>
          <p:cNvPr id="166" name="overview_selector">
            <a:extLst>
              <a:ext uri="{FF2B5EF4-FFF2-40B4-BE49-F238E27FC236}">
                <a16:creationId xmlns:a16="http://schemas.microsoft.com/office/drawing/2014/main" id="{B286DB0A-FD5E-0B19-4EFC-1694C3596C0C}"/>
              </a:ext>
            </a:extLst>
          </p:cNvPr>
          <p:cNvGrpSpPr/>
          <p:nvPr/>
        </p:nvGrpSpPr>
        <p:grpSpPr>
          <a:xfrm>
            <a:off x="2200275" y="2781300"/>
            <a:ext cx="4229100" cy="2200275"/>
            <a:chOff x="2200275" y="2781300"/>
            <a:chExt cx="4229100" cy="2200275"/>
          </a:xfrm>
        </p:grpSpPr>
        <p:sp>
          <p:nvSpPr>
            <p:cNvPr id="56" name="native_curve_55">
              <a:extLst>
                <a:ext uri="{FF2B5EF4-FFF2-40B4-BE49-F238E27FC236}">
                  <a16:creationId xmlns:a16="http://schemas.microsoft.com/office/drawing/2014/main" id="{FC72A716-865D-4EFB-8433-94541451C884}"/>
                </a:ext>
              </a:extLst>
            </p:cNvPr>
            <p:cNvSpPr>
              <a:spLocks/>
            </p:cNvSpPr>
            <p:nvPr/>
          </p:nvSpPr>
          <p:spPr>
            <a:xfrm>
              <a:off x="4667250" y="2781300"/>
              <a:ext cx="953" cy="381000"/>
            </a:xfrm>
            <a:custGeom>
              <a:avLst/>
              <a:gdLst/>
              <a:ahLst/>
              <a:cxnLst/>
              <a:rect l="0" t="0" r="0" b="0"/>
              <a:pathLst>
                <a:path w="953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7145">
              <a:solidFill>
                <a:srgbClr val="8994B4"/>
              </a:solidFill>
              <a:prstDash val="dash"/>
            </a:ln>
          </p:spPr>
        </p:sp>
        <p:sp>
          <p:nvSpPr>
            <p:cNvPr id="57" name="arrow_tip_56">
              <a:extLst>
                <a:ext uri="{FF2B5EF4-FFF2-40B4-BE49-F238E27FC236}">
                  <a16:creationId xmlns:a16="http://schemas.microsoft.com/office/drawing/2014/main" id="{64D47C70-C9E5-4981-B151-C02BEC314167}"/>
                </a:ext>
              </a:extLst>
            </p:cNvPr>
            <p:cNvSpPr>
              <a:spLocks/>
            </p:cNvSpPr>
            <p:nvPr/>
          </p:nvSpPr>
          <p:spPr>
            <a:xfrm>
              <a:off x="4632960" y="3095625"/>
              <a:ext cx="68580" cy="66675"/>
            </a:xfrm>
            <a:custGeom>
              <a:avLst/>
              <a:gdLst/>
              <a:ahLst/>
              <a:cxnLst/>
              <a:rect l="0" t="0" r="0" b="0"/>
              <a:pathLst>
                <a:path w="68580" h="66675">
                  <a:moveTo>
                    <a:pt x="34290" y="66675"/>
                  </a:moveTo>
                  <a:lnTo>
                    <a:pt x="0" y="0"/>
                  </a:lnTo>
                  <a:lnTo>
                    <a:pt x="68580" y="0"/>
                  </a:lnTo>
                  <a:close/>
                </a:path>
              </a:pathLst>
            </a:custGeom>
            <a:solidFill>
              <a:srgbClr val="8994B4"/>
            </a:solidFill>
            <a:ln w="0">
              <a:noFill/>
            </a:ln>
          </p:spPr>
        </p:sp>
        <p:sp>
          <p:nvSpPr>
            <p:cNvPr id="58" name="native_curve_57">
              <a:extLst>
                <a:ext uri="{FF2B5EF4-FFF2-40B4-BE49-F238E27FC236}">
                  <a16:creationId xmlns:a16="http://schemas.microsoft.com/office/drawing/2014/main" id="{26061423-E398-4D5A-A203-58D5F09C4C0A}"/>
                </a:ext>
              </a:extLst>
            </p:cNvPr>
            <p:cNvSpPr>
              <a:spLocks/>
            </p:cNvSpPr>
            <p:nvPr/>
          </p:nvSpPr>
          <p:spPr>
            <a:xfrm>
              <a:off x="2200275" y="4067175"/>
              <a:ext cx="704850" cy="914400"/>
            </a:xfrm>
            <a:custGeom>
              <a:avLst/>
              <a:gdLst/>
              <a:ahLst/>
              <a:cxnLst/>
              <a:rect l="0" t="0" r="0" b="0"/>
              <a:pathLst>
                <a:path w="704850" h="914400">
                  <a:moveTo>
                    <a:pt x="0" y="914400"/>
                  </a:moveTo>
                  <a:lnTo>
                    <a:pt x="222885" y="914400"/>
                  </a:lnTo>
                  <a:cubicBezTo>
                    <a:pt x="302895" y="914400"/>
                    <a:pt x="342900" y="874395"/>
                    <a:pt x="342900" y="794385"/>
                  </a:cubicBezTo>
                  <a:lnTo>
                    <a:pt x="342900" y="126683"/>
                  </a:lnTo>
                  <a:cubicBezTo>
                    <a:pt x="342900" y="42228"/>
                    <a:pt x="385128" y="0"/>
                    <a:pt x="469583" y="0"/>
                  </a:cubicBezTo>
                  <a:lnTo>
                    <a:pt x="704850" y="0"/>
                  </a:lnTo>
                </a:path>
              </a:pathLst>
            </a:custGeom>
            <a:noFill/>
            <a:ln w="20955">
              <a:solidFill>
                <a:srgbClr val="7884B4"/>
              </a:solidFill>
              <a:prstDash val="solid"/>
            </a:ln>
          </p:spPr>
        </p:sp>
        <p:sp>
          <p:nvSpPr>
            <p:cNvPr id="59" name="arrow_tip_58">
              <a:extLst>
                <a:ext uri="{FF2B5EF4-FFF2-40B4-BE49-F238E27FC236}">
                  <a16:creationId xmlns:a16="http://schemas.microsoft.com/office/drawing/2014/main" id="{3709C9EC-46DD-494B-82E9-6FE431A8389E}"/>
                </a:ext>
              </a:extLst>
            </p:cNvPr>
            <p:cNvSpPr>
              <a:spLocks/>
            </p:cNvSpPr>
            <p:nvPr/>
          </p:nvSpPr>
          <p:spPr>
            <a:xfrm>
              <a:off x="2838450" y="4032885"/>
              <a:ext cx="66675" cy="68580"/>
            </a:xfrm>
            <a:custGeom>
              <a:avLst/>
              <a:gdLst/>
              <a:ahLst/>
              <a:cxnLst/>
              <a:rect l="0" t="0" r="0" b="0"/>
              <a:pathLst>
                <a:path w="66675" h="68580">
                  <a:moveTo>
                    <a:pt x="66675" y="34290"/>
                  </a:moveTo>
                  <a:lnTo>
                    <a:pt x="0" y="68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84B4"/>
            </a:solidFill>
            <a:ln w="0">
              <a:noFill/>
            </a:ln>
          </p:spPr>
        </p:sp>
        <p:sp>
          <p:nvSpPr>
            <p:cNvPr id="60" name="roundRect_59">
              <a:extLst>
                <a:ext uri="{FF2B5EF4-FFF2-40B4-BE49-F238E27FC236}">
                  <a16:creationId xmlns:a16="http://schemas.microsoft.com/office/drawing/2014/main" id="{11C1F6CC-587F-4308-95C7-501BFFDD6437}"/>
                </a:ext>
              </a:extLst>
            </p:cNvPr>
            <p:cNvSpPr>
              <a:spLocks/>
            </p:cNvSpPr>
            <p:nvPr/>
          </p:nvSpPr>
          <p:spPr>
            <a:xfrm>
              <a:off x="2905125" y="3162300"/>
              <a:ext cx="3524250" cy="1647825"/>
            </a:xfrm>
            <a:prstGeom prst="roundRect">
              <a:avLst>
                <a:gd name="adj" fmla="val 5202"/>
              </a:avLst>
            </a:prstGeom>
            <a:solidFill>
              <a:srgbClr val="ECECF5"/>
            </a:solidFill>
            <a:ln w="9525">
              <a:solidFill>
                <a:srgbClr val="999FC0"/>
              </a:solidFill>
              <a:prstDash val="solid"/>
            </a:ln>
          </p:spPr>
        </p:sp>
        <p:sp>
          <p:nvSpPr>
            <p:cNvPr id="61" name="textbox_60">
              <a:extLst>
                <a:ext uri="{FF2B5EF4-FFF2-40B4-BE49-F238E27FC236}">
                  <a16:creationId xmlns:a16="http://schemas.microsoft.com/office/drawing/2014/main" id="{E0837D83-019E-4B66-933A-94C24EAE2E05}"/>
                </a:ext>
              </a:extLst>
            </p:cNvPr>
            <p:cNvSpPr>
              <a:spLocks/>
            </p:cNvSpPr>
            <p:nvPr/>
          </p:nvSpPr>
          <p:spPr>
            <a:xfrm>
              <a:off x="3086100" y="3286125"/>
              <a:ext cx="3171825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6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6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在线选择：下一项真实实验</a:t>
              </a:r>
            </a:p>
          </p:txBody>
        </p:sp>
        <p:sp>
          <p:nvSpPr>
            <p:cNvPr id="62" name="roundRect_61">
              <a:extLst>
                <a:ext uri="{FF2B5EF4-FFF2-40B4-BE49-F238E27FC236}">
                  <a16:creationId xmlns:a16="http://schemas.microsoft.com/office/drawing/2014/main" id="{C78D9D9A-CE6C-4EFD-ADF7-98ED4DF1739F}"/>
                </a:ext>
              </a:extLst>
            </p:cNvPr>
            <p:cNvSpPr>
              <a:spLocks/>
            </p:cNvSpPr>
            <p:nvPr/>
          </p:nvSpPr>
          <p:spPr>
            <a:xfrm>
              <a:off x="3086100" y="3667125"/>
              <a:ext cx="933450" cy="238125"/>
            </a:xfrm>
            <a:prstGeom prst="roundRect">
              <a:avLst>
                <a:gd name="adj" fmla="val 36000"/>
              </a:avLst>
            </a:prstGeom>
            <a:solidFill>
              <a:srgbClr val="EEF0F7"/>
            </a:solidFill>
            <a:ln w="9525">
              <a:solidFill>
                <a:srgbClr val="D8D9E3"/>
              </a:solidFill>
              <a:prstDash val="solid"/>
            </a:ln>
          </p:spPr>
        </p:sp>
        <p:sp>
          <p:nvSpPr>
            <p:cNvPr id="63" name="textbox_62">
              <a:extLst>
                <a:ext uri="{FF2B5EF4-FFF2-40B4-BE49-F238E27FC236}">
                  <a16:creationId xmlns:a16="http://schemas.microsoft.com/office/drawing/2014/main" id="{0F99DDEC-D8FE-4A4F-9C49-85F146C0F717}"/>
                </a:ext>
              </a:extLst>
            </p:cNvPr>
            <p:cNvSpPr>
              <a:spLocks/>
            </p:cNvSpPr>
            <p:nvPr/>
          </p:nvSpPr>
          <p:spPr>
            <a:xfrm>
              <a:off x="3162300" y="3695700"/>
              <a:ext cx="78105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任务 z</a:t>
              </a:r>
            </a:p>
          </p:txBody>
        </p:sp>
        <p:sp>
          <p:nvSpPr>
            <p:cNvPr id="64" name="roundRect_63">
              <a:extLst>
                <a:ext uri="{FF2B5EF4-FFF2-40B4-BE49-F238E27FC236}">
                  <a16:creationId xmlns:a16="http://schemas.microsoft.com/office/drawing/2014/main" id="{9E0E9E66-EDF4-46C5-8B83-932BE5207385}"/>
                </a:ext>
              </a:extLst>
            </p:cNvPr>
            <p:cNvSpPr>
              <a:spLocks/>
            </p:cNvSpPr>
            <p:nvPr/>
          </p:nvSpPr>
          <p:spPr>
            <a:xfrm>
              <a:off x="4105275" y="3667125"/>
              <a:ext cx="981075" cy="238125"/>
            </a:xfrm>
            <a:prstGeom prst="roundRect">
              <a:avLst>
                <a:gd name="adj" fmla="val 36000"/>
              </a:avLst>
            </a:prstGeom>
            <a:solidFill>
              <a:srgbClr val="EEF0F7"/>
            </a:solidFill>
            <a:ln w="9525">
              <a:solidFill>
                <a:srgbClr val="D8D9E3"/>
              </a:solidFill>
              <a:prstDash val="solid"/>
            </a:ln>
          </p:spPr>
        </p:sp>
        <p:sp>
          <p:nvSpPr>
            <p:cNvPr id="65" name="textbox_64">
              <a:extLst>
                <a:ext uri="{FF2B5EF4-FFF2-40B4-BE49-F238E27FC236}">
                  <a16:creationId xmlns:a16="http://schemas.microsoft.com/office/drawing/2014/main" id="{AF27D800-3F4A-4C5C-918D-0665FD6C0432}"/>
                </a:ext>
              </a:extLst>
            </p:cNvPr>
            <p:cNvSpPr>
              <a:spLocks/>
            </p:cNvSpPr>
            <p:nvPr/>
          </p:nvSpPr>
          <p:spPr>
            <a:xfrm>
              <a:off x="4181475" y="3695700"/>
              <a:ext cx="8286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历史 H</a:t>
              </a:r>
            </a:p>
          </p:txBody>
        </p:sp>
        <p:sp>
          <p:nvSpPr>
            <p:cNvPr id="66" name="roundRect_65">
              <a:extLst>
                <a:ext uri="{FF2B5EF4-FFF2-40B4-BE49-F238E27FC236}">
                  <a16:creationId xmlns:a16="http://schemas.microsoft.com/office/drawing/2014/main" id="{FCA56AF6-B2EF-4864-8579-D07D3079A21A}"/>
                </a:ext>
              </a:extLst>
            </p:cNvPr>
            <p:cNvSpPr>
              <a:spLocks/>
            </p:cNvSpPr>
            <p:nvPr/>
          </p:nvSpPr>
          <p:spPr>
            <a:xfrm>
              <a:off x="5172075" y="3667125"/>
              <a:ext cx="1076325" cy="238125"/>
            </a:xfrm>
            <a:prstGeom prst="roundRect">
              <a:avLst>
                <a:gd name="adj" fmla="val 36000"/>
              </a:avLst>
            </a:prstGeom>
            <a:solidFill>
              <a:srgbClr val="EEF0F7"/>
            </a:solidFill>
            <a:ln w="9525">
              <a:solidFill>
                <a:srgbClr val="D8D9E3"/>
              </a:solidFill>
              <a:prstDash val="solid"/>
            </a:ln>
          </p:spPr>
        </p:sp>
        <p:sp>
          <p:nvSpPr>
            <p:cNvPr id="67" name="textbox_66">
              <a:extLst>
                <a:ext uri="{FF2B5EF4-FFF2-40B4-BE49-F238E27FC236}">
                  <a16:creationId xmlns:a16="http://schemas.microsoft.com/office/drawing/2014/main" id="{46AAAA54-B5C7-4E6A-A383-49D71403A3A4}"/>
                </a:ext>
              </a:extLst>
            </p:cNvPr>
            <p:cNvSpPr>
              <a:spLocks/>
            </p:cNvSpPr>
            <p:nvPr/>
          </p:nvSpPr>
          <p:spPr>
            <a:xfrm>
              <a:off x="5248275" y="3695700"/>
              <a:ext cx="92392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预算 B</a:t>
              </a:r>
            </a:p>
          </p:txBody>
        </p:sp>
        <p:sp>
          <p:nvSpPr>
            <p:cNvPr id="68" name="line_67">
              <a:extLst>
                <a:ext uri="{FF2B5EF4-FFF2-40B4-BE49-F238E27FC236}">
                  <a16:creationId xmlns:a16="http://schemas.microsoft.com/office/drawing/2014/main" id="{D1A0F32C-158F-4D81-A341-6D1D0AACBC2A}"/>
                </a:ext>
              </a:extLst>
            </p:cNvPr>
            <p:cNvSpPr>
              <a:spLocks/>
            </p:cNvSpPr>
            <p:nvPr/>
          </p:nvSpPr>
          <p:spPr>
            <a:xfrm flipV="1">
              <a:off x="3412617" y="4181475"/>
              <a:ext cx="197358" cy="167164"/>
            </a:xfrm>
            <a:prstGeom prst="line">
              <a:avLst/>
            </a:prstGeom>
            <a:noFill/>
            <a:ln w="11430">
              <a:solidFill>
                <a:srgbClr val="38385B"/>
              </a:solidFill>
              <a:prstDash val="solid"/>
            </a:ln>
          </p:spPr>
        </p:sp>
        <p:sp>
          <p:nvSpPr>
            <p:cNvPr id="69" name="line_68">
              <a:extLst>
                <a:ext uri="{FF2B5EF4-FFF2-40B4-BE49-F238E27FC236}">
                  <a16:creationId xmlns:a16="http://schemas.microsoft.com/office/drawing/2014/main" id="{765F2E6C-C41E-4785-B4B3-6A3E7464A7BF}"/>
                </a:ext>
              </a:extLst>
            </p:cNvPr>
            <p:cNvSpPr>
              <a:spLocks/>
            </p:cNvSpPr>
            <p:nvPr/>
          </p:nvSpPr>
          <p:spPr>
            <a:xfrm>
              <a:off x="3609975" y="4181475"/>
              <a:ext cx="197358" cy="167164"/>
            </a:xfrm>
            <a:prstGeom prst="line">
              <a:avLst/>
            </a:prstGeom>
            <a:noFill/>
            <a:ln w="11430">
              <a:solidFill>
                <a:srgbClr val="38385B"/>
              </a:solidFill>
              <a:prstDash val="solid"/>
            </a:ln>
          </p:spPr>
        </p:sp>
        <p:sp>
          <p:nvSpPr>
            <p:cNvPr id="70" name="line_69">
              <a:extLst>
                <a:ext uri="{FF2B5EF4-FFF2-40B4-BE49-F238E27FC236}">
                  <a16:creationId xmlns:a16="http://schemas.microsoft.com/office/drawing/2014/main" id="{FBDD5007-AC8A-41CE-8BBC-F0FE639B3814}"/>
                </a:ext>
              </a:extLst>
            </p:cNvPr>
            <p:cNvSpPr>
              <a:spLocks/>
            </p:cNvSpPr>
            <p:nvPr/>
          </p:nvSpPr>
          <p:spPr>
            <a:xfrm flipV="1">
              <a:off x="3257550" y="4348639"/>
              <a:ext cx="155067" cy="204311"/>
            </a:xfrm>
            <a:prstGeom prst="line">
              <a:avLst/>
            </a:prstGeom>
            <a:noFill/>
            <a:ln w="11430">
              <a:solidFill>
                <a:srgbClr val="38385B"/>
              </a:solidFill>
              <a:prstDash val="solid"/>
            </a:ln>
          </p:spPr>
        </p:sp>
        <p:sp>
          <p:nvSpPr>
            <p:cNvPr id="71" name="line_70">
              <a:extLst>
                <a:ext uri="{FF2B5EF4-FFF2-40B4-BE49-F238E27FC236}">
                  <a16:creationId xmlns:a16="http://schemas.microsoft.com/office/drawing/2014/main" id="{DBA8ABE4-2621-45C0-8FF6-480FE4DEF748}"/>
                </a:ext>
              </a:extLst>
            </p:cNvPr>
            <p:cNvSpPr>
              <a:spLocks/>
            </p:cNvSpPr>
            <p:nvPr/>
          </p:nvSpPr>
          <p:spPr>
            <a:xfrm>
              <a:off x="3412617" y="4348639"/>
              <a:ext cx="148019" cy="204311"/>
            </a:xfrm>
            <a:prstGeom prst="line">
              <a:avLst/>
            </a:prstGeom>
            <a:noFill/>
            <a:ln w="11430">
              <a:solidFill>
                <a:srgbClr val="38385B"/>
              </a:solidFill>
              <a:prstDash val="solid"/>
            </a:ln>
          </p:spPr>
        </p:sp>
        <p:sp>
          <p:nvSpPr>
            <p:cNvPr id="72" name="line_71">
              <a:extLst>
                <a:ext uri="{FF2B5EF4-FFF2-40B4-BE49-F238E27FC236}">
                  <a16:creationId xmlns:a16="http://schemas.microsoft.com/office/drawing/2014/main" id="{0DC8DABD-14B8-4D9D-AF33-88C195B8B612}"/>
                </a:ext>
              </a:extLst>
            </p:cNvPr>
            <p:cNvSpPr>
              <a:spLocks/>
            </p:cNvSpPr>
            <p:nvPr/>
          </p:nvSpPr>
          <p:spPr>
            <a:xfrm>
              <a:off x="3807333" y="4348639"/>
              <a:ext cx="155067" cy="204311"/>
            </a:xfrm>
            <a:prstGeom prst="line">
              <a:avLst/>
            </a:prstGeom>
            <a:noFill/>
            <a:ln w="11430">
              <a:solidFill>
                <a:srgbClr val="38385B"/>
              </a:solidFill>
              <a:prstDash val="solid"/>
            </a:ln>
          </p:spPr>
        </p:sp>
        <p:sp>
          <p:nvSpPr>
            <p:cNvPr id="73" name="ellipse_72">
              <a:extLst>
                <a:ext uri="{FF2B5EF4-FFF2-40B4-BE49-F238E27FC236}">
                  <a16:creationId xmlns:a16="http://schemas.microsoft.com/office/drawing/2014/main" id="{107BF97E-3CF4-42F5-AFE1-0FCB0AFA03B1}"/>
                </a:ext>
              </a:extLst>
            </p:cNvPr>
            <p:cNvSpPr>
              <a:spLocks/>
            </p:cNvSpPr>
            <p:nvPr/>
          </p:nvSpPr>
          <p:spPr>
            <a:xfrm>
              <a:off x="3571875" y="4143375"/>
              <a:ext cx="76200" cy="76200"/>
            </a:xfrm>
            <a:prstGeom prst="ellipse">
              <a:avLst/>
            </a:prstGeom>
            <a:solidFill>
              <a:srgbClr val="38385B"/>
            </a:solidFill>
            <a:ln w="7620">
              <a:solidFill>
                <a:srgbClr val="38385B"/>
              </a:solidFill>
              <a:prstDash val="solid"/>
            </a:ln>
          </p:spPr>
        </p:sp>
        <p:sp>
          <p:nvSpPr>
            <p:cNvPr id="74" name="ellipse_73">
              <a:extLst>
                <a:ext uri="{FF2B5EF4-FFF2-40B4-BE49-F238E27FC236}">
                  <a16:creationId xmlns:a16="http://schemas.microsoft.com/office/drawing/2014/main" id="{7E03FB3F-8646-4090-BB12-3D5D5B9B2419}"/>
                </a:ext>
              </a:extLst>
            </p:cNvPr>
            <p:cNvSpPr>
              <a:spLocks/>
            </p:cNvSpPr>
            <p:nvPr/>
          </p:nvSpPr>
          <p:spPr>
            <a:xfrm>
              <a:off x="3374517" y="4310539"/>
              <a:ext cx="76200" cy="76200"/>
            </a:xfrm>
            <a:prstGeom prst="ellipse">
              <a:avLst/>
            </a:prstGeom>
            <a:solidFill>
              <a:srgbClr val="CAD0E4"/>
            </a:solidFill>
            <a:ln w="7620">
              <a:solidFill>
                <a:srgbClr val="38385B"/>
              </a:solidFill>
              <a:prstDash val="solid"/>
            </a:ln>
          </p:spPr>
        </p:sp>
        <p:sp>
          <p:nvSpPr>
            <p:cNvPr id="75" name="ellipse_74">
              <a:extLst>
                <a:ext uri="{FF2B5EF4-FFF2-40B4-BE49-F238E27FC236}">
                  <a16:creationId xmlns:a16="http://schemas.microsoft.com/office/drawing/2014/main" id="{0B90580F-3024-4B11-9F2B-60D561973BFA}"/>
                </a:ext>
              </a:extLst>
            </p:cNvPr>
            <p:cNvSpPr>
              <a:spLocks/>
            </p:cNvSpPr>
            <p:nvPr/>
          </p:nvSpPr>
          <p:spPr>
            <a:xfrm>
              <a:off x="3769233" y="4310539"/>
              <a:ext cx="76200" cy="76200"/>
            </a:xfrm>
            <a:prstGeom prst="ellipse">
              <a:avLst/>
            </a:prstGeom>
            <a:solidFill>
              <a:srgbClr val="CAD0E4"/>
            </a:solidFill>
            <a:ln w="7620">
              <a:solidFill>
                <a:srgbClr val="38385B"/>
              </a:solidFill>
              <a:prstDash val="solid"/>
            </a:ln>
          </p:spPr>
        </p:sp>
        <p:sp>
          <p:nvSpPr>
            <p:cNvPr id="76" name="ellipse_75">
              <a:extLst>
                <a:ext uri="{FF2B5EF4-FFF2-40B4-BE49-F238E27FC236}">
                  <a16:creationId xmlns:a16="http://schemas.microsoft.com/office/drawing/2014/main" id="{AB2BF023-0DD1-488B-936D-1D1F153B5458}"/>
                </a:ext>
              </a:extLst>
            </p:cNvPr>
            <p:cNvSpPr>
              <a:spLocks/>
            </p:cNvSpPr>
            <p:nvPr/>
          </p:nvSpPr>
          <p:spPr>
            <a:xfrm>
              <a:off x="3219450" y="4514850"/>
              <a:ext cx="76200" cy="76200"/>
            </a:xfrm>
            <a:prstGeom prst="ellipse">
              <a:avLst/>
            </a:prstGeom>
            <a:solidFill>
              <a:srgbClr val="CAD0E4"/>
            </a:solidFill>
            <a:ln w="7620">
              <a:solidFill>
                <a:srgbClr val="38385B"/>
              </a:solidFill>
              <a:prstDash val="solid"/>
            </a:ln>
          </p:spPr>
        </p:sp>
        <p:sp>
          <p:nvSpPr>
            <p:cNvPr id="77" name="ellipse_76">
              <a:extLst>
                <a:ext uri="{FF2B5EF4-FFF2-40B4-BE49-F238E27FC236}">
                  <a16:creationId xmlns:a16="http://schemas.microsoft.com/office/drawing/2014/main" id="{A3E3D274-0045-4D3C-8A6A-6F9992A10A38}"/>
                </a:ext>
              </a:extLst>
            </p:cNvPr>
            <p:cNvSpPr>
              <a:spLocks/>
            </p:cNvSpPr>
            <p:nvPr/>
          </p:nvSpPr>
          <p:spPr>
            <a:xfrm>
              <a:off x="3522536" y="4514850"/>
              <a:ext cx="76200" cy="76200"/>
            </a:xfrm>
            <a:prstGeom prst="ellipse">
              <a:avLst/>
            </a:prstGeom>
            <a:solidFill>
              <a:srgbClr val="CAD0E4"/>
            </a:solidFill>
            <a:ln w="7620">
              <a:solidFill>
                <a:srgbClr val="38385B"/>
              </a:solidFill>
              <a:prstDash val="solid"/>
            </a:ln>
          </p:spPr>
        </p:sp>
        <p:sp>
          <p:nvSpPr>
            <p:cNvPr id="78" name="ellipse_77">
              <a:extLst>
                <a:ext uri="{FF2B5EF4-FFF2-40B4-BE49-F238E27FC236}">
                  <a16:creationId xmlns:a16="http://schemas.microsoft.com/office/drawing/2014/main" id="{F6427B18-4E9D-4678-A8A0-32F5B7C99538}"/>
                </a:ext>
              </a:extLst>
            </p:cNvPr>
            <p:cNvSpPr>
              <a:spLocks/>
            </p:cNvSpPr>
            <p:nvPr/>
          </p:nvSpPr>
          <p:spPr>
            <a:xfrm>
              <a:off x="3924300" y="4514850"/>
              <a:ext cx="76200" cy="76200"/>
            </a:xfrm>
            <a:prstGeom prst="ellipse">
              <a:avLst/>
            </a:prstGeom>
            <a:solidFill>
              <a:srgbClr val="CAD0E4"/>
            </a:solidFill>
            <a:ln w="7620">
              <a:solidFill>
                <a:srgbClr val="38385B"/>
              </a:solidFill>
              <a:prstDash val="solid"/>
            </a:ln>
          </p:spPr>
        </p:sp>
        <p:sp>
          <p:nvSpPr>
            <p:cNvPr id="79" name="textbox_78">
              <a:extLst>
                <a:ext uri="{FF2B5EF4-FFF2-40B4-BE49-F238E27FC236}">
                  <a16:creationId xmlns:a16="http://schemas.microsoft.com/office/drawing/2014/main" id="{F2389C87-065F-4987-96E9-62F4E16C07E9}"/>
                </a:ext>
              </a:extLst>
            </p:cNvPr>
            <p:cNvSpPr>
              <a:spLocks/>
            </p:cNvSpPr>
            <p:nvPr/>
          </p:nvSpPr>
          <p:spPr>
            <a:xfrm>
              <a:off x="4438650" y="4067175"/>
              <a:ext cx="17145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1</a:t>
              </a:r>
            </a:p>
          </p:txBody>
        </p:sp>
        <p:sp>
          <p:nvSpPr>
            <p:cNvPr id="80" name="roundRect_79">
              <a:extLst>
                <a:ext uri="{FF2B5EF4-FFF2-40B4-BE49-F238E27FC236}">
                  <a16:creationId xmlns:a16="http://schemas.microsoft.com/office/drawing/2014/main" id="{C5CC3370-73E6-41F1-9655-14A26AE45AF7}"/>
                </a:ext>
              </a:extLst>
            </p:cNvPr>
            <p:cNvSpPr>
              <a:spLocks/>
            </p:cNvSpPr>
            <p:nvPr/>
          </p:nvSpPr>
          <p:spPr>
            <a:xfrm>
              <a:off x="4667250" y="4105275"/>
              <a:ext cx="628650" cy="66675"/>
            </a:xfrm>
            <a:prstGeom prst="roundRect">
              <a:avLst>
                <a:gd name="adj" fmla="val 50000"/>
              </a:avLst>
            </a:prstGeom>
            <a:solidFill>
              <a:srgbClr val="38385B"/>
            </a:solidFill>
            <a:ln w="0">
              <a:noFill/>
              <a:prstDash val="solid"/>
            </a:ln>
          </p:spPr>
        </p:sp>
        <p:sp>
          <p:nvSpPr>
            <p:cNvPr id="81" name="textbox_80">
              <a:extLst>
                <a:ext uri="{FF2B5EF4-FFF2-40B4-BE49-F238E27FC236}">
                  <a16:creationId xmlns:a16="http://schemas.microsoft.com/office/drawing/2014/main" id="{258A882C-18B3-4ACB-95FE-DFF3625BA158}"/>
                </a:ext>
              </a:extLst>
            </p:cNvPr>
            <p:cNvSpPr>
              <a:spLocks/>
            </p:cNvSpPr>
            <p:nvPr/>
          </p:nvSpPr>
          <p:spPr>
            <a:xfrm>
              <a:off x="4438650" y="4254500"/>
              <a:ext cx="17145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2</a:t>
              </a:r>
            </a:p>
          </p:txBody>
        </p:sp>
        <p:sp>
          <p:nvSpPr>
            <p:cNvPr id="82" name="roundRect_81">
              <a:extLst>
                <a:ext uri="{FF2B5EF4-FFF2-40B4-BE49-F238E27FC236}">
                  <a16:creationId xmlns:a16="http://schemas.microsoft.com/office/drawing/2014/main" id="{B42DCAE2-B759-432F-BA63-B34431D5D003}"/>
                </a:ext>
              </a:extLst>
            </p:cNvPr>
            <p:cNvSpPr>
              <a:spLocks/>
            </p:cNvSpPr>
            <p:nvPr/>
          </p:nvSpPr>
          <p:spPr>
            <a:xfrm>
              <a:off x="4667250" y="4292600"/>
              <a:ext cx="495300" cy="66675"/>
            </a:xfrm>
            <a:prstGeom prst="roundRect">
              <a:avLst>
                <a:gd name="adj" fmla="val 50000"/>
              </a:avLst>
            </a:prstGeom>
            <a:solidFill>
              <a:srgbClr val="B7C1DD"/>
            </a:solidFill>
            <a:ln w="0">
              <a:noFill/>
              <a:prstDash val="solid"/>
            </a:ln>
          </p:spPr>
        </p:sp>
        <p:sp>
          <p:nvSpPr>
            <p:cNvPr id="83" name="textbox_82">
              <a:extLst>
                <a:ext uri="{FF2B5EF4-FFF2-40B4-BE49-F238E27FC236}">
                  <a16:creationId xmlns:a16="http://schemas.microsoft.com/office/drawing/2014/main" id="{22A2F882-7C25-4324-84B1-E999A120D8EA}"/>
                </a:ext>
              </a:extLst>
            </p:cNvPr>
            <p:cNvSpPr>
              <a:spLocks/>
            </p:cNvSpPr>
            <p:nvPr/>
          </p:nvSpPr>
          <p:spPr>
            <a:xfrm>
              <a:off x="4438650" y="4441825"/>
              <a:ext cx="17145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3</a:t>
              </a:r>
            </a:p>
          </p:txBody>
        </p:sp>
        <p:sp>
          <p:nvSpPr>
            <p:cNvPr id="84" name="roundRect_83">
              <a:extLst>
                <a:ext uri="{FF2B5EF4-FFF2-40B4-BE49-F238E27FC236}">
                  <a16:creationId xmlns:a16="http://schemas.microsoft.com/office/drawing/2014/main" id="{3057F415-9376-4350-AB85-2DD591D4EEEA}"/>
                </a:ext>
              </a:extLst>
            </p:cNvPr>
            <p:cNvSpPr>
              <a:spLocks/>
            </p:cNvSpPr>
            <p:nvPr/>
          </p:nvSpPr>
          <p:spPr>
            <a:xfrm>
              <a:off x="4667250" y="4479925"/>
              <a:ext cx="361950" cy="66675"/>
            </a:xfrm>
            <a:prstGeom prst="roundRect">
              <a:avLst>
                <a:gd name="adj" fmla="val 50000"/>
              </a:avLst>
            </a:prstGeom>
            <a:solidFill>
              <a:srgbClr val="B7C1DD"/>
            </a:solidFill>
            <a:ln w="0">
              <a:noFill/>
              <a:prstDash val="solid"/>
            </a:ln>
          </p:spPr>
        </p:sp>
        <p:sp>
          <p:nvSpPr>
            <p:cNvPr id="85" name="textbox_84">
              <a:extLst>
                <a:ext uri="{FF2B5EF4-FFF2-40B4-BE49-F238E27FC236}">
                  <a16:creationId xmlns:a16="http://schemas.microsoft.com/office/drawing/2014/main" id="{E2F6CA8A-F0AF-4143-9EDA-50092AC761C8}"/>
                </a:ext>
              </a:extLst>
            </p:cNvPr>
            <p:cNvSpPr>
              <a:spLocks/>
            </p:cNvSpPr>
            <p:nvPr/>
          </p:nvSpPr>
          <p:spPr>
            <a:xfrm>
              <a:off x="5457825" y="4124325"/>
              <a:ext cx="762000" cy="4381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0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0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0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未执行</a:t>
              </a:r>
            </a:p>
            <a:p>
              <a:pPr algn="l">
                <a:defRPr sz="10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0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候选排序</a:t>
              </a:r>
            </a:p>
          </p:txBody>
        </p:sp>
        <p:sp>
          <p:nvSpPr>
            <p:cNvPr id="86" name="textbox_85">
              <a:extLst>
                <a:ext uri="{FF2B5EF4-FFF2-40B4-BE49-F238E27FC236}">
                  <a16:creationId xmlns:a16="http://schemas.microsoft.com/office/drawing/2014/main" id="{0CC62612-F65A-4347-B330-8A44E39F67DE}"/>
                </a:ext>
              </a:extLst>
            </p:cNvPr>
            <p:cNvSpPr>
              <a:spLocks/>
            </p:cNvSpPr>
            <p:nvPr/>
          </p:nvSpPr>
          <p:spPr>
            <a:xfrm>
              <a:off x="3086100" y="4572000"/>
              <a:ext cx="314325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8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8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8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只使用当前可见信息 · 排序为机制示意</a:t>
              </a:r>
            </a:p>
          </p:txBody>
        </p:sp>
      </p:grpSp>
      <p:grpSp>
        <p:nvGrpSpPr>
          <p:cNvPr id="167" name="overview_candidates">
            <a:extLst>
              <a:ext uri="{FF2B5EF4-FFF2-40B4-BE49-F238E27FC236}">
                <a16:creationId xmlns:a16="http://schemas.microsoft.com/office/drawing/2014/main" id="{4771590C-B62A-DC29-140E-B747E4EA6F60}"/>
              </a:ext>
            </a:extLst>
          </p:cNvPr>
          <p:cNvGrpSpPr/>
          <p:nvPr/>
        </p:nvGrpSpPr>
        <p:grpSpPr>
          <a:xfrm>
            <a:off x="6429375" y="1562100"/>
            <a:ext cx="4572000" cy="3114675"/>
            <a:chOff x="6429375" y="1562100"/>
            <a:chExt cx="4572000" cy="3114675"/>
          </a:xfrm>
        </p:grpSpPr>
        <p:sp>
          <p:nvSpPr>
            <p:cNvPr id="87" name="native_curve_86">
              <a:extLst>
                <a:ext uri="{FF2B5EF4-FFF2-40B4-BE49-F238E27FC236}">
                  <a16:creationId xmlns:a16="http://schemas.microsoft.com/office/drawing/2014/main" id="{78FE6381-2F62-4B8E-B0D3-DFA851CA6D0C}"/>
                </a:ext>
              </a:extLst>
            </p:cNvPr>
            <p:cNvSpPr>
              <a:spLocks/>
            </p:cNvSpPr>
            <p:nvPr/>
          </p:nvSpPr>
          <p:spPr>
            <a:xfrm>
              <a:off x="6429375" y="3086100"/>
              <a:ext cx="714375" cy="923925"/>
            </a:xfrm>
            <a:custGeom>
              <a:avLst/>
              <a:gdLst/>
              <a:ahLst/>
              <a:cxnLst/>
              <a:rect l="0" t="0" r="0" b="0"/>
              <a:pathLst>
                <a:path w="714375" h="923925">
                  <a:moveTo>
                    <a:pt x="0" y="923925"/>
                  </a:moveTo>
                  <a:lnTo>
                    <a:pt x="235268" y="923925"/>
                  </a:lnTo>
                  <a:cubicBezTo>
                    <a:pt x="319723" y="923925"/>
                    <a:pt x="361950" y="881698"/>
                    <a:pt x="361950" y="797242"/>
                  </a:cubicBezTo>
                  <a:lnTo>
                    <a:pt x="361950" y="123349"/>
                  </a:lnTo>
                  <a:cubicBezTo>
                    <a:pt x="361950" y="41116"/>
                    <a:pt x="403066" y="0"/>
                    <a:pt x="485299" y="0"/>
                  </a:cubicBezTo>
                  <a:lnTo>
                    <a:pt x="714375" y="0"/>
                  </a:lnTo>
                </a:path>
              </a:pathLst>
            </a:custGeom>
            <a:noFill/>
            <a:ln w="20955">
              <a:solidFill>
                <a:srgbClr val="38385B"/>
              </a:solidFill>
              <a:prstDash val="solid"/>
            </a:ln>
          </p:spPr>
        </p:sp>
        <p:sp>
          <p:nvSpPr>
            <p:cNvPr id="88" name="arrow_tip_87">
              <a:extLst>
                <a:ext uri="{FF2B5EF4-FFF2-40B4-BE49-F238E27FC236}">
                  <a16:creationId xmlns:a16="http://schemas.microsoft.com/office/drawing/2014/main" id="{F77CEAA9-14E4-47A4-AF18-9D4DC4702077}"/>
                </a:ext>
              </a:extLst>
            </p:cNvPr>
            <p:cNvSpPr>
              <a:spLocks/>
            </p:cNvSpPr>
            <p:nvPr/>
          </p:nvSpPr>
          <p:spPr>
            <a:xfrm>
              <a:off x="7077075" y="3051810"/>
              <a:ext cx="66675" cy="68580"/>
            </a:xfrm>
            <a:custGeom>
              <a:avLst/>
              <a:gdLst/>
              <a:ahLst/>
              <a:cxnLst/>
              <a:rect l="0" t="0" r="0" b="0"/>
              <a:pathLst>
                <a:path w="66675" h="68580">
                  <a:moveTo>
                    <a:pt x="66675" y="34290"/>
                  </a:moveTo>
                  <a:lnTo>
                    <a:pt x="0" y="68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385B"/>
            </a:solidFill>
            <a:ln w="0">
              <a:noFill/>
            </a:ln>
          </p:spPr>
        </p:sp>
        <p:sp>
          <p:nvSpPr>
            <p:cNvPr id="89" name="textbox_88">
              <a:extLst>
                <a:ext uri="{FF2B5EF4-FFF2-40B4-BE49-F238E27FC236}">
                  <a16:creationId xmlns:a16="http://schemas.microsoft.com/office/drawing/2014/main" id="{F8FAC2A2-59E1-41B6-9B39-CAA5F64C35F5}"/>
                </a:ext>
              </a:extLst>
            </p:cNvPr>
            <p:cNvSpPr>
              <a:spLocks/>
            </p:cNvSpPr>
            <p:nvPr/>
          </p:nvSpPr>
          <p:spPr>
            <a:xfrm>
              <a:off x="6496050" y="4257675"/>
              <a:ext cx="5715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训练</a:t>
              </a:r>
            </a:p>
            <a:p>
              <a:pPr algn="l">
                <a:def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验证</a:t>
              </a:r>
            </a:p>
          </p:txBody>
        </p:sp>
        <p:sp>
          <p:nvSpPr>
            <p:cNvPr id="90" name="roundRect_89">
              <a:extLst>
                <a:ext uri="{FF2B5EF4-FFF2-40B4-BE49-F238E27FC236}">
                  <a16:creationId xmlns:a16="http://schemas.microsoft.com/office/drawing/2014/main" id="{1114B590-E792-4E32-9835-1973DB302696}"/>
                </a:ext>
              </a:extLst>
            </p:cNvPr>
            <p:cNvSpPr>
              <a:spLocks/>
            </p:cNvSpPr>
            <p:nvPr/>
          </p:nvSpPr>
          <p:spPr>
            <a:xfrm>
              <a:off x="7143750" y="1562100"/>
              <a:ext cx="3857625" cy="3057525"/>
            </a:xfrm>
            <a:prstGeom prst="roundRect">
              <a:avLst>
                <a:gd name="adj" fmla="val 2804"/>
              </a:avLst>
            </a:prstGeom>
            <a:solidFill>
              <a:srgbClr val="FFFFFF"/>
            </a:solidFill>
            <a:ln w="9525">
              <a:solidFill>
                <a:srgbClr val="A9B1CD"/>
              </a:solidFill>
              <a:prstDash val="solid"/>
            </a:ln>
          </p:spPr>
        </p:sp>
        <p:sp>
          <p:nvSpPr>
            <p:cNvPr id="91" name="textbox_90">
              <a:extLst>
                <a:ext uri="{FF2B5EF4-FFF2-40B4-BE49-F238E27FC236}">
                  <a16:creationId xmlns:a16="http://schemas.microsoft.com/office/drawing/2014/main" id="{9CB9A977-C3FA-46FF-B9A7-BA30358E3CF5}"/>
                </a:ext>
              </a:extLst>
            </p:cNvPr>
            <p:cNvSpPr>
              <a:spLocks/>
            </p:cNvSpPr>
            <p:nvPr/>
          </p:nvSpPr>
          <p:spPr>
            <a:xfrm>
              <a:off x="7296150" y="1666875"/>
              <a:ext cx="3571875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5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5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异质候选池：每轮执行一个</a:t>
              </a:r>
            </a:p>
          </p:txBody>
        </p:sp>
        <p:sp>
          <p:nvSpPr>
            <p:cNvPr id="92" name="roundRect_91">
              <a:extLst>
                <a:ext uri="{FF2B5EF4-FFF2-40B4-BE49-F238E27FC236}">
                  <a16:creationId xmlns:a16="http://schemas.microsoft.com/office/drawing/2014/main" id="{EBE5D361-104B-4340-B64C-E385E38BBB92}"/>
                </a:ext>
              </a:extLst>
            </p:cNvPr>
            <p:cNvSpPr>
              <a:spLocks/>
            </p:cNvSpPr>
            <p:nvPr/>
          </p:nvSpPr>
          <p:spPr>
            <a:xfrm>
              <a:off x="7286625" y="2028825"/>
              <a:ext cx="3571875" cy="666750"/>
            </a:xfrm>
            <a:prstGeom prst="roundRect">
              <a:avLst>
                <a:gd name="adj" fmla="val 12857"/>
              </a:avLst>
            </a:prstGeom>
            <a:solidFill>
              <a:srgbClr val="EEF0F7"/>
            </a:solidFill>
            <a:ln w="9525">
              <a:solidFill>
                <a:srgbClr val="D8D9E3"/>
              </a:solidFill>
              <a:prstDash val="solid"/>
            </a:ln>
          </p:spPr>
        </p:sp>
        <p:sp>
          <p:nvSpPr>
            <p:cNvPr id="93" name="textbox_92">
              <a:extLst>
                <a:ext uri="{FF2B5EF4-FFF2-40B4-BE49-F238E27FC236}">
                  <a16:creationId xmlns:a16="http://schemas.microsoft.com/office/drawing/2014/main" id="{019C49C3-0A49-40D6-82E9-A2EE69AB6F54}"/>
                </a:ext>
              </a:extLst>
            </p:cNvPr>
            <p:cNvSpPr>
              <a:spLocks/>
            </p:cNvSpPr>
            <p:nvPr/>
          </p:nvSpPr>
          <p:spPr>
            <a:xfrm>
              <a:off x="7400925" y="2114550"/>
              <a:ext cx="136207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2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2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2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DLinear</a:t>
              </a:r>
            </a:p>
          </p:txBody>
        </p:sp>
        <p:sp>
          <p:nvSpPr>
            <p:cNvPr id="94" name="textbox_93">
              <a:extLst>
                <a:ext uri="{FF2B5EF4-FFF2-40B4-BE49-F238E27FC236}">
                  <a16:creationId xmlns:a16="http://schemas.microsoft.com/office/drawing/2014/main" id="{F938ECFC-8736-48E3-BEA3-D39B7CFBFFD9}"/>
                </a:ext>
              </a:extLst>
            </p:cNvPr>
            <p:cNvSpPr>
              <a:spLocks/>
            </p:cNvSpPr>
            <p:nvPr/>
          </p:nvSpPr>
          <p:spPr>
            <a:xfrm>
              <a:off x="7400925" y="2390775"/>
              <a:ext cx="1514475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趋势 / 余项线性映射</a:t>
              </a:r>
            </a:p>
          </p:txBody>
        </p:sp>
        <p:sp>
          <p:nvSpPr>
            <p:cNvPr id="95" name="trace_94">
              <a:extLst>
                <a:ext uri="{FF2B5EF4-FFF2-40B4-BE49-F238E27FC236}">
                  <a16:creationId xmlns:a16="http://schemas.microsoft.com/office/drawing/2014/main" id="{D3B6A210-C255-4128-BBBB-83E357A2655E}"/>
                </a:ext>
              </a:extLst>
            </p:cNvPr>
            <p:cNvSpPr>
              <a:spLocks/>
            </p:cNvSpPr>
            <p:nvPr/>
          </p:nvSpPr>
          <p:spPr>
            <a:xfrm>
              <a:off x="9067800" y="2200002"/>
              <a:ext cx="666750" cy="108802"/>
            </a:xfrm>
            <a:custGeom>
              <a:avLst/>
              <a:gdLst/>
              <a:ahLst/>
              <a:cxnLst/>
              <a:rect l="0" t="0" r="0" b="0"/>
              <a:pathLst>
                <a:path w="666750" h="108802">
                  <a:moveTo>
                    <a:pt x="0" y="72092"/>
                  </a:moveTo>
                  <a:lnTo>
                    <a:pt x="16262" y="58845"/>
                  </a:lnTo>
                  <a:lnTo>
                    <a:pt x="32524" y="97842"/>
                  </a:lnTo>
                  <a:lnTo>
                    <a:pt x="48787" y="87877"/>
                  </a:lnTo>
                  <a:lnTo>
                    <a:pt x="65049" y="59667"/>
                  </a:lnTo>
                  <a:lnTo>
                    <a:pt x="81311" y="64419"/>
                  </a:lnTo>
                  <a:lnTo>
                    <a:pt x="97573" y="6154"/>
                  </a:lnTo>
                  <a:lnTo>
                    <a:pt x="113835" y="31051"/>
                  </a:lnTo>
                  <a:lnTo>
                    <a:pt x="130098" y="14057"/>
                  </a:lnTo>
                  <a:lnTo>
                    <a:pt x="146360" y="36996"/>
                  </a:lnTo>
                  <a:lnTo>
                    <a:pt x="162622" y="76834"/>
                  </a:lnTo>
                  <a:lnTo>
                    <a:pt x="178884" y="65115"/>
                  </a:lnTo>
                  <a:lnTo>
                    <a:pt x="195146" y="108802"/>
                  </a:lnTo>
                  <a:lnTo>
                    <a:pt x="211409" y="66394"/>
                  </a:lnTo>
                  <a:lnTo>
                    <a:pt x="227671" y="64718"/>
                  </a:lnTo>
                  <a:lnTo>
                    <a:pt x="243933" y="40802"/>
                  </a:lnTo>
                  <a:lnTo>
                    <a:pt x="260195" y="4802"/>
                  </a:lnTo>
                  <a:lnTo>
                    <a:pt x="276457" y="35324"/>
                  </a:lnTo>
                  <a:lnTo>
                    <a:pt x="292720" y="10638"/>
                  </a:lnTo>
                  <a:lnTo>
                    <a:pt x="308982" y="64275"/>
                  </a:lnTo>
                  <a:lnTo>
                    <a:pt x="325244" y="71544"/>
                  </a:lnTo>
                  <a:lnTo>
                    <a:pt x="341506" y="81313"/>
                  </a:lnTo>
                  <a:lnTo>
                    <a:pt x="357768" y="102661"/>
                  </a:lnTo>
                  <a:lnTo>
                    <a:pt x="374030" y="52109"/>
                  </a:lnTo>
                  <a:lnTo>
                    <a:pt x="390293" y="65405"/>
                  </a:lnTo>
                  <a:lnTo>
                    <a:pt x="406555" y="15223"/>
                  </a:lnTo>
                  <a:lnTo>
                    <a:pt x="422817" y="16763"/>
                  </a:lnTo>
                  <a:lnTo>
                    <a:pt x="439079" y="29814"/>
                  </a:lnTo>
                  <a:lnTo>
                    <a:pt x="455341" y="22576"/>
                  </a:lnTo>
                  <a:lnTo>
                    <a:pt x="471604" y="82757"/>
                  </a:lnTo>
                  <a:lnTo>
                    <a:pt x="487866" y="66296"/>
                  </a:lnTo>
                  <a:lnTo>
                    <a:pt x="504128" y="99009"/>
                  </a:lnTo>
                  <a:lnTo>
                    <a:pt x="520390" y="82168"/>
                  </a:lnTo>
                  <a:lnTo>
                    <a:pt x="536652" y="49594"/>
                  </a:lnTo>
                  <a:lnTo>
                    <a:pt x="552915" y="54118"/>
                  </a:lnTo>
                  <a:lnTo>
                    <a:pt x="569177" y="0"/>
                  </a:lnTo>
                  <a:lnTo>
                    <a:pt x="585439" y="31641"/>
                  </a:lnTo>
                  <a:lnTo>
                    <a:pt x="601701" y="21074"/>
                  </a:lnTo>
                  <a:lnTo>
                    <a:pt x="617963" y="47599"/>
                  </a:lnTo>
                  <a:lnTo>
                    <a:pt x="634226" y="86456"/>
                  </a:lnTo>
                  <a:lnTo>
                    <a:pt x="650488" y="69802"/>
                  </a:lnTo>
                  <a:lnTo>
                    <a:pt x="666750" y="106550"/>
                  </a:lnTo>
                </a:path>
              </a:pathLst>
            </a:custGeom>
            <a:noFill/>
            <a:ln w="13335">
              <a:solidFill>
                <a:srgbClr val="38385B"/>
              </a:solidFill>
            </a:ln>
          </p:spPr>
        </p:sp>
        <p:sp>
          <p:nvSpPr>
            <p:cNvPr id="96" name="trace_95">
              <a:extLst>
                <a:ext uri="{FF2B5EF4-FFF2-40B4-BE49-F238E27FC236}">
                  <a16:creationId xmlns:a16="http://schemas.microsoft.com/office/drawing/2014/main" id="{3B75A1C3-6B71-46AD-9F00-43B8B65B4319}"/>
                </a:ext>
              </a:extLst>
            </p:cNvPr>
            <p:cNvSpPr>
              <a:spLocks/>
            </p:cNvSpPr>
            <p:nvPr/>
          </p:nvSpPr>
          <p:spPr>
            <a:xfrm>
              <a:off x="9067800" y="2466702"/>
              <a:ext cx="666750" cy="108802"/>
            </a:xfrm>
            <a:custGeom>
              <a:avLst/>
              <a:gdLst/>
              <a:ahLst/>
              <a:cxnLst/>
              <a:rect l="0" t="0" r="0" b="0"/>
              <a:pathLst>
                <a:path w="666750" h="108802">
                  <a:moveTo>
                    <a:pt x="0" y="72092"/>
                  </a:moveTo>
                  <a:lnTo>
                    <a:pt x="16262" y="58845"/>
                  </a:lnTo>
                  <a:lnTo>
                    <a:pt x="32524" y="97842"/>
                  </a:lnTo>
                  <a:lnTo>
                    <a:pt x="48787" y="87877"/>
                  </a:lnTo>
                  <a:lnTo>
                    <a:pt x="65049" y="59667"/>
                  </a:lnTo>
                  <a:lnTo>
                    <a:pt x="81311" y="64419"/>
                  </a:lnTo>
                  <a:lnTo>
                    <a:pt x="97573" y="6154"/>
                  </a:lnTo>
                  <a:lnTo>
                    <a:pt x="113835" y="31051"/>
                  </a:lnTo>
                  <a:lnTo>
                    <a:pt x="130098" y="14057"/>
                  </a:lnTo>
                  <a:lnTo>
                    <a:pt x="146360" y="36996"/>
                  </a:lnTo>
                  <a:lnTo>
                    <a:pt x="162622" y="76834"/>
                  </a:lnTo>
                  <a:lnTo>
                    <a:pt x="178884" y="65115"/>
                  </a:lnTo>
                  <a:lnTo>
                    <a:pt x="195146" y="108802"/>
                  </a:lnTo>
                  <a:lnTo>
                    <a:pt x="211409" y="66394"/>
                  </a:lnTo>
                  <a:lnTo>
                    <a:pt x="227671" y="64718"/>
                  </a:lnTo>
                  <a:lnTo>
                    <a:pt x="243933" y="40802"/>
                  </a:lnTo>
                  <a:lnTo>
                    <a:pt x="260195" y="4802"/>
                  </a:lnTo>
                  <a:lnTo>
                    <a:pt x="276457" y="35324"/>
                  </a:lnTo>
                  <a:lnTo>
                    <a:pt x="292720" y="10638"/>
                  </a:lnTo>
                  <a:lnTo>
                    <a:pt x="308982" y="64275"/>
                  </a:lnTo>
                  <a:lnTo>
                    <a:pt x="325244" y="71544"/>
                  </a:lnTo>
                  <a:lnTo>
                    <a:pt x="341506" y="81313"/>
                  </a:lnTo>
                  <a:lnTo>
                    <a:pt x="357768" y="102661"/>
                  </a:lnTo>
                  <a:lnTo>
                    <a:pt x="374030" y="52109"/>
                  </a:lnTo>
                  <a:lnTo>
                    <a:pt x="390293" y="65405"/>
                  </a:lnTo>
                  <a:lnTo>
                    <a:pt x="406555" y="15223"/>
                  </a:lnTo>
                  <a:lnTo>
                    <a:pt x="422817" y="16763"/>
                  </a:lnTo>
                  <a:lnTo>
                    <a:pt x="439079" y="29814"/>
                  </a:lnTo>
                  <a:lnTo>
                    <a:pt x="455341" y="22576"/>
                  </a:lnTo>
                  <a:lnTo>
                    <a:pt x="471604" y="82757"/>
                  </a:lnTo>
                  <a:lnTo>
                    <a:pt x="487866" y="66296"/>
                  </a:lnTo>
                  <a:lnTo>
                    <a:pt x="504128" y="99009"/>
                  </a:lnTo>
                  <a:lnTo>
                    <a:pt x="520390" y="82168"/>
                  </a:lnTo>
                  <a:lnTo>
                    <a:pt x="536652" y="49594"/>
                  </a:lnTo>
                  <a:lnTo>
                    <a:pt x="552915" y="54118"/>
                  </a:lnTo>
                  <a:lnTo>
                    <a:pt x="569177" y="0"/>
                  </a:lnTo>
                  <a:lnTo>
                    <a:pt x="585439" y="31641"/>
                  </a:lnTo>
                  <a:lnTo>
                    <a:pt x="601701" y="21074"/>
                  </a:lnTo>
                  <a:lnTo>
                    <a:pt x="617963" y="47599"/>
                  </a:lnTo>
                  <a:lnTo>
                    <a:pt x="634226" y="86456"/>
                  </a:lnTo>
                  <a:lnTo>
                    <a:pt x="650488" y="69802"/>
                  </a:lnTo>
                  <a:lnTo>
                    <a:pt x="666750" y="106550"/>
                  </a:lnTo>
                </a:path>
              </a:pathLst>
            </a:custGeom>
            <a:noFill/>
            <a:ln w="13335">
              <a:solidFill>
                <a:srgbClr val="8498C4"/>
              </a:solidFill>
            </a:ln>
          </p:spPr>
        </p:sp>
        <p:sp>
          <p:nvSpPr>
            <p:cNvPr id="97" name="textbox_96">
              <a:extLst>
                <a:ext uri="{FF2B5EF4-FFF2-40B4-BE49-F238E27FC236}">
                  <a16:creationId xmlns:a16="http://schemas.microsoft.com/office/drawing/2014/main" id="{5C650430-3D2C-43ED-9CAF-B97E224A4894}"/>
                </a:ext>
              </a:extLst>
            </p:cNvPr>
            <p:cNvSpPr>
              <a:spLocks/>
            </p:cNvSpPr>
            <p:nvPr/>
          </p:nvSpPr>
          <p:spPr>
            <a:xfrm>
              <a:off x="9848850" y="2247900"/>
              <a:ext cx="152400" cy="219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2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2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2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+</a:t>
              </a:r>
            </a:p>
          </p:txBody>
        </p:sp>
        <p:sp>
          <p:nvSpPr>
            <p:cNvPr id="98" name="trace_97">
              <a:extLst>
                <a:ext uri="{FF2B5EF4-FFF2-40B4-BE49-F238E27FC236}">
                  <a16:creationId xmlns:a16="http://schemas.microsoft.com/office/drawing/2014/main" id="{00BCDDF4-531C-4453-A00A-28211B188FBF}"/>
                </a:ext>
              </a:extLst>
            </p:cNvPr>
            <p:cNvSpPr>
              <a:spLocks/>
            </p:cNvSpPr>
            <p:nvPr/>
          </p:nvSpPr>
          <p:spPr>
            <a:xfrm>
              <a:off x="10096500" y="2313101"/>
              <a:ext cx="619125" cy="140803"/>
            </a:xfrm>
            <a:custGeom>
              <a:avLst/>
              <a:gdLst/>
              <a:ahLst/>
              <a:cxnLst/>
              <a:rect l="0" t="0" r="0" b="0"/>
              <a:pathLst>
                <a:path w="619125" h="140803">
                  <a:moveTo>
                    <a:pt x="0" y="93295"/>
                  </a:moveTo>
                  <a:lnTo>
                    <a:pt x="15101" y="76152"/>
                  </a:lnTo>
                  <a:lnTo>
                    <a:pt x="30201" y="126619"/>
                  </a:lnTo>
                  <a:lnTo>
                    <a:pt x="45302" y="113723"/>
                  </a:lnTo>
                  <a:lnTo>
                    <a:pt x="60402" y="77217"/>
                  </a:lnTo>
                  <a:lnTo>
                    <a:pt x="75503" y="83365"/>
                  </a:lnTo>
                  <a:lnTo>
                    <a:pt x="90604" y="7963"/>
                  </a:lnTo>
                  <a:lnTo>
                    <a:pt x="105704" y="40183"/>
                  </a:lnTo>
                  <a:lnTo>
                    <a:pt x="120805" y="18192"/>
                  </a:lnTo>
                  <a:lnTo>
                    <a:pt x="135905" y="47877"/>
                  </a:lnTo>
                  <a:lnTo>
                    <a:pt x="151006" y="99432"/>
                  </a:lnTo>
                  <a:lnTo>
                    <a:pt x="166107" y="84266"/>
                  </a:lnTo>
                  <a:lnTo>
                    <a:pt x="181207" y="140803"/>
                  </a:lnTo>
                  <a:lnTo>
                    <a:pt x="196308" y="85922"/>
                  </a:lnTo>
                  <a:lnTo>
                    <a:pt x="211409" y="83752"/>
                  </a:lnTo>
                  <a:lnTo>
                    <a:pt x="226509" y="52803"/>
                  </a:lnTo>
                  <a:lnTo>
                    <a:pt x="241610" y="6214"/>
                  </a:lnTo>
                  <a:lnTo>
                    <a:pt x="256710" y="45714"/>
                  </a:lnTo>
                  <a:lnTo>
                    <a:pt x="271811" y="13767"/>
                  </a:lnTo>
                  <a:lnTo>
                    <a:pt x="286912" y="83180"/>
                  </a:lnTo>
                  <a:lnTo>
                    <a:pt x="302012" y="92587"/>
                  </a:lnTo>
                  <a:lnTo>
                    <a:pt x="317113" y="105229"/>
                  </a:lnTo>
                  <a:lnTo>
                    <a:pt x="332213" y="132855"/>
                  </a:lnTo>
                  <a:lnTo>
                    <a:pt x="347314" y="67435"/>
                  </a:lnTo>
                  <a:lnTo>
                    <a:pt x="362415" y="84641"/>
                  </a:lnTo>
                  <a:lnTo>
                    <a:pt x="377515" y="19700"/>
                  </a:lnTo>
                  <a:lnTo>
                    <a:pt x="392616" y="21694"/>
                  </a:lnTo>
                  <a:lnTo>
                    <a:pt x="407716" y="38583"/>
                  </a:lnTo>
                  <a:lnTo>
                    <a:pt x="422817" y="29216"/>
                  </a:lnTo>
                  <a:lnTo>
                    <a:pt x="437918" y="107098"/>
                  </a:lnTo>
                  <a:lnTo>
                    <a:pt x="453018" y="85795"/>
                  </a:lnTo>
                  <a:lnTo>
                    <a:pt x="468119" y="128129"/>
                  </a:lnTo>
                  <a:lnTo>
                    <a:pt x="483220" y="106335"/>
                  </a:lnTo>
                  <a:lnTo>
                    <a:pt x="498320" y="64181"/>
                  </a:lnTo>
                  <a:lnTo>
                    <a:pt x="513421" y="70035"/>
                  </a:lnTo>
                  <a:lnTo>
                    <a:pt x="528521" y="0"/>
                  </a:lnTo>
                  <a:lnTo>
                    <a:pt x="543622" y="40947"/>
                  </a:lnTo>
                  <a:lnTo>
                    <a:pt x="558723" y="27273"/>
                  </a:lnTo>
                  <a:lnTo>
                    <a:pt x="573823" y="61598"/>
                  </a:lnTo>
                  <a:lnTo>
                    <a:pt x="588924" y="111884"/>
                  </a:lnTo>
                  <a:lnTo>
                    <a:pt x="604024" y="90333"/>
                  </a:lnTo>
                  <a:lnTo>
                    <a:pt x="619125" y="137888"/>
                  </a:lnTo>
                </a:path>
              </a:pathLst>
            </a:custGeom>
            <a:noFill/>
            <a:ln w="13335">
              <a:solidFill>
                <a:srgbClr val="9C5875"/>
              </a:solidFill>
            </a:ln>
          </p:spPr>
        </p:sp>
        <p:sp>
          <p:nvSpPr>
            <p:cNvPr id="99" name="roundRect_98">
              <a:extLst>
                <a:ext uri="{FF2B5EF4-FFF2-40B4-BE49-F238E27FC236}">
                  <a16:creationId xmlns:a16="http://schemas.microsoft.com/office/drawing/2014/main" id="{E834771B-EE7F-4E65-8102-A41BDBFFB51E}"/>
                </a:ext>
              </a:extLst>
            </p:cNvPr>
            <p:cNvSpPr>
              <a:spLocks/>
            </p:cNvSpPr>
            <p:nvPr/>
          </p:nvSpPr>
          <p:spPr>
            <a:xfrm>
              <a:off x="7286625" y="2857500"/>
              <a:ext cx="3571875" cy="666750"/>
            </a:xfrm>
            <a:prstGeom prst="roundRect">
              <a:avLst>
                <a:gd name="adj" fmla="val 12857"/>
              </a:avLst>
            </a:prstGeom>
            <a:solidFill>
              <a:srgbClr val="EDF4F2"/>
            </a:solidFill>
            <a:ln w="9525">
              <a:solidFill>
                <a:srgbClr val="D8D9E3"/>
              </a:solidFill>
              <a:prstDash val="solid"/>
            </a:ln>
          </p:spPr>
        </p:sp>
        <p:sp>
          <p:nvSpPr>
            <p:cNvPr id="100" name="textbox_99">
              <a:extLst>
                <a:ext uri="{FF2B5EF4-FFF2-40B4-BE49-F238E27FC236}">
                  <a16:creationId xmlns:a16="http://schemas.microsoft.com/office/drawing/2014/main" id="{B7194E1A-0771-4BEB-B983-13C522CF9578}"/>
                </a:ext>
              </a:extLst>
            </p:cNvPr>
            <p:cNvSpPr>
              <a:spLocks/>
            </p:cNvSpPr>
            <p:nvPr/>
          </p:nvSpPr>
          <p:spPr>
            <a:xfrm>
              <a:off x="7400925" y="2943225"/>
              <a:ext cx="136207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2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2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2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PatchTST</a:t>
              </a:r>
            </a:p>
          </p:txBody>
        </p:sp>
        <p:sp>
          <p:nvSpPr>
            <p:cNvPr id="101" name="textbox_100">
              <a:extLst>
                <a:ext uri="{FF2B5EF4-FFF2-40B4-BE49-F238E27FC236}">
                  <a16:creationId xmlns:a16="http://schemas.microsoft.com/office/drawing/2014/main" id="{15CE5591-5741-4ADB-A4F4-770D8624A904}"/>
                </a:ext>
              </a:extLst>
            </p:cNvPr>
            <p:cNvSpPr>
              <a:spLocks/>
            </p:cNvSpPr>
            <p:nvPr/>
          </p:nvSpPr>
          <p:spPr>
            <a:xfrm>
              <a:off x="7400925" y="3219450"/>
              <a:ext cx="1514475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分块 → 共享编码器</a:t>
              </a:r>
            </a:p>
          </p:txBody>
        </p:sp>
        <p:sp>
          <p:nvSpPr>
            <p:cNvPr id="102" name="trace_101">
              <a:extLst>
                <a:ext uri="{FF2B5EF4-FFF2-40B4-BE49-F238E27FC236}">
                  <a16:creationId xmlns:a16="http://schemas.microsoft.com/office/drawing/2014/main" id="{A4DA8627-DF96-4DAF-BCE5-758374FA59CB}"/>
                </a:ext>
              </a:extLst>
            </p:cNvPr>
            <p:cNvSpPr>
              <a:spLocks/>
            </p:cNvSpPr>
            <p:nvPr/>
          </p:nvSpPr>
          <p:spPr>
            <a:xfrm>
              <a:off x="9058275" y="3137245"/>
              <a:ext cx="666750" cy="160003"/>
            </a:xfrm>
            <a:custGeom>
              <a:avLst/>
              <a:gdLst/>
              <a:ahLst/>
              <a:cxnLst/>
              <a:rect l="0" t="0" r="0" b="0"/>
              <a:pathLst>
                <a:path w="666750" h="160003">
                  <a:moveTo>
                    <a:pt x="0" y="106017"/>
                  </a:moveTo>
                  <a:lnTo>
                    <a:pt x="16262" y="86536"/>
                  </a:lnTo>
                  <a:lnTo>
                    <a:pt x="32524" y="143886"/>
                  </a:lnTo>
                  <a:lnTo>
                    <a:pt x="48787" y="129231"/>
                  </a:lnTo>
                  <a:lnTo>
                    <a:pt x="65049" y="87746"/>
                  </a:lnTo>
                  <a:lnTo>
                    <a:pt x="81311" y="94733"/>
                  </a:lnTo>
                  <a:lnTo>
                    <a:pt x="97573" y="9049"/>
                  </a:lnTo>
                  <a:lnTo>
                    <a:pt x="113835" y="45663"/>
                  </a:lnTo>
                  <a:lnTo>
                    <a:pt x="130098" y="20672"/>
                  </a:lnTo>
                  <a:lnTo>
                    <a:pt x="146360" y="54406"/>
                  </a:lnTo>
                  <a:lnTo>
                    <a:pt x="162622" y="112991"/>
                  </a:lnTo>
                  <a:lnTo>
                    <a:pt x="178884" y="95757"/>
                  </a:lnTo>
                  <a:lnTo>
                    <a:pt x="195146" y="160003"/>
                  </a:lnTo>
                  <a:lnTo>
                    <a:pt x="211409" y="97639"/>
                  </a:lnTo>
                  <a:lnTo>
                    <a:pt x="227671" y="95173"/>
                  </a:lnTo>
                  <a:lnTo>
                    <a:pt x="243933" y="60003"/>
                  </a:lnTo>
                  <a:lnTo>
                    <a:pt x="260195" y="7061"/>
                  </a:lnTo>
                  <a:lnTo>
                    <a:pt x="276457" y="51948"/>
                  </a:lnTo>
                  <a:lnTo>
                    <a:pt x="292720" y="15644"/>
                  </a:lnTo>
                  <a:lnTo>
                    <a:pt x="308982" y="94523"/>
                  </a:lnTo>
                  <a:lnTo>
                    <a:pt x="325244" y="105212"/>
                  </a:lnTo>
                  <a:lnTo>
                    <a:pt x="341506" y="119578"/>
                  </a:lnTo>
                  <a:lnTo>
                    <a:pt x="357768" y="150971"/>
                  </a:lnTo>
                  <a:lnTo>
                    <a:pt x="374030" y="76630"/>
                  </a:lnTo>
                  <a:lnTo>
                    <a:pt x="390293" y="96183"/>
                  </a:lnTo>
                  <a:lnTo>
                    <a:pt x="406555" y="22387"/>
                  </a:lnTo>
                  <a:lnTo>
                    <a:pt x="422817" y="24652"/>
                  </a:lnTo>
                  <a:lnTo>
                    <a:pt x="439079" y="43845"/>
                  </a:lnTo>
                  <a:lnTo>
                    <a:pt x="455341" y="33200"/>
                  </a:lnTo>
                  <a:lnTo>
                    <a:pt x="471604" y="121702"/>
                  </a:lnTo>
                  <a:lnTo>
                    <a:pt x="487866" y="97495"/>
                  </a:lnTo>
                  <a:lnTo>
                    <a:pt x="504128" y="145601"/>
                  </a:lnTo>
                  <a:lnTo>
                    <a:pt x="520390" y="120835"/>
                  </a:lnTo>
                  <a:lnTo>
                    <a:pt x="536652" y="72933"/>
                  </a:lnTo>
                  <a:lnTo>
                    <a:pt x="552915" y="79585"/>
                  </a:lnTo>
                  <a:lnTo>
                    <a:pt x="569177" y="0"/>
                  </a:lnTo>
                  <a:lnTo>
                    <a:pt x="585439" y="46531"/>
                  </a:lnTo>
                  <a:lnTo>
                    <a:pt x="601701" y="30992"/>
                  </a:lnTo>
                  <a:lnTo>
                    <a:pt x="617963" y="69998"/>
                  </a:lnTo>
                  <a:lnTo>
                    <a:pt x="634226" y="127141"/>
                  </a:lnTo>
                  <a:lnTo>
                    <a:pt x="650488" y="102651"/>
                  </a:lnTo>
                  <a:lnTo>
                    <a:pt x="666750" y="156690"/>
                  </a:lnTo>
                </a:path>
              </a:pathLst>
            </a:custGeom>
            <a:noFill/>
            <a:ln w="13335">
              <a:solidFill>
                <a:srgbClr val="38385B"/>
              </a:solidFill>
            </a:ln>
          </p:spPr>
        </p:sp>
        <p:sp>
          <p:nvSpPr>
            <p:cNvPr id="103" name="rect_102">
              <a:extLst>
                <a:ext uri="{FF2B5EF4-FFF2-40B4-BE49-F238E27FC236}">
                  <a16:creationId xmlns:a16="http://schemas.microsoft.com/office/drawing/2014/main" id="{09605ECB-027B-476B-9A18-71AB38C61838}"/>
                </a:ext>
              </a:extLst>
            </p:cNvPr>
            <p:cNvSpPr>
              <a:spLocks/>
            </p:cNvSpPr>
            <p:nvPr/>
          </p:nvSpPr>
          <p:spPr>
            <a:xfrm>
              <a:off x="9067800" y="3038475"/>
              <a:ext cx="142875" cy="342900"/>
            </a:xfrm>
            <a:prstGeom prst="rect">
              <a:avLst/>
            </a:prstGeom>
            <a:noFill/>
            <a:ln w="6668">
              <a:solidFill>
                <a:srgbClr val="99B6AE"/>
              </a:solidFill>
              <a:prstDash val="solid"/>
            </a:ln>
          </p:spPr>
        </p:sp>
        <p:sp>
          <p:nvSpPr>
            <p:cNvPr id="104" name="rect_103">
              <a:extLst>
                <a:ext uri="{FF2B5EF4-FFF2-40B4-BE49-F238E27FC236}">
                  <a16:creationId xmlns:a16="http://schemas.microsoft.com/office/drawing/2014/main" id="{5507087E-52C6-4AA3-90F5-4F37AF39A471}"/>
                </a:ext>
              </a:extLst>
            </p:cNvPr>
            <p:cNvSpPr>
              <a:spLocks/>
            </p:cNvSpPr>
            <p:nvPr/>
          </p:nvSpPr>
          <p:spPr>
            <a:xfrm>
              <a:off x="10086975" y="3048000"/>
              <a:ext cx="114300" cy="323850"/>
            </a:xfrm>
            <a:prstGeom prst="rect">
              <a:avLst/>
            </a:prstGeom>
            <a:solidFill>
              <a:srgbClr val="AEBBDD"/>
            </a:solidFill>
            <a:ln w="0">
              <a:noFill/>
              <a:prstDash val="solid"/>
            </a:ln>
          </p:spPr>
        </p:sp>
        <p:sp>
          <p:nvSpPr>
            <p:cNvPr id="105" name="rect_104">
              <a:extLst>
                <a:ext uri="{FF2B5EF4-FFF2-40B4-BE49-F238E27FC236}">
                  <a16:creationId xmlns:a16="http://schemas.microsoft.com/office/drawing/2014/main" id="{078D66EE-9FFC-4B5D-9E82-CB0791CE2E22}"/>
                </a:ext>
              </a:extLst>
            </p:cNvPr>
            <p:cNvSpPr>
              <a:spLocks/>
            </p:cNvSpPr>
            <p:nvPr/>
          </p:nvSpPr>
          <p:spPr>
            <a:xfrm>
              <a:off x="9229725" y="3038475"/>
              <a:ext cx="142875" cy="342900"/>
            </a:xfrm>
            <a:prstGeom prst="rect">
              <a:avLst/>
            </a:prstGeom>
            <a:noFill/>
            <a:ln w="6668">
              <a:solidFill>
                <a:srgbClr val="99B6AE"/>
              </a:solidFill>
              <a:prstDash val="solid"/>
            </a:ln>
          </p:spPr>
        </p:sp>
        <p:sp>
          <p:nvSpPr>
            <p:cNvPr id="106" name="rect_105">
              <a:extLst>
                <a:ext uri="{FF2B5EF4-FFF2-40B4-BE49-F238E27FC236}">
                  <a16:creationId xmlns:a16="http://schemas.microsoft.com/office/drawing/2014/main" id="{E2E2EB86-2042-4A07-B6DB-A8DAA117B883}"/>
                </a:ext>
              </a:extLst>
            </p:cNvPr>
            <p:cNvSpPr>
              <a:spLocks/>
            </p:cNvSpPr>
            <p:nvPr/>
          </p:nvSpPr>
          <p:spPr>
            <a:xfrm>
              <a:off x="10248900" y="3048000"/>
              <a:ext cx="114300" cy="323850"/>
            </a:xfrm>
            <a:prstGeom prst="rect">
              <a:avLst/>
            </a:prstGeom>
            <a:solidFill>
              <a:srgbClr val="9CBDAD"/>
            </a:solidFill>
            <a:ln w="0">
              <a:noFill/>
              <a:prstDash val="solid"/>
            </a:ln>
          </p:spPr>
        </p:sp>
        <p:sp>
          <p:nvSpPr>
            <p:cNvPr id="107" name="rect_106">
              <a:extLst>
                <a:ext uri="{FF2B5EF4-FFF2-40B4-BE49-F238E27FC236}">
                  <a16:creationId xmlns:a16="http://schemas.microsoft.com/office/drawing/2014/main" id="{FB1D95F2-1E1E-447F-909B-465CD2299448}"/>
                </a:ext>
              </a:extLst>
            </p:cNvPr>
            <p:cNvSpPr>
              <a:spLocks/>
            </p:cNvSpPr>
            <p:nvPr/>
          </p:nvSpPr>
          <p:spPr>
            <a:xfrm>
              <a:off x="9391650" y="3038475"/>
              <a:ext cx="142875" cy="342900"/>
            </a:xfrm>
            <a:prstGeom prst="rect">
              <a:avLst/>
            </a:prstGeom>
            <a:noFill/>
            <a:ln w="6668">
              <a:solidFill>
                <a:srgbClr val="99B6AE"/>
              </a:solidFill>
              <a:prstDash val="solid"/>
            </a:ln>
          </p:spPr>
        </p:sp>
        <p:sp>
          <p:nvSpPr>
            <p:cNvPr id="108" name="rect_107">
              <a:extLst>
                <a:ext uri="{FF2B5EF4-FFF2-40B4-BE49-F238E27FC236}">
                  <a16:creationId xmlns:a16="http://schemas.microsoft.com/office/drawing/2014/main" id="{7FE2D5BC-DE46-4AA2-A4FF-46DD2B0E5478}"/>
                </a:ext>
              </a:extLst>
            </p:cNvPr>
            <p:cNvSpPr>
              <a:spLocks/>
            </p:cNvSpPr>
            <p:nvPr/>
          </p:nvSpPr>
          <p:spPr>
            <a:xfrm>
              <a:off x="10410825" y="3048000"/>
              <a:ext cx="114300" cy="323850"/>
            </a:xfrm>
            <a:prstGeom prst="rect">
              <a:avLst/>
            </a:prstGeom>
            <a:solidFill>
              <a:srgbClr val="AEBBDD"/>
            </a:solidFill>
            <a:ln w="0">
              <a:noFill/>
              <a:prstDash val="solid"/>
            </a:ln>
          </p:spPr>
        </p:sp>
        <p:sp>
          <p:nvSpPr>
            <p:cNvPr id="109" name="rect_108">
              <a:extLst>
                <a:ext uri="{FF2B5EF4-FFF2-40B4-BE49-F238E27FC236}">
                  <a16:creationId xmlns:a16="http://schemas.microsoft.com/office/drawing/2014/main" id="{4D7CD848-21B7-4DA8-BD5E-6260775BA22A}"/>
                </a:ext>
              </a:extLst>
            </p:cNvPr>
            <p:cNvSpPr>
              <a:spLocks/>
            </p:cNvSpPr>
            <p:nvPr/>
          </p:nvSpPr>
          <p:spPr>
            <a:xfrm>
              <a:off x="9553575" y="3038475"/>
              <a:ext cx="142875" cy="342900"/>
            </a:xfrm>
            <a:prstGeom prst="rect">
              <a:avLst/>
            </a:prstGeom>
            <a:noFill/>
            <a:ln w="6668">
              <a:solidFill>
                <a:srgbClr val="99B6AE"/>
              </a:solidFill>
              <a:prstDash val="solid"/>
            </a:ln>
          </p:spPr>
        </p:sp>
        <p:sp>
          <p:nvSpPr>
            <p:cNvPr id="110" name="rect_109">
              <a:extLst>
                <a:ext uri="{FF2B5EF4-FFF2-40B4-BE49-F238E27FC236}">
                  <a16:creationId xmlns:a16="http://schemas.microsoft.com/office/drawing/2014/main" id="{62A5CCDE-A9D0-4E5C-A2CC-501FDF0B9F7A}"/>
                </a:ext>
              </a:extLst>
            </p:cNvPr>
            <p:cNvSpPr>
              <a:spLocks/>
            </p:cNvSpPr>
            <p:nvPr/>
          </p:nvSpPr>
          <p:spPr>
            <a:xfrm>
              <a:off x="10572750" y="3048000"/>
              <a:ext cx="114300" cy="323850"/>
            </a:xfrm>
            <a:prstGeom prst="rect">
              <a:avLst/>
            </a:prstGeom>
            <a:solidFill>
              <a:srgbClr val="9CBDAD"/>
            </a:solidFill>
            <a:ln w="0">
              <a:noFill/>
              <a:prstDash val="solid"/>
            </a:ln>
          </p:spPr>
        </p:sp>
        <p:sp>
          <p:nvSpPr>
            <p:cNvPr id="111" name="native_curve_110">
              <a:extLst>
                <a:ext uri="{FF2B5EF4-FFF2-40B4-BE49-F238E27FC236}">
                  <a16:creationId xmlns:a16="http://schemas.microsoft.com/office/drawing/2014/main" id="{73B2387F-EA4D-4AC5-BB76-32B6CA0DD2A6}"/>
                </a:ext>
              </a:extLst>
            </p:cNvPr>
            <p:cNvSpPr>
              <a:spLocks/>
            </p:cNvSpPr>
            <p:nvPr/>
          </p:nvSpPr>
          <p:spPr>
            <a:xfrm>
              <a:off x="9801225" y="3219450"/>
              <a:ext cx="200025" cy="953"/>
            </a:xfrm>
            <a:custGeom>
              <a:avLst/>
              <a:gdLst/>
              <a:ahLst/>
              <a:cxnLst/>
              <a:rect l="0" t="0" r="0" b="0"/>
              <a:pathLst>
                <a:path w="200025" h="953">
                  <a:moveTo>
                    <a:pt x="0" y="0"/>
                  </a:moveTo>
                  <a:lnTo>
                    <a:pt x="200025" y="0"/>
                  </a:lnTo>
                </a:path>
              </a:pathLst>
            </a:custGeom>
            <a:noFill/>
            <a:ln w="10478">
              <a:solidFill>
                <a:srgbClr val="8DA49C"/>
              </a:solidFill>
              <a:prstDash val="solid"/>
            </a:ln>
          </p:spPr>
        </p:sp>
        <p:sp>
          <p:nvSpPr>
            <p:cNvPr id="112" name="arrow_tip_111">
              <a:extLst>
                <a:ext uri="{FF2B5EF4-FFF2-40B4-BE49-F238E27FC236}">
                  <a16:creationId xmlns:a16="http://schemas.microsoft.com/office/drawing/2014/main" id="{7AB05A60-3F94-42C5-B915-E7E9A92C330C}"/>
                </a:ext>
              </a:extLst>
            </p:cNvPr>
            <p:cNvSpPr>
              <a:spLocks/>
            </p:cNvSpPr>
            <p:nvPr/>
          </p:nvSpPr>
          <p:spPr>
            <a:xfrm>
              <a:off x="9934575" y="3185160"/>
              <a:ext cx="66675" cy="68580"/>
            </a:xfrm>
            <a:custGeom>
              <a:avLst/>
              <a:gdLst/>
              <a:ahLst/>
              <a:cxnLst/>
              <a:rect l="0" t="0" r="0" b="0"/>
              <a:pathLst>
                <a:path w="66675" h="68580">
                  <a:moveTo>
                    <a:pt x="66675" y="34290"/>
                  </a:moveTo>
                  <a:lnTo>
                    <a:pt x="0" y="68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A49C"/>
            </a:solidFill>
            <a:ln w="0">
              <a:noFill/>
            </a:ln>
          </p:spPr>
        </p:sp>
        <p:sp>
          <p:nvSpPr>
            <p:cNvPr id="113" name="roundRect_112">
              <a:extLst>
                <a:ext uri="{FF2B5EF4-FFF2-40B4-BE49-F238E27FC236}">
                  <a16:creationId xmlns:a16="http://schemas.microsoft.com/office/drawing/2014/main" id="{771DF51B-97A8-4314-B2D4-7A19E8C2BA4A}"/>
                </a:ext>
              </a:extLst>
            </p:cNvPr>
            <p:cNvSpPr>
              <a:spLocks/>
            </p:cNvSpPr>
            <p:nvPr/>
          </p:nvSpPr>
          <p:spPr>
            <a:xfrm>
              <a:off x="7286625" y="3686175"/>
              <a:ext cx="3571875" cy="666750"/>
            </a:xfrm>
            <a:prstGeom prst="roundRect">
              <a:avLst>
                <a:gd name="adj" fmla="val 12857"/>
              </a:avLst>
            </a:prstGeom>
            <a:solidFill>
              <a:srgbClr val="EEF0F7"/>
            </a:solidFill>
            <a:ln w="9525">
              <a:solidFill>
                <a:srgbClr val="D8D9E3"/>
              </a:solidFill>
              <a:prstDash val="solid"/>
            </a:ln>
          </p:spPr>
        </p:sp>
        <p:sp>
          <p:nvSpPr>
            <p:cNvPr id="114" name="textbox_113">
              <a:extLst>
                <a:ext uri="{FF2B5EF4-FFF2-40B4-BE49-F238E27FC236}">
                  <a16:creationId xmlns:a16="http://schemas.microsoft.com/office/drawing/2014/main" id="{9066C6CF-98C9-4C2B-8D48-1265D3DDE816}"/>
                </a:ext>
              </a:extLst>
            </p:cNvPr>
            <p:cNvSpPr>
              <a:spLocks/>
            </p:cNvSpPr>
            <p:nvPr/>
          </p:nvSpPr>
          <p:spPr>
            <a:xfrm>
              <a:off x="7400925" y="3771900"/>
              <a:ext cx="136207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2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2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2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TimesNet</a:t>
              </a:r>
            </a:p>
          </p:txBody>
        </p:sp>
        <p:sp>
          <p:nvSpPr>
            <p:cNvPr id="115" name="textbox_114">
              <a:extLst>
                <a:ext uri="{FF2B5EF4-FFF2-40B4-BE49-F238E27FC236}">
                  <a16:creationId xmlns:a16="http://schemas.microsoft.com/office/drawing/2014/main" id="{9F16D3BB-8D8C-4CD8-9885-2B15A7CCCB0B}"/>
                </a:ext>
              </a:extLst>
            </p:cNvPr>
            <p:cNvSpPr>
              <a:spLocks/>
            </p:cNvSpPr>
            <p:nvPr/>
          </p:nvSpPr>
          <p:spPr>
            <a:xfrm>
              <a:off x="7400925" y="4048125"/>
              <a:ext cx="1514475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周期 → 二维重排</a:t>
              </a:r>
            </a:p>
          </p:txBody>
        </p:sp>
        <p:sp>
          <p:nvSpPr>
            <p:cNvPr id="116" name="trace_115">
              <a:extLst>
                <a:ext uri="{FF2B5EF4-FFF2-40B4-BE49-F238E27FC236}">
                  <a16:creationId xmlns:a16="http://schemas.microsoft.com/office/drawing/2014/main" id="{2341B834-5AF7-43B4-842E-37F41F8F0669}"/>
                </a:ext>
              </a:extLst>
            </p:cNvPr>
            <p:cNvSpPr>
              <a:spLocks/>
            </p:cNvSpPr>
            <p:nvPr/>
          </p:nvSpPr>
          <p:spPr>
            <a:xfrm>
              <a:off x="9048750" y="3970451"/>
              <a:ext cx="571500" cy="140803"/>
            </a:xfrm>
            <a:custGeom>
              <a:avLst/>
              <a:gdLst/>
              <a:ahLst/>
              <a:cxnLst/>
              <a:rect l="0" t="0" r="0" b="0"/>
              <a:pathLst>
                <a:path w="571500" h="140803">
                  <a:moveTo>
                    <a:pt x="0" y="93295"/>
                  </a:moveTo>
                  <a:lnTo>
                    <a:pt x="13939" y="76152"/>
                  </a:lnTo>
                  <a:lnTo>
                    <a:pt x="27878" y="126619"/>
                  </a:lnTo>
                  <a:lnTo>
                    <a:pt x="41817" y="113723"/>
                  </a:lnTo>
                  <a:lnTo>
                    <a:pt x="55756" y="77217"/>
                  </a:lnTo>
                  <a:lnTo>
                    <a:pt x="69695" y="83365"/>
                  </a:lnTo>
                  <a:lnTo>
                    <a:pt x="83634" y="7963"/>
                  </a:lnTo>
                  <a:lnTo>
                    <a:pt x="97573" y="40183"/>
                  </a:lnTo>
                  <a:lnTo>
                    <a:pt x="111512" y="18192"/>
                  </a:lnTo>
                  <a:lnTo>
                    <a:pt x="125451" y="47877"/>
                  </a:lnTo>
                  <a:lnTo>
                    <a:pt x="139390" y="99432"/>
                  </a:lnTo>
                  <a:lnTo>
                    <a:pt x="153329" y="84266"/>
                  </a:lnTo>
                  <a:lnTo>
                    <a:pt x="167268" y="140803"/>
                  </a:lnTo>
                  <a:lnTo>
                    <a:pt x="181207" y="85922"/>
                  </a:lnTo>
                  <a:lnTo>
                    <a:pt x="195146" y="83752"/>
                  </a:lnTo>
                  <a:lnTo>
                    <a:pt x="209085" y="52803"/>
                  </a:lnTo>
                  <a:lnTo>
                    <a:pt x="223024" y="6214"/>
                  </a:lnTo>
                  <a:lnTo>
                    <a:pt x="236963" y="45714"/>
                  </a:lnTo>
                  <a:lnTo>
                    <a:pt x="250902" y="13767"/>
                  </a:lnTo>
                  <a:lnTo>
                    <a:pt x="264841" y="83180"/>
                  </a:lnTo>
                  <a:lnTo>
                    <a:pt x="278780" y="92587"/>
                  </a:lnTo>
                  <a:lnTo>
                    <a:pt x="292720" y="105229"/>
                  </a:lnTo>
                  <a:lnTo>
                    <a:pt x="306659" y="132855"/>
                  </a:lnTo>
                  <a:lnTo>
                    <a:pt x="320598" y="67435"/>
                  </a:lnTo>
                  <a:lnTo>
                    <a:pt x="334537" y="84641"/>
                  </a:lnTo>
                  <a:lnTo>
                    <a:pt x="348476" y="19700"/>
                  </a:lnTo>
                  <a:lnTo>
                    <a:pt x="362415" y="21694"/>
                  </a:lnTo>
                  <a:lnTo>
                    <a:pt x="376354" y="38583"/>
                  </a:lnTo>
                  <a:lnTo>
                    <a:pt x="390293" y="29216"/>
                  </a:lnTo>
                  <a:lnTo>
                    <a:pt x="404232" y="107098"/>
                  </a:lnTo>
                  <a:lnTo>
                    <a:pt x="418171" y="85795"/>
                  </a:lnTo>
                  <a:lnTo>
                    <a:pt x="432110" y="128129"/>
                  </a:lnTo>
                  <a:lnTo>
                    <a:pt x="446049" y="106335"/>
                  </a:lnTo>
                  <a:lnTo>
                    <a:pt x="459988" y="64181"/>
                  </a:lnTo>
                  <a:lnTo>
                    <a:pt x="473927" y="70035"/>
                  </a:lnTo>
                  <a:lnTo>
                    <a:pt x="487866" y="0"/>
                  </a:lnTo>
                  <a:lnTo>
                    <a:pt x="501805" y="40947"/>
                  </a:lnTo>
                  <a:lnTo>
                    <a:pt x="515744" y="27273"/>
                  </a:lnTo>
                  <a:lnTo>
                    <a:pt x="529683" y="61598"/>
                  </a:lnTo>
                  <a:lnTo>
                    <a:pt x="543622" y="111884"/>
                  </a:lnTo>
                  <a:lnTo>
                    <a:pt x="557561" y="90333"/>
                  </a:lnTo>
                  <a:lnTo>
                    <a:pt x="571500" y="137888"/>
                  </a:lnTo>
                </a:path>
              </a:pathLst>
            </a:custGeom>
            <a:noFill/>
            <a:ln w="13335">
              <a:solidFill>
                <a:srgbClr val="38385B"/>
              </a:solidFill>
            </a:ln>
          </p:spPr>
        </p:sp>
        <p:sp>
          <p:nvSpPr>
            <p:cNvPr id="117" name="native_curve_116">
              <a:extLst>
                <a:ext uri="{FF2B5EF4-FFF2-40B4-BE49-F238E27FC236}">
                  <a16:creationId xmlns:a16="http://schemas.microsoft.com/office/drawing/2014/main" id="{6CB7B925-9A43-4397-8A5D-203C987666D1}"/>
                </a:ext>
              </a:extLst>
            </p:cNvPr>
            <p:cNvSpPr>
              <a:spLocks/>
            </p:cNvSpPr>
            <p:nvPr/>
          </p:nvSpPr>
          <p:spPr>
            <a:xfrm>
              <a:off x="9686925" y="4048125"/>
              <a:ext cx="266700" cy="953"/>
            </a:xfrm>
            <a:custGeom>
              <a:avLst/>
              <a:gdLst/>
              <a:ahLst/>
              <a:cxnLst/>
              <a:rect l="0" t="0" r="0" b="0"/>
              <a:pathLst>
                <a:path w="266700" h="953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0478">
              <a:solidFill>
                <a:srgbClr val="8498C4"/>
              </a:solidFill>
              <a:prstDash val="solid"/>
            </a:ln>
          </p:spPr>
        </p:sp>
        <p:sp>
          <p:nvSpPr>
            <p:cNvPr id="118" name="arrow_tip_117">
              <a:extLst>
                <a:ext uri="{FF2B5EF4-FFF2-40B4-BE49-F238E27FC236}">
                  <a16:creationId xmlns:a16="http://schemas.microsoft.com/office/drawing/2014/main" id="{216A175B-EB8F-43DB-B811-C126904F9575}"/>
                </a:ext>
              </a:extLst>
            </p:cNvPr>
            <p:cNvSpPr>
              <a:spLocks/>
            </p:cNvSpPr>
            <p:nvPr/>
          </p:nvSpPr>
          <p:spPr>
            <a:xfrm>
              <a:off x="9886950" y="4013835"/>
              <a:ext cx="66675" cy="68580"/>
            </a:xfrm>
            <a:custGeom>
              <a:avLst/>
              <a:gdLst/>
              <a:ahLst/>
              <a:cxnLst/>
              <a:rect l="0" t="0" r="0" b="0"/>
              <a:pathLst>
                <a:path w="66675" h="68580">
                  <a:moveTo>
                    <a:pt x="66675" y="34290"/>
                  </a:moveTo>
                  <a:lnTo>
                    <a:pt x="0" y="68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98C4"/>
            </a:solidFill>
            <a:ln w="0">
              <a:noFill/>
            </a:ln>
          </p:spPr>
        </p:sp>
        <p:sp>
          <p:nvSpPr>
            <p:cNvPr id="119" name="rect_118">
              <a:extLst>
                <a:ext uri="{FF2B5EF4-FFF2-40B4-BE49-F238E27FC236}">
                  <a16:creationId xmlns:a16="http://schemas.microsoft.com/office/drawing/2014/main" id="{F30F2842-5E46-4E02-9354-F325BF9AD4E4}"/>
                </a:ext>
              </a:extLst>
            </p:cNvPr>
            <p:cNvSpPr>
              <a:spLocks/>
            </p:cNvSpPr>
            <p:nvPr/>
          </p:nvSpPr>
          <p:spPr>
            <a:xfrm>
              <a:off x="10058400" y="3857625"/>
              <a:ext cx="104775" cy="104775"/>
            </a:xfrm>
            <a:prstGeom prst="rect">
              <a:avLst/>
            </a:prstGeom>
            <a:solidFill>
              <a:srgbClr val="8498C4"/>
            </a:solidFill>
            <a:ln w="0">
              <a:noFill/>
              <a:prstDash val="solid"/>
            </a:ln>
          </p:spPr>
        </p:sp>
        <p:sp>
          <p:nvSpPr>
            <p:cNvPr id="120" name="rect_119">
              <a:extLst>
                <a:ext uri="{FF2B5EF4-FFF2-40B4-BE49-F238E27FC236}">
                  <a16:creationId xmlns:a16="http://schemas.microsoft.com/office/drawing/2014/main" id="{A9239A91-E35C-42A1-A0A6-37DE95E8DE6F}"/>
                </a:ext>
              </a:extLst>
            </p:cNvPr>
            <p:cNvSpPr>
              <a:spLocks/>
            </p:cNvSpPr>
            <p:nvPr/>
          </p:nvSpPr>
          <p:spPr>
            <a:xfrm>
              <a:off x="10191750" y="3857625"/>
              <a:ext cx="104775" cy="104775"/>
            </a:xfrm>
            <a:prstGeom prst="rect">
              <a:avLst/>
            </a:prstGeom>
            <a:solidFill>
              <a:srgbClr val="BEC6DF"/>
            </a:solidFill>
            <a:ln w="0">
              <a:noFill/>
              <a:prstDash val="solid"/>
            </a:ln>
          </p:spPr>
        </p:sp>
        <p:sp>
          <p:nvSpPr>
            <p:cNvPr id="121" name="rect_120">
              <a:extLst>
                <a:ext uri="{FF2B5EF4-FFF2-40B4-BE49-F238E27FC236}">
                  <a16:creationId xmlns:a16="http://schemas.microsoft.com/office/drawing/2014/main" id="{61D375EE-CC74-4336-B5F2-C4CA23952203}"/>
                </a:ext>
              </a:extLst>
            </p:cNvPr>
            <p:cNvSpPr>
              <a:spLocks/>
            </p:cNvSpPr>
            <p:nvPr/>
          </p:nvSpPr>
          <p:spPr>
            <a:xfrm>
              <a:off x="10325100" y="3857625"/>
              <a:ext cx="104775" cy="104775"/>
            </a:xfrm>
            <a:prstGeom prst="rect">
              <a:avLst/>
            </a:prstGeom>
            <a:solidFill>
              <a:srgbClr val="E8EAF3"/>
            </a:solidFill>
            <a:ln w="0">
              <a:noFill/>
              <a:prstDash val="solid"/>
            </a:ln>
          </p:spPr>
        </p:sp>
        <p:sp>
          <p:nvSpPr>
            <p:cNvPr id="122" name="rect_121">
              <a:extLst>
                <a:ext uri="{FF2B5EF4-FFF2-40B4-BE49-F238E27FC236}">
                  <a16:creationId xmlns:a16="http://schemas.microsoft.com/office/drawing/2014/main" id="{FF2D6941-0D5A-482D-9F48-7C3935C8303F}"/>
                </a:ext>
              </a:extLst>
            </p:cNvPr>
            <p:cNvSpPr>
              <a:spLocks/>
            </p:cNvSpPr>
            <p:nvPr/>
          </p:nvSpPr>
          <p:spPr>
            <a:xfrm>
              <a:off x="10458450" y="3857625"/>
              <a:ext cx="104775" cy="104775"/>
            </a:xfrm>
            <a:prstGeom prst="rect">
              <a:avLst/>
            </a:prstGeom>
            <a:solidFill>
              <a:srgbClr val="8498C4"/>
            </a:solidFill>
            <a:ln w="0">
              <a:noFill/>
              <a:prstDash val="solid"/>
            </a:ln>
          </p:spPr>
        </p:sp>
        <p:sp>
          <p:nvSpPr>
            <p:cNvPr id="123" name="rect_122">
              <a:extLst>
                <a:ext uri="{FF2B5EF4-FFF2-40B4-BE49-F238E27FC236}">
                  <a16:creationId xmlns:a16="http://schemas.microsoft.com/office/drawing/2014/main" id="{2EABCE1F-FF69-4A98-B09F-3C1ED7BA016A}"/>
                </a:ext>
              </a:extLst>
            </p:cNvPr>
            <p:cNvSpPr>
              <a:spLocks/>
            </p:cNvSpPr>
            <p:nvPr/>
          </p:nvSpPr>
          <p:spPr>
            <a:xfrm>
              <a:off x="10591800" y="3857625"/>
              <a:ext cx="104775" cy="104775"/>
            </a:xfrm>
            <a:prstGeom prst="rect">
              <a:avLst/>
            </a:prstGeom>
            <a:solidFill>
              <a:srgbClr val="BEC6DF"/>
            </a:solidFill>
            <a:ln w="0">
              <a:noFill/>
              <a:prstDash val="solid"/>
            </a:ln>
          </p:spPr>
        </p:sp>
        <p:sp>
          <p:nvSpPr>
            <p:cNvPr id="124" name="rect_123">
              <a:extLst>
                <a:ext uri="{FF2B5EF4-FFF2-40B4-BE49-F238E27FC236}">
                  <a16:creationId xmlns:a16="http://schemas.microsoft.com/office/drawing/2014/main" id="{DA2F830E-E3E9-4F92-9A2F-FAA95A759EA1}"/>
                </a:ext>
              </a:extLst>
            </p:cNvPr>
            <p:cNvSpPr>
              <a:spLocks/>
            </p:cNvSpPr>
            <p:nvPr/>
          </p:nvSpPr>
          <p:spPr>
            <a:xfrm>
              <a:off x="10058400" y="3990975"/>
              <a:ext cx="104775" cy="104775"/>
            </a:xfrm>
            <a:prstGeom prst="rect">
              <a:avLst/>
            </a:prstGeom>
            <a:solidFill>
              <a:srgbClr val="BEC6DF"/>
            </a:solidFill>
            <a:ln w="0">
              <a:noFill/>
              <a:prstDash val="solid"/>
            </a:ln>
          </p:spPr>
        </p:sp>
        <p:sp>
          <p:nvSpPr>
            <p:cNvPr id="125" name="rect_124">
              <a:extLst>
                <a:ext uri="{FF2B5EF4-FFF2-40B4-BE49-F238E27FC236}">
                  <a16:creationId xmlns:a16="http://schemas.microsoft.com/office/drawing/2014/main" id="{70C0BB1A-EF50-4D77-BB0B-CED321B2449E}"/>
                </a:ext>
              </a:extLst>
            </p:cNvPr>
            <p:cNvSpPr>
              <a:spLocks/>
            </p:cNvSpPr>
            <p:nvPr/>
          </p:nvSpPr>
          <p:spPr>
            <a:xfrm>
              <a:off x="10191750" y="3990975"/>
              <a:ext cx="104775" cy="104775"/>
            </a:xfrm>
            <a:prstGeom prst="rect">
              <a:avLst/>
            </a:prstGeom>
            <a:solidFill>
              <a:srgbClr val="E8EAF3"/>
            </a:solidFill>
            <a:ln w="0">
              <a:noFill/>
              <a:prstDash val="solid"/>
            </a:ln>
          </p:spPr>
        </p:sp>
        <p:sp>
          <p:nvSpPr>
            <p:cNvPr id="126" name="rect_125">
              <a:extLst>
                <a:ext uri="{FF2B5EF4-FFF2-40B4-BE49-F238E27FC236}">
                  <a16:creationId xmlns:a16="http://schemas.microsoft.com/office/drawing/2014/main" id="{22C9C843-3CAF-40B7-9693-A03C54B974B2}"/>
                </a:ext>
              </a:extLst>
            </p:cNvPr>
            <p:cNvSpPr>
              <a:spLocks/>
            </p:cNvSpPr>
            <p:nvPr/>
          </p:nvSpPr>
          <p:spPr>
            <a:xfrm>
              <a:off x="10325100" y="3990975"/>
              <a:ext cx="104775" cy="104775"/>
            </a:xfrm>
            <a:prstGeom prst="rect">
              <a:avLst/>
            </a:prstGeom>
            <a:solidFill>
              <a:srgbClr val="8498C4"/>
            </a:solidFill>
            <a:ln w="0">
              <a:noFill/>
              <a:prstDash val="solid"/>
            </a:ln>
          </p:spPr>
        </p:sp>
        <p:sp>
          <p:nvSpPr>
            <p:cNvPr id="127" name="rect_126">
              <a:extLst>
                <a:ext uri="{FF2B5EF4-FFF2-40B4-BE49-F238E27FC236}">
                  <a16:creationId xmlns:a16="http://schemas.microsoft.com/office/drawing/2014/main" id="{B094503F-E44C-4526-B979-CA33DC466885}"/>
                </a:ext>
              </a:extLst>
            </p:cNvPr>
            <p:cNvSpPr>
              <a:spLocks/>
            </p:cNvSpPr>
            <p:nvPr/>
          </p:nvSpPr>
          <p:spPr>
            <a:xfrm>
              <a:off x="10458450" y="3990975"/>
              <a:ext cx="104775" cy="104775"/>
            </a:xfrm>
            <a:prstGeom prst="rect">
              <a:avLst/>
            </a:prstGeom>
            <a:solidFill>
              <a:srgbClr val="BEC6DF"/>
            </a:solidFill>
            <a:ln w="0">
              <a:noFill/>
              <a:prstDash val="solid"/>
            </a:ln>
          </p:spPr>
        </p:sp>
        <p:sp>
          <p:nvSpPr>
            <p:cNvPr id="128" name="rect_127">
              <a:extLst>
                <a:ext uri="{FF2B5EF4-FFF2-40B4-BE49-F238E27FC236}">
                  <a16:creationId xmlns:a16="http://schemas.microsoft.com/office/drawing/2014/main" id="{1B6BD61F-9BA2-45FA-ACE4-D3AA32499E31}"/>
                </a:ext>
              </a:extLst>
            </p:cNvPr>
            <p:cNvSpPr>
              <a:spLocks/>
            </p:cNvSpPr>
            <p:nvPr/>
          </p:nvSpPr>
          <p:spPr>
            <a:xfrm>
              <a:off x="10591800" y="3990975"/>
              <a:ext cx="104775" cy="104775"/>
            </a:xfrm>
            <a:prstGeom prst="rect">
              <a:avLst/>
            </a:prstGeom>
            <a:solidFill>
              <a:srgbClr val="E8EAF3"/>
            </a:solidFill>
            <a:ln w="0">
              <a:noFill/>
              <a:prstDash val="solid"/>
            </a:ln>
          </p:spPr>
        </p:sp>
        <p:sp>
          <p:nvSpPr>
            <p:cNvPr id="129" name="rect_128">
              <a:extLst>
                <a:ext uri="{FF2B5EF4-FFF2-40B4-BE49-F238E27FC236}">
                  <a16:creationId xmlns:a16="http://schemas.microsoft.com/office/drawing/2014/main" id="{875C5788-9903-4FD0-BC76-92C13A4CACF0}"/>
                </a:ext>
              </a:extLst>
            </p:cNvPr>
            <p:cNvSpPr>
              <a:spLocks/>
            </p:cNvSpPr>
            <p:nvPr/>
          </p:nvSpPr>
          <p:spPr>
            <a:xfrm>
              <a:off x="10058400" y="4124325"/>
              <a:ext cx="104775" cy="104775"/>
            </a:xfrm>
            <a:prstGeom prst="rect">
              <a:avLst/>
            </a:prstGeom>
            <a:solidFill>
              <a:srgbClr val="E8EAF3"/>
            </a:solidFill>
            <a:ln w="0">
              <a:noFill/>
              <a:prstDash val="solid"/>
            </a:ln>
          </p:spPr>
        </p:sp>
        <p:sp>
          <p:nvSpPr>
            <p:cNvPr id="130" name="rect_129">
              <a:extLst>
                <a:ext uri="{FF2B5EF4-FFF2-40B4-BE49-F238E27FC236}">
                  <a16:creationId xmlns:a16="http://schemas.microsoft.com/office/drawing/2014/main" id="{89767CC3-9E2D-48BF-A201-D746867367CC}"/>
                </a:ext>
              </a:extLst>
            </p:cNvPr>
            <p:cNvSpPr>
              <a:spLocks/>
            </p:cNvSpPr>
            <p:nvPr/>
          </p:nvSpPr>
          <p:spPr>
            <a:xfrm>
              <a:off x="10191750" y="4124325"/>
              <a:ext cx="104775" cy="104775"/>
            </a:xfrm>
            <a:prstGeom prst="rect">
              <a:avLst/>
            </a:prstGeom>
            <a:solidFill>
              <a:srgbClr val="8498C4"/>
            </a:solidFill>
            <a:ln w="0">
              <a:noFill/>
              <a:prstDash val="solid"/>
            </a:ln>
          </p:spPr>
        </p:sp>
        <p:sp>
          <p:nvSpPr>
            <p:cNvPr id="131" name="rect_130">
              <a:extLst>
                <a:ext uri="{FF2B5EF4-FFF2-40B4-BE49-F238E27FC236}">
                  <a16:creationId xmlns:a16="http://schemas.microsoft.com/office/drawing/2014/main" id="{8EEE3F8B-81F5-4BA7-8D2D-84432B0C0324}"/>
                </a:ext>
              </a:extLst>
            </p:cNvPr>
            <p:cNvSpPr>
              <a:spLocks/>
            </p:cNvSpPr>
            <p:nvPr/>
          </p:nvSpPr>
          <p:spPr>
            <a:xfrm>
              <a:off x="10325100" y="4124325"/>
              <a:ext cx="104775" cy="104775"/>
            </a:xfrm>
            <a:prstGeom prst="rect">
              <a:avLst/>
            </a:prstGeom>
            <a:solidFill>
              <a:srgbClr val="BEC6DF"/>
            </a:solidFill>
            <a:ln w="0">
              <a:noFill/>
              <a:prstDash val="solid"/>
            </a:ln>
          </p:spPr>
        </p:sp>
        <p:sp>
          <p:nvSpPr>
            <p:cNvPr id="132" name="rect_131">
              <a:extLst>
                <a:ext uri="{FF2B5EF4-FFF2-40B4-BE49-F238E27FC236}">
                  <a16:creationId xmlns:a16="http://schemas.microsoft.com/office/drawing/2014/main" id="{D5F5D47D-7BE2-4C8D-83EA-EE0F4ABACB74}"/>
                </a:ext>
              </a:extLst>
            </p:cNvPr>
            <p:cNvSpPr>
              <a:spLocks/>
            </p:cNvSpPr>
            <p:nvPr/>
          </p:nvSpPr>
          <p:spPr>
            <a:xfrm>
              <a:off x="10458450" y="4124325"/>
              <a:ext cx="104775" cy="104775"/>
            </a:xfrm>
            <a:prstGeom prst="rect">
              <a:avLst/>
            </a:prstGeom>
            <a:solidFill>
              <a:srgbClr val="E8EAF3"/>
            </a:solidFill>
            <a:ln w="0">
              <a:noFill/>
              <a:prstDash val="solid"/>
            </a:ln>
          </p:spPr>
        </p:sp>
        <p:sp>
          <p:nvSpPr>
            <p:cNvPr id="133" name="rect_132">
              <a:extLst>
                <a:ext uri="{FF2B5EF4-FFF2-40B4-BE49-F238E27FC236}">
                  <a16:creationId xmlns:a16="http://schemas.microsoft.com/office/drawing/2014/main" id="{BFA54213-CA39-4C85-B665-984E4A6B12F5}"/>
                </a:ext>
              </a:extLst>
            </p:cNvPr>
            <p:cNvSpPr>
              <a:spLocks/>
            </p:cNvSpPr>
            <p:nvPr/>
          </p:nvSpPr>
          <p:spPr>
            <a:xfrm>
              <a:off x="10591800" y="4124325"/>
              <a:ext cx="104775" cy="104775"/>
            </a:xfrm>
            <a:prstGeom prst="rect">
              <a:avLst/>
            </a:prstGeom>
            <a:solidFill>
              <a:srgbClr val="8498C4"/>
            </a:solidFill>
            <a:ln w="0">
              <a:noFill/>
              <a:prstDash val="solid"/>
            </a:ln>
          </p:spPr>
        </p:sp>
      </p:grpSp>
      <p:grpSp>
        <p:nvGrpSpPr>
          <p:cNvPr id="168" name="overview_feedback">
            <a:extLst>
              <a:ext uri="{FF2B5EF4-FFF2-40B4-BE49-F238E27FC236}">
                <a16:creationId xmlns:a16="http://schemas.microsoft.com/office/drawing/2014/main" id="{A3F8B42B-17E3-00BE-2E44-4DAD130CA7D6}"/>
              </a:ext>
            </a:extLst>
          </p:cNvPr>
          <p:cNvGrpSpPr/>
          <p:nvPr/>
        </p:nvGrpSpPr>
        <p:grpSpPr>
          <a:xfrm>
            <a:off x="7143750" y="4619625"/>
            <a:ext cx="3857625" cy="1019175"/>
            <a:chOff x="7143750" y="4619625"/>
            <a:chExt cx="3857625" cy="1019175"/>
          </a:xfrm>
        </p:grpSpPr>
        <p:sp>
          <p:nvSpPr>
            <p:cNvPr id="134" name="native_curve_133">
              <a:extLst>
                <a:ext uri="{FF2B5EF4-FFF2-40B4-BE49-F238E27FC236}">
                  <a16:creationId xmlns:a16="http://schemas.microsoft.com/office/drawing/2014/main" id="{AAB9FAEA-40C8-462B-959F-CC4EC2B3BCD9}"/>
                </a:ext>
              </a:extLst>
            </p:cNvPr>
            <p:cNvSpPr>
              <a:spLocks/>
            </p:cNvSpPr>
            <p:nvPr/>
          </p:nvSpPr>
          <p:spPr>
            <a:xfrm>
              <a:off x="9077325" y="4619625"/>
              <a:ext cx="953" cy="352425"/>
            </a:xfrm>
            <a:custGeom>
              <a:avLst/>
              <a:gdLst/>
              <a:ahLst/>
              <a:cxnLst/>
              <a:rect l="0" t="0" r="0" b="0"/>
              <a:pathLst>
                <a:path w="953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20955">
              <a:solidFill>
                <a:srgbClr val="9C5875"/>
              </a:solidFill>
              <a:prstDash val="solid"/>
            </a:ln>
          </p:spPr>
        </p:sp>
        <p:sp>
          <p:nvSpPr>
            <p:cNvPr id="135" name="arrow_tip_134">
              <a:extLst>
                <a:ext uri="{FF2B5EF4-FFF2-40B4-BE49-F238E27FC236}">
                  <a16:creationId xmlns:a16="http://schemas.microsoft.com/office/drawing/2014/main" id="{672A14ED-B512-425A-8340-AE0F18982C67}"/>
                </a:ext>
              </a:extLst>
            </p:cNvPr>
            <p:cNvSpPr>
              <a:spLocks/>
            </p:cNvSpPr>
            <p:nvPr/>
          </p:nvSpPr>
          <p:spPr>
            <a:xfrm>
              <a:off x="9043035" y="4905375"/>
              <a:ext cx="68580" cy="66675"/>
            </a:xfrm>
            <a:custGeom>
              <a:avLst/>
              <a:gdLst/>
              <a:ahLst/>
              <a:cxnLst/>
              <a:rect l="0" t="0" r="0" b="0"/>
              <a:pathLst>
                <a:path w="68580" h="66675">
                  <a:moveTo>
                    <a:pt x="34290" y="66675"/>
                  </a:moveTo>
                  <a:lnTo>
                    <a:pt x="0" y="0"/>
                  </a:lnTo>
                  <a:lnTo>
                    <a:pt x="68580" y="0"/>
                  </a:lnTo>
                  <a:close/>
                </a:path>
              </a:pathLst>
            </a:custGeom>
            <a:solidFill>
              <a:srgbClr val="9C5875"/>
            </a:solidFill>
            <a:ln w="0">
              <a:noFill/>
            </a:ln>
          </p:spPr>
        </p:sp>
        <p:sp>
          <p:nvSpPr>
            <p:cNvPr id="136" name="roundRect_135">
              <a:extLst>
                <a:ext uri="{FF2B5EF4-FFF2-40B4-BE49-F238E27FC236}">
                  <a16:creationId xmlns:a16="http://schemas.microsoft.com/office/drawing/2014/main" id="{E2FE8A9E-64B0-4375-BE1D-6428C08AADDA}"/>
                </a:ext>
              </a:extLst>
            </p:cNvPr>
            <p:cNvSpPr>
              <a:spLocks/>
            </p:cNvSpPr>
            <p:nvPr/>
          </p:nvSpPr>
          <p:spPr>
            <a:xfrm>
              <a:off x="7143750" y="4972050"/>
              <a:ext cx="3857625" cy="666750"/>
            </a:xfrm>
            <a:prstGeom prst="roundRect">
              <a:avLst>
                <a:gd name="adj" fmla="val 12857"/>
              </a:avLst>
            </a:prstGeom>
            <a:solidFill>
              <a:srgbClr val="F3E5EB"/>
            </a:solidFill>
            <a:ln w="9525">
              <a:solidFill>
                <a:srgbClr val="C28CA2"/>
              </a:solidFill>
              <a:prstDash val="solid"/>
            </a:ln>
          </p:spPr>
        </p:sp>
        <p:sp>
          <p:nvSpPr>
            <p:cNvPr id="137" name="textbox_136">
              <a:extLst>
                <a:ext uri="{FF2B5EF4-FFF2-40B4-BE49-F238E27FC236}">
                  <a16:creationId xmlns:a16="http://schemas.microsoft.com/office/drawing/2014/main" id="{ACDD8694-8912-4A52-88DE-F2BE25C77B6B}"/>
                </a:ext>
              </a:extLst>
            </p:cNvPr>
            <p:cNvSpPr>
              <a:spLocks/>
            </p:cNvSpPr>
            <p:nvPr/>
          </p:nvSpPr>
          <p:spPr>
            <a:xfrm>
              <a:off x="7286625" y="5038725"/>
              <a:ext cx="209550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425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425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425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rPr>
                <a:t>验证反馈：误差与结构</a:t>
              </a:r>
            </a:p>
          </p:txBody>
        </p:sp>
        <p:sp>
          <p:nvSpPr>
            <p:cNvPr id="138" name="trace_137">
              <a:extLst>
                <a:ext uri="{FF2B5EF4-FFF2-40B4-BE49-F238E27FC236}">
                  <a16:creationId xmlns:a16="http://schemas.microsoft.com/office/drawing/2014/main" id="{69A89157-0C10-4332-A244-9161F12E066C}"/>
                </a:ext>
              </a:extLst>
            </p:cNvPr>
            <p:cNvSpPr>
              <a:spLocks/>
            </p:cNvSpPr>
            <p:nvPr/>
          </p:nvSpPr>
          <p:spPr>
            <a:xfrm>
              <a:off x="7315200" y="5359436"/>
              <a:ext cx="1381125" cy="134403"/>
            </a:xfrm>
            <a:custGeom>
              <a:avLst/>
              <a:gdLst/>
              <a:ahLst/>
              <a:cxnLst/>
              <a:rect l="0" t="0" r="0" b="0"/>
              <a:pathLst>
                <a:path w="1381125" h="134403">
                  <a:moveTo>
                    <a:pt x="0" y="89055"/>
                  </a:moveTo>
                  <a:lnTo>
                    <a:pt x="33686" y="72691"/>
                  </a:lnTo>
                  <a:lnTo>
                    <a:pt x="67372" y="120864"/>
                  </a:lnTo>
                  <a:lnTo>
                    <a:pt x="101058" y="108554"/>
                  </a:lnTo>
                  <a:lnTo>
                    <a:pt x="134744" y="73707"/>
                  </a:lnTo>
                  <a:lnTo>
                    <a:pt x="168430" y="79576"/>
                  </a:lnTo>
                  <a:lnTo>
                    <a:pt x="202116" y="7601"/>
                  </a:lnTo>
                  <a:lnTo>
                    <a:pt x="235802" y="38357"/>
                  </a:lnTo>
                  <a:lnTo>
                    <a:pt x="269488" y="17365"/>
                  </a:lnTo>
                  <a:lnTo>
                    <a:pt x="303174" y="45701"/>
                  </a:lnTo>
                  <a:lnTo>
                    <a:pt x="336860" y="94912"/>
                  </a:lnTo>
                  <a:lnTo>
                    <a:pt x="370546" y="80436"/>
                  </a:lnTo>
                  <a:lnTo>
                    <a:pt x="404232" y="134403"/>
                  </a:lnTo>
                  <a:lnTo>
                    <a:pt x="437918" y="82017"/>
                  </a:lnTo>
                  <a:lnTo>
                    <a:pt x="471604" y="79945"/>
                  </a:lnTo>
                  <a:lnTo>
                    <a:pt x="505290" y="50403"/>
                  </a:lnTo>
                  <a:lnTo>
                    <a:pt x="538976" y="5932"/>
                  </a:lnTo>
                  <a:lnTo>
                    <a:pt x="572662" y="43636"/>
                  </a:lnTo>
                  <a:lnTo>
                    <a:pt x="606348" y="13141"/>
                  </a:lnTo>
                  <a:lnTo>
                    <a:pt x="640034" y="79399"/>
                  </a:lnTo>
                  <a:lnTo>
                    <a:pt x="673720" y="88378"/>
                  </a:lnTo>
                  <a:lnTo>
                    <a:pt x="707405" y="100446"/>
                  </a:lnTo>
                  <a:lnTo>
                    <a:pt x="741091" y="126816"/>
                  </a:lnTo>
                  <a:lnTo>
                    <a:pt x="774777" y="64370"/>
                  </a:lnTo>
                  <a:lnTo>
                    <a:pt x="808463" y="80794"/>
                  </a:lnTo>
                  <a:lnTo>
                    <a:pt x="842149" y="18805"/>
                  </a:lnTo>
                  <a:lnTo>
                    <a:pt x="875835" y="20708"/>
                  </a:lnTo>
                  <a:lnTo>
                    <a:pt x="909521" y="36830"/>
                  </a:lnTo>
                  <a:lnTo>
                    <a:pt x="943207" y="27888"/>
                  </a:lnTo>
                  <a:lnTo>
                    <a:pt x="976893" y="102230"/>
                  </a:lnTo>
                  <a:lnTo>
                    <a:pt x="1010579" y="81895"/>
                  </a:lnTo>
                  <a:lnTo>
                    <a:pt x="1044265" y="122305"/>
                  </a:lnTo>
                  <a:lnTo>
                    <a:pt x="1077951" y="101502"/>
                  </a:lnTo>
                  <a:lnTo>
                    <a:pt x="1111637" y="61264"/>
                  </a:lnTo>
                  <a:lnTo>
                    <a:pt x="1145323" y="66852"/>
                  </a:lnTo>
                  <a:lnTo>
                    <a:pt x="1179009" y="0"/>
                  </a:lnTo>
                  <a:lnTo>
                    <a:pt x="1212695" y="39086"/>
                  </a:lnTo>
                  <a:lnTo>
                    <a:pt x="1246381" y="26033"/>
                  </a:lnTo>
                  <a:lnTo>
                    <a:pt x="1280067" y="58798"/>
                  </a:lnTo>
                  <a:lnTo>
                    <a:pt x="1313753" y="106799"/>
                  </a:lnTo>
                  <a:lnTo>
                    <a:pt x="1347439" y="86226"/>
                  </a:lnTo>
                  <a:lnTo>
                    <a:pt x="1381125" y="131620"/>
                  </a:lnTo>
                </a:path>
              </a:pathLst>
            </a:custGeom>
            <a:noFill/>
            <a:ln w="13335">
              <a:solidFill>
                <a:srgbClr val="38385B"/>
              </a:solidFill>
            </a:ln>
          </p:spPr>
        </p:sp>
        <p:sp>
          <p:nvSpPr>
            <p:cNvPr id="139" name="prediction_trace_138">
              <a:extLst>
                <a:ext uri="{FF2B5EF4-FFF2-40B4-BE49-F238E27FC236}">
                  <a16:creationId xmlns:a16="http://schemas.microsoft.com/office/drawing/2014/main" id="{21543E2F-79DF-4A1F-93F9-7932F430212A}"/>
                </a:ext>
              </a:extLst>
            </p:cNvPr>
            <p:cNvSpPr>
              <a:spLocks/>
            </p:cNvSpPr>
            <p:nvPr/>
          </p:nvSpPr>
          <p:spPr>
            <a:xfrm>
              <a:off x="7315200" y="5364513"/>
              <a:ext cx="1381125" cy="120647"/>
            </a:xfrm>
            <a:custGeom>
              <a:avLst/>
              <a:gdLst/>
              <a:ahLst/>
              <a:cxnLst/>
              <a:rect l="0" t="0" r="0" b="0"/>
              <a:pathLst>
                <a:path w="1381125" h="120647">
                  <a:moveTo>
                    <a:pt x="0" y="86604"/>
                  </a:moveTo>
                  <a:lnTo>
                    <a:pt x="33686" y="71832"/>
                  </a:lnTo>
                  <a:lnTo>
                    <a:pt x="67372" y="116050"/>
                  </a:lnTo>
                  <a:lnTo>
                    <a:pt x="101058" y="90026"/>
                  </a:lnTo>
                  <a:lnTo>
                    <a:pt x="134744" y="67425"/>
                  </a:lnTo>
                  <a:lnTo>
                    <a:pt x="168430" y="60886"/>
                  </a:lnTo>
                  <a:lnTo>
                    <a:pt x="202116" y="5030"/>
                  </a:lnTo>
                  <a:lnTo>
                    <a:pt x="235802" y="36923"/>
                  </a:lnTo>
                  <a:lnTo>
                    <a:pt x="269488" y="16600"/>
                  </a:lnTo>
                  <a:lnTo>
                    <a:pt x="303174" y="55903"/>
                  </a:lnTo>
                  <a:lnTo>
                    <a:pt x="336860" y="87850"/>
                  </a:lnTo>
                  <a:lnTo>
                    <a:pt x="370546" y="82218"/>
                  </a:lnTo>
                  <a:lnTo>
                    <a:pt x="404232" y="120647"/>
                  </a:lnTo>
                  <a:lnTo>
                    <a:pt x="437918" y="67942"/>
                  </a:lnTo>
                  <a:lnTo>
                    <a:pt x="471604" y="70998"/>
                  </a:lnTo>
                  <a:lnTo>
                    <a:pt x="505290" y="33778"/>
                  </a:lnTo>
                  <a:lnTo>
                    <a:pt x="538976" y="9543"/>
                  </a:lnTo>
                  <a:lnTo>
                    <a:pt x="572662" y="38739"/>
                  </a:lnTo>
                  <a:lnTo>
                    <a:pt x="606348" y="19605"/>
                  </a:lnTo>
                  <a:lnTo>
                    <a:pt x="640034" y="83291"/>
                  </a:lnTo>
                  <a:lnTo>
                    <a:pt x="673720" y="81557"/>
                  </a:lnTo>
                  <a:lnTo>
                    <a:pt x="707405" y="100226"/>
                  </a:lnTo>
                  <a:lnTo>
                    <a:pt x="741091" y="107114"/>
                  </a:lnTo>
                  <a:lnTo>
                    <a:pt x="774777" y="55951"/>
                  </a:lnTo>
                  <a:lnTo>
                    <a:pt x="808463" y="66908"/>
                  </a:lnTo>
                  <a:lnTo>
                    <a:pt x="842149" y="9641"/>
                  </a:lnTo>
                  <a:lnTo>
                    <a:pt x="875835" y="25015"/>
                  </a:lnTo>
                  <a:lnTo>
                    <a:pt x="909521" y="32125"/>
                  </a:lnTo>
                  <a:lnTo>
                    <a:pt x="943207" y="38759"/>
                  </a:lnTo>
                  <a:lnTo>
                    <a:pt x="976893" y="98114"/>
                  </a:lnTo>
                  <a:lnTo>
                    <a:pt x="1010579" y="78543"/>
                  </a:lnTo>
                  <a:lnTo>
                    <a:pt x="1044265" y="115171"/>
                  </a:lnTo>
                  <a:lnTo>
                    <a:pt x="1077951" y="81844"/>
                  </a:lnTo>
                  <a:lnTo>
                    <a:pt x="1111637" y="55490"/>
                  </a:lnTo>
                  <a:lnTo>
                    <a:pt x="1145323" y="50100"/>
                  </a:lnTo>
                  <a:lnTo>
                    <a:pt x="1179009" y="0"/>
                  </a:lnTo>
                  <a:lnTo>
                    <a:pt x="1212695" y="39741"/>
                  </a:lnTo>
                  <a:lnTo>
                    <a:pt x="1246381" y="26041"/>
                  </a:lnTo>
                  <a:lnTo>
                    <a:pt x="1280067" y="68094"/>
                  </a:lnTo>
                  <a:lnTo>
                    <a:pt x="1313753" y="97554"/>
                  </a:lnTo>
                  <a:lnTo>
                    <a:pt x="1347439" y="85467"/>
                  </a:lnTo>
                  <a:lnTo>
                    <a:pt x="1381125" y="116008"/>
                  </a:lnTo>
                </a:path>
              </a:pathLst>
            </a:custGeom>
            <a:noFill/>
            <a:ln w="11430">
              <a:solidFill>
                <a:srgbClr val="9C5875"/>
              </a:solidFill>
            </a:ln>
          </p:spPr>
        </p:sp>
        <p:sp>
          <p:nvSpPr>
            <p:cNvPr id="140" name="rect_139">
              <a:extLst>
                <a:ext uri="{FF2B5EF4-FFF2-40B4-BE49-F238E27FC236}">
                  <a16:creationId xmlns:a16="http://schemas.microsoft.com/office/drawing/2014/main" id="{02DBD54E-392A-43EB-ABD0-B9C4C9553C03}"/>
                </a:ext>
              </a:extLst>
            </p:cNvPr>
            <p:cNvSpPr>
              <a:spLocks/>
            </p:cNvSpPr>
            <p:nvPr/>
          </p:nvSpPr>
          <p:spPr>
            <a:xfrm>
              <a:off x="8877300" y="5286375"/>
              <a:ext cx="95250" cy="95250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41" name="rect_140">
              <a:extLst>
                <a:ext uri="{FF2B5EF4-FFF2-40B4-BE49-F238E27FC236}">
                  <a16:creationId xmlns:a16="http://schemas.microsoft.com/office/drawing/2014/main" id="{F6A680D8-81F6-4C94-B09D-C37E35C43873}"/>
                </a:ext>
              </a:extLst>
            </p:cNvPr>
            <p:cNvSpPr>
              <a:spLocks/>
            </p:cNvSpPr>
            <p:nvPr/>
          </p:nvSpPr>
          <p:spPr>
            <a:xfrm>
              <a:off x="9001125" y="5286375"/>
              <a:ext cx="95250" cy="95250"/>
            </a:xfrm>
            <a:prstGeom prst="rect">
              <a:avLst/>
            </a:prstGeom>
            <a:solidFill>
              <a:srgbClr val="BEC6DF"/>
            </a:solidFill>
            <a:ln w="0">
              <a:noFill/>
              <a:prstDash val="solid"/>
            </a:ln>
          </p:spPr>
        </p:sp>
        <p:sp>
          <p:nvSpPr>
            <p:cNvPr id="142" name="rect_141">
              <a:extLst>
                <a:ext uri="{FF2B5EF4-FFF2-40B4-BE49-F238E27FC236}">
                  <a16:creationId xmlns:a16="http://schemas.microsoft.com/office/drawing/2014/main" id="{8249DD88-1DD9-47B1-9B4E-11256E4AA3F3}"/>
                </a:ext>
              </a:extLst>
            </p:cNvPr>
            <p:cNvSpPr>
              <a:spLocks/>
            </p:cNvSpPr>
            <p:nvPr/>
          </p:nvSpPr>
          <p:spPr>
            <a:xfrm>
              <a:off x="9124950" y="5286375"/>
              <a:ext cx="95250" cy="95250"/>
            </a:xfrm>
            <a:prstGeom prst="rect">
              <a:avLst/>
            </a:prstGeom>
            <a:solidFill>
              <a:srgbClr val="E8EAF3"/>
            </a:solidFill>
            <a:ln w="0">
              <a:noFill/>
              <a:prstDash val="solid"/>
            </a:ln>
          </p:spPr>
        </p:sp>
        <p:sp>
          <p:nvSpPr>
            <p:cNvPr id="143" name="rect_142">
              <a:extLst>
                <a:ext uri="{FF2B5EF4-FFF2-40B4-BE49-F238E27FC236}">
                  <a16:creationId xmlns:a16="http://schemas.microsoft.com/office/drawing/2014/main" id="{1C98EC3F-D63E-4286-B895-AD26F8D47590}"/>
                </a:ext>
              </a:extLst>
            </p:cNvPr>
            <p:cNvSpPr>
              <a:spLocks/>
            </p:cNvSpPr>
            <p:nvPr/>
          </p:nvSpPr>
          <p:spPr>
            <a:xfrm>
              <a:off x="9248775" y="5286375"/>
              <a:ext cx="95250" cy="95250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44" name="rect_143">
              <a:extLst>
                <a:ext uri="{FF2B5EF4-FFF2-40B4-BE49-F238E27FC236}">
                  <a16:creationId xmlns:a16="http://schemas.microsoft.com/office/drawing/2014/main" id="{60226BC0-4B35-41DC-A43D-8F24BC881C5D}"/>
                </a:ext>
              </a:extLst>
            </p:cNvPr>
            <p:cNvSpPr>
              <a:spLocks/>
            </p:cNvSpPr>
            <p:nvPr/>
          </p:nvSpPr>
          <p:spPr>
            <a:xfrm>
              <a:off x="9372600" y="5286375"/>
              <a:ext cx="95250" cy="95250"/>
            </a:xfrm>
            <a:prstGeom prst="rect">
              <a:avLst/>
            </a:prstGeom>
            <a:solidFill>
              <a:srgbClr val="BEC6DF"/>
            </a:solidFill>
            <a:ln w="0">
              <a:noFill/>
              <a:prstDash val="solid"/>
            </a:ln>
          </p:spPr>
        </p:sp>
        <p:sp>
          <p:nvSpPr>
            <p:cNvPr id="145" name="rect_144">
              <a:extLst>
                <a:ext uri="{FF2B5EF4-FFF2-40B4-BE49-F238E27FC236}">
                  <a16:creationId xmlns:a16="http://schemas.microsoft.com/office/drawing/2014/main" id="{AB45C310-A30F-4822-96FE-3E800325C53F}"/>
                </a:ext>
              </a:extLst>
            </p:cNvPr>
            <p:cNvSpPr>
              <a:spLocks/>
            </p:cNvSpPr>
            <p:nvPr/>
          </p:nvSpPr>
          <p:spPr>
            <a:xfrm>
              <a:off x="8877300" y="5410200"/>
              <a:ext cx="95250" cy="95250"/>
            </a:xfrm>
            <a:prstGeom prst="rect">
              <a:avLst/>
            </a:prstGeom>
            <a:solidFill>
              <a:srgbClr val="BEC6DF"/>
            </a:solidFill>
            <a:ln w="0">
              <a:noFill/>
              <a:prstDash val="solid"/>
            </a:ln>
          </p:spPr>
        </p:sp>
        <p:sp>
          <p:nvSpPr>
            <p:cNvPr id="146" name="rect_145">
              <a:extLst>
                <a:ext uri="{FF2B5EF4-FFF2-40B4-BE49-F238E27FC236}">
                  <a16:creationId xmlns:a16="http://schemas.microsoft.com/office/drawing/2014/main" id="{A7DA7B9C-2D26-4BFB-82E7-4DC992A66889}"/>
                </a:ext>
              </a:extLst>
            </p:cNvPr>
            <p:cNvSpPr>
              <a:spLocks/>
            </p:cNvSpPr>
            <p:nvPr/>
          </p:nvSpPr>
          <p:spPr>
            <a:xfrm>
              <a:off x="9001125" y="5410200"/>
              <a:ext cx="95250" cy="95250"/>
            </a:xfrm>
            <a:prstGeom prst="rect">
              <a:avLst/>
            </a:prstGeom>
            <a:solidFill>
              <a:srgbClr val="E8EAF3"/>
            </a:solidFill>
            <a:ln w="0">
              <a:noFill/>
              <a:prstDash val="solid"/>
            </a:ln>
          </p:spPr>
        </p:sp>
        <p:sp>
          <p:nvSpPr>
            <p:cNvPr id="147" name="rect_146">
              <a:extLst>
                <a:ext uri="{FF2B5EF4-FFF2-40B4-BE49-F238E27FC236}">
                  <a16:creationId xmlns:a16="http://schemas.microsoft.com/office/drawing/2014/main" id="{4EEA8AC8-4C8D-499F-BEA2-F9CA3FCCA60D}"/>
                </a:ext>
              </a:extLst>
            </p:cNvPr>
            <p:cNvSpPr>
              <a:spLocks/>
            </p:cNvSpPr>
            <p:nvPr/>
          </p:nvSpPr>
          <p:spPr>
            <a:xfrm>
              <a:off x="9124950" y="5410200"/>
              <a:ext cx="95250" cy="95250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48" name="rect_147">
              <a:extLst>
                <a:ext uri="{FF2B5EF4-FFF2-40B4-BE49-F238E27FC236}">
                  <a16:creationId xmlns:a16="http://schemas.microsoft.com/office/drawing/2014/main" id="{CA68D2A6-04C1-438C-9818-A0E65F032A6C}"/>
                </a:ext>
              </a:extLst>
            </p:cNvPr>
            <p:cNvSpPr>
              <a:spLocks/>
            </p:cNvSpPr>
            <p:nvPr/>
          </p:nvSpPr>
          <p:spPr>
            <a:xfrm>
              <a:off x="9248775" y="5410200"/>
              <a:ext cx="95250" cy="95250"/>
            </a:xfrm>
            <a:prstGeom prst="rect">
              <a:avLst/>
            </a:prstGeom>
            <a:solidFill>
              <a:srgbClr val="BEC6DF"/>
            </a:solidFill>
            <a:ln w="0">
              <a:noFill/>
              <a:prstDash val="solid"/>
            </a:ln>
          </p:spPr>
        </p:sp>
        <p:sp>
          <p:nvSpPr>
            <p:cNvPr id="149" name="rect_148">
              <a:extLst>
                <a:ext uri="{FF2B5EF4-FFF2-40B4-BE49-F238E27FC236}">
                  <a16:creationId xmlns:a16="http://schemas.microsoft.com/office/drawing/2014/main" id="{7FC8FD7D-5846-4E02-9592-5D4552CC2BAD}"/>
                </a:ext>
              </a:extLst>
            </p:cNvPr>
            <p:cNvSpPr>
              <a:spLocks/>
            </p:cNvSpPr>
            <p:nvPr/>
          </p:nvSpPr>
          <p:spPr>
            <a:xfrm>
              <a:off x="9372600" y="5410200"/>
              <a:ext cx="95250" cy="95250"/>
            </a:xfrm>
            <a:prstGeom prst="rect">
              <a:avLst/>
            </a:prstGeom>
            <a:solidFill>
              <a:srgbClr val="E8EAF3"/>
            </a:solidFill>
            <a:ln w="0">
              <a:noFill/>
              <a:prstDash val="solid"/>
            </a:ln>
          </p:spPr>
        </p:sp>
        <p:sp>
          <p:nvSpPr>
            <p:cNvPr id="150" name="textbox_149">
              <a:extLst>
                <a:ext uri="{FF2B5EF4-FFF2-40B4-BE49-F238E27FC236}">
                  <a16:creationId xmlns:a16="http://schemas.microsoft.com/office/drawing/2014/main" id="{89D83508-F492-4D2E-870E-45914D50ECF7}"/>
                </a:ext>
              </a:extLst>
            </p:cNvPr>
            <p:cNvSpPr>
              <a:spLocks/>
            </p:cNvSpPr>
            <p:nvPr/>
          </p:nvSpPr>
          <p:spPr>
            <a:xfrm>
              <a:off x="9658350" y="5219700"/>
              <a:ext cx="1190625" cy="3333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75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75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75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rPr>
                <a:t>残差摘要</a:t>
              </a:r>
            </a:p>
            <a:p>
              <a:pPr algn="l">
                <a:defRPr sz="975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75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rPr>
                <a:t>执行成本</a:t>
              </a:r>
            </a:p>
          </p:txBody>
        </p:sp>
      </p:grpSp>
      <p:grpSp>
        <p:nvGrpSpPr>
          <p:cNvPr id="169" name="overview_update">
            <a:extLst>
              <a:ext uri="{FF2B5EF4-FFF2-40B4-BE49-F238E27FC236}">
                <a16:creationId xmlns:a16="http://schemas.microsoft.com/office/drawing/2014/main" id="{B026EAAB-00D6-1F6E-FC4C-E89231265B12}"/>
              </a:ext>
            </a:extLst>
          </p:cNvPr>
          <p:cNvGrpSpPr/>
          <p:nvPr/>
        </p:nvGrpSpPr>
        <p:grpSpPr>
          <a:xfrm>
            <a:off x="2905125" y="4810125"/>
            <a:ext cx="4238625" cy="828675"/>
            <a:chOff x="2905125" y="4810125"/>
            <a:chExt cx="4238625" cy="828675"/>
          </a:xfrm>
        </p:grpSpPr>
        <p:sp>
          <p:nvSpPr>
            <p:cNvPr id="151" name="native_curve_150">
              <a:extLst>
                <a:ext uri="{FF2B5EF4-FFF2-40B4-BE49-F238E27FC236}">
                  <a16:creationId xmlns:a16="http://schemas.microsoft.com/office/drawing/2014/main" id="{5F8D004B-09AD-4C42-ABC7-935DCC5430BA}"/>
                </a:ext>
              </a:extLst>
            </p:cNvPr>
            <p:cNvSpPr>
              <a:spLocks/>
            </p:cNvSpPr>
            <p:nvPr/>
          </p:nvSpPr>
          <p:spPr>
            <a:xfrm>
              <a:off x="6429375" y="5314950"/>
              <a:ext cx="714375" cy="953"/>
            </a:xfrm>
            <a:custGeom>
              <a:avLst/>
              <a:gdLst/>
              <a:ahLst/>
              <a:cxnLst/>
              <a:rect l="0" t="0" r="0" b="0"/>
              <a:pathLst>
                <a:path w="714375" h="953">
                  <a:moveTo>
                    <a:pt x="714375" y="0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9C5875"/>
              </a:solidFill>
              <a:prstDash val="solid"/>
            </a:ln>
          </p:spPr>
        </p:sp>
        <p:sp>
          <p:nvSpPr>
            <p:cNvPr id="152" name="arrow_tip_151">
              <a:extLst>
                <a:ext uri="{FF2B5EF4-FFF2-40B4-BE49-F238E27FC236}">
                  <a16:creationId xmlns:a16="http://schemas.microsoft.com/office/drawing/2014/main" id="{993939B4-C6D2-414A-AC00-7C8943F2BBB3}"/>
                </a:ext>
              </a:extLst>
            </p:cNvPr>
            <p:cNvSpPr>
              <a:spLocks/>
            </p:cNvSpPr>
            <p:nvPr/>
          </p:nvSpPr>
          <p:spPr>
            <a:xfrm>
              <a:off x="6429375" y="5280660"/>
              <a:ext cx="66675" cy="68580"/>
            </a:xfrm>
            <a:custGeom>
              <a:avLst/>
              <a:gdLst/>
              <a:ahLst/>
              <a:cxnLst/>
              <a:rect l="0" t="0" r="0" b="0"/>
              <a:pathLst>
                <a:path w="66675" h="68580">
                  <a:moveTo>
                    <a:pt x="0" y="34290"/>
                  </a:moveTo>
                  <a:lnTo>
                    <a:pt x="66675" y="0"/>
                  </a:lnTo>
                  <a:lnTo>
                    <a:pt x="66675" y="68580"/>
                  </a:lnTo>
                  <a:close/>
                </a:path>
              </a:pathLst>
            </a:custGeom>
            <a:solidFill>
              <a:srgbClr val="9C5875"/>
            </a:solidFill>
            <a:ln w="0">
              <a:noFill/>
            </a:ln>
          </p:spPr>
        </p:sp>
        <p:sp>
          <p:nvSpPr>
            <p:cNvPr id="153" name="roundRect_152">
              <a:extLst>
                <a:ext uri="{FF2B5EF4-FFF2-40B4-BE49-F238E27FC236}">
                  <a16:creationId xmlns:a16="http://schemas.microsoft.com/office/drawing/2014/main" id="{45ECB663-A9DB-4838-B772-64CF5B39B4EA}"/>
                </a:ext>
              </a:extLst>
            </p:cNvPr>
            <p:cNvSpPr>
              <a:spLocks/>
            </p:cNvSpPr>
            <p:nvPr/>
          </p:nvSpPr>
          <p:spPr>
            <a:xfrm>
              <a:off x="2905125" y="5105400"/>
              <a:ext cx="3524250" cy="533400"/>
            </a:xfrm>
            <a:prstGeom prst="roundRect">
              <a:avLst>
                <a:gd name="adj" fmla="val 16071"/>
              </a:avLst>
            </a:prstGeom>
            <a:solidFill>
              <a:srgbClr val="FAF1F5"/>
            </a:solidFill>
            <a:ln w="9525">
              <a:solidFill>
                <a:srgbClr val="C99BAE"/>
              </a:solidFill>
              <a:prstDash val="solid"/>
            </a:ln>
          </p:spPr>
        </p:sp>
        <p:sp>
          <p:nvSpPr>
            <p:cNvPr id="154" name="textbox_153">
              <a:extLst>
                <a:ext uri="{FF2B5EF4-FFF2-40B4-BE49-F238E27FC236}">
                  <a16:creationId xmlns:a16="http://schemas.microsoft.com/office/drawing/2014/main" id="{CEDF9748-EC46-43FE-882A-14DEFAE4557B}"/>
                </a:ext>
              </a:extLst>
            </p:cNvPr>
            <p:cNvSpPr>
              <a:spLocks/>
            </p:cNvSpPr>
            <p:nvPr/>
          </p:nvSpPr>
          <p:spPr>
            <a:xfrm>
              <a:off x="3048000" y="5172075"/>
              <a:ext cx="3209925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5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35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35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rPr>
                <a:t>追加执行历史，扣除真实成本</a:t>
              </a:r>
            </a:p>
          </p:txBody>
        </p:sp>
        <p:sp>
          <p:nvSpPr>
            <p:cNvPr id="155" name="textbox_154">
              <a:extLst>
                <a:ext uri="{FF2B5EF4-FFF2-40B4-BE49-F238E27FC236}">
                  <a16:creationId xmlns:a16="http://schemas.microsoft.com/office/drawing/2014/main" id="{5C8B3E28-77FD-45EB-A881-E011AE0F8BED}"/>
                </a:ext>
              </a:extLst>
            </p:cNvPr>
            <p:cNvSpPr>
              <a:spLocks/>
            </p:cNvSpPr>
            <p:nvPr/>
          </p:nvSpPr>
          <p:spPr>
            <a:xfrm>
              <a:off x="3048000" y="5419725"/>
              <a:ext cx="314325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更新状态后，再决定下一项候选</a:t>
              </a:r>
            </a:p>
          </p:txBody>
        </p:sp>
        <p:sp>
          <p:nvSpPr>
            <p:cNvPr id="156" name="native_curve_155">
              <a:extLst>
                <a:ext uri="{FF2B5EF4-FFF2-40B4-BE49-F238E27FC236}">
                  <a16:creationId xmlns:a16="http://schemas.microsoft.com/office/drawing/2014/main" id="{A5DE7D58-5400-436B-9BD1-2CE8D6E343B9}"/>
                </a:ext>
              </a:extLst>
            </p:cNvPr>
            <p:cNvSpPr>
              <a:spLocks/>
            </p:cNvSpPr>
            <p:nvPr/>
          </p:nvSpPr>
          <p:spPr>
            <a:xfrm>
              <a:off x="4667250" y="4810125"/>
              <a:ext cx="953" cy="295275"/>
            </a:xfrm>
            <a:custGeom>
              <a:avLst/>
              <a:gdLst/>
              <a:ahLst/>
              <a:cxnLst/>
              <a:rect l="0" t="0" r="0" b="0"/>
              <a:pathLst>
                <a:path w="953" h="295275">
                  <a:moveTo>
                    <a:pt x="0" y="295275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9C5875"/>
              </a:solidFill>
              <a:prstDash val="solid"/>
            </a:ln>
          </p:spPr>
        </p:sp>
        <p:sp>
          <p:nvSpPr>
            <p:cNvPr id="157" name="arrow_tip_156">
              <a:extLst>
                <a:ext uri="{FF2B5EF4-FFF2-40B4-BE49-F238E27FC236}">
                  <a16:creationId xmlns:a16="http://schemas.microsoft.com/office/drawing/2014/main" id="{676AD050-D6F5-4575-8A28-B9E0FA84CB74}"/>
                </a:ext>
              </a:extLst>
            </p:cNvPr>
            <p:cNvSpPr>
              <a:spLocks/>
            </p:cNvSpPr>
            <p:nvPr/>
          </p:nvSpPr>
          <p:spPr>
            <a:xfrm>
              <a:off x="4632960" y="4810125"/>
              <a:ext cx="68580" cy="66675"/>
            </a:xfrm>
            <a:custGeom>
              <a:avLst/>
              <a:gdLst/>
              <a:ahLst/>
              <a:cxnLst/>
              <a:rect l="0" t="0" r="0" b="0"/>
              <a:pathLst>
                <a:path w="68580" h="66675">
                  <a:moveTo>
                    <a:pt x="34290" y="0"/>
                  </a:moveTo>
                  <a:lnTo>
                    <a:pt x="68580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9C5875"/>
            </a:solidFill>
            <a:ln w="0">
              <a:noFill/>
            </a:ln>
          </p:spPr>
        </p:sp>
      </p:grpSp>
      <p:sp>
        <p:nvSpPr>
          <p:cNvPr id="158" name="line_157">
            <a:extLst>
              <a:ext uri="{FF2B5EF4-FFF2-40B4-BE49-F238E27FC236}">
                <a16:creationId xmlns:a16="http://schemas.microsoft.com/office/drawing/2014/main" id="{C6F9D8F3-1E97-4F94-A537-64646EAD5769}"/>
              </a:ext>
            </a:extLst>
          </p:cNvPr>
          <p:cNvSpPr>
            <a:spLocks/>
          </p:cNvSpPr>
          <p:nvPr/>
        </p:nvSpPr>
        <p:spPr>
          <a:xfrm>
            <a:off x="371475" y="5800725"/>
            <a:ext cx="10687050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159" name="rect_158">
            <a:extLst>
              <a:ext uri="{FF2B5EF4-FFF2-40B4-BE49-F238E27FC236}">
                <a16:creationId xmlns:a16="http://schemas.microsoft.com/office/drawing/2014/main" id="{4D9595E3-7ED2-435C-B6B5-EA84F9F7CD9A}"/>
              </a:ext>
            </a:extLst>
          </p:cNvPr>
          <p:cNvSpPr>
            <a:spLocks/>
          </p:cNvSpPr>
          <p:nvPr/>
        </p:nvSpPr>
        <p:spPr>
          <a:xfrm>
            <a:off x="371475" y="5886450"/>
            <a:ext cx="38100" cy="20002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160" name="textbox_159">
            <a:extLst>
              <a:ext uri="{FF2B5EF4-FFF2-40B4-BE49-F238E27FC236}">
                <a16:creationId xmlns:a16="http://schemas.microsoft.com/office/drawing/2014/main" id="{D217BB25-5902-4830-B3DF-113642932963}"/>
              </a:ext>
            </a:extLst>
          </p:cNvPr>
          <p:cNvSpPr>
            <a:spLocks/>
          </p:cNvSpPr>
          <p:nvPr/>
        </p:nvSpPr>
        <p:spPr>
          <a:xfrm>
            <a:off x="495300" y="5848350"/>
            <a:ext cx="1043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主线：描述任务 → 估计表现 → 执行实验 → 从反馈更新选择。</a:t>
            </a:r>
          </a:p>
        </p:txBody>
      </p:sp>
      <p:sp>
        <p:nvSpPr>
          <p:cNvPr id="161" name="textbox_160">
            <a:extLst>
              <a:ext uri="{FF2B5EF4-FFF2-40B4-BE49-F238E27FC236}">
                <a16:creationId xmlns:a16="http://schemas.microsoft.com/office/drawing/2014/main" id="{456B7997-3ACD-4E96-B84F-4916800E1C3F}"/>
              </a:ext>
            </a:extLst>
          </p:cNvPr>
          <p:cNvSpPr>
            <a:spLocks/>
          </p:cNvSpPr>
          <p:nvPr/>
        </p:nvSpPr>
        <p:spPr>
          <a:xfrm>
            <a:off x="371475" y="6219825"/>
            <a:ext cx="10287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路线 V1.0 · 视觉测试稿 · 研究设计待验证</a:t>
            </a:r>
          </a:p>
        </p:txBody>
      </p:sp>
      <p:sp>
        <p:nvSpPr>
          <p:cNvPr id="162" name="textbox_161">
            <a:extLst>
              <a:ext uri="{FF2B5EF4-FFF2-40B4-BE49-F238E27FC236}">
                <a16:creationId xmlns:a16="http://schemas.microsoft.com/office/drawing/2014/main" id="{8E50D67F-D25E-4430-9C64-6E8B8429AA69}"/>
              </a:ext>
            </a:extLst>
          </p:cNvPr>
          <p:cNvSpPr>
            <a:spLocks/>
          </p:cNvSpPr>
          <p:nvPr/>
        </p:nvSpPr>
        <p:spPr>
          <a:xfrm>
            <a:off x="10620375" y="619125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22073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box_1">
            <a:extLst>
              <a:ext uri="{FF2B5EF4-FFF2-40B4-BE49-F238E27FC236}">
                <a16:creationId xmlns:a16="http://schemas.microsoft.com/office/drawing/2014/main" id="{8E5A5BD9-4BA5-4288-B2D8-A41502B37103}"/>
              </a:ext>
            </a:extLst>
          </p:cNvPr>
          <p:cNvSpPr>
            <a:spLocks/>
          </p:cNvSpPr>
          <p:nvPr/>
        </p:nvSpPr>
        <p:spPr>
          <a:xfrm>
            <a:off x="180975" y="95250"/>
            <a:ext cx="7048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38385B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2250" b="1">
                <a:solidFill>
                  <a:srgbClr val="38385B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38385B"/>
                </a:solidFill>
                <a:latin typeface="Georgia"/>
                <a:ea typeface="Georgia"/>
                <a:cs typeface="Georgia"/>
              </a:rPr>
              <a:t>From Task-aware Recommendation</a:t>
            </a:r>
          </a:p>
          <a:p>
            <a:pPr algn="l">
              <a:defRPr sz="2250" b="1">
                <a:solidFill>
                  <a:srgbClr val="38385B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38385B"/>
                </a:solidFill>
                <a:latin typeface="Georgia"/>
                <a:ea typeface="Georgia"/>
                <a:cs typeface="Georgia"/>
              </a:rPr>
              <a:t>to Budgeted Scientific Search</a:t>
            </a:r>
          </a:p>
        </p:txBody>
      </p:sp>
      <p:sp>
        <p:nvSpPr>
          <p:cNvPr id="2" name="textbox_2">
            <a:extLst>
              <a:ext uri="{FF2B5EF4-FFF2-40B4-BE49-F238E27FC236}">
                <a16:creationId xmlns:a16="http://schemas.microsoft.com/office/drawing/2014/main" id="{4DB82AD9-1429-4994-A54B-37D863F294AC}"/>
              </a:ext>
            </a:extLst>
          </p:cNvPr>
          <p:cNvSpPr>
            <a:spLocks/>
          </p:cNvSpPr>
          <p:nvPr/>
        </p:nvSpPr>
        <p:spPr>
          <a:xfrm>
            <a:off x="200025" y="866775"/>
            <a:ext cx="6810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50" b="0">
                <a:solidFill>
                  <a:srgbClr val="9C5875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750" b="0">
                <a:solidFill>
                  <a:srgbClr val="9C5875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9C5875"/>
                </a:solidFill>
                <a:latin typeface="Noto Sans SC"/>
                <a:ea typeface="Noto Sans SC"/>
                <a:cs typeface="Noto Sans SC"/>
              </a:rPr>
              <a:t>THREE RESEARCH QUESTIONS. A COHERENT PATHWAY.</a:t>
            </a:r>
          </a:p>
        </p:txBody>
      </p:sp>
      <p:sp>
        <p:nvSpPr>
          <p:cNvPr id="3" name="textbox_3">
            <a:extLst>
              <a:ext uri="{FF2B5EF4-FFF2-40B4-BE49-F238E27FC236}">
                <a16:creationId xmlns:a16="http://schemas.microsoft.com/office/drawing/2014/main" id="{5B5A2D4E-840B-4194-AEEE-028BD57AE623}"/>
              </a:ext>
            </a:extLst>
          </p:cNvPr>
          <p:cNvSpPr>
            <a:spLocks/>
          </p:cNvSpPr>
          <p:nvPr/>
        </p:nvSpPr>
        <p:spPr>
          <a:xfrm>
            <a:off x="200025" y="1066800"/>
            <a:ext cx="6810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38385B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975" b="0">
                <a:solidFill>
                  <a:srgbClr val="38385B"/>
                </a:solidFill>
                <a:latin typeface="Georgia"/>
                <a:ea typeface="Georgia"/>
                <a:cs typeface="Georgia"/>
              </a:defRPr>
            </a:pPr>
            <a:r>
              <a:rPr sz="975" b="0">
                <a:solidFill>
                  <a:srgbClr val="38385B"/>
                </a:solidFill>
                <a:latin typeface="Georgia"/>
                <a:ea typeface="Georgia"/>
                <a:cs typeface="Georgia"/>
              </a:rPr>
              <a:t>Use task structure, residual information and controlled search</a:t>
            </a:r>
          </a:p>
          <a:p>
            <a:pPr algn="l">
              <a:defRPr sz="975" b="0">
                <a:solidFill>
                  <a:srgbClr val="38385B"/>
                </a:solidFill>
                <a:latin typeface="Georgia"/>
                <a:ea typeface="Georgia"/>
                <a:cs typeface="Georgia"/>
              </a:defRPr>
            </a:pPr>
            <a:r>
              <a:rPr sz="975" b="0">
                <a:solidFill>
                  <a:srgbClr val="38385B"/>
                </a:solidFill>
                <a:latin typeface="Georgia"/>
                <a:ea typeface="Georgia"/>
                <a:cs typeface="Georgia"/>
              </a:rPr>
              <a:t>to make the next experiment more informative.</a:t>
            </a:r>
          </a:p>
        </p:txBody>
      </p:sp>
      <p:grpSp>
        <p:nvGrpSpPr>
          <p:cNvPr id="275" name="reading_guide">
            <a:extLst>
              <a:ext uri="{FF2B5EF4-FFF2-40B4-BE49-F238E27FC236}">
                <a16:creationId xmlns:a16="http://schemas.microsoft.com/office/drawing/2014/main" id="{45D8E0DA-D749-3BA3-8BA3-CA2AF068F3C2}"/>
              </a:ext>
            </a:extLst>
          </p:cNvPr>
          <p:cNvGrpSpPr/>
          <p:nvPr/>
        </p:nvGrpSpPr>
        <p:grpSpPr>
          <a:xfrm>
            <a:off x="190500" y="1485900"/>
            <a:ext cx="3581400" cy="1228725"/>
            <a:chOff x="190500" y="1485900"/>
            <a:chExt cx="3581400" cy="1228725"/>
          </a:xfrm>
        </p:grpSpPr>
        <p:sp>
          <p:nvSpPr>
            <p:cNvPr id="4" name="roundRect_4">
              <a:extLst>
                <a:ext uri="{FF2B5EF4-FFF2-40B4-BE49-F238E27FC236}">
                  <a16:creationId xmlns:a16="http://schemas.microsoft.com/office/drawing/2014/main" id="{C16FC741-9A16-4EBD-AF1E-BAB925B50C41}"/>
                </a:ext>
              </a:extLst>
            </p:cNvPr>
            <p:cNvSpPr>
              <a:spLocks/>
            </p:cNvSpPr>
            <p:nvPr/>
          </p:nvSpPr>
          <p:spPr>
            <a:xfrm>
              <a:off x="190500" y="1485900"/>
              <a:ext cx="3581400" cy="1228725"/>
            </a:xfrm>
            <a:prstGeom prst="roundRect">
              <a:avLst>
                <a:gd name="adj" fmla="val 6977"/>
              </a:avLst>
            </a:prstGeom>
            <a:solidFill>
              <a:srgbClr val="F6F4F8"/>
            </a:solidFill>
            <a:ln w="9525">
              <a:solidFill>
                <a:srgbClr val="DAD6E4"/>
              </a:solidFill>
              <a:prstDash val="solid"/>
            </a:ln>
          </p:spPr>
        </p:sp>
        <p:sp>
          <p:nvSpPr>
            <p:cNvPr id="5" name="textbox_5">
              <a:extLst>
                <a:ext uri="{FF2B5EF4-FFF2-40B4-BE49-F238E27FC236}">
                  <a16:creationId xmlns:a16="http://schemas.microsoft.com/office/drawing/2014/main" id="{8C3C8287-5C8D-48F4-8832-D0E4263EA376}"/>
                </a:ext>
              </a:extLst>
            </p:cNvPr>
            <p:cNvSpPr>
              <a:spLocks/>
            </p:cNvSpPr>
            <p:nvPr/>
          </p:nvSpPr>
          <p:spPr>
            <a:xfrm>
              <a:off x="295275" y="1552575"/>
              <a:ext cx="33337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READING GUIDE  /  问题 → 对照 → 证据</a:t>
              </a:r>
            </a:p>
          </p:txBody>
        </p:sp>
        <p:sp>
          <p:nvSpPr>
            <p:cNvPr id="6" name="ellipse_6">
              <a:extLst>
                <a:ext uri="{FF2B5EF4-FFF2-40B4-BE49-F238E27FC236}">
                  <a16:creationId xmlns:a16="http://schemas.microsoft.com/office/drawing/2014/main" id="{80C88F38-917D-411D-BFB4-DCCF7169E8C1}"/>
                </a:ext>
              </a:extLst>
            </p:cNvPr>
            <p:cNvSpPr>
              <a:spLocks/>
            </p:cNvSpPr>
            <p:nvPr/>
          </p:nvSpPr>
          <p:spPr>
            <a:xfrm>
              <a:off x="381000" y="1781175"/>
              <a:ext cx="171450" cy="171450"/>
            </a:xfrm>
            <a:prstGeom prst="ellipse">
              <a:avLst/>
            </a:prstGeom>
            <a:noFill/>
            <a:ln w="14288">
              <a:solidFill>
                <a:srgbClr val="9C5875"/>
              </a:solidFill>
              <a:prstDash val="solid"/>
            </a:ln>
          </p:spPr>
        </p:sp>
        <p:sp>
          <p:nvSpPr>
            <p:cNvPr id="7" name="line_7">
              <a:extLst>
                <a:ext uri="{FF2B5EF4-FFF2-40B4-BE49-F238E27FC236}">
                  <a16:creationId xmlns:a16="http://schemas.microsoft.com/office/drawing/2014/main" id="{F36C1925-7D79-4508-AF56-1C2A264E1884}"/>
                </a:ext>
              </a:extLst>
            </p:cNvPr>
            <p:cNvSpPr>
              <a:spLocks/>
            </p:cNvSpPr>
            <p:nvPr/>
          </p:nvSpPr>
          <p:spPr>
            <a:xfrm>
              <a:off x="514350" y="1914525"/>
              <a:ext cx="85725" cy="85725"/>
            </a:xfrm>
            <a:prstGeom prst="line">
              <a:avLst/>
            </a:prstGeom>
            <a:noFill/>
            <a:ln w="19050">
              <a:solidFill>
                <a:srgbClr val="9C5875"/>
              </a:solidFill>
              <a:prstDash val="solid"/>
            </a:ln>
          </p:spPr>
        </p:sp>
        <p:sp>
          <p:nvSpPr>
            <p:cNvPr id="8" name="textbox_8">
              <a:extLst>
                <a:ext uri="{FF2B5EF4-FFF2-40B4-BE49-F238E27FC236}">
                  <a16:creationId xmlns:a16="http://schemas.microsoft.com/office/drawing/2014/main" id="{40E1E4A1-58A5-404B-9A49-D16338D87A2D}"/>
                </a:ext>
              </a:extLst>
            </p:cNvPr>
            <p:cNvSpPr>
              <a:spLocks/>
            </p:cNvSpPr>
            <p:nvPr/>
          </p:nvSpPr>
          <p:spPr>
            <a:xfrm>
              <a:off x="304800" y="2057400"/>
              <a:ext cx="1095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75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975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975" b="1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1. Problem</a:t>
              </a:r>
            </a:p>
          </p:txBody>
        </p:sp>
        <p:sp>
          <p:nvSpPr>
            <p:cNvPr id="9" name="textbox_9">
              <a:extLst>
                <a:ext uri="{FF2B5EF4-FFF2-40B4-BE49-F238E27FC236}">
                  <a16:creationId xmlns:a16="http://schemas.microsoft.com/office/drawing/2014/main" id="{8535074A-E38E-42EC-A0DC-2323ACB234EF}"/>
                </a:ext>
              </a:extLst>
            </p:cNvPr>
            <p:cNvSpPr>
              <a:spLocks/>
            </p:cNvSpPr>
            <p:nvPr/>
          </p:nvSpPr>
          <p:spPr>
            <a:xfrm>
              <a:off x="304800" y="2286000"/>
              <a:ext cx="10668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What are we</a:t>
              </a:r>
            </a:p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trying to learn?</a:t>
              </a:r>
            </a:p>
          </p:txBody>
        </p:sp>
        <p:sp>
          <p:nvSpPr>
            <p:cNvPr id="10" name="ellipse_10">
              <a:extLst>
                <a:ext uri="{FF2B5EF4-FFF2-40B4-BE49-F238E27FC236}">
                  <a16:creationId xmlns:a16="http://schemas.microsoft.com/office/drawing/2014/main" id="{4529520D-69E0-49E8-B73B-D931FD4E217C}"/>
                </a:ext>
              </a:extLst>
            </p:cNvPr>
            <p:cNvSpPr>
              <a:spLocks/>
            </p:cNvSpPr>
            <p:nvPr/>
          </p:nvSpPr>
          <p:spPr>
            <a:xfrm>
              <a:off x="1562100" y="1781175"/>
              <a:ext cx="171450" cy="171450"/>
            </a:xfrm>
            <a:prstGeom prst="ellipse">
              <a:avLst/>
            </a:prstGeom>
            <a:noFill/>
            <a:ln w="14288">
              <a:solidFill>
                <a:srgbClr val="9C5875"/>
              </a:solidFill>
              <a:prstDash val="solid"/>
            </a:ln>
          </p:spPr>
        </p:sp>
        <p:sp>
          <p:nvSpPr>
            <p:cNvPr id="11" name="line_11">
              <a:extLst>
                <a:ext uri="{FF2B5EF4-FFF2-40B4-BE49-F238E27FC236}">
                  <a16:creationId xmlns:a16="http://schemas.microsoft.com/office/drawing/2014/main" id="{BE7D408F-9893-4CCB-9E33-C2F32B124B99}"/>
                </a:ext>
              </a:extLst>
            </p:cNvPr>
            <p:cNvSpPr>
              <a:spLocks/>
            </p:cNvSpPr>
            <p:nvPr/>
          </p:nvSpPr>
          <p:spPr>
            <a:xfrm>
              <a:off x="1533525" y="1866900"/>
              <a:ext cx="228600" cy="953"/>
            </a:xfrm>
            <a:prstGeom prst="line">
              <a:avLst/>
            </a:prstGeom>
            <a:noFill/>
            <a:ln w="9525">
              <a:solidFill>
                <a:srgbClr val="9C5875"/>
              </a:solidFill>
              <a:prstDash val="solid"/>
            </a:ln>
          </p:spPr>
        </p:sp>
        <p:sp>
          <p:nvSpPr>
            <p:cNvPr id="12" name="line_12">
              <a:extLst>
                <a:ext uri="{FF2B5EF4-FFF2-40B4-BE49-F238E27FC236}">
                  <a16:creationId xmlns:a16="http://schemas.microsoft.com/office/drawing/2014/main" id="{C76690A6-88C4-4FA1-9EFB-4DF0E00D4557}"/>
                </a:ext>
              </a:extLst>
            </p:cNvPr>
            <p:cNvSpPr>
              <a:spLocks/>
            </p:cNvSpPr>
            <p:nvPr/>
          </p:nvSpPr>
          <p:spPr>
            <a:xfrm>
              <a:off x="1647825" y="1762125"/>
              <a:ext cx="953" cy="209550"/>
            </a:xfrm>
            <a:prstGeom prst="line">
              <a:avLst/>
            </a:prstGeom>
            <a:noFill/>
            <a:ln w="9525">
              <a:solidFill>
                <a:srgbClr val="9C5875"/>
              </a:solidFill>
              <a:prstDash val="solid"/>
            </a:ln>
          </p:spPr>
        </p:sp>
        <p:sp>
          <p:nvSpPr>
            <p:cNvPr id="13" name="textbox_13">
              <a:extLst>
                <a:ext uri="{FF2B5EF4-FFF2-40B4-BE49-F238E27FC236}">
                  <a16:creationId xmlns:a16="http://schemas.microsoft.com/office/drawing/2014/main" id="{1CB81F39-C158-429B-9882-89992A4D33F0}"/>
                </a:ext>
              </a:extLst>
            </p:cNvPr>
            <p:cNvSpPr>
              <a:spLocks/>
            </p:cNvSpPr>
            <p:nvPr/>
          </p:nvSpPr>
          <p:spPr>
            <a:xfrm>
              <a:off x="1485900" y="2057400"/>
              <a:ext cx="1095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75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975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975" b="1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2. Comparison</a:t>
              </a:r>
            </a:p>
          </p:txBody>
        </p:sp>
        <p:sp>
          <p:nvSpPr>
            <p:cNvPr id="14" name="textbox_14">
              <a:extLst>
                <a:ext uri="{FF2B5EF4-FFF2-40B4-BE49-F238E27FC236}">
                  <a16:creationId xmlns:a16="http://schemas.microsoft.com/office/drawing/2014/main" id="{644447CF-56E7-4745-8140-0014A397661A}"/>
                </a:ext>
              </a:extLst>
            </p:cNvPr>
            <p:cNvSpPr>
              <a:spLocks/>
            </p:cNvSpPr>
            <p:nvPr/>
          </p:nvSpPr>
          <p:spPr>
            <a:xfrm>
              <a:off x="1485900" y="2286000"/>
              <a:ext cx="10668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What changes under</a:t>
              </a:r>
            </a:p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the same conditions?</a:t>
              </a:r>
            </a:p>
          </p:txBody>
        </p:sp>
        <p:sp>
          <p:nvSpPr>
            <p:cNvPr id="15" name="ellipse_15">
              <a:extLst>
                <a:ext uri="{FF2B5EF4-FFF2-40B4-BE49-F238E27FC236}">
                  <a16:creationId xmlns:a16="http://schemas.microsoft.com/office/drawing/2014/main" id="{4AC88522-79E7-4306-92A2-B26F733CEA0B}"/>
                </a:ext>
              </a:extLst>
            </p:cNvPr>
            <p:cNvSpPr>
              <a:spLocks/>
            </p:cNvSpPr>
            <p:nvPr/>
          </p:nvSpPr>
          <p:spPr>
            <a:xfrm>
              <a:off x="2714625" y="1781175"/>
              <a:ext cx="171450" cy="171450"/>
            </a:xfrm>
            <a:prstGeom prst="ellipse">
              <a:avLst/>
            </a:prstGeom>
            <a:noFill/>
            <a:ln w="14288">
              <a:solidFill>
                <a:srgbClr val="9C5875"/>
              </a:solidFill>
              <a:prstDash val="solid"/>
            </a:ln>
          </p:spPr>
        </p:sp>
        <p:sp>
          <p:nvSpPr>
            <p:cNvPr id="16" name="rect_16">
              <a:extLst>
                <a:ext uri="{FF2B5EF4-FFF2-40B4-BE49-F238E27FC236}">
                  <a16:creationId xmlns:a16="http://schemas.microsoft.com/office/drawing/2014/main" id="{E129A4A6-2B88-469F-92A6-077479AFBFB1}"/>
                </a:ext>
              </a:extLst>
            </p:cNvPr>
            <p:cNvSpPr>
              <a:spLocks/>
            </p:cNvSpPr>
            <p:nvPr/>
          </p:nvSpPr>
          <p:spPr>
            <a:xfrm>
              <a:off x="2714625" y="1924050"/>
              <a:ext cx="38100" cy="66675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7" name="rect_17">
              <a:extLst>
                <a:ext uri="{FF2B5EF4-FFF2-40B4-BE49-F238E27FC236}">
                  <a16:creationId xmlns:a16="http://schemas.microsoft.com/office/drawing/2014/main" id="{A5BE7DD6-E1A3-4C29-BC02-8D25D7379934}"/>
                </a:ext>
              </a:extLst>
            </p:cNvPr>
            <p:cNvSpPr>
              <a:spLocks/>
            </p:cNvSpPr>
            <p:nvPr/>
          </p:nvSpPr>
          <p:spPr>
            <a:xfrm>
              <a:off x="2781300" y="1885950"/>
              <a:ext cx="38100" cy="104775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8" name="rect_18">
              <a:extLst>
                <a:ext uri="{FF2B5EF4-FFF2-40B4-BE49-F238E27FC236}">
                  <a16:creationId xmlns:a16="http://schemas.microsoft.com/office/drawing/2014/main" id="{1DD9F4B7-8A45-4FE9-80AC-51BE87DFDFC1}"/>
                </a:ext>
              </a:extLst>
            </p:cNvPr>
            <p:cNvSpPr>
              <a:spLocks/>
            </p:cNvSpPr>
            <p:nvPr/>
          </p:nvSpPr>
          <p:spPr>
            <a:xfrm>
              <a:off x="2847975" y="1847850"/>
              <a:ext cx="38100" cy="142875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9" name="textbox_19">
              <a:extLst>
                <a:ext uri="{FF2B5EF4-FFF2-40B4-BE49-F238E27FC236}">
                  <a16:creationId xmlns:a16="http://schemas.microsoft.com/office/drawing/2014/main" id="{F4DAAC17-4552-46B8-8FE2-F49F9BF77A19}"/>
                </a:ext>
              </a:extLst>
            </p:cNvPr>
            <p:cNvSpPr>
              <a:spLocks/>
            </p:cNvSpPr>
            <p:nvPr/>
          </p:nvSpPr>
          <p:spPr>
            <a:xfrm>
              <a:off x="2638425" y="2057400"/>
              <a:ext cx="10953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75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975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975" b="1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3. Evidence</a:t>
              </a:r>
            </a:p>
          </p:txBody>
        </p:sp>
        <p:sp>
          <p:nvSpPr>
            <p:cNvPr id="20" name="textbox_20">
              <a:extLst>
                <a:ext uri="{FF2B5EF4-FFF2-40B4-BE49-F238E27FC236}">
                  <a16:creationId xmlns:a16="http://schemas.microsoft.com/office/drawing/2014/main" id="{4526F1E3-352B-4D99-9747-C9EEFAAAB835}"/>
                </a:ext>
              </a:extLst>
            </p:cNvPr>
            <p:cNvSpPr>
              <a:spLocks/>
            </p:cNvSpPr>
            <p:nvPr/>
          </p:nvSpPr>
          <p:spPr>
            <a:xfrm>
              <a:off x="2638425" y="2286000"/>
              <a:ext cx="10668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What observable</a:t>
              </a:r>
            </a:p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result will decide?</a:t>
              </a:r>
            </a:p>
          </p:txBody>
        </p:sp>
      </p:grpSp>
      <p:grpSp>
        <p:nvGrpSpPr>
          <p:cNvPr id="276" name="Q1_task_aware">
            <a:extLst>
              <a:ext uri="{FF2B5EF4-FFF2-40B4-BE49-F238E27FC236}">
                <a16:creationId xmlns:a16="http://schemas.microsoft.com/office/drawing/2014/main" id="{C2E3D5FE-F55A-B57A-A259-A68A18DE9E07}"/>
              </a:ext>
            </a:extLst>
          </p:cNvPr>
          <p:cNvGrpSpPr/>
          <p:nvPr/>
        </p:nvGrpSpPr>
        <p:grpSpPr>
          <a:xfrm>
            <a:off x="190500" y="2828925"/>
            <a:ext cx="3581400" cy="3390900"/>
            <a:chOff x="190500" y="2828925"/>
            <a:chExt cx="3581400" cy="3390900"/>
          </a:xfrm>
        </p:grpSpPr>
        <p:sp>
          <p:nvSpPr>
            <p:cNvPr id="21" name="roundRect_21">
              <a:extLst>
                <a:ext uri="{FF2B5EF4-FFF2-40B4-BE49-F238E27FC236}">
                  <a16:creationId xmlns:a16="http://schemas.microsoft.com/office/drawing/2014/main" id="{07BA8998-EC36-498A-9C87-D78C61C6E3B0}"/>
                </a:ext>
              </a:extLst>
            </p:cNvPr>
            <p:cNvSpPr>
              <a:spLocks/>
            </p:cNvSpPr>
            <p:nvPr/>
          </p:nvSpPr>
          <p:spPr>
            <a:xfrm>
              <a:off x="190500" y="2828925"/>
              <a:ext cx="3581400" cy="3381375"/>
            </a:xfrm>
            <a:prstGeom prst="roundRect">
              <a:avLst>
                <a:gd name="adj" fmla="val 2535"/>
              </a:avLst>
            </a:prstGeom>
            <a:solidFill>
              <a:srgbClr val="FAF9FC"/>
            </a:solidFill>
            <a:ln w="9525">
              <a:solidFill>
                <a:srgbClr val="DAD6E4"/>
              </a:solidFill>
              <a:prstDash val="solid"/>
            </a:ln>
          </p:spPr>
        </p:sp>
        <p:sp>
          <p:nvSpPr>
            <p:cNvPr id="22" name="banner_22">
              <a:extLst>
                <a:ext uri="{FF2B5EF4-FFF2-40B4-BE49-F238E27FC236}">
                  <a16:creationId xmlns:a16="http://schemas.microsoft.com/office/drawing/2014/main" id="{B46A3ADB-C3B2-417A-AEE5-977E268BB357}"/>
                </a:ext>
              </a:extLst>
            </p:cNvPr>
            <p:cNvSpPr>
              <a:spLocks/>
            </p:cNvSpPr>
            <p:nvPr/>
          </p:nvSpPr>
          <p:spPr>
            <a:xfrm>
              <a:off x="190500" y="2828925"/>
              <a:ext cx="3581400" cy="590550"/>
            </a:xfrm>
            <a:custGeom>
              <a:avLst/>
              <a:gdLst/>
              <a:ahLst/>
              <a:cxnLst/>
              <a:rect l="0" t="0" r="0" b="0"/>
              <a:pathLst>
                <a:path w="3581400" h="590550">
                  <a:moveTo>
                    <a:pt x="0" y="0"/>
                  </a:moveTo>
                  <a:lnTo>
                    <a:pt x="3286125" y="0"/>
                  </a:lnTo>
                  <a:lnTo>
                    <a:pt x="3581400" y="295275"/>
                  </a:lnTo>
                  <a:lnTo>
                    <a:pt x="3286125" y="590550"/>
                  </a:lnTo>
                  <a:lnTo>
                    <a:pt x="0" y="590550"/>
                  </a:lnTo>
                  <a:lnTo>
                    <a:pt x="0" y="0"/>
                  </a:lnTo>
                </a:path>
              </a:pathLst>
            </a:custGeom>
            <a:solidFill>
              <a:srgbClr val="38385B"/>
            </a:solidFill>
            <a:ln w="0">
              <a:noFill/>
            </a:ln>
          </p:spPr>
        </p:sp>
        <p:sp>
          <p:nvSpPr>
            <p:cNvPr id="23" name="ellipse_23">
              <a:extLst>
                <a:ext uri="{FF2B5EF4-FFF2-40B4-BE49-F238E27FC236}">
                  <a16:creationId xmlns:a16="http://schemas.microsoft.com/office/drawing/2014/main" id="{20294097-9BD4-463A-9C7E-03C284D07582}"/>
                </a:ext>
              </a:extLst>
            </p:cNvPr>
            <p:cNvSpPr>
              <a:spLocks/>
            </p:cNvSpPr>
            <p:nvPr/>
          </p:nvSpPr>
          <p:spPr>
            <a:xfrm>
              <a:off x="295275" y="2924175"/>
              <a:ext cx="371475" cy="371475"/>
            </a:xfrm>
            <a:prstGeom prst="ellipse">
              <a:avLst/>
            </a:prstGeom>
            <a:solidFill>
              <a:srgbClr val="9C5875"/>
            </a:solidFill>
            <a:ln w="7620">
              <a:solidFill>
                <a:srgbClr val="E3CED8"/>
              </a:solidFill>
              <a:prstDash val="solid"/>
            </a:ln>
          </p:spPr>
        </p:sp>
        <p:sp>
          <p:nvSpPr>
            <p:cNvPr id="24" name="textbox_24">
              <a:extLst>
                <a:ext uri="{FF2B5EF4-FFF2-40B4-BE49-F238E27FC236}">
                  <a16:creationId xmlns:a16="http://schemas.microsoft.com/office/drawing/2014/main" id="{C3E16283-798D-4DE3-B3EB-D653F4B912DF}"/>
                </a:ext>
              </a:extLst>
            </p:cNvPr>
            <p:cNvSpPr>
              <a:spLocks/>
            </p:cNvSpPr>
            <p:nvPr/>
          </p:nvSpPr>
          <p:spPr>
            <a:xfrm>
              <a:off x="333375" y="2981325"/>
              <a:ext cx="295275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575" b="0">
                  <a:solidFill>
                    <a:srgbClr val="FFFFFF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1575" b="0">
                  <a:solidFill>
                    <a:srgbClr val="FFFFFF"/>
                  </a:solidFill>
                  <a:latin typeface="Georgia"/>
                  <a:ea typeface="Georgia"/>
                  <a:cs typeface="Georgia"/>
                </a:defRPr>
              </a:pPr>
              <a:r>
                <a:rPr sz="1575" b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Q1</a:t>
              </a:r>
            </a:p>
          </p:txBody>
        </p:sp>
        <p:sp>
          <p:nvSpPr>
            <p:cNvPr id="25" name="textbox_25">
              <a:extLst>
                <a:ext uri="{FF2B5EF4-FFF2-40B4-BE49-F238E27FC236}">
                  <a16:creationId xmlns:a16="http://schemas.microsoft.com/office/drawing/2014/main" id="{95E67AA8-D9B0-4DF4-9AB4-AEC563961917}"/>
                </a:ext>
              </a:extLst>
            </p:cNvPr>
            <p:cNvSpPr>
              <a:spLocks/>
            </p:cNvSpPr>
            <p:nvPr/>
          </p:nvSpPr>
          <p:spPr>
            <a:xfrm>
              <a:off x="762000" y="2924175"/>
              <a:ext cx="281940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50" b="0">
                  <a:solidFill>
                    <a:srgbClr val="FFFFFF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1350" b="0">
                  <a:solidFill>
                    <a:srgbClr val="FFFFFF"/>
                  </a:solidFill>
                  <a:latin typeface="Georgia"/>
                  <a:ea typeface="Georgia"/>
                  <a:cs typeface="Georgia"/>
                </a:defRPr>
              </a:pPr>
              <a:r>
                <a:rPr sz="1350" b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Task-aware recommendation</a:t>
              </a:r>
            </a:p>
          </p:txBody>
        </p:sp>
        <p:sp>
          <p:nvSpPr>
            <p:cNvPr id="26" name="textbox_26">
              <a:extLst>
                <a:ext uri="{FF2B5EF4-FFF2-40B4-BE49-F238E27FC236}">
                  <a16:creationId xmlns:a16="http://schemas.microsoft.com/office/drawing/2014/main" id="{4B791185-BAB1-4482-8B5A-187951D210CA}"/>
                </a:ext>
              </a:extLst>
            </p:cNvPr>
            <p:cNvSpPr>
              <a:spLocks/>
            </p:cNvSpPr>
            <p:nvPr/>
          </p:nvSpPr>
          <p:spPr>
            <a:xfrm>
              <a:off x="771525" y="3171825"/>
              <a:ext cx="279082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15" b="0">
                  <a:solidFill>
                    <a:srgbClr val="E8E5EF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15" b="0">
                  <a:solidFill>
                    <a:srgbClr val="E8E5E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15" b="0" dirty="0">
                  <a:solidFill>
                    <a:srgbClr val="E8E5EF"/>
                  </a:solidFill>
                  <a:latin typeface="Noto Sans SC"/>
                  <a:ea typeface="Noto Sans SC"/>
                  <a:cs typeface="Noto Sans SC"/>
                </a:rPr>
                <a:t>CAN TASK FEATURES HELP RANK CANDIDATES?</a:t>
              </a:r>
            </a:p>
          </p:txBody>
        </p:sp>
        <p:sp>
          <p:nvSpPr>
            <p:cNvPr id="27" name="textbox_27">
              <a:extLst>
                <a:ext uri="{FF2B5EF4-FFF2-40B4-BE49-F238E27FC236}">
                  <a16:creationId xmlns:a16="http://schemas.microsoft.com/office/drawing/2014/main" id="{2B6B3955-71E7-4DE1-9B4B-C4426C10012A}"/>
                </a:ext>
              </a:extLst>
            </p:cNvPr>
            <p:cNvSpPr>
              <a:spLocks/>
            </p:cNvSpPr>
            <p:nvPr/>
          </p:nvSpPr>
          <p:spPr>
            <a:xfrm>
              <a:off x="295275" y="3514725"/>
              <a:ext cx="20955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050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1050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1050" b="1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Task representation</a:t>
              </a:r>
            </a:p>
          </p:txBody>
        </p:sp>
        <p:sp>
          <p:nvSpPr>
            <p:cNvPr id="28" name="textbox_28">
              <a:extLst>
                <a:ext uri="{FF2B5EF4-FFF2-40B4-BE49-F238E27FC236}">
                  <a16:creationId xmlns:a16="http://schemas.microsoft.com/office/drawing/2014/main" id="{D260CE1D-9166-4EF9-A95D-E609373E713B}"/>
                </a:ext>
              </a:extLst>
            </p:cNvPr>
            <p:cNvSpPr>
              <a:spLocks/>
            </p:cNvSpPr>
            <p:nvPr/>
          </p:nvSpPr>
          <p:spPr>
            <a:xfrm>
              <a:off x="2400300" y="3514725"/>
              <a:ext cx="12382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CANDIDATE RANKING</a:t>
              </a:r>
            </a:p>
          </p:txBody>
        </p:sp>
        <p:sp>
          <p:nvSpPr>
            <p:cNvPr id="29" name="textbox_29">
              <a:extLst>
                <a:ext uri="{FF2B5EF4-FFF2-40B4-BE49-F238E27FC236}">
                  <a16:creationId xmlns:a16="http://schemas.microsoft.com/office/drawing/2014/main" id="{967A640C-D560-4544-80F7-06A18C7DB04B}"/>
                </a:ext>
              </a:extLst>
            </p:cNvPr>
            <p:cNvSpPr>
              <a:spLocks/>
            </p:cNvSpPr>
            <p:nvPr/>
          </p:nvSpPr>
          <p:spPr>
            <a:xfrm>
              <a:off x="295275" y="3857625"/>
              <a:ext cx="7239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Trend</a:t>
              </a:r>
            </a:p>
          </p:txBody>
        </p:sp>
        <p:sp>
          <p:nvSpPr>
            <p:cNvPr id="30" name="line_30">
              <a:extLst>
                <a:ext uri="{FF2B5EF4-FFF2-40B4-BE49-F238E27FC236}">
                  <a16:creationId xmlns:a16="http://schemas.microsoft.com/office/drawing/2014/main" id="{C7D7F054-F186-43C2-95C6-EA18E779448D}"/>
                </a:ext>
              </a:extLst>
            </p:cNvPr>
            <p:cNvSpPr>
              <a:spLocks/>
            </p:cNvSpPr>
            <p:nvPr/>
          </p:nvSpPr>
          <p:spPr>
            <a:xfrm>
              <a:off x="1066800" y="3857625"/>
              <a:ext cx="953" cy="161925"/>
            </a:xfrm>
            <a:prstGeom prst="line">
              <a:avLst/>
            </a:prstGeom>
            <a:noFill/>
            <a:ln w="6668">
              <a:solidFill>
                <a:srgbClr val="A6AAC1"/>
              </a:solidFill>
              <a:prstDash val="solid"/>
            </a:ln>
          </p:spPr>
        </p:sp>
        <p:sp>
          <p:nvSpPr>
            <p:cNvPr id="31" name="line_31">
              <a:extLst>
                <a:ext uri="{FF2B5EF4-FFF2-40B4-BE49-F238E27FC236}">
                  <a16:creationId xmlns:a16="http://schemas.microsoft.com/office/drawing/2014/main" id="{059C2265-5A10-4DF2-A576-9FDE420B162C}"/>
                </a:ext>
              </a:extLst>
            </p:cNvPr>
            <p:cNvSpPr>
              <a:spLocks/>
            </p:cNvSpPr>
            <p:nvPr/>
          </p:nvSpPr>
          <p:spPr>
            <a:xfrm>
              <a:off x="1066800" y="4019550"/>
              <a:ext cx="781050" cy="953"/>
            </a:xfrm>
            <a:prstGeom prst="line">
              <a:avLst/>
            </a:prstGeom>
            <a:noFill/>
            <a:ln w="6668">
              <a:solidFill>
                <a:srgbClr val="A6AAC1"/>
              </a:solidFill>
              <a:prstDash val="solid"/>
            </a:ln>
          </p:spPr>
        </p:sp>
        <p:sp>
          <p:nvSpPr>
            <p:cNvPr id="32" name="curve_32">
              <a:extLst>
                <a:ext uri="{FF2B5EF4-FFF2-40B4-BE49-F238E27FC236}">
                  <a16:creationId xmlns:a16="http://schemas.microsoft.com/office/drawing/2014/main" id="{10A4955D-418A-4584-B516-2226297276C8}"/>
                </a:ext>
              </a:extLst>
            </p:cNvPr>
            <p:cNvSpPr>
              <a:spLocks/>
            </p:cNvSpPr>
            <p:nvPr/>
          </p:nvSpPr>
          <p:spPr>
            <a:xfrm>
              <a:off x="1085850" y="3899932"/>
              <a:ext cx="718185" cy="84034"/>
            </a:xfrm>
            <a:custGeom>
              <a:avLst/>
              <a:gdLst/>
              <a:ahLst/>
              <a:cxnLst/>
              <a:rect l="0" t="0" r="0" b="0"/>
              <a:pathLst>
                <a:path w="718185" h="84034">
                  <a:moveTo>
                    <a:pt x="0" y="71993"/>
                  </a:moveTo>
                  <a:lnTo>
                    <a:pt x="24765" y="77507"/>
                  </a:lnTo>
                  <a:lnTo>
                    <a:pt x="49530" y="81849"/>
                  </a:lnTo>
                  <a:lnTo>
                    <a:pt x="74295" y="84034"/>
                  </a:lnTo>
                  <a:lnTo>
                    <a:pt x="99060" y="83415"/>
                  </a:lnTo>
                  <a:lnTo>
                    <a:pt x="123825" y="79790"/>
                  </a:lnTo>
                  <a:lnTo>
                    <a:pt x="148590" y="73431"/>
                  </a:lnTo>
                  <a:lnTo>
                    <a:pt x="173355" y="65040"/>
                  </a:lnTo>
                  <a:lnTo>
                    <a:pt x="198120" y="55641"/>
                  </a:lnTo>
                  <a:lnTo>
                    <a:pt x="222885" y="46418"/>
                  </a:lnTo>
                  <a:lnTo>
                    <a:pt x="247650" y="38526"/>
                  </a:lnTo>
                  <a:lnTo>
                    <a:pt x="272415" y="32910"/>
                  </a:lnTo>
                  <a:lnTo>
                    <a:pt x="297180" y="30156"/>
                  </a:lnTo>
                  <a:lnTo>
                    <a:pt x="321945" y="30399"/>
                  </a:lnTo>
                  <a:lnTo>
                    <a:pt x="346710" y="33298"/>
                  </a:lnTo>
                  <a:lnTo>
                    <a:pt x="371475" y="38095"/>
                  </a:lnTo>
                  <a:lnTo>
                    <a:pt x="396240" y="43734"/>
                  </a:lnTo>
                  <a:lnTo>
                    <a:pt x="421005" y="49021"/>
                  </a:lnTo>
                  <a:lnTo>
                    <a:pt x="445770" y="52823"/>
                  </a:lnTo>
                  <a:lnTo>
                    <a:pt x="470535" y="54237"/>
                  </a:lnTo>
                  <a:lnTo>
                    <a:pt x="495300" y="52741"/>
                  </a:lnTo>
                  <a:lnTo>
                    <a:pt x="520065" y="48268"/>
                  </a:lnTo>
                  <a:lnTo>
                    <a:pt x="544830" y="41226"/>
                  </a:lnTo>
                  <a:lnTo>
                    <a:pt x="569595" y="32424"/>
                  </a:lnTo>
                  <a:lnTo>
                    <a:pt x="594360" y="22952"/>
                  </a:lnTo>
                  <a:lnTo>
                    <a:pt x="619125" y="14005"/>
                  </a:lnTo>
                  <a:lnTo>
                    <a:pt x="643890" y="6693"/>
                  </a:lnTo>
                  <a:lnTo>
                    <a:pt x="668655" y="1872"/>
                  </a:lnTo>
                  <a:lnTo>
                    <a:pt x="693420" y="0"/>
                  </a:lnTo>
                  <a:lnTo>
                    <a:pt x="718185" y="1073"/>
                  </a:lnTo>
                </a:path>
              </a:pathLst>
            </a:custGeom>
            <a:noFill/>
            <a:ln w="9525">
              <a:solidFill>
                <a:srgbClr val="9286B3"/>
              </a:solidFill>
            </a:ln>
          </p:spPr>
        </p:sp>
        <p:sp>
          <p:nvSpPr>
            <p:cNvPr id="33" name="textbox_33">
              <a:extLst>
                <a:ext uri="{FF2B5EF4-FFF2-40B4-BE49-F238E27FC236}">
                  <a16:creationId xmlns:a16="http://schemas.microsoft.com/office/drawing/2014/main" id="{A3C2C6D0-0F18-4370-B15E-6268FFD82C28}"/>
                </a:ext>
              </a:extLst>
            </p:cNvPr>
            <p:cNvSpPr>
              <a:spLocks/>
            </p:cNvSpPr>
            <p:nvPr/>
          </p:nvSpPr>
          <p:spPr>
            <a:xfrm>
              <a:off x="295275" y="4105275"/>
              <a:ext cx="7239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Seasonality</a:t>
              </a:r>
            </a:p>
          </p:txBody>
        </p:sp>
        <p:sp>
          <p:nvSpPr>
            <p:cNvPr id="34" name="line_34">
              <a:extLst>
                <a:ext uri="{FF2B5EF4-FFF2-40B4-BE49-F238E27FC236}">
                  <a16:creationId xmlns:a16="http://schemas.microsoft.com/office/drawing/2014/main" id="{9F54C93E-22C8-40DA-AF28-F5D670376116}"/>
                </a:ext>
              </a:extLst>
            </p:cNvPr>
            <p:cNvSpPr>
              <a:spLocks/>
            </p:cNvSpPr>
            <p:nvPr/>
          </p:nvSpPr>
          <p:spPr>
            <a:xfrm>
              <a:off x="1066800" y="4105275"/>
              <a:ext cx="953" cy="161925"/>
            </a:xfrm>
            <a:prstGeom prst="line">
              <a:avLst/>
            </a:prstGeom>
            <a:noFill/>
            <a:ln w="6668">
              <a:solidFill>
                <a:srgbClr val="A6AAC1"/>
              </a:solidFill>
              <a:prstDash val="solid"/>
            </a:ln>
          </p:spPr>
        </p:sp>
        <p:sp>
          <p:nvSpPr>
            <p:cNvPr id="35" name="line_35">
              <a:extLst>
                <a:ext uri="{FF2B5EF4-FFF2-40B4-BE49-F238E27FC236}">
                  <a16:creationId xmlns:a16="http://schemas.microsoft.com/office/drawing/2014/main" id="{24445BA3-6CDD-45DA-BF11-C8F28B2BF242}"/>
                </a:ext>
              </a:extLst>
            </p:cNvPr>
            <p:cNvSpPr>
              <a:spLocks/>
            </p:cNvSpPr>
            <p:nvPr/>
          </p:nvSpPr>
          <p:spPr>
            <a:xfrm>
              <a:off x="1066800" y="4267200"/>
              <a:ext cx="781050" cy="953"/>
            </a:xfrm>
            <a:prstGeom prst="line">
              <a:avLst/>
            </a:prstGeom>
            <a:noFill/>
            <a:ln w="6668">
              <a:solidFill>
                <a:srgbClr val="A6AAC1"/>
              </a:solidFill>
              <a:prstDash val="solid"/>
            </a:ln>
          </p:spPr>
        </p:sp>
        <p:sp>
          <p:nvSpPr>
            <p:cNvPr id="36" name="curve_36">
              <a:extLst>
                <a:ext uri="{FF2B5EF4-FFF2-40B4-BE49-F238E27FC236}">
                  <a16:creationId xmlns:a16="http://schemas.microsoft.com/office/drawing/2014/main" id="{FC1CA488-A586-48D5-98FF-76F93191C077}"/>
                </a:ext>
              </a:extLst>
            </p:cNvPr>
            <p:cNvSpPr>
              <a:spLocks/>
            </p:cNvSpPr>
            <p:nvPr/>
          </p:nvSpPr>
          <p:spPr>
            <a:xfrm>
              <a:off x="1085850" y="4133972"/>
              <a:ext cx="742950" cy="104531"/>
            </a:xfrm>
            <a:custGeom>
              <a:avLst/>
              <a:gdLst/>
              <a:ahLst/>
              <a:cxnLst/>
              <a:rect l="0" t="0" r="0" b="0"/>
              <a:pathLst>
                <a:path w="742950" h="104531">
                  <a:moveTo>
                    <a:pt x="0" y="52265"/>
                  </a:moveTo>
                  <a:lnTo>
                    <a:pt x="10767" y="66399"/>
                  </a:lnTo>
                  <a:lnTo>
                    <a:pt x="21535" y="79485"/>
                  </a:lnTo>
                  <a:lnTo>
                    <a:pt x="32302" y="90552"/>
                  </a:lnTo>
                  <a:lnTo>
                    <a:pt x="43070" y="98779"/>
                  </a:lnTo>
                  <a:lnTo>
                    <a:pt x="53837" y="103557"/>
                  </a:lnTo>
                  <a:lnTo>
                    <a:pt x="64604" y="104531"/>
                  </a:lnTo>
                  <a:lnTo>
                    <a:pt x="75372" y="101628"/>
                  </a:lnTo>
                  <a:lnTo>
                    <a:pt x="86139" y="95064"/>
                  </a:lnTo>
                  <a:lnTo>
                    <a:pt x="96907" y="85326"/>
                  </a:lnTo>
                  <a:lnTo>
                    <a:pt x="107674" y="73137"/>
                  </a:lnTo>
                  <a:lnTo>
                    <a:pt x="118441" y="59399"/>
                  </a:lnTo>
                  <a:lnTo>
                    <a:pt x="129209" y="45132"/>
                  </a:lnTo>
                  <a:lnTo>
                    <a:pt x="139976" y="31394"/>
                  </a:lnTo>
                  <a:lnTo>
                    <a:pt x="150743" y="19204"/>
                  </a:lnTo>
                  <a:lnTo>
                    <a:pt x="161511" y="9466"/>
                  </a:lnTo>
                  <a:lnTo>
                    <a:pt x="172278" y="2903"/>
                  </a:lnTo>
                  <a:lnTo>
                    <a:pt x="183046" y="0"/>
                  </a:lnTo>
                  <a:lnTo>
                    <a:pt x="193813" y="974"/>
                  </a:lnTo>
                  <a:lnTo>
                    <a:pt x="204580" y="5751"/>
                  </a:lnTo>
                  <a:lnTo>
                    <a:pt x="215348" y="13979"/>
                  </a:lnTo>
                  <a:lnTo>
                    <a:pt x="226115" y="25046"/>
                  </a:lnTo>
                  <a:lnTo>
                    <a:pt x="236883" y="38131"/>
                  </a:lnTo>
                  <a:lnTo>
                    <a:pt x="247650" y="52265"/>
                  </a:lnTo>
                  <a:lnTo>
                    <a:pt x="258417" y="66399"/>
                  </a:lnTo>
                  <a:lnTo>
                    <a:pt x="269185" y="79485"/>
                  </a:lnTo>
                  <a:lnTo>
                    <a:pt x="279952" y="90552"/>
                  </a:lnTo>
                  <a:lnTo>
                    <a:pt x="290720" y="98779"/>
                  </a:lnTo>
                  <a:lnTo>
                    <a:pt x="301487" y="103557"/>
                  </a:lnTo>
                  <a:lnTo>
                    <a:pt x="312254" y="104531"/>
                  </a:lnTo>
                  <a:lnTo>
                    <a:pt x="323022" y="101628"/>
                  </a:lnTo>
                  <a:lnTo>
                    <a:pt x="333789" y="95064"/>
                  </a:lnTo>
                  <a:lnTo>
                    <a:pt x="344557" y="85326"/>
                  </a:lnTo>
                  <a:lnTo>
                    <a:pt x="355324" y="73137"/>
                  </a:lnTo>
                  <a:lnTo>
                    <a:pt x="366091" y="59399"/>
                  </a:lnTo>
                  <a:lnTo>
                    <a:pt x="376859" y="45132"/>
                  </a:lnTo>
                  <a:lnTo>
                    <a:pt x="387626" y="31394"/>
                  </a:lnTo>
                  <a:lnTo>
                    <a:pt x="398393" y="19204"/>
                  </a:lnTo>
                  <a:lnTo>
                    <a:pt x="409161" y="9466"/>
                  </a:lnTo>
                  <a:lnTo>
                    <a:pt x="419928" y="2903"/>
                  </a:lnTo>
                  <a:lnTo>
                    <a:pt x="430696" y="0"/>
                  </a:lnTo>
                  <a:lnTo>
                    <a:pt x="441463" y="974"/>
                  </a:lnTo>
                  <a:lnTo>
                    <a:pt x="452230" y="5751"/>
                  </a:lnTo>
                  <a:lnTo>
                    <a:pt x="462998" y="13979"/>
                  </a:lnTo>
                  <a:lnTo>
                    <a:pt x="473765" y="25046"/>
                  </a:lnTo>
                  <a:lnTo>
                    <a:pt x="484533" y="38131"/>
                  </a:lnTo>
                  <a:lnTo>
                    <a:pt x="495300" y="52265"/>
                  </a:lnTo>
                  <a:lnTo>
                    <a:pt x="506067" y="66399"/>
                  </a:lnTo>
                  <a:lnTo>
                    <a:pt x="516835" y="79485"/>
                  </a:lnTo>
                  <a:lnTo>
                    <a:pt x="527602" y="90552"/>
                  </a:lnTo>
                  <a:lnTo>
                    <a:pt x="538370" y="98779"/>
                  </a:lnTo>
                  <a:lnTo>
                    <a:pt x="549137" y="103557"/>
                  </a:lnTo>
                  <a:lnTo>
                    <a:pt x="559904" y="104531"/>
                  </a:lnTo>
                  <a:lnTo>
                    <a:pt x="570672" y="101628"/>
                  </a:lnTo>
                  <a:lnTo>
                    <a:pt x="581439" y="95064"/>
                  </a:lnTo>
                  <a:lnTo>
                    <a:pt x="592207" y="85326"/>
                  </a:lnTo>
                  <a:lnTo>
                    <a:pt x="602974" y="73137"/>
                  </a:lnTo>
                  <a:lnTo>
                    <a:pt x="613741" y="59399"/>
                  </a:lnTo>
                  <a:lnTo>
                    <a:pt x="624509" y="45132"/>
                  </a:lnTo>
                  <a:lnTo>
                    <a:pt x="635276" y="31394"/>
                  </a:lnTo>
                  <a:lnTo>
                    <a:pt x="646043" y="19204"/>
                  </a:lnTo>
                  <a:lnTo>
                    <a:pt x="656811" y="9466"/>
                  </a:lnTo>
                  <a:lnTo>
                    <a:pt x="667578" y="2903"/>
                  </a:lnTo>
                  <a:lnTo>
                    <a:pt x="678346" y="0"/>
                  </a:lnTo>
                  <a:lnTo>
                    <a:pt x="689113" y="974"/>
                  </a:lnTo>
                  <a:lnTo>
                    <a:pt x="699880" y="5751"/>
                  </a:lnTo>
                  <a:lnTo>
                    <a:pt x="710648" y="13979"/>
                  </a:lnTo>
                  <a:lnTo>
                    <a:pt x="721415" y="25046"/>
                  </a:lnTo>
                  <a:lnTo>
                    <a:pt x="732183" y="38131"/>
                  </a:lnTo>
                  <a:lnTo>
                    <a:pt x="742950" y="52265"/>
                  </a:lnTo>
                </a:path>
              </a:pathLst>
            </a:custGeom>
            <a:noFill/>
            <a:ln w="15240">
              <a:solidFill>
                <a:srgbClr val="9286B3"/>
              </a:solidFill>
            </a:ln>
          </p:spPr>
        </p:sp>
        <p:sp>
          <p:nvSpPr>
            <p:cNvPr id="37" name="textbox_37">
              <a:extLst>
                <a:ext uri="{FF2B5EF4-FFF2-40B4-BE49-F238E27FC236}">
                  <a16:creationId xmlns:a16="http://schemas.microsoft.com/office/drawing/2014/main" id="{3CD1477B-79E2-46CC-85B7-09848403331C}"/>
                </a:ext>
              </a:extLst>
            </p:cNvPr>
            <p:cNvSpPr>
              <a:spLocks/>
            </p:cNvSpPr>
            <p:nvPr/>
          </p:nvSpPr>
          <p:spPr>
            <a:xfrm>
              <a:off x="295275" y="4352925"/>
              <a:ext cx="7239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Events</a:t>
              </a:r>
            </a:p>
          </p:txBody>
        </p:sp>
        <p:sp>
          <p:nvSpPr>
            <p:cNvPr id="38" name="line_38">
              <a:extLst>
                <a:ext uri="{FF2B5EF4-FFF2-40B4-BE49-F238E27FC236}">
                  <a16:creationId xmlns:a16="http://schemas.microsoft.com/office/drawing/2014/main" id="{66FB2BEB-C774-4B73-ABB3-593CE1601530}"/>
                </a:ext>
              </a:extLst>
            </p:cNvPr>
            <p:cNvSpPr>
              <a:spLocks/>
            </p:cNvSpPr>
            <p:nvPr/>
          </p:nvSpPr>
          <p:spPr>
            <a:xfrm>
              <a:off x="1066800" y="4352925"/>
              <a:ext cx="953" cy="161925"/>
            </a:xfrm>
            <a:prstGeom prst="line">
              <a:avLst/>
            </a:prstGeom>
            <a:noFill/>
            <a:ln w="6668">
              <a:solidFill>
                <a:srgbClr val="A6AAC1"/>
              </a:solidFill>
              <a:prstDash val="solid"/>
            </a:ln>
          </p:spPr>
        </p:sp>
        <p:sp>
          <p:nvSpPr>
            <p:cNvPr id="39" name="line_39">
              <a:extLst>
                <a:ext uri="{FF2B5EF4-FFF2-40B4-BE49-F238E27FC236}">
                  <a16:creationId xmlns:a16="http://schemas.microsoft.com/office/drawing/2014/main" id="{0BFD2AE4-9AB2-45DD-B051-AA85BD564785}"/>
                </a:ext>
              </a:extLst>
            </p:cNvPr>
            <p:cNvSpPr>
              <a:spLocks/>
            </p:cNvSpPr>
            <p:nvPr/>
          </p:nvSpPr>
          <p:spPr>
            <a:xfrm>
              <a:off x="1066800" y="4514850"/>
              <a:ext cx="781050" cy="953"/>
            </a:xfrm>
            <a:prstGeom prst="line">
              <a:avLst/>
            </a:prstGeom>
            <a:noFill/>
            <a:ln w="6668">
              <a:solidFill>
                <a:srgbClr val="A6AAC1"/>
              </a:solidFill>
              <a:prstDash val="solid"/>
            </a:ln>
          </p:spPr>
        </p:sp>
        <p:sp>
          <p:nvSpPr>
            <p:cNvPr id="40" name="line_40">
              <a:extLst>
                <a:ext uri="{FF2B5EF4-FFF2-40B4-BE49-F238E27FC236}">
                  <a16:creationId xmlns:a16="http://schemas.microsoft.com/office/drawing/2014/main" id="{04050A09-8076-43EC-A171-185579839F8E}"/>
                </a:ext>
              </a:extLst>
            </p:cNvPr>
            <p:cNvSpPr>
              <a:spLocks/>
            </p:cNvSpPr>
            <p:nvPr/>
          </p:nvSpPr>
          <p:spPr>
            <a:xfrm>
              <a:off x="1190625" y="4381500"/>
              <a:ext cx="953" cy="133350"/>
            </a:xfrm>
            <a:prstGeom prst="line">
              <a:avLst/>
            </a:prstGeom>
            <a:noFill/>
            <a:ln w="11430">
              <a:solidFill>
                <a:srgbClr val="9C5875"/>
              </a:solidFill>
              <a:prstDash val="solid"/>
            </a:ln>
          </p:spPr>
        </p:sp>
        <p:sp>
          <p:nvSpPr>
            <p:cNvPr id="41" name="line_41">
              <a:extLst>
                <a:ext uri="{FF2B5EF4-FFF2-40B4-BE49-F238E27FC236}">
                  <a16:creationId xmlns:a16="http://schemas.microsoft.com/office/drawing/2014/main" id="{C2E7D31F-E89B-4D98-8B66-BCCAAF443F2D}"/>
                </a:ext>
              </a:extLst>
            </p:cNvPr>
            <p:cNvSpPr>
              <a:spLocks/>
            </p:cNvSpPr>
            <p:nvPr/>
          </p:nvSpPr>
          <p:spPr>
            <a:xfrm>
              <a:off x="1447800" y="4400550"/>
              <a:ext cx="953" cy="114300"/>
            </a:xfrm>
            <a:prstGeom prst="line">
              <a:avLst/>
            </a:prstGeom>
            <a:noFill/>
            <a:ln w="11430">
              <a:solidFill>
                <a:srgbClr val="9C5875"/>
              </a:solidFill>
              <a:prstDash val="solid"/>
            </a:ln>
          </p:spPr>
        </p:sp>
        <p:sp>
          <p:nvSpPr>
            <p:cNvPr id="42" name="line_42">
              <a:extLst>
                <a:ext uri="{FF2B5EF4-FFF2-40B4-BE49-F238E27FC236}">
                  <a16:creationId xmlns:a16="http://schemas.microsoft.com/office/drawing/2014/main" id="{23CF50D3-DA8C-4051-AABB-57D842314FAD}"/>
                </a:ext>
              </a:extLst>
            </p:cNvPr>
            <p:cNvSpPr>
              <a:spLocks/>
            </p:cNvSpPr>
            <p:nvPr/>
          </p:nvSpPr>
          <p:spPr>
            <a:xfrm>
              <a:off x="1666875" y="4419600"/>
              <a:ext cx="953" cy="95250"/>
            </a:xfrm>
            <a:prstGeom prst="line">
              <a:avLst/>
            </a:prstGeom>
            <a:noFill/>
            <a:ln w="11430">
              <a:solidFill>
                <a:srgbClr val="9C5875"/>
              </a:solidFill>
              <a:prstDash val="solid"/>
            </a:ln>
          </p:spPr>
        </p:sp>
        <p:sp>
          <p:nvSpPr>
            <p:cNvPr id="43" name="textbox_43">
              <a:extLst>
                <a:ext uri="{FF2B5EF4-FFF2-40B4-BE49-F238E27FC236}">
                  <a16:creationId xmlns:a16="http://schemas.microsoft.com/office/drawing/2014/main" id="{3603C9DD-1C83-42E2-B5F5-4738B1471D1B}"/>
                </a:ext>
              </a:extLst>
            </p:cNvPr>
            <p:cNvSpPr>
              <a:spLocks/>
            </p:cNvSpPr>
            <p:nvPr/>
          </p:nvSpPr>
          <p:spPr>
            <a:xfrm>
              <a:off x="295275" y="4600575"/>
              <a:ext cx="7239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Autocorrelation</a:t>
              </a:r>
            </a:p>
          </p:txBody>
        </p:sp>
        <p:sp>
          <p:nvSpPr>
            <p:cNvPr id="44" name="line_44">
              <a:extLst>
                <a:ext uri="{FF2B5EF4-FFF2-40B4-BE49-F238E27FC236}">
                  <a16:creationId xmlns:a16="http://schemas.microsoft.com/office/drawing/2014/main" id="{922EB7B5-F3A0-4784-B441-8E2696DB378E}"/>
                </a:ext>
              </a:extLst>
            </p:cNvPr>
            <p:cNvSpPr>
              <a:spLocks/>
            </p:cNvSpPr>
            <p:nvPr/>
          </p:nvSpPr>
          <p:spPr>
            <a:xfrm>
              <a:off x="1066800" y="4600575"/>
              <a:ext cx="953" cy="161925"/>
            </a:xfrm>
            <a:prstGeom prst="line">
              <a:avLst/>
            </a:prstGeom>
            <a:noFill/>
            <a:ln w="6668">
              <a:solidFill>
                <a:srgbClr val="A6AAC1"/>
              </a:solidFill>
              <a:prstDash val="solid"/>
            </a:ln>
          </p:spPr>
        </p:sp>
        <p:sp>
          <p:nvSpPr>
            <p:cNvPr id="45" name="line_45">
              <a:extLst>
                <a:ext uri="{FF2B5EF4-FFF2-40B4-BE49-F238E27FC236}">
                  <a16:creationId xmlns:a16="http://schemas.microsoft.com/office/drawing/2014/main" id="{28DB755A-FD87-4DCD-B351-DB127A768DF0}"/>
                </a:ext>
              </a:extLst>
            </p:cNvPr>
            <p:cNvSpPr>
              <a:spLocks/>
            </p:cNvSpPr>
            <p:nvPr/>
          </p:nvSpPr>
          <p:spPr>
            <a:xfrm>
              <a:off x="1066800" y="4762500"/>
              <a:ext cx="781050" cy="953"/>
            </a:xfrm>
            <a:prstGeom prst="line">
              <a:avLst/>
            </a:prstGeom>
            <a:noFill/>
            <a:ln w="6668">
              <a:solidFill>
                <a:srgbClr val="A6AAC1"/>
              </a:solidFill>
              <a:prstDash val="solid"/>
            </a:ln>
          </p:spPr>
        </p:sp>
        <p:sp>
          <p:nvSpPr>
            <p:cNvPr id="46" name="curve_46">
              <a:extLst>
                <a:ext uri="{FF2B5EF4-FFF2-40B4-BE49-F238E27FC236}">
                  <a16:creationId xmlns:a16="http://schemas.microsoft.com/office/drawing/2014/main" id="{5D63B4F5-84FA-425A-BE7F-4BABC524F5B9}"/>
                </a:ext>
              </a:extLst>
            </p:cNvPr>
            <p:cNvSpPr>
              <a:spLocks/>
            </p:cNvSpPr>
            <p:nvPr/>
          </p:nvSpPr>
          <p:spPr>
            <a:xfrm>
              <a:off x="1085850" y="4629150"/>
              <a:ext cx="718185" cy="122839"/>
            </a:xfrm>
            <a:custGeom>
              <a:avLst/>
              <a:gdLst/>
              <a:ahLst/>
              <a:cxnLst/>
              <a:rect l="0" t="0" r="0" b="0"/>
              <a:pathLst>
                <a:path w="718185" h="122839">
                  <a:moveTo>
                    <a:pt x="0" y="0"/>
                  </a:moveTo>
                  <a:lnTo>
                    <a:pt x="24765" y="19009"/>
                  </a:lnTo>
                  <a:lnTo>
                    <a:pt x="49530" y="35101"/>
                  </a:lnTo>
                  <a:lnTo>
                    <a:pt x="74295" y="48721"/>
                  </a:lnTo>
                  <a:lnTo>
                    <a:pt x="99060" y="60251"/>
                  </a:lnTo>
                  <a:lnTo>
                    <a:pt x="123825" y="70011"/>
                  </a:lnTo>
                  <a:lnTo>
                    <a:pt x="148590" y="78272"/>
                  </a:lnTo>
                  <a:lnTo>
                    <a:pt x="173355" y="85265"/>
                  </a:lnTo>
                  <a:lnTo>
                    <a:pt x="198120" y="91185"/>
                  </a:lnTo>
                  <a:lnTo>
                    <a:pt x="222885" y="96196"/>
                  </a:lnTo>
                  <a:lnTo>
                    <a:pt x="247650" y="100437"/>
                  </a:lnTo>
                  <a:lnTo>
                    <a:pt x="272415" y="104028"/>
                  </a:lnTo>
                  <a:lnTo>
                    <a:pt x="297180" y="107067"/>
                  </a:lnTo>
                  <a:lnTo>
                    <a:pt x="321945" y="109640"/>
                  </a:lnTo>
                  <a:lnTo>
                    <a:pt x="346710" y="111817"/>
                  </a:lnTo>
                  <a:lnTo>
                    <a:pt x="371475" y="113661"/>
                  </a:lnTo>
                  <a:lnTo>
                    <a:pt x="396240" y="115221"/>
                  </a:lnTo>
                  <a:lnTo>
                    <a:pt x="421005" y="116542"/>
                  </a:lnTo>
                  <a:lnTo>
                    <a:pt x="445770" y="117660"/>
                  </a:lnTo>
                  <a:lnTo>
                    <a:pt x="470535" y="118607"/>
                  </a:lnTo>
                  <a:lnTo>
                    <a:pt x="495300" y="119408"/>
                  </a:lnTo>
                  <a:lnTo>
                    <a:pt x="520065" y="120086"/>
                  </a:lnTo>
                  <a:lnTo>
                    <a:pt x="544830" y="120660"/>
                  </a:lnTo>
                  <a:lnTo>
                    <a:pt x="569595" y="121146"/>
                  </a:lnTo>
                  <a:lnTo>
                    <a:pt x="594360" y="121557"/>
                  </a:lnTo>
                  <a:lnTo>
                    <a:pt x="619125" y="121905"/>
                  </a:lnTo>
                  <a:lnTo>
                    <a:pt x="643890" y="122200"/>
                  </a:lnTo>
                  <a:lnTo>
                    <a:pt x="668655" y="122449"/>
                  </a:lnTo>
                  <a:lnTo>
                    <a:pt x="693420" y="122661"/>
                  </a:lnTo>
                  <a:lnTo>
                    <a:pt x="718185" y="122839"/>
                  </a:lnTo>
                </a:path>
              </a:pathLst>
            </a:custGeom>
            <a:noFill/>
            <a:ln w="9525">
              <a:solidFill>
                <a:srgbClr val="38385B"/>
              </a:solidFill>
            </a:ln>
          </p:spPr>
        </p:sp>
        <p:sp>
          <p:nvSpPr>
            <p:cNvPr id="47" name="textbox_47">
              <a:extLst>
                <a:ext uri="{FF2B5EF4-FFF2-40B4-BE49-F238E27FC236}">
                  <a16:creationId xmlns:a16="http://schemas.microsoft.com/office/drawing/2014/main" id="{A141FF53-BAF5-4FD1-9065-3305E5755AFF}"/>
                </a:ext>
              </a:extLst>
            </p:cNvPr>
            <p:cNvSpPr>
              <a:spLocks/>
            </p:cNvSpPr>
            <p:nvPr/>
          </p:nvSpPr>
          <p:spPr>
            <a:xfrm>
              <a:off x="295275" y="4848225"/>
              <a:ext cx="7239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Spectrum</a:t>
              </a:r>
            </a:p>
          </p:txBody>
        </p:sp>
        <p:sp>
          <p:nvSpPr>
            <p:cNvPr id="48" name="line_48">
              <a:extLst>
                <a:ext uri="{FF2B5EF4-FFF2-40B4-BE49-F238E27FC236}">
                  <a16:creationId xmlns:a16="http://schemas.microsoft.com/office/drawing/2014/main" id="{E6C0CF3D-0AE3-477D-9389-CB60C21CB0A6}"/>
                </a:ext>
              </a:extLst>
            </p:cNvPr>
            <p:cNvSpPr>
              <a:spLocks/>
            </p:cNvSpPr>
            <p:nvPr/>
          </p:nvSpPr>
          <p:spPr>
            <a:xfrm>
              <a:off x="1066800" y="4848225"/>
              <a:ext cx="953" cy="161925"/>
            </a:xfrm>
            <a:prstGeom prst="line">
              <a:avLst/>
            </a:prstGeom>
            <a:noFill/>
            <a:ln w="6668">
              <a:solidFill>
                <a:srgbClr val="A6AAC1"/>
              </a:solidFill>
              <a:prstDash val="solid"/>
            </a:ln>
          </p:spPr>
        </p:sp>
        <p:sp>
          <p:nvSpPr>
            <p:cNvPr id="49" name="line_49">
              <a:extLst>
                <a:ext uri="{FF2B5EF4-FFF2-40B4-BE49-F238E27FC236}">
                  <a16:creationId xmlns:a16="http://schemas.microsoft.com/office/drawing/2014/main" id="{0A0603DB-050C-43EC-A80A-0F2FA522B4EA}"/>
                </a:ext>
              </a:extLst>
            </p:cNvPr>
            <p:cNvSpPr>
              <a:spLocks/>
            </p:cNvSpPr>
            <p:nvPr/>
          </p:nvSpPr>
          <p:spPr>
            <a:xfrm>
              <a:off x="1066800" y="5010150"/>
              <a:ext cx="781050" cy="953"/>
            </a:xfrm>
            <a:prstGeom prst="line">
              <a:avLst/>
            </a:prstGeom>
            <a:noFill/>
            <a:ln w="6668">
              <a:solidFill>
                <a:srgbClr val="A6AAC1"/>
              </a:solidFill>
              <a:prstDash val="solid"/>
            </a:ln>
          </p:spPr>
        </p:sp>
        <p:sp>
          <p:nvSpPr>
            <p:cNvPr id="50" name="line_50">
              <a:extLst>
                <a:ext uri="{FF2B5EF4-FFF2-40B4-BE49-F238E27FC236}">
                  <a16:creationId xmlns:a16="http://schemas.microsoft.com/office/drawing/2014/main" id="{FB2FBCE3-F037-4628-8A4A-5BF6658DF23E}"/>
                </a:ext>
              </a:extLst>
            </p:cNvPr>
            <p:cNvSpPr>
              <a:spLocks/>
            </p:cNvSpPr>
            <p:nvPr/>
          </p:nvSpPr>
          <p:spPr>
            <a:xfrm>
              <a:off x="1085850" y="5010150"/>
              <a:ext cx="742950" cy="953"/>
            </a:xfrm>
            <a:prstGeom prst="line">
              <a:avLst/>
            </a:prstGeom>
            <a:noFill/>
            <a:ln w="5715">
              <a:solidFill>
                <a:srgbClr val="D8D9E3"/>
              </a:solidFill>
              <a:prstDash val="solid"/>
            </a:ln>
          </p:spPr>
        </p:sp>
        <p:sp>
          <p:nvSpPr>
            <p:cNvPr id="51" name="rect_51">
              <a:extLst>
                <a:ext uri="{FF2B5EF4-FFF2-40B4-BE49-F238E27FC236}">
                  <a16:creationId xmlns:a16="http://schemas.microsoft.com/office/drawing/2014/main" id="{7D0437B6-72E1-4C12-8551-6F414F1FDA93}"/>
                </a:ext>
              </a:extLst>
            </p:cNvPr>
            <p:cNvSpPr>
              <a:spLocks/>
            </p:cNvSpPr>
            <p:nvPr/>
          </p:nvSpPr>
          <p:spPr>
            <a:xfrm>
              <a:off x="1085850" y="4917707"/>
              <a:ext cx="14968" cy="92443"/>
            </a:xfrm>
            <a:prstGeom prst="rect">
              <a:avLst/>
            </a:prstGeom>
            <a:solidFill>
              <a:srgbClr val="9286B3"/>
            </a:solidFill>
            <a:ln w="0">
              <a:noFill/>
              <a:prstDash val="solid"/>
            </a:ln>
          </p:spPr>
        </p:sp>
        <p:sp>
          <p:nvSpPr>
            <p:cNvPr id="52" name="rect_52">
              <a:extLst>
                <a:ext uri="{FF2B5EF4-FFF2-40B4-BE49-F238E27FC236}">
                  <a16:creationId xmlns:a16="http://schemas.microsoft.com/office/drawing/2014/main" id="{4460EF6E-DC74-44A5-AD46-B7AD020C796F}"/>
                </a:ext>
              </a:extLst>
            </p:cNvPr>
            <p:cNvSpPr>
              <a:spLocks/>
            </p:cNvSpPr>
            <p:nvPr/>
          </p:nvSpPr>
          <p:spPr>
            <a:xfrm>
              <a:off x="1138918" y="4882263"/>
              <a:ext cx="14968" cy="127887"/>
            </a:xfrm>
            <a:prstGeom prst="rect">
              <a:avLst/>
            </a:prstGeom>
            <a:solidFill>
              <a:srgbClr val="9286B3"/>
            </a:solidFill>
            <a:ln w="0">
              <a:noFill/>
              <a:prstDash val="solid"/>
            </a:ln>
          </p:spPr>
        </p:sp>
        <p:sp>
          <p:nvSpPr>
            <p:cNvPr id="53" name="rect_53">
              <a:extLst>
                <a:ext uri="{FF2B5EF4-FFF2-40B4-BE49-F238E27FC236}">
                  <a16:creationId xmlns:a16="http://schemas.microsoft.com/office/drawing/2014/main" id="{A924B912-5CA8-4FF8-889A-C1F5DDAE6E4A}"/>
                </a:ext>
              </a:extLst>
            </p:cNvPr>
            <p:cNvSpPr>
              <a:spLocks/>
            </p:cNvSpPr>
            <p:nvPr/>
          </p:nvSpPr>
          <p:spPr>
            <a:xfrm>
              <a:off x="1191986" y="4964724"/>
              <a:ext cx="14968" cy="45426"/>
            </a:xfrm>
            <a:prstGeom prst="rect">
              <a:avLst/>
            </a:prstGeom>
            <a:solidFill>
              <a:srgbClr val="9286B3"/>
            </a:solidFill>
            <a:ln w="0">
              <a:noFill/>
              <a:prstDash val="solid"/>
            </a:ln>
          </p:spPr>
        </p:sp>
        <p:sp>
          <p:nvSpPr>
            <p:cNvPr id="54" name="rect_54">
              <a:extLst>
                <a:ext uri="{FF2B5EF4-FFF2-40B4-BE49-F238E27FC236}">
                  <a16:creationId xmlns:a16="http://schemas.microsoft.com/office/drawing/2014/main" id="{F43D1BFF-7058-4B6A-AB1E-BC670711612A}"/>
                </a:ext>
              </a:extLst>
            </p:cNvPr>
            <p:cNvSpPr>
              <a:spLocks/>
            </p:cNvSpPr>
            <p:nvPr/>
          </p:nvSpPr>
          <p:spPr>
            <a:xfrm>
              <a:off x="1245054" y="4879363"/>
              <a:ext cx="14968" cy="130787"/>
            </a:xfrm>
            <a:prstGeom prst="rect">
              <a:avLst/>
            </a:prstGeom>
            <a:solidFill>
              <a:srgbClr val="9286B3"/>
            </a:solidFill>
            <a:ln w="0">
              <a:noFill/>
              <a:prstDash val="solid"/>
            </a:ln>
          </p:spPr>
        </p:sp>
        <p:sp>
          <p:nvSpPr>
            <p:cNvPr id="55" name="rect_55">
              <a:extLst>
                <a:ext uri="{FF2B5EF4-FFF2-40B4-BE49-F238E27FC236}">
                  <a16:creationId xmlns:a16="http://schemas.microsoft.com/office/drawing/2014/main" id="{0F8573BA-2E61-421D-BBDD-399820B9DDE7}"/>
                </a:ext>
              </a:extLst>
            </p:cNvPr>
            <p:cNvSpPr>
              <a:spLocks/>
            </p:cNvSpPr>
            <p:nvPr/>
          </p:nvSpPr>
          <p:spPr>
            <a:xfrm>
              <a:off x="1298121" y="4926998"/>
              <a:ext cx="14968" cy="83152"/>
            </a:xfrm>
            <a:prstGeom prst="rect">
              <a:avLst/>
            </a:prstGeom>
            <a:solidFill>
              <a:srgbClr val="9286B3"/>
            </a:solidFill>
            <a:ln w="0">
              <a:noFill/>
              <a:prstDash val="solid"/>
            </a:ln>
          </p:spPr>
        </p:sp>
        <p:sp>
          <p:nvSpPr>
            <p:cNvPr id="56" name="rect_56">
              <a:extLst>
                <a:ext uri="{FF2B5EF4-FFF2-40B4-BE49-F238E27FC236}">
                  <a16:creationId xmlns:a16="http://schemas.microsoft.com/office/drawing/2014/main" id="{2C66672A-6CBF-488F-AB46-624F2F3A557B}"/>
                </a:ext>
              </a:extLst>
            </p:cNvPr>
            <p:cNvSpPr>
              <a:spLocks/>
            </p:cNvSpPr>
            <p:nvPr/>
          </p:nvSpPr>
          <p:spPr>
            <a:xfrm>
              <a:off x="1351189" y="4902447"/>
              <a:ext cx="14968" cy="107703"/>
            </a:xfrm>
            <a:prstGeom prst="rect">
              <a:avLst/>
            </a:prstGeom>
            <a:solidFill>
              <a:srgbClr val="9286B3"/>
            </a:solidFill>
            <a:ln w="0">
              <a:noFill/>
              <a:prstDash val="solid"/>
            </a:ln>
          </p:spPr>
        </p:sp>
        <p:sp>
          <p:nvSpPr>
            <p:cNvPr id="57" name="rect_57">
              <a:extLst>
                <a:ext uri="{FF2B5EF4-FFF2-40B4-BE49-F238E27FC236}">
                  <a16:creationId xmlns:a16="http://schemas.microsoft.com/office/drawing/2014/main" id="{8D6F4059-A82F-4759-95FC-3A2EDBCE2654}"/>
                </a:ext>
              </a:extLst>
            </p:cNvPr>
            <p:cNvSpPr>
              <a:spLocks/>
            </p:cNvSpPr>
            <p:nvPr/>
          </p:nvSpPr>
          <p:spPr>
            <a:xfrm>
              <a:off x="1404257" y="4890779"/>
              <a:ext cx="14968" cy="119371"/>
            </a:xfrm>
            <a:prstGeom prst="rect">
              <a:avLst/>
            </a:prstGeom>
            <a:solidFill>
              <a:srgbClr val="9286B3"/>
            </a:solidFill>
            <a:ln w="0">
              <a:noFill/>
              <a:prstDash val="solid"/>
            </a:ln>
          </p:spPr>
        </p:sp>
        <p:sp>
          <p:nvSpPr>
            <p:cNvPr id="58" name="rect_58">
              <a:extLst>
                <a:ext uri="{FF2B5EF4-FFF2-40B4-BE49-F238E27FC236}">
                  <a16:creationId xmlns:a16="http://schemas.microsoft.com/office/drawing/2014/main" id="{A429BB3F-1B07-47EF-80E6-B54574E38CDC}"/>
                </a:ext>
              </a:extLst>
            </p:cNvPr>
            <p:cNvSpPr>
              <a:spLocks/>
            </p:cNvSpPr>
            <p:nvPr/>
          </p:nvSpPr>
          <p:spPr>
            <a:xfrm>
              <a:off x="1457325" y="4944907"/>
              <a:ext cx="14968" cy="65243"/>
            </a:xfrm>
            <a:prstGeom prst="rect">
              <a:avLst/>
            </a:prstGeom>
            <a:solidFill>
              <a:srgbClr val="9286B3"/>
            </a:solidFill>
            <a:ln w="0">
              <a:noFill/>
              <a:prstDash val="solid"/>
            </a:ln>
          </p:spPr>
        </p:sp>
        <p:sp>
          <p:nvSpPr>
            <p:cNvPr id="59" name="rect_59">
              <a:extLst>
                <a:ext uri="{FF2B5EF4-FFF2-40B4-BE49-F238E27FC236}">
                  <a16:creationId xmlns:a16="http://schemas.microsoft.com/office/drawing/2014/main" id="{E228A392-CA88-4AC0-B35E-35BB48E42B64}"/>
                </a:ext>
              </a:extLst>
            </p:cNvPr>
            <p:cNvSpPr>
              <a:spLocks/>
            </p:cNvSpPr>
            <p:nvPr/>
          </p:nvSpPr>
          <p:spPr>
            <a:xfrm>
              <a:off x="1510393" y="4877277"/>
              <a:ext cx="14968" cy="132873"/>
            </a:xfrm>
            <a:prstGeom prst="rect">
              <a:avLst/>
            </a:prstGeom>
            <a:solidFill>
              <a:srgbClr val="9286B3"/>
            </a:solidFill>
            <a:ln w="0">
              <a:noFill/>
              <a:prstDash val="solid"/>
            </a:ln>
          </p:spPr>
        </p:sp>
        <p:sp>
          <p:nvSpPr>
            <p:cNvPr id="60" name="rect_60">
              <a:extLst>
                <a:ext uri="{FF2B5EF4-FFF2-40B4-BE49-F238E27FC236}">
                  <a16:creationId xmlns:a16="http://schemas.microsoft.com/office/drawing/2014/main" id="{0918EA6E-6160-4C23-9B8C-DE8D7D119D2A}"/>
                </a:ext>
              </a:extLst>
            </p:cNvPr>
            <p:cNvSpPr>
              <a:spLocks/>
            </p:cNvSpPr>
            <p:nvPr/>
          </p:nvSpPr>
          <p:spPr>
            <a:xfrm>
              <a:off x="1563461" y="4945699"/>
              <a:ext cx="14968" cy="64451"/>
            </a:xfrm>
            <a:prstGeom prst="rect">
              <a:avLst/>
            </a:prstGeom>
            <a:solidFill>
              <a:srgbClr val="9286B3"/>
            </a:solidFill>
            <a:ln w="0">
              <a:noFill/>
              <a:prstDash val="solid"/>
            </a:ln>
          </p:spPr>
        </p:sp>
        <p:sp>
          <p:nvSpPr>
            <p:cNvPr id="61" name="rect_61">
              <a:extLst>
                <a:ext uri="{FF2B5EF4-FFF2-40B4-BE49-F238E27FC236}">
                  <a16:creationId xmlns:a16="http://schemas.microsoft.com/office/drawing/2014/main" id="{2768A4CD-4214-4812-9BB1-48DC352E59F8}"/>
                </a:ext>
              </a:extLst>
            </p:cNvPr>
            <p:cNvSpPr>
              <a:spLocks/>
            </p:cNvSpPr>
            <p:nvPr/>
          </p:nvSpPr>
          <p:spPr>
            <a:xfrm>
              <a:off x="1616529" y="4890356"/>
              <a:ext cx="14968" cy="119794"/>
            </a:xfrm>
            <a:prstGeom prst="rect">
              <a:avLst/>
            </a:prstGeom>
            <a:solidFill>
              <a:srgbClr val="9286B3"/>
            </a:solidFill>
            <a:ln w="0">
              <a:noFill/>
              <a:prstDash val="solid"/>
            </a:ln>
          </p:spPr>
        </p:sp>
        <p:sp>
          <p:nvSpPr>
            <p:cNvPr id="62" name="rect_62">
              <a:extLst>
                <a:ext uri="{FF2B5EF4-FFF2-40B4-BE49-F238E27FC236}">
                  <a16:creationId xmlns:a16="http://schemas.microsoft.com/office/drawing/2014/main" id="{04561439-77A2-4868-9E02-78C4A314A59A}"/>
                </a:ext>
              </a:extLst>
            </p:cNvPr>
            <p:cNvSpPr>
              <a:spLocks/>
            </p:cNvSpPr>
            <p:nvPr/>
          </p:nvSpPr>
          <p:spPr>
            <a:xfrm>
              <a:off x="1669596" y="4903012"/>
              <a:ext cx="14968" cy="107138"/>
            </a:xfrm>
            <a:prstGeom prst="rect">
              <a:avLst/>
            </a:prstGeom>
            <a:solidFill>
              <a:srgbClr val="9286B3"/>
            </a:solidFill>
            <a:ln w="0">
              <a:noFill/>
              <a:prstDash val="solid"/>
            </a:ln>
          </p:spPr>
        </p:sp>
        <p:sp>
          <p:nvSpPr>
            <p:cNvPr id="63" name="rect_63">
              <a:extLst>
                <a:ext uri="{FF2B5EF4-FFF2-40B4-BE49-F238E27FC236}">
                  <a16:creationId xmlns:a16="http://schemas.microsoft.com/office/drawing/2014/main" id="{C06E67C8-2A29-408E-A09E-2103D5951F69}"/>
                </a:ext>
              </a:extLst>
            </p:cNvPr>
            <p:cNvSpPr>
              <a:spLocks/>
            </p:cNvSpPr>
            <p:nvPr/>
          </p:nvSpPr>
          <p:spPr>
            <a:xfrm>
              <a:off x="1722664" y="4926272"/>
              <a:ext cx="14968" cy="83878"/>
            </a:xfrm>
            <a:prstGeom prst="rect">
              <a:avLst/>
            </a:prstGeom>
            <a:solidFill>
              <a:srgbClr val="9286B3"/>
            </a:solidFill>
            <a:ln w="0">
              <a:noFill/>
              <a:prstDash val="solid"/>
            </a:ln>
          </p:spPr>
        </p:sp>
        <p:sp>
          <p:nvSpPr>
            <p:cNvPr id="64" name="rect_64">
              <a:extLst>
                <a:ext uri="{FF2B5EF4-FFF2-40B4-BE49-F238E27FC236}">
                  <a16:creationId xmlns:a16="http://schemas.microsoft.com/office/drawing/2014/main" id="{8EFB14DF-1C9F-4D84-9EE3-6169E1915220}"/>
                </a:ext>
              </a:extLst>
            </p:cNvPr>
            <p:cNvSpPr>
              <a:spLocks/>
            </p:cNvSpPr>
            <p:nvPr/>
          </p:nvSpPr>
          <p:spPr>
            <a:xfrm>
              <a:off x="1775732" y="4879540"/>
              <a:ext cx="14968" cy="130610"/>
            </a:xfrm>
            <a:prstGeom prst="rect">
              <a:avLst/>
            </a:prstGeom>
            <a:solidFill>
              <a:srgbClr val="9286B3"/>
            </a:solidFill>
            <a:ln w="0">
              <a:noFill/>
              <a:prstDash val="solid"/>
            </a:ln>
          </p:spPr>
        </p:sp>
        <p:sp>
          <p:nvSpPr>
            <p:cNvPr id="65" name="native_curve_65">
              <a:extLst>
                <a:ext uri="{FF2B5EF4-FFF2-40B4-BE49-F238E27FC236}">
                  <a16:creationId xmlns:a16="http://schemas.microsoft.com/office/drawing/2014/main" id="{DFA5229F-A5C0-4B93-B335-FDB083162B59}"/>
                </a:ext>
              </a:extLst>
            </p:cNvPr>
            <p:cNvSpPr>
              <a:spLocks/>
            </p:cNvSpPr>
            <p:nvPr/>
          </p:nvSpPr>
          <p:spPr>
            <a:xfrm>
              <a:off x="1905000" y="4371975"/>
              <a:ext cx="228600" cy="953"/>
            </a:xfrm>
            <a:custGeom>
              <a:avLst/>
              <a:gdLst/>
              <a:ahLst/>
              <a:cxnLst/>
              <a:rect l="0" t="0" r="0" b="0"/>
              <a:pathLst>
                <a:path w="228600" h="953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1430">
              <a:solidFill>
                <a:srgbClr val="9B93B3"/>
              </a:solidFill>
              <a:prstDash val="solid"/>
            </a:ln>
          </p:spPr>
        </p:sp>
        <p:sp>
          <p:nvSpPr>
            <p:cNvPr id="66" name="arrow_tip_66">
              <a:extLst>
                <a:ext uri="{FF2B5EF4-FFF2-40B4-BE49-F238E27FC236}">
                  <a16:creationId xmlns:a16="http://schemas.microsoft.com/office/drawing/2014/main" id="{3C21FD9C-B30C-472B-B488-D9D6E0FE6E54}"/>
                </a:ext>
              </a:extLst>
            </p:cNvPr>
            <p:cNvSpPr>
              <a:spLocks/>
            </p:cNvSpPr>
            <p:nvPr/>
          </p:nvSpPr>
          <p:spPr>
            <a:xfrm>
              <a:off x="2066925" y="4337685"/>
              <a:ext cx="66675" cy="68580"/>
            </a:xfrm>
            <a:custGeom>
              <a:avLst/>
              <a:gdLst/>
              <a:ahLst/>
              <a:cxnLst/>
              <a:rect l="0" t="0" r="0" b="0"/>
              <a:pathLst>
                <a:path w="66675" h="68580">
                  <a:moveTo>
                    <a:pt x="66675" y="34290"/>
                  </a:moveTo>
                  <a:lnTo>
                    <a:pt x="0" y="68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93B3"/>
            </a:solidFill>
            <a:ln w="0">
              <a:noFill/>
            </a:ln>
          </p:spPr>
        </p:sp>
        <p:sp>
          <p:nvSpPr>
            <p:cNvPr id="67" name="roundRect_67">
              <a:extLst>
                <a:ext uri="{FF2B5EF4-FFF2-40B4-BE49-F238E27FC236}">
                  <a16:creationId xmlns:a16="http://schemas.microsoft.com/office/drawing/2014/main" id="{928A3EC9-6146-4000-A7C6-5B6C95AD464D}"/>
                </a:ext>
              </a:extLst>
            </p:cNvPr>
            <p:cNvSpPr>
              <a:spLocks/>
            </p:cNvSpPr>
            <p:nvPr/>
          </p:nvSpPr>
          <p:spPr>
            <a:xfrm>
              <a:off x="2143125" y="4076700"/>
              <a:ext cx="714375" cy="638175"/>
            </a:xfrm>
            <a:prstGeom prst="roundRect">
              <a:avLst>
                <a:gd name="adj" fmla="val 13433"/>
              </a:avLst>
            </a:prstGeom>
            <a:solidFill>
              <a:srgbClr val="ECEAF3"/>
            </a:solidFill>
            <a:ln w="9525">
              <a:solidFill>
                <a:srgbClr val="C9C3DB"/>
              </a:solidFill>
              <a:prstDash val="solid"/>
            </a:ln>
          </p:spPr>
        </p:sp>
        <p:sp>
          <p:nvSpPr>
            <p:cNvPr id="68" name="textbox_68">
              <a:extLst>
                <a:ext uri="{FF2B5EF4-FFF2-40B4-BE49-F238E27FC236}">
                  <a16:creationId xmlns:a16="http://schemas.microsoft.com/office/drawing/2014/main" id="{41941482-D8D6-4595-8F25-C081BA80CC30}"/>
                </a:ext>
              </a:extLst>
            </p:cNvPr>
            <p:cNvSpPr>
              <a:spLocks/>
            </p:cNvSpPr>
            <p:nvPr/>
          </p:nvSpPr>
          <p:spPr>
            <a:xfrm>
              <a:off x="2228850" y="4181475"/>
              <a:ext cx="571500" cy="4572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75" b="0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975" b="0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975" b="0" dirty="0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Candidate</a:t>
              </a:r>
            </a:p>
            <a:p>
              <a:pPr algn="l">
                <a:defRPr sz="975" b="0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975" b="0" dirty="0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ranking</a:t>
              </a:r>
            </a:p>
            <a:p>
              <a:pPr algn="l">
                <a:defRPr sz="975" b="0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975" b="0" dirty="0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model</a:t>
              </a:r>
            </a:p>
          </p:txBody>
        </p:sp>
        <p:sp>
          <p:nvSpPr>
            <p:cNvPr id="69" name="native_curve_69">
              <a:extLst>
                <a:ext uri="{FF2B5EF4-FFF2-40B4-BE49-F238E27FC236}">
                  <a16:creationId xmlns:a16="http://schemas.microsoft.com/office/drawing/2014/main" id="{FAA034EB-01B9-43E3-B702-E658543E3136}"/>
                </a:ext>
              </a:extLst>
            </p:cNvPr>
            <p:cNvSpPr>
              <a:spLocks/>
            </p:cNvSpPr>
            <p:nvPr/>
          </p:nvSpPr>
          <p:spPr>
            <a:xfrm>
              <a:off x="2857500" y="4371975"/>
              <a:ext cx="95250" cy="953"/>
            </a:xfrm>
            <a:custGeom>
              <a:avLst/>
              <a:gdLst/>
              <a:ahLst/>
              <a:cxnLst/>
              <a:rect l="0" t="0" r="0" b="0"/>
              <a:pathLst>
                <a:path w="95250" h="953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w="11430">
              <a:solidFill>
                <a:srgbClr val="9B93B3"/>
              </a:solidFill>
              <a:prstDash val="solid"/>
            </a:ln>
          </p:spPr>
        </p:sp>
        <p:sp>
          <p:nvSpPr>
            <p:cNvPr id="70" name="arrow_tip_70">
              <a:extLst>
                <a:ext uri="{FF2B5EF4-FFF2-40B4-BE49-F238E27FC236}">
                  <a16:creationId xmlns:a16="http://schemas.microsoft.com/office/drawing/2014/main" id="{10F22CC2-C411-4290-A93F-C37DE4EC1BBB}"/>
                </a:ext>
              </a:extLst>
            </p:cNvPr>
            <p:cNvSpPr>
              <a:spLocks/>
            </p:cNvSpPr>
            <p:nvPr/>
          </p:nvSpPr>
          <p:spPr>
            <a:xfrm>
              <a:off x="2886075" y="4337685"/>
              <a:ext cx="66675" cy="68580"/>
            </a:xfrm>
            <a:custGeom>
              <a:avLst/>
              <a:gdLst/>
              <a:ahLst/>
              <a:cxnLst/>
              <a:rect l="0" t="0" r="0" b="0"/>
              <a:pathLst>
                <a:path w="66675" h="68580">
                  <a:moveTo>
                    <a:pt x="66675" y="34290"/>
                  </a:moveTo>
                  <a:lnTo>
                    <a:pt x="0" y="68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B93B3"/>
            </a:solidFill>
            <a:ln w="0">
              <a:noFill/>
            </a:ln>
          </p:spPr>
        </p:sp>
        <p:sp>
          <p:nvSpPr>
            <p:cNvPr id="71" name="textbox_71">
              <a:extLst>
                <a:ext uri="{FF2B5EF4-FFF2-40B4-BE49-F238E27FC236}">
                  <a16:creationId xmlns:a16="http://schemas.microsoft.com/office/drawing/2014/main" id="{7C448580-3FA2-465A-B304-FB0384672972}"/>
                </a:ext>
              </a:extLst>
            </p:cNvPr>
            <p:cNvSpPr>
              <a:spLocks/>
            </p:cNvSpPr>
            <p:nvPr/>
          </p:nvSpPr>
          <p:spPr>
            <a:xfrm>
              <a:off x="2981325" y="3914775"/>
              <a:ext cx="1333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1</a:t>
              </a:r>
            </a:p>
          </p:txBody>
        </p:sp>
        <p:sp>
          <p:nvSpPr>
            <p:cNvPr id="72" name="textbox_72">
              <a:extLst>
                <a:ext uri="{FF2B5EF4-FFF2-40B4-BE49-F238E27FC236}">
                  <a16:creationId xmlns:a16="http://schemas.microsoft.com/office/drawing/2014/main" id="{BA82D3C9-6961-434E-9B29-FAA185DFC621}"/>
                </a:ext>
              </a:extLst>
            </p:cNvPr>
            <p:cNvSpPr>
              <a:spLocks/>
            </p:cNvSpPr>
            <p:nvPr/>
          </p:nvSpPr>
          <p:spPr>
            <a:xfrm>
              <a:off x="3114675" y="3914775"/>
              <a:ext cx="1333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A</a:t>
              </a:r>
            </a:p>
          </p:txBody>
        </p:sp>
        <p:sp>
          <p:nvSpPr>
            <p:cNvPr id="73" name="rect_73">
              <a:extLst>
                <a:ext uri="{FF2B5EF4-FFF2-40B4-BE49-F238E27FC236}">
                  <a16:creationId xmlns:a16="http://schemas.microsoft.com/office/drawing/2014/main" id="{7D6770B3-C816-4FB9-AD60-0F632355B688}"/>
                </a:ext>
              </a:extLst>
            </p:cNvPr>
            <p:cNvSpPr>
              <a:spLocks/>
            </p:cNvSpPr>
            <p:nvPr/>
          </p:nvSpPr>
          <p:spPr>
            <a:xfrm>
              <a:off x="3286125" y="3952875"/>
              <a:ext cx="342900" cy="66675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74" name="textbox_74">
              <a:extLst>
                <a:ext uri="{FF2B5EF4-FFF2-40B4-BE49-F238E27FC236}">
                  <a16:creationId xmlns:a16="http://schemas.microsoft.com/office/drawing/2014/main" id="{0BDC5713-5CFC-4E29-815B-BD42EC7A6CDC}"/>
                </a:ext>
              </a:extLst>
            </p:cNvPr>
            <p:cNvSpPr>
              <a:spLocks/>
            </p:cNvSpPr>
            <p:nvPr/>
          </p:nvSpPr>
          <p:spPr>
            <a:xfrm>
              <a:off x="2981325" y="4105275"/>
              <a:ext cx="1333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2</a:t>
              </a:r>
            </a:p>
          </p:txBody>
        </p:sp>
        <p:sp>
          <p:nvSpPr>
            <p:cNvPr id="75" name="textbox_75">
              <a:extLst>
                <a:ext uri="{FF2B5EF4-FFF2-40B4-BE49-F238E27FC236}">
                  <a16:creationId xmlns:a16="http://schemas.microsoft.com/office/drawing/2014/main" id="{D3E747C3-55C1-47B8-964A-0E55A788A4E1}"/>
                </a:ext>
              </a:extLst>
            </p:cNvPr>
            <p:cNvSpPr>
              <a:spLocks/>
            </p:cNvSpPr>
            <p:nvPr/>
          </p:nvSpPr>
          <p:spPr>
            <a:xfrm>
              <a:off x="3114675" y="4105275"/>
              <a:ext cx="1333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B</a:t>
              </a:r>
            </a:p>
          </p:txBody>
        </p:sp>
        <p:sp>
          <p:nvSpPr>
            <p:cNvPr id="76" name="rect_76">
              <a:extLst>
                <a:ext uri="{FF2B5EF4-FFF2-40B4-BE49-F238E27FC236}">
                  <a16:creationId xmlns:a16="http://schemas.microsoft.com/office/drawing/2014/main" id="{520C3F4D-36E9-4EF8-81E3-8BA9E4B4A135}"/>
                </a:ext>
              </a:extLst>
            </p:cNvPr>
            <p:cNvSpPr>
              <a:spLocks/>
            </p:cNvSpPr>
            <p:nvPr/>
          </p:nvSpPr>
          <p:spPr>
            <a:xfrm>
              <a:off x="3286125" y="4143375"/>
              <a:ext cx="295275" cy="66675"/>
            </a:xfrm>
            <a:prstGeom prst="rect">
              <a:avLst/>
            </a:prstGeom>
            <a:solidFill>
              <a:srgbClr val="D8BACB"/>
            </a:solidFill>
            <a:ln w="0">
              <a:noFill/>
              <a:prstDash val="solid"/>
            </a:ln>
          </p:spPr>
        </p:sp>
        <p:sp>
          <p:nvSpPr>
            <p:cNvPr id="77" name="textbox_77">
              <a:extLst>
                <a:ext uri="{FF2B5EF4-FFF2-40B4-BE49-F238E27FC236}">
                  <a16:creationId xmlns:a16="http://schemas.microsoft.com/office/drawing/2014/main" id="{1C596BFC-1F58-4B35-BB5D-9714AD62828E}"/>
                </a:ext>
              </a:extLst>
            </p:cNvPr>
            <p:cNvSpPr>
              <a:spLocks/>
            </p:cNvSpPr>
            <p:nvPr/>
          </p:nvSpPr>
          <p:spPr>
            <a:xfrm>
              <a:off x="2981325" y="4295775"/>
              <a:ext cx="1333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3</a:t>
              </a:r>
            </a:p>
          </p:txBody>
        </p:sp>
        <p:sp>
          <p:nvSpPr>
            <p:cNvPr id="78" name="textbox_78">
              <a:extLst>
                <a:ext uri="{FF2B5EF4-FFF2-40B4-BE49-F238E27FC236}">
                  <a16:creationId xmlns:a16="http://schemas.microsoft.com/office/drawing/2014/main" id="{0F696A90-4B4F-466D-BC30-963620E68298}"/>
                </a:ext>
              </a:extLst>
            </p:cNvPr>
            <p:cNvSpPr>
              <a:spLocks/>
            </p:cNvSpPr>
            <p:nvPr/>
          </p:nvSpPr>
          <p:spPr>
            <a:xfrm>
              <a:off x="3114675" y="4295775"/>
              <a:ext cx="1333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C</a:t>
              </a:r>
            </a:p>
          </p:txBody>
        </p:sp>
        <p:sp>
          <p:nvSpPr>
            <p:cNvPr id="79" name="rect_79">
              <a:extLst>
                <a:ext uri="{FF2B5EF4-FFF2-40B4-BE49-F238E27FC236}">
                  <a16:creationId xmlns:a16="http://schemas.microsoft.com/office/drawing/2014/main" id="{9AF98119-158E-4190-941A-86BF8B458068}"/>
                </a:ext>
              </a:extLst>
            </p:cNvPr>
            <p:cNvSpPr>
              <a:spLocks/>
            </p:cNvSpPr>
            <p:nvPr/>
          </p:nvSpPr>
          <p:spPr>
            <a:xfrm>
              <a:off x="3286125" y="4333875"/>
              <a:ext cx="247650" cy="66675"/>
            </a:xfrm>
            <a:prstGeom prst="rect">
              <a:avLst/>
            </a:prstGeom>
            <a:solidFill>
              <a:srgbClr val="D8BACB"/>
            </a:solidFill>
            <a:ln w="0">
              <a:noFill/>
              <a:prstDash val="solid"/>
            </a:ln>
          </p:spPr>
        </p:sp>
        <p:sp>
          <p:nvSpPr>
            <p:cNvPr id="80" name="textbox_80">
              <a:extLst>
                <a:ext uri="{FF2B5EF4-FFF2-40B4-BE49-F238E27FC236}">
                  <a16:creationId xmlns:a16="http://schemas.microsoft.com/office/drawing/2014/main" id="{662695EC-7520-4311-A390-24BAC681EB08}"/>
                </a:ext>
              </a:extLst>
            </p:cNvPr>
            <p:cNvSpPr>
              <a:spLocks/>
            </p:cNvSpPr>
            <p:nvPr/>
          </p:nvSpPr>
          <p:spPr>
            <a:xfrm>
              <a:off x="2981325" y="4486275"/>
              <a:ext cx="1333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4</a:t>
              </a:r>
            </a:p>
          </p:txBody>
        </p:sp>
        <p:sp>
          <p:nvSpPr>
            <p:cNvPr id="81" name="textbox_81">
              <a:extLst>
                <a:ext uri="{FF2B5EF4-FFF2-40B4-BE49-F238E27FC236}">
                  <a16:creationId xmlns:a16="http://schemas.microsoft.com/office/drawing/2014/main" id="{C60388DC-0F87-4E40-A884-FC5964779841}"/>
                </a:ext>
              </a:extLst>
            </p:cNvPr>
            <p:cNvSpPr>
              <a:spLocks/>
            </p:cNvSpPr>
            <p:nvPr/>
          </p:nvSpPr>
          <p:spPr>
            <a:xfrm>
              <a:off x="3114675" y="4486275"/>
              <a:ext cx="1333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D</a:t>
              </a:r>
            </a:p>
          </p:txBody>
        </p:sp>
        <p:sp>
          <p:nvSpPr>
            <p:cNvPr id="82" name="rect_82">
              <a:extLst>
                <a:ext uri="{FF2B5EF4-FFF2-40B4-BE49-F238E27FC236}">
                  <a16:creationId xmlns:a16="http://schemas.microsoft.com/office/drawing/2014/main" id="{6581B7FE-705D-473D-8197-04F6CE445EBE}"/>
                </a:ext>
              </a:extLst>
            </p:cNvPr>
            <p:cNvSpPr>
              <a:spLocks/>
            </p:cNvSpPr>
            <p:nvPr/>
          </p:nvSpPr>
          <p:spPr>
            <a:xfrm>
              <a:off x="3286125" y="4524375"/>
              <a:ext cx="200025" cy="66675"/>
            </a:xfrm>
            <a:prstGeom prst="rect">
              <a:avLst/>
            </a:prstGeom>
            <a:solidFill>
              <a:srgbClr val="D8BACB"/>
            </a:solidFill>
            <a:ln w="0">
              <a:noFill/>
              <a:prstDash val="solid"/>
            </a:ln>
          </p:spPr>
        </p:sp>
        <p:sp>
          <p:nvSpPr>
            <p:cNvPr id="83" name="textbox_83">
              <a:extLst>
                <a:ext uri="{FF2B5EF4-FFF2-40B4-BE49-F238E27FC236}">
                  <a16:creationId xmlns:a16="http://schemas.microsoft.com/office/drawing/2014/main" id="{5AB96EE9-E3A2-44E5-8231-3365D7774AC1}"/>
                </a:ext>
              </a:extLst>
            </p:cNvPr>
            <p:cNvSpPr>
              <a:spLocks/>
            </p:cNvSpPr>
            <p:nvPr/>
          </p:nvSpPr>
          <p:spPr>
            <a:xfrm>
              <a:off x="2981325" y="4676775"/>
              <a:ext cx="1333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5</a:t>
              </a:r>
            </a:p>
          </p:txBody>
        </p:sp>
        <p:sp>
          <p:nvSpPr>
            <p:cNvPr id="84" name="textbox_84">
              <a:extLst>
                <a:ext uri="{FF2B5EF4-FFF2-40B4-BE49-F238E27FC236}">
                  <a16:creationId xmlns:a16="http://schemas.microsoft.com/office/drawing/2014/main" id="{7268F4A5-5132-4ED8-B506-9D56C03BF8CE}"/>
                </a:ext>
              </a:extLst>
            </p:cNvPr>
            <p:cNvSpPr>
              <a:spLocks/>
            </p:cNvSpPr>
            <p:nvPr/>
          </p:nvSpPr>
          <p:spPr>
            <a:xfrm>
              <a:off x="3114675" y="4676775"/>
              <a:ext cx="1333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E</a:t>
              </a:r>
            </a:p>
          </p:txBody>
        </p:sp>
        <p:sp>
          <p:nvSpPr>
            <p:cNvPr id="85" name="rect_85">
              <a:extLst>
                <a:ext uri="{FF2B5EF4-FFF2-40B4-BE49-F238E27FC236}">
                  <a16:creationId xmlns:a16="http://schemas.microsoft.com/office/drawing/2014/main" id="{4E9A87BF-79F9-4113-9CA3-9835A9E6D67F}"/>
                </a:ext>
              </a:extLst>
            </p:cNvPr>
            <p:cNvSpPr>
              <a:spLocks/>
            </p:cNvSpPr>
            <p:nvPr/>
          </p:nvSpPr>
          <p:spPr>
            <a:xfrm>
              <a:off x="3286125" y="4714875"/>
              <a:ext cx="152400" cy="66675"/>
            </a:xfrm>
            <a:prstGeom prst="rect">
              <a:avLst/>
            </a:prstGeom>
            <a:solidFill>
              <a:srgbClr val="D8BACB"/>
            </a:solidFill>
            <a:ln w="0">
              <a:noFill/>
              <a:prstDash val="solid"/>
            </a:ln>
          </p:spPr>
        </p:sp>
        <p:sp>
          <p:nvSpPr>
            <p:cNvPr id="86" name="roundRect_86">
              <a:extLst>
                <a:ext uri="{FF2B5EF4-FFF2-40B4-BE49-F238E27FC236}">
                  <a16:creationId xmlns:a16="http://schemas.microsoft.com/office/drawing/2014/main" id="{46EC323E-4CDE-45AC-B796-C4BCA7AB56D3}"/>
                </a:ext>
              </a:extLst>
            </p:cNvPr>
            <p:cNvSpPr>
              <a:spLocks/>
            </p:cNvSpPr>
            <p:nvPr/>
          </p:nvSpPr>
          <p:spPr>
            <a:xfrm>
              <a:off x="295275" y="5219700"/>
              <a:ext cx="3362325" cy="666750"/>
            </a:xfrm>
            <a:prstGeom prst="roundRect">
              <a:avLst>
                <a:gd name="adj" fmla="val 12857"/>
              </a:avLst>
            </a:prstGeom>
            <a:solidFill>
              <a:srgbClr val="F4F2F7"/>
            </a:solidFill>
            <a:ln w="9525">
              <a:solidFill>
                <a:srgbClr val="E1DCE8"/>
              </a:solidFill>
              <a:prstDash val="solid"/>
            </a:ln>
          </p:spPr>
        </p:sp>
        <p:sp>
          <p:nvSpPr>
            <p:cNvPr id="87" name="textbox_87">
              <a:extLst>
                <a:ext uri="{FF2B5EF4-FFF2-40B4-BE49-F238E27FC236}">
                  <a16:creationId xmlns:a16="http://schemas.microsoft.com/office/drawing/2014/main" id="{654215BA-828F-476A-81DC-885E200BD5A3}"/>
                </a:ext>
              </a:extLst>
            </p:cNvPr>
            <p:cNvSpPr>
              <a:spLocks/>
            </p:cNvSpPr>
            <p:nvPr/>
          </p:nvSpPr>
          <p:spPr>
            <a:xfrm>
              <a:off x="371475" y="5267325"/>
              <a:ext cx="3171825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Controlled comparison on unseen sources</a:t>
              </a:r>
            </a:p>
          </p:txBody>
        </p:sp>
        <p:sp>
          <p:nvSpPr>
            <p:cNvPr id="88" name="textbox_88">
              <a:extLst>
                <a:ext uri="{FF2B5EF4-FFF2-40B4-BE49-F238E27FC236}">
                  <a16:creationId xmlns:a16="http://schemas.microsoft.com/office/drawing/2014/main" id="{E6426B96-338A-4297-BB6C-82CDE1AAD974}"/>
                </a:ext>
              </a:extLst>
            </p:cNvPr>
            <p:cNvSpPr>
              <a:spLocks/>
            </p:cNvSpPr>
            <p:nvPr/>
          </p:nvSpPr>
          <p:spPr>
            <a:xfrm>
              <a:off x="381000" y="5505450"/>
              <a:ext cx="102870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75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975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975" b="1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Random</a:t>
              </a:r>
            </a:p>
          </p:txBody>
        </p:sp>
        <p:sp>
          <p:nvSpPr>
            <p:cNvPr id="89" name="diamond_89">
              <a:extLst>
                <a:ext uri="{FF2B5EF4-FFF2-40B4-BE49-F238E27FC236}">
                  <a16:creationId xmlns:a16="http://schemas.microsoft.com/office/drawing/2014/main" id="{AC64D133-2F85-4F8F-A4FC-5F2E8B700711}"/>
                </a:ext>
              </a:extLst>
            </p:cNvPr>
            <p:cNvSpPr>
              <a:spLocks/>
            </p:cNvSpPr>
            <p:nvPr/>
          </p:nvSpPr>
          <p:spPr>
            <a:xfrm>
              <a:off x="409575" y="5734050"/>
              <a:ext cx="123825" cy="123825"/>
            </a:xfrm>
            <a:prstGeom prst="diamond">
              <a:avLst/>
            </a:prstGeom>
            <a:noFill/>
            <a:ln w="9525">
              <a:solidFill>
                <a:srgbClr val="9C5875"/>
              </a:solidFill>
              <a:prstDash val="solid"/>
            </a:ln>
          </p:spPr>
        </p:sp>
        <p:sp>
          <p:nvSpPr>
            <p:cNvPr id="90" name="ellipse_90">
              <a:extLst>
                <a:ext uri="{FF2B5EF4-FFF2-40B4-BE49-F238E27FC236}">
                  <a16:creationId xmlns:a16="http://schemas.microsoft.com/office/drawing/2014/main" id="{98B6456B-C08D-4D02-890E-28FD27E7DCF5}"/>
                </a:ext>
              </a:extLst>
            </p:cNvPr>
            <p:cNvSpPr>
              <a:spLocks/>
            </p:cNvSpPr>
            <p:nvPr/>
          </p:nvSpPr>
          <p:spPr>
            <a:xfrm>
              <a:off x="447675" y="5772150"/>
              <a:ext cx="28575" cy="28575"/>
            </a:xfrm>
            <a:prstGeom prst="ellipse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91" name="textbox_91">
              <a:extLst>
                <a:ext uri="{FF2B5EF4-FFF2-40B4-BE49-F238E27FC236}">
                  <a16:creationId xmlns:a16="http://schemas.microsoft.com/office/drawing/2014/main" id="{B2F28FD3-8EF2-4BC1-B6E2-50F38488D3EF}"/>
                </a:ext>
              </a:extLst>
            </p:cNvPr>
            <p:cNvSpPr>
              <a:spLocks/>
            </p:cNvSpPr>
            <p:nvPr/>
          </p:nvSpPr>
          <p:spPr>
            <a:xfrm>
              <a:off x="619125" y="5695950"/>
              <a:ext cx="7429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38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38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38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Random ranks</a:t>
              </a:r>
            </a:p>
          </p:txBody>
        </p:sp>
        <p:sp>
          <p:nvSpPr>
            <p:cNvPr id="92" name="textbox_92">
              <a:extLst>
                <a:ext uri="{FF2B5EF4-FFF2-40B4-BE49-F238E27FC236}">
                  <a16:creationId xmlns:a16="http://schemas.microsoft.com/office/drawing/2014/main" id="{F5FA4C24-35BA-41CC-9ABE-7E2760A751A3}"/>
                </a:ext>
              </a:extLst>
            </p:cNvPr>
            <p:cNvSpPr>
              <a:spLocks/>
            </p:cNvSpPr>
            <p:nvPr/>
          </p:nvSpPr>
          <p:spPr>
            <a:xfrm>
              <a:off x="1466850" y="5505450"/>
              <a:ext cx="102870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75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975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975" b="1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History mean</a:t>
              </a:r>
            </a:p>
          </p:txBody>
        </p:sp>
        <p:sp>
          <p:nvSpPr>
            <p:cNvPr id="93" name="rect_93">
              <a:extLst>
                <a:ext uri="{FF2B5EF4-FFF2-40B4-BE49-F238E27FC236}">
                  <a16:creationId xmlns:a16="http://schemas.microsoft.com/office/drawing/2014/main" id="{208BEC72-61D6-4EA1-933D-E8B5ADFBCED1}"/>
                </a:ext>
              </a:extLst>
            </p:cNvPr>
            <p:cNvSpPr>
              <a:spLocks/>
            </p:cNvSpPr>
            <p:nvPr/>
          </p:nvSpPr>
          <p:spPr>
            <a:xfrm>
              <a:off x="1495425" y="5743575"/>
              <a:ext cx="142875" cy="85725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94" name="ellipse_94">
              <a:extLst>
                <a:ext uri="{FF2B5EF4-FFF2-40B4-BE49-F238E27FC236}">
                  <a16:creationId xmlns:a16="http://schemas.microsoft.com/office/drawing/2014/main" id="{58F62E97-3341-4CBB-BFE0-F6C7C9D2AA5C}"/>
                </a:ext>
              </a:extLst>
            </p:cNvPr>
            <p:cNvSpPr>
              <a:spLocks/>
            </p:cNvSpPr>
            <p:nvPr/>
          </p:nvSpPr>
          <p:spPr>
            <a:xfrm>
              <a:off x="1495425" y="5781675"/>
              <a:ext cx="142875" cy="95250"/>
            </a:xfrm>
            <a:prstGeom prst="ellipse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95" name="ellipse_95">
              <a:extLst>
                <a:ext uri="{FF2B5EF4-FFF2-40B4-BE49-F238E27FC236}">
                  <a16:creationId xmlns:a16="http://schemas.microsoft.com/office/drawing/2014/main" id="{7CD28F32-AC90-4CF2-8C2E-24197DB51A93}"/>
                </a:ext>
              </a:extLst>
            </p:cNvPr>
            <p:cNvSpPr>
              <a:spLocks/>
            </p:cNvSpPr>
            <p:nvPr/>
          </p:nvSpPr>
          <p:spPr>
            <a:xfrm>
              <a:off x="1495425" y="5695950"/>
              <a:ext cx="142875" cy="95250"/>
            </a:xfrm>
            <a:prstGeom prst="ellipse">
              <a:avLst/>
            </a:prstGeom>
            <a:solidFill>
              <a:srgbClr val="9C5875"/>
            </a:solidFill>
            <a:ln w="7620">
              <a:solidFill>
                <a:srgbClr val="FFFFFF"/>
              </a:solidFill>
              <a:prstDash val="solid"/>
            </a:ln>
          </p:spPr>
        </p:sp>
        <p:sp>
          <p:nvSpPr>
            <p:cNvPr id="96" name="db_curve_96">
              <a:extLst>
                <a:ext uri="{FF2B5EF4-FFF2-40B4-BE49-F238E27FC236}">
                  <a16:creationId xmlns:a16="http://schemas.microsoft.com/office/drawing/2014/main" id="{EE0C1A30-4F59-4FBC-8358-B1666BC0E506}"/>
                </a:ext>
              </a:extLst>
            </p:cNvPr>
            <p:cNvSpPr>
              <a:spLocks/>
            </p:cNvSpPr>
            <p:nvPr/>
          </p:nvSpPr>
          <p:spPr>
            <a:xfrm>
              <a:off x="1495425" y="5756275"/>
              <a:ext cx="142875" cy="47625"/>
            </a:xfrm>
            <a:custGeom>
              <a:avLst/>
              <a:gdLst/>
              <a:ahLst/>
              <a:cxnLst/>
              <a:rect l="0" t="0" r="0" b="0"/>
              <a:pathLst>
                <a:path w="142875" h="47625">
                  <a:moveTo>
                    <a:pt x="0" y="0"/>
                  </a:moveTo>
                  <a:cubicBezTo>
                    <a:pt x="28575" y="57150"/>
                    <a:pt x="114300" y="57150"/>
                    <a:pt x="142875" y="0"/>
                  </a:cubicBezTo>
                </a:path>
              </a:pathLst>
            </a:custGeom>
            <a:noFill/>
            <a:ln w="6668">
              <a:solidFill>
                <a:srgbClr val="FFFFFF"/>
              </a:solidFill>
            </a:ln>
          </p:spPr>
        </p:sp>
        <p:sp>
          <p:nvSpPr>
            <p:cNvPr id="97" name="db_curve_97">
              <a:extLst>
                <a:ext uri="{FF2B5EF4-FFF2-40B4-BE49-F238E27FC236}">
                  <a16:creationId xmlns:a16="http://schemas.microsoft.com/office/drawing/2014/main" id="{006A7BAA-AF0D-41A4-B203-DC880AEF7B4C}"/>
                </a:ext>
              </a:extLst>
            </p:cNvPr>
            <p:cNvSpPr>
              <a:spLocks/>
            </p:cNvSpPr>
            <p:nvPr/>
          </p:nvSpPr>
          <p:spPr>
            <a:xfrm>
              <a:off x="1495425" y="5816600"/>
              <a:ext cx="142875" cy="47625"/>
            </a:xfrm>
            <a:custGeom>
              <a:avLst/>
              <a:gdLst/>
              <a:ahLst/>
              <a:cxnLst/>
              <a:rect l="0" t="0" r="0" b="0"/>
              <a:pathLst>
                <a:path w="142875" h="47625">
                  <a:moveTo>
                    <a:pt x="0" y="0"/>
                  </a:moveTo>
                  <a:cubicBezTo>
                    <a:pt x="28575" y="57150"/>
                    <a:pt x="114300" y="57150"/>
                    <a:pt x="142875" y="0"/>
                  </a:cubicBezTo>
                </a:path>
              </a:pathLst>
            </a:custGeom>
            <a:noFill/>
            <a:ln w="6668">
              <a:solidFill>
                <a:srgbClr val="FFFFFF"/>
              </a:solidFill>
            </a:ln>
          </p:spPr>
        </p:sp>
        <p:sp>
          <p:nvSpPr>
            <p:cNvPr id="98" name="textbox_98">
              <a:extLst>
                <a:ext uri="{FF2B5EF4-FFF2-40B4-BE49-F238E27FC236}">
                  <a16:creationId xmlns:a16="http://schemas.microsoft.com/office/drawing/2014/main" id="{3930FE7E-D9B1-4B94-B83A-9510BCB755FD}"/>
                </a:ext>
              </a:extLst>
            </p:cNvPr>
            <p:cNvSpPr>
              <a:spLocks/>
            </p:cNvSpPr>
            <p:nvPr/>
          </p:nvSpPr>
          <p:spPr>
            <a:xfrm>
              <a:off x="1704975" y="5695950"/>
              <a:ext cx="7429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38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38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38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Past average</a:t>
              </a:r>
            </a:p>
          </p:txBody>
        </p:sp>
        <p:sp>
          <p:nvSpPr>
            <p:cNvPr id="99" name="textbox_99">
              <a:extLst>
                <a:ext uri="{FF2B5EF4-FFF2-40B4-BE49-F238E27FC236}">
                  <a16:creationId xmlns:a16="http://schemas.microsoft.com/office/drawing/2014/main" id="{C117AFD3-34D8-4467-97E0-AD739B1969F7}"/>
                </a:ext>
              </a:extLst>
            </p:cNvPr>
            <p:cNvSpPr>
              <a:spLocks/>
            </p:cNvSpPr>
            <p:nvPr/>
          </p:nvSpPr>
          <p:spPr>
            <a:xfrm>
              <a:off x="2552700" y="5505450"/>
              <a:ext cx="102870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75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975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975" b="1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Static RF</a:t>
              </a:r>
            </a:p>
          </p:txBody>
        </p:sp>
        <p:sp>
          <p:nvSpPr>
            <p:cNvPr id="100" name="line_100">
              <a:extLst>
                <a:ext uri="{FF2B5EF4-FFF2-40B4-BE49-F238E27FC236}">
                  <a16:creationId xmlns:a16="http://schemas.microsoft.com/office/drawing/2014/main" id="{27EC4BD0-E8AE-4574-8A07-78CFA402835B}"/>
                </a:ext>
              </a:extLst>
            </p:cNvPr>
            <p:cNvSpPr>
              <a:spLocks/>
            </p:cNvSpPr>
            <p:nvPr/>
          </p:nvSpPr>
          <p:spPr>
            <a:xfrm flipV="1">
              <a:off x="2618994" y="5715000"/>
              <a:ext cx="48006" cy="60007"/>
            </a:xfrm>
            <a:prstGeom prst="line">
              <a:avLst/>
            </a:prstGeom>
            <a:noFill/>
            <a:ln w="11430">
              <a:solidFill>
                <a:srgbClr val="9C5875"/>
              </a:solidFill>
              <a:prstDash val="solid"/>
            </a:ln>
          </p:spPr>
        </p:sp>
        <p:sp>
          <p:nvSpPr>
            <p:cNvPr id="101" name="line_101">
              <a:extLst>
                <a:ext uri="{FF2B5EF4-FFF2-40B4-BE49-F238E27FC236}">
                  <a16:creationId xmlns:a16="http://schemas.microsoft.com/office/drawing/2014/main" id="{98955B10-D611-4476-A0F0-98B847A9F5F7}"/>
                </a:ext>
              </a:extLst>
            </p:cNvPr>
            <p:cNvSpPr>
              <a:spLocks/>
            </p:cNvSpPr>
            <p:nvPr/>
          </p:nvSpPr>
          <p:spPr>
            <a:xfrm>
              <a:off x="2667000" y="5715000"/>
              <a:ext cx="48006" cy="60007"/>
            </a:xfrm>
            <a:prstGeom prst="line">
              <a:avLst/>
            </a:prstGeom>
            <a:noFill/>
            <a:ln w="11430">
              <a:solidFill>
                <a:srgbClr val="9C5875"/>
              </a:solidFill>
              <a:prstDash val="solid"/>
            </a:ln>
          </p:spPr>
        </p:sp>
        <p:sp>
          <p:nvSpPr>
            <p:cNvPr id="102" name="line_102">
              <a:extLst>
                <a:ext uri="{FF2B5EF4-FFF2-40B4-BE49-F238E27FC236}">
                  <a16:creationId xmlns:a16="http://schemas.microsoft.com/office/drawing/2014/main" id="{0C14CC50-DCD1-441C-A19D-A70706E6F31B}"/>
                </a:ext>
              </a:extLst>
            </p:cNvPr>
            <p:cNvSpPr>
              <a:spLocks/>
            </p:cNvSpPr>
            <p:nvPr/>
          </p:nvSpPr>
          <p:spPr>
            <a:xfrm flipV="1">
              <a:off x="2581275" y="5775008"/>
              <a:ext cx="37719" cy="73343"/>
            </a:xfrm>
            <a:prstGeom prst="line">
              <a:avLst/>
            </a:prstGeom>
            <a:noFill/>
            <a:ln w="11430">
              <a:solidFill>
                <a:srgbClr val="9C5875"/>
              </a:solidFill>
              <a:prstDash val="solid"/>
            </a:ln>
          </p:spPr>
        </p:sp>
        <p:sp>
          <p:nvSpPr>
            <p:cNvPr id="103" name="line_103">
              <a:extLst>
                <a:ext uri="{FF2B5EF4-FFF2-40B4-BE49-F238E27FC236}">
                  <a16:creationId xmlns:a16="http://schemas.microsoft.com/office/drawing/2014/main" id="{407F1998-57CF-41F4-8C44-8E64C1B678DF}"/>
                </a:ext>
              </a:extLst>
            </p:cNvPr>
            <p:cNvSpPr>
              <a:spLocks/>
            </p:cNvSpPr>
            <p:nvPr/>
          </p:nvSpPr>
          <p:spPr>
            <a:xfrm>
              <a:off x="2618994" y="5775008"/>
              <a:ext cx="36005" cy="73343"/>
            </a:xfrm>
            <a:prstGeom prst="line">
              <a:avLst/>
            </a:prstGeom>
            <a:noFill/>
            <a:ln w="11430">
              <a:solidFill>
                <a:srgbClr val="9C5875"/>
              </a:solidFill>
              <a:prstDash val="solid"/>
            </a:ln>
          </p:spPr>
        </p:sp>
        <p:sp>
          <p:nvSpPr>
            <p:cNvPr id="104" name="line_104">
              <a:extLst>
                <a:ext uri="{FF2B5EF4-FFF2-40B4-BE49-F238E27FC236}">
                  <a16:creationId xmlns:a16="http://schemas.microsoft.com/office/drawing/2014/main" id="{86BABA37-E820-438E-BC03-92AEA89D7CBB}"/>
                </a:ext>
              </a:extLst>
            </p:cNvPr>
            <p:cNvSpPr>
              <a:spLocks/>
            </p:cNvSpPr>
            <p:nvPr/>
          </p:nvSpPr>
          <p:spPr>
            <a:xfrm>
              <a:off x="2715006" y="5775008"/>
              <a:ext cx="37719" cy="73343"/>
            </a:xfrm>
            <a:prstGeom prst="line">
              <a:avLst/>
            </a:prstGeom>
            <a:noFill/>
            <a:ln w="11430">
              <a:solidFill>
                <a:srgbClr val="9C5875"/>
              </a:solidFill>
              <a:prstDash val="solid"/>
            </a:ln>
          </p:spPr>
        </p:sp>
        <p:sp>
          <p:nvSpPr>
            <p:cNvPr id="105" name="ellipse_105">
              <a:extLst>
                <a:ext uri="{FF2B5EF4-FFF2-40B4-BE49-F238E27FC236}">
                  <a16:creationId xmlns:a16="http://schemas.microsoft.com/office/drawing/2014/main" id="{1B3FFF19-51D1-4B63-A741-9CEB26C2B5E1}"/>
                </a:ext>
              </a:extLst>
            </p:cNvPr>
            <p:cNvSpPr>
              <a:spLocks/>
            </p:cNvSpPr>
            <p:nvPr/>
          </p:nvSpPr>
          <p:spPr>
            <a:xfrm>
              <a:off x="2628900" y="5676900"/>
              <a:ext cx="76200" cy="76200"/>
            </a:xfrm>
            <a:prstGeom prst="ellipse">
              <a:avLst/>
            </a:prstGeom>
            <a:solidFill>
              <a:srgbClr val="9C5875"/>
            </a:solidFill>
            <a:ln w="7620">
              <a:solidFill>
                <a:srgbClr val="9C5875"/>
              </a:solidFill>
              <a:prstDash val="solid"/>
            </a:ln>
          </p:spPr>
        </p:sp>
        <p:sp>
          <p:nvSpPr>
            <p:cNvPr id="106" name="ellipse_106">
              <a:extLst>
                <a:ext uri="{FF2B5EF4-FFF2-40B4-BE49-F238E27FC236}">
                  <a16:creationId xmlns:a16="http://schemas.microsoft.com/office/drawing/2014/main" id="{65A7DECE-6823-4803-8EFB-B4E43AB64BC9}"/>
                </a:ext>
              </a:extLst>
            </p:cNvPr>
            <p:cNvSpPr>
              <a:spLocks/>
            </p:cNvSpPr>
            <p:nvPr/>
          </p:nvSpPr>
          <p:spPr>
            <a:xfrm>
              <a:off x="2580894" y="5736908"/>
              <a:ext cx="76200" cy="76200"/>
            </a:xfrm>
            <a:prstGeom prst="ellipse">
              <a:avLst/>
            </a:prstGeom>
            <a:solidFill>
              <a:srgbClr val="CAD0E4"/>
            </a:solidFill>
            <a:ln w="7620">
              <a:solidFill>
                <a:srgbClr val="9C5875"/>
              </a:solidFill>
              <a:prstDash val="solid"/>
            </a:ln>
          </p:spPr>
        </p:sp>
        <p:sp>
          <p:nvSpPr>
            <p:cNvPr id="107" name="ellipse_107">
              <a:extLst>
                <a:ext uri="{FF2B5EF4-FFF2-40B4-BE49-F238E27FC236}">
                  <a16:creationId xmlns:a16="http://schemas.microsoft.com/office/drawing/2014/main" id="{635473A7-D37E-4D2D-9CD2-17F7885CA3D3}"/>
                </a:ext>
              </a:extLst>
            </p:cNvPr>
            <p:cNvSpPr>
              <a:spLocks/>
            </p:cNvSpPr>
            <p:nvPr/>
          </p:nvSpPr>
          <p:spPr>
            <a:xfrm>
              <a:off x="2676906" y="5736908"/>
              <a:ext cx="76200" cy="76200"/>
            </a:xfrm>
            <a:prstGeom prst="ellipse">
              <a:avLst/>
            </a:prstGeom>
            <a:solidFill>
              <a:srgbClr val="CAD0E4"/>
            </a:solidFill>
            <a:ln w="7620">
              <a:solidFill>
                <a:srgbClr val="9C5875"/>
              </a:solidFill>
              <a:prstDash val="solid"/>
            </a:ln>
          </p:spPr>
        </p:sp>
        <p:sp>
          <p:nvSpPr>
            <p:cNvPr id="108" name="ellipse_108">
              <a:extLst>
                <a:ext uri="{FF2B5EF4-FFF2-40B4-BE49-F238E27FC236}">
                  <a16:creationId xmlns:a16="http://schemas.microsoft.com/office/drawing/2014/main" id="{0E536B21-4705-4DEE-9DD8-4EB39E74B54C}"/>
                </a:ext>
              </a:extLst>
            </p:cNvPr>
            <p:cNvSpPr>
              <a:spLocks/>
            </p:cNvSpPr>
            <p:nvPr/>
          </p:nvSpPr>
          <p:spPr>
            <a:xfrm>
              <a:off x="2543175" y="5810250"/>
              <a:ext cx="76200" cy="76200"/>
            </a:xfrm>
            <a:prstGeom prst="ellipse">
              <a:avLst/>
            </a:prstGeom>
            <a:solidFill>
              <a:srgbClr val="CAD0E4"/>
            </a:solidFill>
            <a:ln w="7620">
              <a:solidFill>
                <a:srgbClr val="9C5875"/>
              </a:solidFill>
              <a:prstDash val="solid"/>
            </a:ln>
          </p:spPr>
        </p:sp>
        <p:sp>
          <p:nvSpPr>
            <p:cNvPr id="109" name="ellipse_109">
              <a:extLst>
                <a:ext uri="{FF2B5EF4-FFF2-40B4-BE49-F238E27FC236}">
                  <a16:creationId xmlns:a16="http://schemas.microsoft.com/office/drawing/2014/main" id="{7146F854-2B9B-4FCB-ADD8-A182D1FD31BC}"/>
                </a:ext>
              </a:extLst>
            </p:cNvPr>
            <p:cNvSpPr>
              <a:spLocks/>
            </p:cNvSpPr>
            <p:nvPr/>
          </p:nvSpPr>
          <p:spPr>
            <a:xfrm>
              <a:off x="2616899" y="5810250"/>
              <a:ext cx="76200" cy="76200"/>
            </a:xfrm>
            <a:prstGeom prst="ellipse">
              <a:avLst/>
            </a:prstGeom>
            <a:solidFill>
              <a:srgbClr val="CAD0E4"/>
            </a:solidFill>
            <a:ln w="7620">
              <a:solidFill>
                <a:srgbClr val="9C5875"/>
              </a:solidFill>
              <a:prstDash val="solid"/>
            </a:ln>
          </p:spPr>
        </p:sp>
        <p:sp>
          <p:nvSpPr>
            <p:cNvPr id="110" name="ellipse_110">
              <a:extLst>
                <a:ext uri="{FF2B5EF4-FFF2-40B4-BE49-F238E27FC236}">
                  <a16:creationId xmlns:a16="http://schemas.microsoft.com/office/drawing/2014/main" id="{5CC9C3E2-D6AA-4896-B864-E0E85885225B}"/>
                </a:ext>
              </a:extLst>
            </p:cNvPr>
            <p:cNvSpPr>
              <a:spLocks/>
            </p:cNvSpPr>
            <p:nvPr/>
          </p:nvSpPr>
          <p:spPr>
            <a:xfrm>
              <a:off x="2714625" y="5810250"/>
              <a:ext cx="76200" cy="76200"/>
            </a:xfrm>
            <a:prstGeom prst="ellipse">
              <a:avLst/>
            </a:prstGeom>
            <a:solidFill>
              <a:srgbClr val="CAD0E4"/>
            </a:solidFill>
            <a:ln w="7620">
              <a:solidFill>
                <a:srgbClr val="9C5875"/>
              </a:solidFill>
              <a:prstDash val="solid"/>
            </a:ln>
          </p:spPr>
        </p:sp>
        <p:sp>
          <p:nvSpPr>
            <p:cNvPr id="111" name="textbox_111">
              <a:extLst>
                <a:ext uri="{FF2B5EF4-FFF2-40B4-BE49-F238E27FC236}">
                  <a16:creationId xmlns:a16="http://schemas.microsoft.com/office/drawing/2014/main" id="{31179B95-C92D-4335-8286-16A427D21276}"/>
                </a:ext>
              </a:extLst>
            </p:cNvPr>
            <p:cNvSpPr>
              <a:spLocks/>
            </p:cNvSpPr>
            <p:nvPr/>
          </p:nvSpPr>
          <p:spPr>
            <a:xfrm>
              <a:off x="2790825" y="5695950"/>
              <a:ext cx="7429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38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38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38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Task + config</a:t>
              </a:r>
            </a:p>
          </p:txBody>
        </p:sp>
        <p:sp>
          <p:nvSpPr>
            <p:cNvPr id="112" name="textbox_112">
              <a:extLst>
                <a:ext uri="{FF2B5EF4-FFF2-40B4-BE49-F238E27FC236}">
                  <a16:creationId xmlns:a16="http://schemas.microsoft.com/office/drawing/2014/main" id="{95D9E99D-F3BA-4A6D-9F61-7B42C5A96431}"/>
                </a:ext>
              </a:extLst>
            </p:cNvPr>
            <p:cNvSpPr>
              <a:spLocks/>
            </p:cNvSpPr>
            <p:nvPr/>
          </p:nvSpPr>
          <p:spPr>
            <a:xfrm>
              <a:off x="304800" y="5981700"/>
              <a:ext cx="33528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Evaluate on the same candidate pool and metrics.</a:t>
              </a:r>
            </a:p>
          </p:txBody>
        </p:sp>
      </p:grpSp>
      <p:grpSp>
        <p:nvGrpSpPr>
          <p:cNvPr id="277" name="Q2_residual_information">
            <a:extLst>
              <a:ext uri="{FF2B5EF4-FFF2-40B4-BE49-F238E27FC236}">
                <a16:creationId xmlns:a16="http://schemas.microsoft.com/office/drawing/2014/main" id="{9103F66D-DA2F-85A5-0628-E6ECDD635919}"/>
              </a:ext>
            </a:extLst>
          </p:cNvPr>
          <p:cNvGrpSpPr/>
          <p:nvPr/>
        </p:nvGrpSpPr>
        <p:grpSpPr>
          <a:xfrm>
            <a:off x="3781425" y="1543050"/>
            <a:ext cx="3609975" cy="4400550"/>
            <a:chOff x="3781425" y="1543050"/>
            <a:chExt cx="3609975" cy="4400550"/>
          </a:xfrm>
        </p:grpSpPr>
        <p:sp>
          <p:nvSpPr>
            <p:cNvPr id="113" name="bezier_arrow_113">
              <a:extLst>
                <a:ext uri="{FF2B5EF4-FFF2-40B4-BE49-F238E27FC236}">
                  <a16:creationId xmlns:a16="http://schemas.microsoft.com/office/drawing/2014/main" id="{8768C081-DD84-4D78-9CA0-CD16912A6A35}"/>
                </a:ext>
              </a:extLst>
            </p:cNvPr>
            <p:cNvSpPr>
              <a:spLocks/>
            </p:cNvSpPr>
            <p:nvPr/>
          </p:nvSpPr>
          <p:spPr>
            <a:xfrm>
              <a:off x="3781425" y="1971675"/>
              <a:ext cx="238125" cy="838200"/>
            </a:xfrm>
            <a:custGeom>
              <a:avLst/>
              <a:gdLst/>
              <a:ahLst/>
              <a:cxnLst/>
              <a:rect l="0" t="0" r="0" b="0"/>
              <a:pathLst>
                <a:path w="238125" h="838200">
                  <a:moveTo>
                    <a:pt x="0" y="838200"/>
                  </a:moveTo>
                  <a:cubicBezTo>
                    <a:pt x="130969" y="838200"/>
                    <a:pt x="107156" y="0"/>
                    <a:pt x="238125" y="0"/>
                  </a:cubicBezTo>
                </a:path>
              </a:pathLst>
            </a:custGeom>
            <a:noFill/>
            <a:ln w="19050">
              <a:solidFill>
                <a:srgbClr val="9C5875"/>
              </a:solidFill>
            </a:ln>
          </p:spPr>
        </p:sp>
        <p:sp>
          <p:nvSpPr>
            <p:cNvPr id="114" name="arrow_tip_114">
              <a:extLst>
                <a:ext uri="{FF2B5EF4-FFF2-40B4-BE49-F238E27FC236}">
                  <a16:creationId xmlns:a16="http://schemas.microsoft.com/office/drawing/2014/main" id="{1405DAC7-628D-4D7B-8A23-F617CCA9F3B2}"/>
                </a:ext>
              </a:extLst>
            </p:cNvPr>
            <p:cNvSpPr>
              <a:spLocks/>
            </p:cNvSpPr>
            <p:nvPr/>
          </p:nvSpPr>
          <p:spPr>
            <a:xfrm>
              <a:off x="3943350" y="1933575"/>
              <a:ext cx="76200" cy="85725"/>
            </a:xfrm>
            <a:custGeom>
              <a:avLst/>
              <a:gdLst/>
              <a:ahLst/>
              <a:cxnLst/>
              <a:rect l="0" t="0" r="0" b="0"/>
              <a:pathLst>
                <a:path w="76200" h="85725">
                  <a:moveTo>
                    <a:pt x="76200" y="38100"/>
                  </a:moveTo>
                  <a:lnTo>
                    <a:pt x="0" y="0"/>
                  </a:lnTo>
                  <a:lnTo>
                    <a:pt x="9525" y="85725"/>
                  </a:lnTo>
                  <a:close/>
                </a:path>
              </a:pathLst>
            </a:custGeom>
            <a:solidFill>
              <a:srgbClr val="9C5875"/>
            </a:solidFill>
            <a:ln w="0">
              <a:noFill/>
            </a:ln>
          </p:spPr>
        </p:sp>
        <p:sp>
          <p:nvSpPr>
            <p:cNvPr id="115" name="roundRect_115">
              <a:extLst>
                <a:ext uri="{FF2B5EF4-FFF2-40B4-BE49-F238E27FC236}">
                  <a16:creationId xmlns:a16="http://schemas.microsoft.com/office/drawing/2014/main" id="{5F0D61A7-2B2F-4564-992D-B60555F65B4E}"/>
                </a:ext>
              </a:extLst>
            </p:cNvPr>
            <p:cNvSpPr>
              <a:spLocks/>
            </p:cNvSpPr>
            <p:nvPr/>
          </p:nvSpPr>
          <p:spPr>
            <a:xfrm>
              <a:off x="4019550" y="1543050"/>
              <a:ext cx="3371850" cy="4400550"/>
            </a:xfrm>
            <a:prstGeom prst="roundRect">
              <a:avLst>
                <a:gd name="adj" fmla="val 2542"/>
              </a:avLst>
            </a:prstGeom>
            <a:solidFill>
              <a:srgbClr val="FAF8FB"/>
            </a:solidFill>
            <a:ln w="9525">
              <a:solidFill>
                <a:srgbClr val="DAD6E4"/>
              </a:solidFill>
              <a:prstDash val="solid"/>
            </a:ln>
          </p:spPr>
        </p:sp>
        <p:sp>
          <p:nvSpPr>
            <p:cNvPr id="116" name="banner_116">
              <a:extLst>
                <a:ext uri="{FF2B5EF4-FFF2-40B4-BE49-F238E27FC236}">
                  <a16:creationId xmlns:a16="http://schemas.microsoft.com/office/drawing/2014/main" id="{9064786B-D227-4228-B183-B247653C7F71}"/>
                </a:ext>
              </a:extLst>
            </p:cNvPr>
            <p:cNvSpPr>
              <a:spLocks/>
            </p:cNvSpPr>
            <p:nvPr/>
          </p:nvSpPr>
          <p:spPr>
            <a:xfrm>
              <a:off x="4019550" y="1543050"/>
              <a:ext cx="3371850" cy="590550"/>
            </a:xfrm>
            <a:custGeom>
              <a:avLst/>
              <a:gdLst/>
              <a:ahLst/>
              <a:cxnLst/>
              <a:rect l="0" t="0" r="0" b="0"/>
              <a:pathLst>
                <a:path w="3371850" h="590550">
                  <a:moveTo>
                    <a:pt x="0" y="0"/>
                  </a:moveTo>
                  <a:lnTo>
                    <a:pt x="3076575" y="0"/>
                  </a:lnTo>
                  <a:lnTo>
                    <a:pt x="3371850" y="295275"/>
                  </a:lnTo>
                  <a:lnTo>
                    <a:pt x="3076575" y="590550"/>
                  </a:lnTo>
                  <a:lnTo>
                    <a:pt x="0" y="590550"/>
                  </a:lnTo>
                  <a:lnTo>
                    <a:pt x="0" y="0"/>
                  </a:lnTo>
                </a:path>
              </a:pathLst>
            </a:custGeom>
            <a:solidFill>
              <a:srgbClr val="38385B"/>
            </a:solidFill>
            <a:ln w="0">
              <a:noFill/>
            </a:ln>
          </p:spPr>
        </p:sp>
        <p:sp>
          <p:nvSpPr>
            <p:cNvPr id="117" name="ellipse_117">
              <a:extLst>
                <a:ext uri="{FF2B5EF4-FFF2-40B4-BE49-F238E27FC236}">
                  <a16:creationId xmlns:a16="http://schemas.microsoft.com/office/drawing/2014/main" id="{04C589B5-482C-44A4-B6B3-A94E201FBB92}"/>
                </a:ext>
              </a:extLst>
            </p:cNvPr>
            <p:cNvSpPr>
              <a:spLocks/>
            </p:cNvSpPr>
            <p:nvPr/>
          </p:nvSpPr>
          <p:spPr>
            <a:xfrm>
              <a:off x="4124325" y="1638300"/>
              <a:ext cx="371475" cy="371475"/>
            </a:xfrm>
            <a:prstGeom prst="ellipse">
              <a:avLst/>
            </a:prstGeom>
            <a:solidFill>
              <a:srgbClr val="9C5875"/>
            </a:solidFill>
            <a:ln w="7620">
              <a:solidFill>
                <a:srgbClr val="E3CED8"/>
              </a:solidFill>
              <a:prstDash val="solid"/>
            </a:ln>
          </p:spPr>
        </p:sp>
        <p:sp>
          <p:nvSpPr>
            <p:cNvPr id="118" name="textbox_118">
              <a:extLst>
                <a:ext uri="{FF2B5EF4-FFF2-40B4-BE49-F238E27FC236}">
                  <a16:creationId xmlns:a16="http://schemas.microsoft.com/office/drawing/2014/main" id="{4F4E6750-FDC9-4DEF-89F9-3EA1C699264F}"/>
                </a:ext>
              </a:extLst>
            </p:cNvPr>
            <p:cNvSpPr>
              <a:spLocks/>
            </p:cNvSpPr>
            <p:nvPr/>
          </p:nvSpPr>
          <p:spPr>
            <a:xfrm>
              <a:off x="4162425" y="1695450"/>
              <a:ext cx="295275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575" b="0">
                  <a:solidFill>
                    <a:srgbClr val="FFFFFF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1575" b="0">
                  <a:solidFill>
                    <a:srgbClr val="FFFFFF"/>
                  </a:solidFill>
                  <a:latin typeface="Georgia"/>
                  <a:ea typeface="Georgia"/>
                  <a:cs typeface="Georgia"/>
                </a:defRPr>
              </a:pPr>
              <a:r>
                <a:rPr sz="1575" b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Q2</a:t>
              </a:r>
            </a:p>
          </p:txBody>
        </p:sp>
        <p:sp>
          <p:nvSpPr>
            <p:cNvPr id="119" name="textbox_119">
              <a:extLst>
                <a:ext uri="{FF2B5EF4-FFF2-40B4-BE49-F238E27FC236}">
                  <a16:creationId xmlns:a16="http://schemas.microsoft.com/office/drawing/2014/main" id="{9B33832C-2000-4E3F-BECB-157BD1801DFB}"/>
                </a:ext>
              </a:extLst>
            </p:cNvPr>
            <p:cNvSpPr>
              <a:spLocks/>
            </p:cNvSpPr>
            <p:nvPr/>
          </p:nvSpPr>
          <p:spPr>
            <a:xfrm>
              <a:off x="4591050" y="1638300"/>
              <a:ext cx="260985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50" b="0">
                  <a:solidFill>
                    <a:srgbClr val="FFFFFF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1350" b="0">
                  <a:solidFill>
                    <a:srgbClr val="FFFFFF"/>
                  </a:solidFill>
                  <a:latin typeface="Georgia"/>
                  <a:ea typeface="Georgia"/>
                  <a:cs typeface="Georgia"/>
                </a:defRPr>
              </a:pPr>
              <a:r>
                <a:rPr sz="1350" b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Residual information</a:t>
              </a:r>
            </a:p>
          </p:txBody>
        </p:sp>
        <p:sp>
          <p:nvSpPr>
            <p:cNvPr id="120" name="textbox_120">
              <a:extLst>
                <a:ext uri="{FF2B5EF4-FFF2-40B4-BE49-F238E27FC236}">
                  <a16:creationId xmlns:a16="http://schemas.microsoft.com/office/drawing/2014/main" id="{06AFCCC1-1E33-40AB-AB25-FE247C3C863E}"/>
                </a:ext>
              </a:extLst>
            </p:cNvPr>
            <p:cNvSpPr>
              <a:spLocks/>
            </p:cNvSpPr>
            <p:nvPr/>
          </p:nvSpPr>
          <p:spPr>
            <a:xfrm>
              <a:off x="4600575" y="1885950"/>
              <a:ext cx="258127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15" b="0">
                  <a:solidFill>
                    <a:srgbClr val="E8E5EF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15" b="0">
                  <a:solidFill>
                    <a:srgbClr val="E8E5E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15" b="0">
                  <a:solidFill>
                    <a:srgbClr val="E8E5EF"/>
                  </a:solidFill>
                  <a:latin typeface="Noto Sans SC"/>
                  <a:ea typeface="Noto Sans SC"/>
                  <a:cs typeface="Noto Sans SC"/>
                </a:rPr>
                <a:t>DO RESIDUALS ADD VALUE BEYOND OBSERVED ERROR?</a:t>
              </a:r>
            </a:p>
          </p:txBody>
        </p:sp>
        <p:sp>
          <p:nvSpPr>
            <p:cNvPr id="121" name="textbox_121">
              <a:extLst>
                <a:ext uri="{FF2B5EF4-FFF2-40B4-BE49-F238E27FC236}">
                  <a16:creationId xmlns:a16="http://schemas.microsoft.com/office/drawing/2014/main" id="{4B3D9DEB-B09B-429E-A4BD-2989B27FD9AD}"/>
                </a:ext>
              </a:extLst>
            </p:cNvPr>
            <p:cNvSpPr>
              <a:spLocks/>
            </p:cNvSpPr>
            <p:nvPr/>
          </p:nvSpPr>
          <p:spPr>
            <a:xfrm>
              <a:off x="4133850" y="2238375"/>
              <a:ext cx="3124200" cy="219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75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975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975" b="1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Two residual patterns with equal MAE</a:t>
              </a:r>
            </a:p>
          </p:txBody>
        </p:sp>
        <p:sp>
          <p:nvSpPr>
            <p:cNvPr id="122" name="textbox_122">
              <a:extLst>
                <a:ext uri="{FF2B5EF4-FFF2-40B4-BE49-F238E27FC236}">
                  <a16:creationId xmlns:a16="http://schemas.microsoft.com/office/drawing/2014/main" id="{DE8CFEBD-010B-4B01-8AD4-6431201766BA}"/>
                </a:ext>
              </a:extLst>
            </p:cNvPr>
            <p:cNvSpPr>
              <a:spLocks/>
            </p:cNvSpPr>
            <p:nvPr/>
          </p:nvSpPr>
          <p:spPr>
            <a:xfrm>
              <a:off x="4152900" y="2514600"/>
              <a:ext cx="1485900" cy="1809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Alternating residual</a:t>
              </a:r>
            </a:p>
          </p:txBody>
        </p:sp>
        <p:sp>
          <p:nvSpPr>
            <p:cNvPr id="123" name="line_123">
              <a:extLst>
                <a:ext uri="{FF2B5EF4-FFF2-40B4-BE49-F238E27FC236}">
                  <a16:creationId xmlns:a16="http://schemas.microsoft.com/office/drawing/2014/main" id="{CFB095A8-0E83-4990-8D82-0EFEB794916E}"/>
                </a:ext>
              </a:extLst>
            </p:cNvPr>
            <p:cNvSpPr>
              <a:spLocks/>
            </p:cNvSpPr>
            <p:nvPr/>
          </p:nvSpPr>
          <p:spPr>
            <a:xfrm>
              <a:off x="4295775" y="2781300"/>
              <a:ext cx="953" cy="619125"/>
            </a:xfrm>
            <a:prstGeom prst="line">
              <a:avLst/>
            </a:prstGeom>
            <a:noFill/>
            <a:ln w="6668">
              <a:solidFill>
                <a:srgbClr val="A6AAC1"/>
              </a:solidFill>
              <a:prstDash val="solid"/>
            </a:ln>
          </p:spPr>
        </p:sp>
        <p:sp>
          <p:nvSpPr>
            <p:cNvPr id="124" name="line_124">
              <a:extLst>
                <a:ext uri="{FF2B5EF4-FFF2-40B4-BE49-F238E27FC236}">
                  <a16:creationId xmlns:a16="http://schemas.microsoft.com/office/drawing/2014/main" id="{357A862C-6F50-4328-B090-DF37B94B73DD}"/>
                </a:ext>
              </a:extLst>
            </p:cNvPr>
            <p:cNvSpPr>
              <a:spLocks/>
            </p:cNvSpPr>
            <p:nvPr/>
          </p:nvSpPr>
          <p:spPr>
            <a:xfrm>
              <a:off x="4295775" y="3400425"/>
              <a:ext cx="1323975" cy="953"/>
            </a:xfrm>
            <a:prstGeom prst="line">
              <a:avLst/>
            </a:prstGeom>
            <a:noFill/>
            <a:ln w="6668">
              <a:solidFill>
                <a:srgbClr val="A6AAC1"/>
              </a:solidFill>
              <a:prstDash val="solid"/>
            </a:ln>
          </p:spPr>
        </p:sp>
        <p:sp>
          <p:nvSpPr>
            <p:cNvPr id="125" name="line_125">
              <a:extLst>
                <a:ext uri="{FF2B5EF4-FFF2-40B4-BE49-F238E27FC236}">
                  <a16:creationId xmlns:a16="http://schemas.microsoft.com/office/drawing/2014/main" id="{100CBFCA-569A-4CA6-A5E2-084DE9A9C4DC}"/>
                </a:ext>
              </a:extLst>
            </p:cNvPr>
            <p:cNvSpPr>
              <a:spLocks/>
            </p:cNvSpPr>
            <p:nvPr/>
          </p:nvSpPr>
          <p:spPr>
            <a:xfrm>
              <a:off x="4295775" y="3086100"/>
              <a:ext cx="1323975" cy="953"/>
            </a:xfrm>
            <a:prstGeom prst="line">
              <a:avLst/>
            </a:prstGeom>
            <a:noFill/>
            <a:ln w="6668">
              <a:solidFill>
                <a:srgbClr val="C9C4D8"/>
              </a:solidFill>
              <a:prstDash val="solid"/>
            </a:ln>
          </p:spPr>
        </p:sp>
        <p:sp>
          <p:nvSpPr>
            <p:cNvPr id="126" name="curve_126">
              <a:extLst>
                <a:ext uri="{FF2B5EF4-FFF2-40B4-BE49-F238E27FC236}">
                  <a16:creationId xmlns:a16="http://schemas.microsoft.com/office/drawing/2014/main" id="{3B6886A7-D46E-4934-9512-1DA605018DBF}"/>
                </a:ext>
              </a:extLst>
            </p:cNvPr>
            <p:cNvSpPr>
              <a:spLocks/>
            </p:cNvSpPr>
            <p:nvPr/>
          </p:nvSpPr>
          <p:spPr>
            <a:xfrm>
              <a:off x="4333875" y="2876550"/>
              <a:ext cx="1225868" cy="419100"/>
            </a:xfrm>
            <a:custGeom>
              <a:avLst/>
              <a:gdLst/>
              <a:ahLst/>
              <a:cxnLst/>
              <a:rect l="0" t="0" r="0" b="0"/>
              <a:pathLst>
                <a:path w="1225868" h="419100">
                  <a:moveTo>
                    <a:pt x="0" y="0"/>
                  </a:moveTo>
                  <a:lnTo>
                    <a:pt x="111442" y="419100"/>
                  </a:lnTo>
                  <a:lnTo>
                    <a:pt x="222885" y="0"/>
                  </a:lnTo>
                  <a:lnTo>
                    <a:pt x="334328" y="419100"/>
                  </a:lnTo>
                  <a:lnTo>
                    <a:pt x="445770" y="0"/>
                  </a:lnTo>
                  <a:lnTo>
                    <a:pt x="557213" y="419100"/>
                  </a:lnTo>
                  <a:lnTo>
                    <a:pt x="668655" y="0"/>
                  </a:lnTo>
                  <a:lnTo>
                    <a:pt x="780097" y="419100"/>
                  </a:lnTo>
                  <a:lnTo>
                    <a:pt x="891540" y="0"/>
                  </a:lnTo>
                  <a:lnTo>
                    <a:pt x="1002982" y="419100"/>
                  </a:lnTo>
                  <a:lnTo>
                    <a:pt x="1114425" y="0"/>
                  </a:lnTo>
                  <a:lnTo>
                    <a:pt x="1225868" y="419100"/>
                  </a:lnTo>
                </a:path>
              </a:pathLst>
            </a:custGeom>
            <a:noFill/>
            <a:ln w="9525">
              <a:solidFill>
                <a:srgbClr val="9C5875"/>
              </a:solidFill>
            </a:ln>
          </p:spPr>
        </p:sp>
        <p:sp>
          <p:nvSpPr>
            <p:cNvPr id="127" name="ellipse_127">
              <a:extLst>
                <a:ext uri="{FF2B5EF4-FFF2-40B4-BE49-F238E27FC236}">
                  <a16:creationId xmlns:a16="http://schemas.microsoft.com/office/drawing/2014/main" id="{60B14C0D-A3FD-48E8-B5D0-9B22AB202D30}"/>
                </a:ext>
              </a:extLst>
            </p:cNvPr>
            <p:cNvSpPr>
              <a:spLocks/>
            </p:cNvSpPr>
            <p:nvPr/>
          </p:nvSpPr>
          <p:spPr>
            <a:xfrm>
              <a:off x="4314825" y="2857500"/>
              <a:ext cx="38100" cy="38100"/>
            </a:xfrm>
            <a:prstGeom prst="ellipse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28" name="ellipse_128">
              <a:extLst>
                <a:ext uri="{FF2B5EF4-FFF2-40B4-BE49-F238E27FC236}">
                  <a16:creationId xmlns:a16="http://schemas.microsoft.com/office/drawing/2014/main" id="{9DDB3387-123F-48C8-A26E-27F20CB1E179}"/>
                </a:ext>
              </a:extLst>
            </p:cNvPr>
            <p:cNvSpPr>
              <a:spLocks/>
            </p:cNvSpPr>
            <p:nvPr/>
          </p:nvSpPr>
          <p:spPr>
            <a:xfrm>
              <a:off x="4426268" y="3276600"/>
              <a:ext cx="38100" cy="38100"/>
            </a:xfrm>
            <a:prstGeom prst="ellipse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29" name="ellipse_129">
              <a:extLst>
                <a:ext uri="{FF2B5EF4-FFF2-40B4-BE49-F238E27FC236}">
                  <a16:creationId xmlns:a16="http://schemas.microsoft.com/office/drawing/2014/main" id="{6A250318-4052-4257-9954-9950C94B5D17}"/>
                </a:ext>
              </a:extLst>
            </p:cNvPr>
            <p:cNvSpPr>
              <a:spLocks/>
            </p:cNvSpPr>
            <p:nvPr/>
          </p:nvSpPr>
          <p:spPr>
            <a:xfrm>
              <a:off x="4537710" y="2857500"/>
              <a:ext cx="38100" cy="38100"/>
            </a:xfrm>
            <a:prstGeom prst="ellipse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30" name="ellipse_130">
              <a:extLst>
                <a:ext uri="{FF2B5EF4-FFF2-40B4-BE49-F238E27FC236}">
                  <a16:creationId xmlns:a16="http://schemas.microsoft.com/office/drawing/2014/main" id="{77014CF3-39C2-429B-A543-78052232C4F8}"/>
                </a:ext>
              </a:extLst>
            </p:cNvPr>
            <p:cNvSpPr>
              <a:spLocks/>
            </p:cNvSpPr>
            <p:nvPr/>
          </p:nvSpPr>
          <p:spPr>
            <a:xfrm>
              <a:off x="4649153" y="3276600"/>
              <a:ext cx="38100" cy="38100"/>
            </a:xfrm>
            <a:prstGeom prst="ellipse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31" name="ellipse_131">
              <a:extLst>
                <a:ext uri="{FF2B5EF4-FFF2-40B4-BE49-F238E27FC236}">
                  <a16:creationId xmlns:a16="http://schemas.microsoft.com/office/drawing/2014/main" id="{FB14244A-7FB4-4881-9E9D-9DFD6CEEF063}"/>
                </a:ext>
              </a:extLst>
            </p:cNvPr>
            <p:cNvSpPr>
              <a:spLocks/>
            </p:cNvSpPr>
            <p:nvPr/>
          </p:nvSpPr>
          <p:spPr>
            <a:xfrm>
              <a:off x="4760595" y="2857500"/>
              <a:ext cx="38100" cy="38100"/>
            </a:xfrm>
            <a:prstGeom prst="ellipse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32" name="ellipse_132">
              <a:extLst>
                <a:ext uri="{FF2B5EF4-FFF2-40B4-BE49-F238E27FC236}">
                  <a16:creationId xmlns:a16="http://schemas.microsoft.com/office/drawing/2014/main" id="{B6F6ED60-446A-4AEF-A3C0-3A09B85AC201}"/>
                </a:ext>
              </a:extLst>
            </p:cNvPr>
            <p:cNvSpPr>
              <a:spLocks/>
            </p:cNvSpPr>
            <p:nvPr/>
          </p:nvSpPr>
          <p:spPr>
            <a:xfrm>
              <a:off x="4872038" y="3276600"/>
              <a:ext cx="38100" cy="38100"/>
            </a:xfrm>
            <a:prstGeom prst="ellipse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33" name="ellipse_133">
              <a:extLst>
                <a:ext uri="{FF2B5EF4-FFF2-40B4-BE49-F238E27FC236}">
                  <a16:creationId xmlns:a16="http://schemas.microsoft.com/office/drawing/2014/main" id="{325EBA99-72A5-453B-9954-47A851B3A9CB}"/>
                </a:ext>
              </a:extLst>
            </p:cNvPr>
            <p:cNvSpPr>
              <a:spLocks/>
            </p:cNvSpPr>
            <p:nvPr/>
          </p:nvSpPr>
          <p:spPr>
            <a:xfrm>
              <a:off x="4983480" y="2857500"/>
              <a:ext cx="38100" cy="38100"/>
            </a:xfrm>
            <a:prstGeom prst="ellipse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34" name="ellipse_134">
              <a:extLst>
                <a:ext uri="{FF2B5EF4-FFF2-40B4-BE49-F238E27FC236}">
                  <a16:creationId xmlns:a16="http://schemas.microsoft.com/office/drawing/2014/main" id="{7B47F72D-2683-4C3E-BECA-C577BD013BAB}"/>
                </a:ext>
              </a:extLst>
            </p:cNvPr>
            <p:cNvSpPr>
              <a:spLocks/>
            </p:cNvSpPr>
            <p:nvPr/>
          </p:nvSpPr>
          <p:spPr>
            <a:xfrm>
              <a:off x="5094923" y="3276600"/>
              <a:ext cx="38100" cy="38100"/>
            </a:xfrm>
            <a:prstGeom prst="ellipse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35" name="ellipse_135">
              <a:extLst>
                <a:ext uri="{FF2B5EF4-FFF2-40B4-BE49-F238E27FC236}">
                  <a16:creationId xmlns:a16="http://schemas.microsoft.com/office/drawing/2014/main" id="{45338C4B-BCBB-4415-BBAB-75995FA35C97}"/>
                </a:ext>
              </a:extLst>
            </p:cNvPr>
            <p:cNvSpPr>
              <a:spLocks/>
            </p:cNvSpPr>
            <p:nvPr/>
          </p:nvSpPr>
          <p:spPr>
            <a:xfrm>
              <a:off x="5206365" y="2857500"/>
              <a:ext cx="38100" cy="38100"/>
            </a:xfrm>
            <a:prstGeom prst="ellipse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36" name="ellipse_136">
              <a:extLst>
                <a:ext uri="{FF2B5EF4-FFF2-40B4-BE49-F238E27FC236}">
                  <a16:creationId xmlns:a16="http://schemas.microsoft.com/office/drawing/2014/main" id="{B964D357-7EB4-42F8-A50B-40EB3EE3F00C}"/>
                </a:ext>
              </a:extLst>
            </p:cNvPr>
            <p:cNvSpPr>
              <a:spLocks/>
            </p:cNvSpPr>
            <p:nvPr/>
          </p:nvSpPr>
          <p:spPr>
            <a:xfrm>
              <a:off x="5317808" y="3276600"/>
              <a:ext cx="38100" cy="38100"/>
            </a:xfrm>
            <a:prstGeom prst="ellipse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37" name="ellipse_137">
              <a:extLst>
                <a:ext uri="{FF2B5EF4-FFF2-40B4-BE49-F238E27FC236}">
                  <a16:creationId xmlns:a16="http://schemas.microsoft.com/office/drawing/2014/main" id="{B9D04F2E-7A48-4D89-9855-B6088CDFC8A8}"/>
                </a:ext>
              </a:extLst>
            </p:cNvPr>
            <p:cNvSpPr>
              <a:spLocks/>
            </p:cNvSpPr>
            <p:nvPr/>
          </p:nvSpPr>
          <p:spPr>
            <a:xfrm>
              <a:off x="5429250" y="2857500"/>
              <a:ext cx="38100" cy="38100"/>
            </a:xfrm>
            <a:prstGeom prst="ellipse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38" name="ellipse_138">
              <a:extLst>
                <a:ext uri="{FF2B5EF4-FFF2-40B4-BE49-F238E27FC236}">
                  <a16:creationId xmlns:a16="http://schemas.microsoft.com/office/drawing/2014/main" id="{4BE232D9-8685-4DF9-941B-F0080D9B27BD}"/>
                </a:ext>
              </a:extLst>
            </p:cNvPr>
            <p:cNvSpPr>
              <a:spLocks/>
            </p:cNvSpPr>
            <p:nvPr/>
          </p:nvSpPr>
          <p:spPr>
            <a:xfrm>
              <a:off x="5540693" y="3276600"/>
              <a:ext cx="38100" cy="38100"/>
            </a:xfrm>
            <a:prstGeom prst="ellipse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39" name="textbox_139">
              <a:extLst>
                <a:ext uri="{FF2B5EF4-FFF2-40B4-BE49-F238E27FC236}">
                  <a16:creationId xmlns:a16="http://schemas.microsoft.com/office/drawing/2014/main" id="{3CF979B5-6829-4879-A5B5-57D19B943C26}"/>
                </a:ext>
              </a:extLst>
            </p:cNvPr>
            <p:cNvSpPr>
              <a:spLocks/>
            </p:cNvSpPr>
            <p:nvPr/>
          </p:nvSpPr>
          <p:spPr>
            <a:xfrm>
              <a:off x="4857750" y="3429000"/>
              <a:ext cx="7620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MAE = 1</a:t>
              </a:r>
            </a:p>
          </p:txBody>
        </p:sp>
        <p:sp>
          <p:nvSpPr>
            <p:cNvPr id="140" name="textbox_140">
              <a:extLst>
                <a:ext uri="{FF2B5EF4-FFF2-40B4-BE49-F238E27FC236}">
                  <a16:creationId xmlns:a16="http://schemas.microsoft.com/office/drawing/2014/main" id="{1F8D86C8-8986-42C2-87DD-A846E0A342BE}"/>
                </a:ext>
              </a:extLst>
            </p:cNvPr>
            <p:cNvSpPr>
              <a:spLocks/>
            </p:cNvSpPr>
            <p:nvPr/>
          </p:nvSpPr>
          <p:spPr>
            <a:xfrm>
              <a:off x="4191000" y="2857500"/>
              <a:ext cx="1714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0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0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0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+1</a:t>
              </a:r>
            </a:p>
          </p:txBody>
        </p:sp>
        <p:sp>
          <p:nvSpPr>
            <p:cNvPr id="141" name="textbox_141">
              <a:extLst>
                <a:ext uri="{FF2B5EF4-FFF2-40B4-BE49-F238E27FC236}">
                  <a16:creationId xmlns:a16="http://schemas.microsoft.com/office/drawing/2014/main" id="{D4A50691-7E9F-419E-A2C9-630F796E6562}"/>
                </a:ext>
              </a:extLst>
            </p:cNvPr>
            <p:cNvSpPr>
              <a:spLocks/>
            </p:cNvSpPr>
            <p:nvPr/>
          </p:nvSpPr>
          <p:spPr>
            <a:xfrm>
              <a:off x="4191000" y="3238500"/>
              <a:ext cx="1714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0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0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0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−1</a:t>
              </a:r>
            </a:p>
          </p:txBody>
        </p:sp>
        <p:sp>
          <p:nvSpPr>
            <p:cNvPr id="142" name="textbox_142">
              <a:extLst>
                <a:ext uri="{FF2B5EF4-FFF2-40B4-BE49-F238E27FC236}">
                  <a16:creationId xmlns:a16="http://schemas.microsoft.com/office/drawing/2014/main" id="{C3CDEC9A-DC73-4764-B9C1-FDAA99AAFEDE}"/>
                </a:ext>
              </a:extLst>
            </p:cNvPr>
            <p:cNvSpPr>
              <a:spLocks/>
            </p:cNvSpPr>
            <p:nvPr/>
          </p:nvSpPr>
          <p:spPr>
            <a:xfrm>
              <a:off x="5715000" y="2514600"/>
              <a:ext cx="1485900" cy="1809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Persistent residual</a:t>
              </a:r>
            </a:p>
          </p:txBody>
        </p:sp>
        <p:sp>
          <p:nvSpPr>
            <p:cNvPr id="143" name="line_143">
              <a:extLst>
                <a:ext uri="{FF2B5EF4-FFF2-40B4-BE49-F238E27FC236}">
                  <a16:creationId xmlns:a16="http://schemas.microsoft.com/office/drawing/2014/main" id="{B4852DFE-62EA-418F-B7F3-41E1F35B74F5}"/>
                </a:ext>
              </a:extLst>
            </p:cNvPr>
            <p:cNvSpPr>
              <a:spLocks/>
            </p:cNvSpPr>
            <p:nvPr/>
          </p:nvSpPr>
          <p:spPr>
            <a:xfrm>
              <a:off x="5857875" y="2781300"/>
              <a:ext cx="953" cy="619125"/>
            </a:xfrm>
            <a:prstGeom prst="line">
              <a:avLst/>
            </a:prstGeom>
            <a:noFill/>
            <a:ln w="6668">
              <a:solidFill>
                <a:srgbClr val="A6AAC1"/>
              </a:solidFill>
              <a:prstDash val="solid"/>
            </a:ln>
          </p:spPr>
        </p:sp>
        <p:sp>
          <p:nvSpPr>
            <p:cNvPr id="144" name="line_144">
              <a:extLst>
                <a:ext uri="{FF2B5EF4-FFF2-40B4-BE49-F238E27FC236}">
                  <a16:creationId xmlns:a16="http://schemas.microsoft.com/office/drawing/2014/main" id="{9819BB28-D842-4482-94AC-1488981D3B88}"/>
                </a:ext>
              </a:extLst>
            </p:cNvPr>
            <p:cNvSpPr>
              <a:spLocks/>
            </p:cNvSpPr>
            <p:nvPr/>
          </p:nvSpPr>
          <p:spPr>
            <a:xfrm>
              <a:off x="5857875" y="3400425"/>
              <a:ext cx="1323975" cy="953"/>
            </a:xfrm>
            <a:prstGeom prst="line">
              <a:avLst/>
            </a:prstGeom>
            <a:noFill/>
            <a:ln w="6668">
              <a:solidFill>
                <a:srgbClr val="A6AAC1"/>
              </a:solidFill>
              <a:prstDash val="solid"/>
            </a:ln>
          </p:spPr>
        </p:sp>
        <p:sp>
          <p:nvSpPr>
            <p:cNvPr id="145" name="line_145">
              <a:extLst>
                <a:ext uri="{FF2B5EF4-FFF2-40B4-BE49-F238E27FC236}">
                  <a16:creationId xmlns:a16="http://schemas.microsoft.com/office/drawing/2014/main" id="{C61801C7-EA73-4610-81A7-09604B67FC4B}"/>
                </a:ext>
              </a:extLst>
            </p:cNvPr>
            <p:cNvSpPr>
              <a:spLocks/>
            </p:cNvSpPr>
            <p:nvPr/>
          </p:nvSpPr>
          <p:spPr>
            <a:xfrm>
              <a:off x="5857875" y="3086100"/>
              <a:ext cx="1323975" cy="953"/>
            </a:xfrm>
            <a:prstGeom prst="line">
              <a:avLst/>
            </a:prstGeom>
            <a:noFill/>
            <a:ln w="6668">
              <a:solidFill>
                <a:srgbClr val="C9C4D8"/>
              </a:solidFill>
              <a:prstDash val="solid"/>
            </a:ln>
          </p:spPr>
        </p:sp>
        <p:sp>
          <p:nvSpPr>
            <p:cNvPr id="146" name="curve_146">
              <a:extLst>
                <a:ext uri="{FF2B5EF4-FFF2-40B4-BE49-F238E27FC236}">
                  <a16:creationId xmlns:a16="http://schemas.microsoft.com/office/drawing/2014/main" id="{774A8BCA-B2CF-4877-AE75-382C3D0450A4}"/>
                </a:ext>
              </a:extLst>
            </p:cNvPr>
            <p:cNvSpPr>
              <a:spLocks/>
            </p:cNvSpPr>
            <p:nvPr/>
          </p:nvSpPr>
          <p:spPr>
            <a:xfrm>
              <a:off x="5895975" y="2876550"/>
              <a:ext cx="1225868" cy="419100"/>
            </a:xfrm>
            <a:custGeom>
              <a:avLst/>
              <a:gdLst/>
              <a:ahLst/>
              <a:cxnLst/>
              <a:rect l="0" t="0" r="0" b="0"/>
              <a:pathLst>
                <a:path w="1225868" h="419100">
                  <a:moveTo>
                    <a:pt x="0" y="0"/>
                  </a:moveTo>
                  <a:lnTo>
                    <a:pt x="111443" y="0"/>
                  </a:lnTo>
                  <a:lnTo>
                    <a:pt x="222885" y="0"/>
                  </a:lnTo>
                  <a:lnTo>
                    <a:pt x="334328" y="0"/>
                  </a:lnTo>
                  <a:lnTo>
                    <a:pt x="445770" y="0"/>
                  </a:lnTo>
                  <a:lnTo>
                    <a:pt x="557213" y="0"/>
                  </a:lnTo>
                  <a:lnTo>
                    <a:pt x="668655" y="419100"/>
                  </a:lnTo>
                  <a:lnTo>
                    <a:pt x="780097" y="419100"/>
                  </a:lnTo>
                  <a:lnTo>
                    <a:pt x="891540" y="419100"/>
                  </a:lnTo>
                  <a:lnTo>
                    <a:pt x="1002982" y="419100"/>
                  </a:lnTo>
                  <a:lnTo>
                    <a:pt x="1114425" y="419100"/>
                  </a:lnTo>
                  <a:lnTo>
                    <a:pt x="1225868" y="419100"/>
                  </a:lnTo>
                </a:path>
              </a:pathLst>
            </a:custGeom>
            <a:noFill/>
            <a:ln w="9525">
              <a:solidFill>
                <a:srgbClr val="9C5875"/>
              </a:solidFill>
            </a:ln>
          </p:spPr>
        </p:sp>
        <p:sp>
          <p:nvSpPr>
            <p:cNvPr id="147" name="ellipse_147">
              <a:extLst>
                <a:ext uri="{FF2B5EF4-FFF2-40B4-BE49-F238E27FC236}">
                  <a16:creationId xmlns:a16="http://schemas.microsoft.com/office/drawing/2014/main" id="{BACFBFAF-13D3-4BFF-9690-AEC3EE9DA800}"/>
                </a:ext>
              </a:extLst>
            </p:cNvPr>
            <p:cNvSpPr>
              <a:spLocks/>
            </p:cNvSpPr>
            <p:nvPr/>
          </p:nvSpPr>
          <p:spPr>
            <a:xfrm>
              <a:off x="5876925" y="2857500"/>
              <a:ext cx="38100" cy="38100"/>
            </a:xfrm>
            <a:prstGeom prst="ellipse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48" name="ellipse_148">
              <a:extLst>
                <a:ext uri="{FF2B5EF4-FFF2-40B4-BE49-F238E27FC236}">
                  <a16:creationId xmlns:a16="http://schemas.microsoft.com/office/drawing/2014/main" id="{65685B8E-7812-42BF-8509-AE1C4CB1D4D1}"/>
                </a:ext>
              </a:extLst>
            </p:cNvPr>
            <p:cNvSpPr>
              <a:spLocks/>
            </p:cNvSpPr>
            <p:nvPr/>
          </p:nvSpPr>
          <p:spPr>
            <a:xfrm>
              <a:off x="5988368" y="2857500"/>
              <a:ext cx="38100" cy="38100"/>
            </a:xfrm>
            <a:prstGeom prst="ellipse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49" name="ellipse_149">
              <a:extLst>
                <a:ext uri="{FF2B5EF4-FFF2-40B4-BE49-F238E27FC236}">
                  <a16:creationId xmlns:a16="http://schemas.microsoft.com/office/drawing/2014/main" id="{C2780670-4318-447C-9ED5-20A440A34B9B}"/>
                </a:ext>
              </a:extLst>
            </p:cNvPr>
            <p:cNvSpPr>
              <a:spLocks/>
            </p:cNvSpPr>
            <p:nvPr/>
          </p:nvSpPr>
          <p:spPr>
            <a:xfrm>
              <a:off x="6099810" y="2857500"/>
              <a:ext cx="38100" cy="38100"/>
            </a:xfrm>
            <a:prstGeom prst="ellipse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50" name="ellipse_150">
              <a:extLst>
                <a:ext uri="{FF2B5EF4-FFF2-40B4-BE49-F238E27FC236}">
                  <a16:creationId xmlns:a16="http://schemas.microsoft.com/office/drawing/2014/main" id="{4D8FE8CE-6CC9-4DF9-9CBC-DCC8A845F0DE}"/>
                </a:ext>
              </a:extLst>
            </p:cNvPr>
            <p:cNvSpPr>
              <a:spLocks/>
            </p:cNvSpPr>
            <p:nvPr/>
          </p:nvSpPr>
          <p:spPr>
            <a:xfrm>
              <a:off x="6211253" y="2857500"/>
              <a:ext cx="38100" cy="38100"/>
            </a:xfrm>
            <a:prstGeom prst="ellipse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51" name="ellipse_151">
              <a:extLst>
                <a:ext uri="{FF2B5EF4-FFF2-40B4-BE49-F238E27FC236}">
                  <a16:creationId xmlns:a16="http://schemas.microsoft.com/office/drawing/2014/main" id="{12D6BAB0-3AC8-4A51-84E5-C2463353A426}"/>
                </a:ext>
              </a:extLst>
            </p:cNvPr>
            <p:cNvSpPr>
              <a:spLocks/>
            </p:cNvSpPr>
            <p:nvPr/>
          </p:nvSpPr>
          <p:spPr>
            <a:xfrm>
              <a:off x="6322695" y="2857500"/>
              <a:ext cx="38100" cy="38100"/>
            </a:xfrm>
            <a:prstGeom prst="ellipse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52" name="ellipse_152">
              <a:extLst>
                <a:ext uri="{FF2B5EF4-FFF2-40B4-BE49-F238E27FC236}">
                  <a16:creationId xmlns:a16="http://schemas.microsoft.com/office/drawing/2014/main" id="{A18B586F-51AA-4AA6-A521-2EBF8A0CA5B4}"/>
                </a:ext>
              </a:extLst>
            </p:cNvPr>
            <p:cNvSpPr>
              <a:spLocks/>
            </p:cNvSpPr>
            <p:nvPr/>
          </p:nvSpPr>
          <p:spPr>
            <a:xfrm>
              <a:off x="6434138" y="2857500"/>
              <a:ext cx="38100" cy="38100"/>
            </a:xfrm>
            <a:prstGeom prst="ellipse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53" name="ellipse_153">
              <a:extLst>
                <a:ext uri="{FF2B5EF4-FFF2-40B4-BE49-F238E27FC236}">
                  <a16:creationId xmlns:a16="http://schemas.microsoft.com/office/drawing/2014/main" id="{A9A53EAF-44C1-4F34-838A-EB758DBA5C3D}"/>
                </a:ext>
              </a:extLst>
            </p:cNvPr>
            <p:cNvSpPr>
              <a:spLocks/>
            </p:cNvSpPr>
            <p:nvPr/>
          </p:nvSpPr>
          <p:spPr>
            <a:xfrm>
              <a:off x="6545580" y="3276600"/>
              <a:ext cx="38100" cy="38100"/>
            </a:xfrm>
            <a:prstGeom prst="ellipse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54" name="ellipse_154">
              <a:extLst>
                <a:ext uri="{FF2B5EF4-FFF2-40B4-BE49-F238E27FC236}">
                  <a16:creationId xmlns:a16="http://schemas.microsoft.com/office/drawing/2014/main" id="{59E09D58-7B3D-43FC-B93D-3D2287D95406}"/>
                </a:ext>
              </a:extLst>
            </p:cNvPr>
            <p:cNvSpPr>
              <a:spLocks/>
            </p:cNvSpPr>
            <p:nvPr/>
          </p:nvSpPr>
          <p:spPr>
            <a:xfrm>
              <a:off x="6657023" y="3276600"/>
              <a:ext cx="38100" cy="38100"/>
            </a:xfrm>
            <a:prstGeom prst="ellipse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55" name="ellipse_155">
              <a:extLst>
                <a:ext uri="{FF2B5EF4-FFF2-40B4-BE49-F238E27FC236}">
                  <a16:creationId xmlns:a16="http://schemas.microsoft.com/office/drawing/2014/main" id="{555FC476-2D96-43F4-B198-A9B9E1F813FC}"/>
                </a:ext>
              </a:extLst>
            </p:cNvPr>
            <p:cNvSpPr>
              <a:spLocks/>
            </p:cNvSpPr>
            <p:nvPr/>
          </p:nvSpPr>
          <p:spPr>
            <a:xfrm>
              <a:off x="6768465" y="3276600"/>
              <a:ext cx="38100" cy="38100"/>
            </a:xfrm>
            <a:prstGeom prst="ellipse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56" name="ellipse_156">
              <a:extLst>
                <a:ext uri="{FF2B5EF4-FFF2-40B4-BE49-F238E27FC236}">
                  <a16:creationId xmlns:a16="http://schemas.microsoft.com/office/drawing/2014/main" id="{7A8BC7F5-B904-4752-8DBB-C61C2888E2B1}"/>
                </a:ext>
              </a:extLst>
            </p:cNvPr>
            <p:cNvSpPr>
              <a:spLocks/>
            </p:cNvSpPr>
            <p:nvPr/>
          </p:nvSpPr>
          <p:spPr>
            <a:xfrm>
              <a:off x="6879908" y="3276600"/>
              <a:ext cx="38100" cy="38100"/>
            </a:xfrm>
            <a:prstGeom prst="ellipse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57" name="ellipse_157">
              <a:extLst>
                <a:ext uri="{FF2B5EF4-FFF2-40B4-BE49-F238E27FC236}">
                  <a16:creationId xmlns:a16="http://schemas.microsoft.com/office/drawing/2014/main" id="{58428738-5701-46B7-BEDB-23655BA2CA3B}"/>
                </a:ext>
              </a:extLst>
            </p:cNvPr>
            <p:cNvSpPr>
              <a:spLocks/>
            </p:cNvSpPr>
            <p:nvPr/>
          </p:nvSpPr>
          <p:spPr>
            <a:xfrm>
              <a:off x="6991350" y="3276600"/>
              <a:ext cx="38100" cy="38100"/>
            </a:xfrm>
            <a:prstGeom prst="ellipse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58" name="ellipse_158">
              <a:extLst>
                <a:ext uri="{FF2B5EF4-FFF2-40B4-BE49-F238E27FC236}">
                  <a16:creationId xmlns:a16="http://schemas.microsoft.com/office/drawing/2014/main" id="{33EB3320-AA57-4278-B11E-C09134542B25}"/>
                </a:ext>
              </a:extLst>
            </p:cNvPr>
            <p:cNvSpPr>
              <a:spLocks/>
            </p:cNvSpPr>
            <p:nvPr/>
          </p:nvSpPr>
          <p:spPr>
            <a:xfrm>
              <a:off x="7102793" y="3276600"/>
              <a:ext cx="38100" cy="38100"/>
            </a:xfrm>
            <a:prstGeom prst="ellipse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59" name="textbox_159">
              <a:extLst>
                <a:ext uri="{FF2B5EF4-FFF2-40B4-BE49-F238E27FC236}">
                  <a16:creationId xmlns:a16="http://schemas.microsoft.com/office/drawing/2014/main" id="{C32EDB26-9AA4-4C8E-99E0-5082DE6D529F}"/>
                </a:ext>
              </a:extLst>
            </p:cNvPr>
            <p:cNvSpPr>
              <a:spLocks/>
            </p:cNvSpPr>
            <p:nvPr/>
          </p:nvSpPr>
          <p:spPr>
            <a:xfrm>
              <a:off x="6419850" y="3429000"/>
              <a:ext cx="7620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MAE = 1</a:t>
              </a:r>
            </a:p>
          </p:txBody>
        </p:sp>
        <p:sp>
          <p:nvSpPr>
            <p:cNvPr id="160" name="textbox_160">
              <a:extLst>
                <a:ext uri="{FF2B5EF4-FFF2-40B4-BE49-F238E27FC236}">
                  <a16:creationId xmlns:a16="http://schemas.microsoft.com/office/drawing/2014/main" id="{8C75D0FB-A22D-45D0-9B40-6388149C6D1F}"/>
                </a:ext>
              </a:extLst>
            </p:cNvPr>
            <p:cNvSpPr>
              <a:spLocks/>
            </p:cNvSpPr>
            <p:nvPr/>
          </p:nvSpPr>
          <p:spPr>
            <a:xfrm>
              <a:off x="5753100" y="2857500"/>
              <a:ext cx="1714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0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0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0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+1</a:t>
              </a:r>
            </a:p>
          </p:txBody>
        </p:sp>
        <p:sp>
          <p:nvSpPr>
            <p:cNvPr id="161" name="textbox_161">
              <a:extLst>
                <a:ext uri="{FF2B5EF4-FFF2-40B4-BE49-F238E27FC236}">
                  <a16:creationId xmlns:a16="http://schemas.microsoft.com/office/drawing/2014/main" id="{14CB02F1-28DC-4308-884F-D86076DAE4C6}"/>
                </a:ext>
              </a:extLst>
            </p:cNvPr>
            <p:cNvSpPr>
              <a:spLocks/>
            </p:cNvSpPr>
            <p:nvPr/>
          </p:nvSpPr>
          <p:spPr>
            <a:xfrm>
              <a:off x="5753100" y="3238500"/>
              <a:ext cx="1714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0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0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0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−1</a:t>
              </a:r>
            </a:p>
          </p:txBody>
        </p:sp>
        <p:sp>
          <p:nvSpPr>
            <p:cNvPr id="162" name="textbox_162">
              <a:extLst>
                <a:ext uri="{FF2B5EF4-FFF2-40B4-BE49-F238E27FC236}">
                  <a16:creationId xmlns:a16="http://schemas.microsoft.com/office/drawing/2014/main" id="{87AA5E4D-9AF5-4CC9-8E18-77991657B38E}"/>
                </a:ext>
              </a:extLst>
            </p:cNvPr>
            <p:cNvSpPr>
              <a:spLocks/>
            </p:cNvSpPr>
            <p:nvPr/>
          </p:nvSpPr>
          <p:spPr>
            <a:xfrm>
              <a:off x="4133850" y="3733800"/>
              <a:ext cx="3114675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Effect on ranking — illustrative, not results</a:t>
              </a:r>
            </a:p>
          </p:txBody>
        </p:sp>
        <p:sp>
          <p:nvSpPr>
            <p:cNvPr id="163" name="roundRect_163">
              <a:extLst>
                <a:ext uri="{FF2B5EF4-FFF2-40B4-BE49-F238E27FC236}">
                  <a16:creationId xmlns:a16="http://schemas.microsoft.com/office/drawing/2014/main" id="{5BBD0D7F-811D-4CCC-B281-5AC9C9E9DA72}"/>
                </a:ext>
              </a:extLst>
            </p:cNvPr>
            <p:cNvSpPr>
              <a:spLocks/>
            </p:cNvSpPr>
            <p:nvPr/>
          </p:nvSpPr>
          <p:spPr>
            <a:xfrm>
              <a:off x="4124325" y="3990975"/>
              <a:ext cx="1428750" cy="1209675"/>
            </a:xfrm>
            <a:prstGeom prst="roundRect">
              <a:avLst>
                <a:gd name="adj" fmla="val 7087"/>
              </a:avLst>
            </a:prstGeom>
            <a:solidFill>
              <a:srgbClr val="FFFFFF"/>
            </a:solidFill>
            <a:ln w="9525">
              <a:solidFill>
                <a:srgbClr val="E3DEEA"/>
              </a:solidFill>
              <a:prstDash val="solid"/>
            </a:ln>
          </p:spPr>
        </p:sp>
        <p:sp>
          <p:nvSpPr>
            <p:cNvPr id="164" name="roundRect_164">
              <a:extLst>
                <a:ext uri="{FF2B5EF4-FFF2-40B4-BE49-F238E27FC236}">
                  <a16:creationId xmlns:a16="http://schemas.microsoft.com/office/drawing/2014/main" id="{5CD436E1-CEF5-4FF7-BE55-17A26921CC8E}"/>
                </a:ext>
              </a:extLst>
            </p:cNvPr>
            <p:cNvSpPr>
              <a:spLocks/>
            </p:cNvSpPr>
            <p:nvPr/>
          </p:nvSpPr>
          <p:spPr>
            <a:xfrm>
              <a:off x="5829300" y="3990975"/>
              <a:ext cx="1447800" cy="1209675"/>
            </a:xfrm>
            <a:prstGeom prst="roundRect">
              <a:avLst>
                <a:gd name="adj" fmla="val 7087"/>
              </a:avLst>
            </a:prstGeom>
            <a:solidFill>
              <a:srgbClr val="FFFFFF"/>
            </a:solidFill>
            <a:ln w="9525">
              <a:solidFill>
                <a:srgbClr val="E3DEEA"/>
              </a:solidFill>
              <a:prstDash val="solid"/>
            </a:ln>
          </p:spPr>
        </p:sp>
        <p:sp>
          <p:nvSpPr>
            <p:cNvPr id="165" name="textbox_165">
              <a:extLst>
                <a:ext uri="{FF2B5EF4-FFF2-40B4-BE49-F238E27FC236}">
                  <a16:creationId xmlns:a16="http://schemas.microsoft.com/office/drawing/2014/main" id="{6DD23DE5-3C49-4601-B772-237FD10834D4}"/>
                </a:ext>
              </a:extLst>
            </p:cNvPr>
            <p:cNvSpPr>
              <a:spLocks/>
            </p:cNvSpPr>
            <p:nvPr/>
          </p:nvSpPr>
          <p:spPr>
            <a:xfrm>
              <a:off x="4191000" y="4057650"/>
              <a:ext cx="132397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B  Without residuals</a:t>
              </a:r>
            </a:p>
          </p:txBody>
        </p:sp>
        <p:sp>
          <p:nvSpPr>
            <p:cNvPr id="166" name="textbox_166">
              <a:extLst>
                <a:ext uri="{FF2B5EF4-FFF2-40B4-BE49-F238E27FC236}">
                  <a16:creationId xmlns:a16="http://schemas.microsoft.com/office/drawing/2014/main" id="{CF6A6660-2E2B-4BEA-8309-F5D8A0932C4B}"/>
                </a:ext>
              </a:extLst>
            </p:cNvPr>
            <p:cNvSpPr>
              <a:spLocks/>
            </p:cNvSpPr>
            <p:nvPr/>
          </p:nvSpPr>
          <p:spPr>
            <a:xfrm>
              <a:off x="5895975" y="4057650"/>
              <a:ext cx="13335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C  With residuals</a:t>
              </a:r>
            </a:p>
          </p:txBody>
        </p:sp>
        <p:sp>
          <p:nvSpPr>
            <p:cNvPr id="167" name="textbox_167">
              <a:extLst>
                <a:ext uri="{FF2B5EF4-FFF2-40B4-BE49-F238E27FC236}">
                  <a16:creationId xmlns:a16="http://schemas.microsoft.com/office/drawing/2014/main" id="{584C0DC3-95C3-43F1-B3B8-FCE8F95CE174}"/>
                </a:ext>
              </a:extLst>
            </p:cNvPr>
            <p:cNvSpPr>
              <a:spLocks/>
            </p:cNvSpPr>
            <p:nvPr/>
          </p:nvSpPr>
          <p:spPr>
            <a:xfrm>
              <a:off x="4210050" y="4295775"/>
              <a:ext cx="16192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1</a:t>
              </a:r>
            </a:p>
          </p:txBody>
        </p:sp>
        <p:sp>
          <p:nvSpPr>
            <p:cNvPr id="168" name="textbox_168">
              <a:extLst>
                <a:ext uri="{FF2B5EF4-FFF2-40B4-BE49-F238E27FC236}">
                  <a16:creationId xmlns:a16="http://schemas.microsoft.com/office/drawing/2014/main" id="{54F9F9FB-3640-4835-ACE5-4C1C30F95828}"/>
                </a:ext>
              </a:extLst>
            </p:cNvPr>
            <p:cNvSpPr>
              <a:spLocks/>
            </p:cNvSpPr>
            <p:nvPr/>
          </p:nvSpPr>
          <p:spPr>
            <a:xfrm>
              <a:off x="4410075" y="4295775"/>
              <a:ext cx="1524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A</a:t>
              </a:r>
            </a:p>
          </p:txBody>
        </p:sp>
        <p:sp>
          <p:nvSpPr>
            <p:cNvPr id="169" name="rect_169">
              <a:extLst>
                <a:ext uri="{FF2B5EF4-FFF2-40B4-BE49-F238E27FC236}">
                  <a16:creationId xmlns:a16="http://schemas.microsoft.com/office/drawing/2014/main" id="{A9EF3D40-F465-4CB3-88C2-36E50BB12FDA}"/>
                </a:ext>
              </a:extLst>
            </p:cNvPr>
            <p:cNvSpPr>
              <a:spLocks/>
            </p:cNvSpPr>
            <p:nvPr/>
          </p:nvSpPr>
          <p:spPr>
            <a:xfrm>
              <a:off x="4610100" y="4324350"/>
              <a:ext cx="600075" cy="76200"/>
            </a:xfrm>
            <a:prstGeom prst="rect">
              <a:avLst/>
            </a:prstGeom>
            <a:solidFill>
              <a:srgbClr val="BE96AF"/>
            </a:solidFill>
            <a:ln w="0">
              <a:noFill/>
              <a:prstDash val="solid"/>
            </a:ln>
          </p:spPr>
        </p:sp>
        <p:sp>
          <p:nvSpPr>
            <p:cNvPr id="170" name="textbox_170">
              <a:extLst>
                <a:ext uri="{FF2B5EF4-FFF2-40B4-BE49-F238E27FC236}">
                  <a16:creationId xmlns:a16="http://schemas.microsoft.com/office/drawing/2014/main" id="{2F47936B-914F-4EFB-AC11-689C5AB7D7C8}"/>
                </a:ext>
              </a:extLst>
            </p:cNvPr>
            <p:cNvSpPr>
              <a:spLocks/>
            </p:cNvSpPr>
            <p:nvPr/>
          </p:nvSpPr>
          <p:spPr>
            <a:xfrm>
              <a:off x="4210050" y="4457700"/>
              <a:ext cx="16192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2</a:t>
              </a:r>
            </a:p>
          </p:txBody>
        </p:sp>
        <p:sp>
          <p:nvSpPr>
            <p:cNvPr id="171" name="textbox_171">
              <a:extLst>
                <a:ext uri="{FF2B5EF4-FFF2-40B4-BE49-F238E27FC236}">
                  <a16:creationId xmlns:a16="http://schemas.microsoft.com/office/drawing/2014/main" id="{0F4F2945-93E1-4959-9720-22281AA8CB12}"/>
                </a:ext>
              </a:extLst>
            </p:cNvPr>
            <p:cNvSpPr>
              <a:spLocks/>
            </p:cNvSpPr>
            <p:nvPr/>
          </p:nvSpPr>
          <p:spPr>
            <a:xfrm>
              <a:off x="4410075" y="4457700"/>
              <a:ext cx="1524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B</a:t>
              </a:r>
            </a:p>
          </p:txBody>
        </p:sp>
        <p:sp>
          <p:nvSpPr>
            <p:cNvPr id="172" name="rect_172">
              <a:extLst>
                <a:ext uri="{FF2B5EF4-FFF2-40B4-BE49-F238E27FC236}">
                  <a16:creationId xmlns:a16="http://schemas.microsoft.com/office/drawing/2014/main" id="{E82F60DF-A194-4F73-9682-4EA8A1B3B8ED}"/>
                </a:ext>
              </a:extLst>
            </p:cNvPr>
            <p:cNvSpPr>
              <a:spLocks/>
            </p:cNvSpPr>
            <p:nvPr/>
          </p:nvSpPr>
          <p:spPr>
            <a:xfrm>
              <a:off x="4610100" y="4486275"/>
              <a:ext cx="504825" cy="76200"/>
            </a:xfrm>
            <a:prstGeom prst="rect">
              <a:avLst/>
            </a:prstGeom>
            <a:solidFill>
              <a:srgbClr val="D8BACB"/>
            </a:solidFill>
            <a:ln w="0">
              <a:noFill/>
              <a:prstDash val="solid"/>
            </a:ln>
          </p:spPr>
        </p:sp>
        <p:sp>
          <p:nvSpPr>
            <p:cNvPr id="173" name="textbox_173">
              <a:extLst>
                <a:ext uri="{FF2B5EF4-FFF2-40B4-BE49-F238E27FC236}">
                  <a16:creationId xmlns:a16="http://schemas.microsoft.com/office/drawing/2014/main" id="{7407745F-94E2-4D5C-9C97-25C09BB4EA29}"/>
                </a:ext>
              </a:extLst>
            </p:cNvPr>
            <p:cNvSpPr>
              <a:spLocks/>
            </p:cNvSpPr>
            <p:nvPr/>
          </p:nvSpPr>
          <p:spPr>
            <a:xfrm>
              <a:off x="4210050" y="4619625"/>
              <a:ext cx="16192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3</a:t>
              </a:r>
            </a:p>
          </p:txBody>
        </p:sp>
        <p:sp>
          <p:nvSpPr>
            <p:cNvPr id="174" name="textbox_174">
              <a:extLst>
                <a:ext uri="{FF2B5EF4-FFF2-40B4-BE49-F238E27FC236}">
                  <a16:creationId xmlns:a16="http://schemas.microsoft.com/office/drawing/2014/main" id="{0ABDA77C-0EE9-469B-8940-88CADE1C5540}"/>
                </a:ext>
              </a:extLst>
            </p:cNvPr>
            <p:cNvSpPr>
              <a:spLocks/>
            </p:cNvSpPr>
            <p:nvPr/>
          </p:nvSpPr>
          <p:spPr>
            <a:xfrm>
              <a:off x="4410075" y="4619625"/>
              <a:ext cx="1524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C</a:t>
              </a:r>
            </a:p>
          </p:txBody>
        </p:sp>
        <p:sp>
          <p:nvSpPr>
            <p:cNvPr id="175" name="rect_175">
              <a:extLst>
                <a:ext uri="{FF2B5EF4-FFF2-40B4-BE49-F238E27FC236}">
                  <a16:creationId xmlns:a16="http://schemas.microsoft.com/office/drawing/2014/main" id="{F0325D6F-BF10-4432-B87A-360C6ADD09FC}"/>
                </a:ext>
              </a:extLst>
            </p:cNvPr>
            <p:cNvSpPr>
              <a:spLocks/>
            </p:cNvSpPr>
            <p:nvPr/>
          </p:nvSpPr>
          <p:spPr>
            <a:xfrm>
              <a:off x="4610100" y="4648200"/>
              <a:ext cx="409575" cy="76200"/>
            </a:xfrm>
            <a:prstGeom prst="rect">
              <a:avLst/>
            </a:prstGeom>
            <a:solidFill>
              <a:srgbClr val="D8BACB"/>
            </a:solidFill>
            <a:ln w="0">
              <a:noFill/>
              <a:prstDash val="solid"/>
            </a:ln>
          </p:spPr>
        </p:sp>
        <p:sp>
          <p:nvSpPr>
            <p:cNvPr id="176" name="textbox_176">
              <a:extLst>
                <a:ext uri="{FF2B5EF4-FFF2-40B4-BE49-F238E27FC236}">
                  <a16:creationId xmlns:a16="http://schemas.microsoft.com/office/drawing/2014/main" id="{7ACD23B1-7BBE-4473-AF36-A250955C6EF3}"/>
                </a:ext>
              </a:extLst>
            </p:cNvPr>
            <p:cNvSpPr>
              <a:spLocks/>
            </p:cNvSpPr>
            <p:nvPr/>
          </p:nvSpPr>
          <p:spPr>
            <a:xfrm>
              <a:off x="4210050" y="4781550"/>
              <a:ext cx="16192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4</a:t>
              </a:r>
            </a:p>
          </p:txBody>
        </p:sp>
        <p:sp>
          <p:nvSpPr>
            <p:cNvPr id="177" name="textbox_177">
              <a:extLst>
                <a:ext uri="{FF2B5EF4-FFF2-40B4-BE49-F238E27FC236}">
                  <a16:creationId xmlns:a16="http://schemas.microsoft.com/office/drawing/2014/main" id="{B0FA3051-932A-4E7C-B71E-7A2C9963379F}"/>
                </a:ext>
              </a:extLst>
            </p:cNvPr>
            <p:cNvSpPr>
              <a:spLocks/>
            </p:cNvSpPr>
            <p:nvPr/>
          </p:nvSpPr>
          <p:spPr>
            <a:xfrm>
              <a:off x="4410075" y="4781550"/>
              <a:ext cx="1524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D</a:t>
              </a:r>
            </a:p>
          </p:txBody>
        </p:sp>
        <p:sp>
          <p:nvSpPr>
            <p:cNvPr id="178" name="rect_178">
              <a:extLst>
                <a:ext uri="{FF2B5EF4-FFF2-40B4-BE49-F238E27FC236}">
                  <a16:creationId xmlns:a16="http://schemas.microsoft.com/office/drawing/2014/main" id="{4E53A536-02EB-4D6E-A98D-884F77F6ECD6}"/>
                </a:ext>
              </a:extLst>
            </p:cNvPr>
            <p:cNvSpPr>
              <a:spLocks/>
            </p:cNvSpPr>
            <p:nvPr/>
          </p:nvSpPr>
          <p:spPr>
            <a:xfrm>
              <a:off x="4610100" y="4810125"/>
              <a:ext cx="314325" cy="76200"/>
            </a:xfrm>
            <a:prstGeom prst="rect">
              <a:avLst/>
            </a:prstGeom>
            <a:solidFill>
              <a:srgbClr val="D8BACB"/>
            </a:solidFill>
            <a:ln w="0">
              <a:noFill/>
              <a:prstDash val="solid"/>
            </a:ln>
          </p:spPr>
        </p:sp>
        <p:sp>
          <p:nvSpPr>
            <p:cNvPr id="179" name="textbox_179">
              <a:extLst>
                <a:ext uri="{FF2B5EF4-FFF2-40B4-BE49-F238E27FC236}">
                  <a16:creationId xmlns:a16="http://schemas.microsoft.com/office/drawing/2014/main" id="{F14BB377-1381-41D1-9D53-D0A7609E4881}"/>
                </a:ext>
              </a:extLst>
            </p:cNvPr>
            <p:cNvSpPr>
              <a:spLocks/>
            </p:cNvSpPr>
            <p:nvPr/>
          </p:nvSpPr>
          <p:spPr>
            <a:xfrm>
              <a:off x="4210050" y="4943475"/>
              <a:ext cx="16192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5</a:t>
              </a:r>
            </a:p>
          </p:txBody>
        </p:sp>
        <p:sp>
          <p:nvSpPr>
            <p:cNvPr id="180" name="textbox_180">
              <a:extLst>
                <a:ext uri="{FF2B5EF4-FFF2-40B4-BE49-F238E27FC236}">
                  <a16:creationId xmlns:a16="http://schemas.microsoft.com/office/drawing/2014/main" id="{276E7F1D-7803-4E85-B1B7-952DE1E79D21}"/>
                </a:ext>
              </a:extLst>
            </p:cNvPr>
            <p:cNvSpPr>
              <a:spLocks/>
            </p:cNvSpPr>
            <p:nvPr/>
          </p:nvSpPr>
          <p:spPr>
            <a:xfrm>
              <a:off x="4410075" y="4943475"/>
              <a:ext cx="1524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E</a:t>
              </a:r>
            </a:p>
          </p:txBody>
        </p:sp>
        <p:sp>
          <p:nvSpPr>
            <p:cNvPr id="181" name="rect_181">
              <a:extLst>
                <a:ext uri="{FF2B5EF4-FFF2-40B4-BE49-F238E27FC236}">
                  <a16:creationId xmlns:a16="http://schemas.microsoft.com/office/drawing/2014/main" id="{A74C3FB0-0AEC-4214-AAD4-B65D029FCE33}"/>
                </a:ext>
              </a:extLst>
            </p:cNvPr>
            <p:cNvSpPr>
              <a:spLocks/>
            </p:cNvSpPr>
            <p:nvPr/>
          </p:nvSpPr>
          <p:spPr>
            <a:xfrm>
              <a:off x="4610100" y="4972050"/>
              <a:ext cx="219075" cy="76200"/>
            </a:xfrm>
            <a:prstGeom prst="rect">
              <a:avLst/>
            </a:prstGeom>
            <a:solidFill>
              <a:srgbClr val="D8BACB"/>
            </a:solidFill>
            <a:ln w="0">
              <a:noFill/>
              <a:prstDash val="solid"/>
            </a:ln>
          </p:spPr>
        </p:sp>
        <p:sp>
          <p:nvSpPr>
            <p:cNvPr id="182" name="textbox_182">
              <a:extLst>
                <a:ext uri="{FF2B5EF4-FFF2-40B4-BE49-F238E27FC236}">
                  <a16:creationId xmlns:a16="http://schemas.microsoft.com/office/drawing/2014/main" id="{5D585945-C1BD-4BC1-8788-7F5D6E740B37}"/>
                </a:ext>
              </a:extLst>
            </p:cNvPr>
            <p:cNvSpPr>
              <a:spLocks/>
            </p:cNvSpPr>
            <p:nvPr/>
          </p:nvSpPr>
          <p:spPr>
            <a:xfrm>
              <a:off x="5915025" y="4295775"/>
              <a:ext cx="16192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1</a:t>
              </a:r>
            </a:p>
          </p:txBody>
        </p:sp>
        <p:sp>
          <p:nvSpPr>
            <p:cNvPr id="183" name="textbox_183">
              <a:extLst>
                <a:ext uri="{FF2B5EF4-FFF2-40B4-BE49-F238E27FC236}">
                  <a16:creationId xmlns:a16="http://schemas.microsoft.com/office/drawing/2014/main" id="{FAB69491-93C6-4D52-AFB5-5D7D7E8CC918}"/>
                </a:ext>
              </a:extLst>
            </p:cNvPr>
            <p:cNvSpPr>
              <a:spLocks/>
            </p:cNvSpPr>
            <p:nvPr/>
          </p:nvSpPr>
          <p:spPr>
            <a:xfrm>
              <a:off x="6115050" y="4295775"/>
              <a:ext cx="1524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B</a:t>
              </a:r>
            </a:p>
          </p:txBody>
        </p:sp>
        <p:sp>
          <p:nvSpPr>
            <p:cNvPr id="184" name="rect_184">
              <a:extLst>
                <a:ext uri="{FF2B5EF4-FFF2-40B4-BE49-F238E27FC236}">
                  <a16:creationId xmlns:a16="http://schemas.microsoft.com/office/drawing/2014/main" id="{741279BF-2F14-42F6-9368-93AB6E54E5C2}"/>
                </a:ext>
              </a:extLst>
            </p:cNvPr>
            <p:cNvSpPr>
              <a:spLocks/>
            </p:cNvSpPr>
            <p:nvPr/>
          </p:nvSpPr>
          <p:spPr>
            <a:xfrm>
              <a:off x="6315075" y="4324350"/>
              <a:ext cx="600075" cy="76200"/>
            </a:xfrm>
            <a:prstGeom prst="rect">
              <a:avLst/>
            </a:prstGeom>
            <a:solidFill>
              <a:srgbClr val="BE96AF"/>
            </a:solidFill>
            <a:ln w="0">
              <a:noFill/>
              <a:prstDash val="solid"/>
            </a:ln>
          </p:spPr>
        </p:sp>
        <p:sp>
          <p:nvSpPr>
            <p:cNvPr id="185" name="textbox_185">
              <a:extLst>
                <a:ext uri="{FF2B5EF4-FFF2-40B4-BE49-F238E27FC236}">
                  <a16:creationId xmlns:a16="http://schemas.microsoft.com/office/drawing/2014/main" id="{B7AD9D66-9B38-44C2-8744-C4252360E568}"/>
                </a:ext>
              </a:extLst>
            </p:cNvPr>
            <p:cNvSpPr>
              <a:spLocks/>
            </p:cNvSpPr>
            <p:nvPr/>
          </p:nvSpPr>
          <p:spPr>
            <a:xfrm>
              <a:off x="5915025" y="4457700"/>
              <a:ext cx="16192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2</a:t>
              </a:r>
            </a:p>
          </p:txBody>
        </p:sp>
        <p:sp>
          <p:nvSpPr>
            <p:cNvPr id="186" name="textbox_186">
              <a:extLst>
                <a:ext uri="{FF2B5EF4-FFF2-40B4-BE49-F238E27FC236}">
                  <a16:creationId xmlns:a16="http://schemas.microsoft.com/office/drawing/2014/main" id="{FADB380C-0B99-4385-8C0C-6DFFA29E617E}"/>
                </a:ext>
              </a:extLst>
            </p:cNvPr>
            <p:cNvSpPr>
              <a:spLocks/>
            </p:cNvSpPr>
            <p:nvPr/>
          </p:nvSpPr>
          <p:spPr>
            <a:xfrm>
              <a:off x="6115050" y="4457700"/>
              <a:ext cx="1524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C</a:t>
              </a:r>
            </a:p>
          </p:txBody>
        </p:sp>
        <p:sp>
          <p:nvSpPr>
            <p:cNvPr id="187" name="rect_187">
              <a:extLst>
                <a:ext uri="{FF2B5EF4-FFF2-40B4-BE49-F238E27FC236}">
                  <a16:creationId xmlns:a16="http://schemas.microsoft.com/office/drawing/2014/main" id="{740F7604-7C0C-44A4-A5AB-DED565F3AAC7}"/>
                </a:ext>
              </a:extLst>
            </p:cNvPr>
            <p:cNvSpPr>
              <a:spLocks/>
            </p:cNvSpPr>
            <p:nvPr/>
          </p:nvSpPr>
          <p:spPr>
            <a:xfrm>
              <a:off x="6315075" y="4486275"/>
              <a:ext cx="504825" cy="76200"/>
            </a:xfrm>
            <a:prstGeom prst="rect">
              <a:avLst/>
            </a:prstGeom>
            <a:solidFill>
              <a:srgbClr val="D8BACB"/>
            </a:solidFill>
            <a:ln w="0">
              <a:noFill/>
              <a:prstDash val="solid"/>
            </a:ln>
          </p:spPr>
        </p:sp>
        <p:sp>
          <p:nvSpPr>
            <p:cNvPr id="188" name="textbox_188">
              <a:extLst>
                <a:ext uri="{FF2B5EF4-FFF2-40B4-BE49-F238E27FC236}">
                  <a16:creationId xmlns:a16="http://schemas.microsoft.com/office/drawing/2014/main" id="{587CDB32-BF3E-4911-A66E-BBD6C8DD53C5}"/>
                </a:ext>
              </a:extLst>
            </p:cNvPr>
            <p:cNvSpPr>
              <a:spLocks/>
            </p:cNvSpPr>
            <p:nvPr/>
          </p:nvSpPr>
          <p:spPr>
            <a:xfrm>
              <a:off x="5915025" y="4619625"/>
              <a:ext cx="16192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3</a:t>
              </a:r>
            </a:p>
          </p:txBody>
        </p:sp>
        <p:sp>
          <p:nvSpPr>
            <p:cNvPr id="189" name="textbox_189">
              <a:extLst>
                <a:ext uri="{FF2B5EF4-FFF2-40B4-BE49-F238E27FC236}">
                  <a16:creationId xmlns:a16="http://schemas.microsoft.com/office/drawing/2014/main" id="{24F0FDD0-A466-4322-9510-2C0722BFDAA4}"/>
                </a:ext>
              </a:extLst>
            </p:cNvPr>
            <p:cNvSpPr>
              <a:spLocks/>
            </p:cNvSpPr>
            <p:nvPr/>
          </p:nvSpPr>
          <p:spPr>
            <a:xfrm>
              <a:off x="6115050" y="4619625"/>
              <a:ext cx="1524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A</a:t>
              </a:r>
            </a:p>
          </p:txBody>
        </p:sp>
        <p:sp>
          <p:nvSpPr>
            <p:cNvPr id="190" name="rect_190">
              <a:extLst>
                <a:ext uri="{FF2B5EF4-FFF2-40B4-BE49-F238E27FC236}">
                  <a16:creationId xmlns:a16="http://schemas.microsoft.com/office/drawing/2014/main" id="{C88ADD0E-3833-40C4-B70D-D66C1711C100}"/>
                </a:ext>
              </a:extLst>
            </p:cNvPr>
            <p:cNvSpPr>
              <a:spLocks/>
            </p:cNvSpPr>
            <p:nvPr/>
          </p:nvSpPr>
          <p:spPr>
            <a:xfrm>
              <a:off x="6315075" y="4648200"/>
              <a:ext cx="409575" cy="76200"/>
            </a:xfrm>
            <a:prstGeom prst="rect">
              <a:avLst/>
            </a:prstGeom>
            <a:solidFill>
              <a:srgbClr val="D8BACB"/>
            </a:solidFill>
            <a:ln w="0">
              <a:noFill/>
              <a:prstDash val="solid"/>
            </a:ln>
          </p:spPr>
        </p:sp>
        <p:sp>
          <p:nvSpPr>
            <p:cNvPr id="191" name="textbox_191">
              <a:extLst>
                <a:ext uri="{FF2B5EF4-FFF2-40B4-BE49-F238E27FC236}">
                  <a16:creationId xmlns:a16="http://schemas.microsoft.com/office/drawing/2014/main" id="{EA120CD3-580E-4788-9C54-EE5028E01093}"/>
                </a:ext>
              </a:extLst>
            </p:cNvPr>
            <p:cNvSpPr>
              <a:spLocks/>
            </p:cNvSpPr>
            <p:nvPr/>
          </p:nvSpPr>
          <p:spPr>
            <a:xfrm>
              <a:off x="5915025" y="4781550"/>
              <a:ext cx="16192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4</a:t>
              </a:r>
            </a:p>
          </p:txBody>
        </p:sp>
        <p:sp>
          <p:nvSpPr>
            <p:cNvPr id="192" name="textbox_192">
              <a:extLst>
                <a:ext uri="{FF2B5EF4-FFF2-40B4-BE49-F238E27FC236}">
                  <a16:creationId xmlns:a16="http://schemas.microsoft.com/office/drawing/2014/main" id="{941A6ADA-8B07-4549-B406-9EC8BED6BF0B}"/>
                </a:ext>
              </a:extLst>
            </p:cNvPr>
            <p:cNvSpPr>
              <a:spLocks/>
            </p:cNvSpPr>
            <p:nvPr/>
          </p:nvSpPr>
          <p:spPr>
            <a:xfrm>
              <a:off x="6115050" y="4781550"/>
              <a:ext cx="1524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D</a:t>
              </a:r>
            </a:p>
          </p:txBody>
        </p:sp>
        <p:sp>
          <p:nvSpPr>
            <p:cNvPr id="193" name="rect_193">
              <a:extLst>
                <a:ext uri="{FF2B5EF4-FFF2-40B4-BE49-F238E27FC236}">
                  <a16:creationId xmlns:a16="http://schemas.microsoft.com/office/drawing/2014/main" id="{9F347603-CE38-4CB6-8755-93B1E08AA00A}"/>
                </a:ext>
              </a:extLst>
            </p:cNvPr>
            <p:cNvSpPr>
              <a:spLocks/>
            </p:cNvSpPr>
            <p:nvPr/>
          </p:nvSpPr>
          <p:spPr>
            <a:xfrm>
              <a:off x="6315075" y="4810125"/>
              <a:ext cx="314325" cy="76200"/>
            </a:xfrm>
            <a:prstGeom prst="rect">
              <a:avLst/>
            </a:prstGeom>
            <a:solidFill>
              <a:srgbClr val="D8BACB"/>
            </a:solidFill>
            <a:ln w="0">
              <a:noFill/>
              <a:prstDash val="solid"/>
            </a:ln>
          </p:spPr>
        </p:sp>
        <p:sp>
          <p:nvSpPr>
            <p:cNvPr id="194" name="textbox_194">
              <a:extLst>
                <a:ext uri="{FF2B5EF4-FFF2-40B4-BE49-F238E27FC236}">
                  <a16:creationId xmlns:a16="http://schemas.microsoft.com/office/drawing/2014/main" id="{E4D003DC-33B6-4EBB-967E-1B3E5916DA18}"/>
                </a:ext>
              </a:extLst>
            </p:cNvPr>
            <p:cNvSpPr>
              <a:spLocks/>
            </p:cNvSpPr>
            <p:nvPr/>
          </p:nvSpPr>
          <p:spPr>
            <a:xfrm>
              <a:off x="5915025" y="4943475"/>
              <a:ext cx="16192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5</a:t>
              </a:r>
            </a:p>
          </p:txBody>
        </p:sp>
        <p:sp>
          <p:nvSpPr>
            <p:cNvPr id="195" name="textbox_195">
              <a:extLst>
                <a:ext uri="{FF2B5EF4-FFF2-40B4-BE49-F238E27FC236}">
                  <a16:creationId xmlns:a16="http://schemas.microsoft.com/office/drawing/2014/main" id="{19FA83DD-D5DA-4A14-9934-E4F42CF29334}"/>
                </a:ext>
              </a:extLst>
            </p:cNvPr>
            <p:cNvSpPr>
              <a:spLocks/>
            </p:cNvSpPr>
            <p:nvPr/>
          </p:nvSpPr>
          <p:spPr>
            <a:xfrm>
              <a:off x="6115050" y="4943475"/>
              <a:ext cx="1524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E</a:t>
              </a:r>
            </a:p>
          </p:txBody>
        </p:sp>
        <p:sp>
          <p:nvSpPr>
            <p:cNvPr id="196" name="rect_196">
              <a:extLst>
                <a:ext uri="{FF2B5EF4-FFF2-40B4-BE49-F238E27FC236}">
                  <a16:creationId xmlns:a16="http://schemas.microsoft.com/office/drawing/2014/main" id="{CFDFB98E-1EFB-4E48-83EF-A991B5C038A4}"/>
                </a:ext>
              </a:extLst>
            </p:cNvPr>
            <p:cNvSpPr>
              <a:spLocks/>
            </p:cNvSpPr>
            <p:nvPr/>
          </p:nvSpPr>
          <p:spPr>
            <a:xfrm>
              <a:off x="6315075" y="4972050"/>
              <a:ext cx="219075" cy="76200"/>
            </a:xfrm>
            <a:prstGeom prst="rect">
              <a:avLst/>
            </a:prstGeom>
            <a:solidFill>
              <a:srgbClr val="D8BACB"/>
            </a:solidFill>
            <a:ln w="0">
              <a:noFill/>
              <a:prstDash val="solid"/>
            </a:ln>
          </p:spPr>
        </p:sp>
        <p:sp>
          <p:nvSpPr>
            <p:cNvPr id="197" name="native_curve_197">
              <a:extLst>
                <a:ext uri="{FF2B5EF4-FFF2-40B4-BE49-F238E27FC236}">
                  <a16:creationId xmlns:a16="http://schemas.microsoft.com/office/drawing/2014/main" id="{3ECFEA51-2D7E-4033-8A14-1C029562565E}"/>
                </a:ext>
              </a:extLst>
            </p:cNvPr>
            <p:cNvSpPr>
              <a:spLocks/>
            </p:cNvSpPr>
            <p:nvPr/>
          </p:nvSpPr>
          <p:spPr>
            <a:xfrm>
              <a:off x="5581650" y="4619625"/>
              <a:ext cx="209550" cy="953"/>
            </a:xfrm>
            <a:custGeom>
              <a:avLst/>
              <a:gdLst/>
              <a:ahLst/>
              <a:cxnLst/>
              <a:rect l="0" t="0" r="0" b="0"/>
              <a:pathLst>
                <a:path w="209550" h="953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10478">
              <a:solidFill>
                <a:srgbClr val="9C5875"/>
              </a:solidFill>
              <a:prstDash val="solid"/>
            </a:ln>
          </p:spPr>
        </p:sp>
        <p:sp>
          <p:nvSpPr>
            <p:cNvPr id="198" name="arrow_tip_198">
              <a:extLst>
                <a:ext uri="{FF2B5EF4-FFF2-40B4-BE49-F238E27FC236}">
                  <a16:creationId xmlns:a16="http://schemas.microsoft.com/office/drawing/2014/main" id="{DF44BACD-DE2C-4A84-B27D-232D8BDEA45F}"/>
                </a:ext>
              </a:extLst>
            </p:cNvPr>
            <p:cNvSpPr>
              <a:spLocks/>
            </p:cNvSpPr>
            <p:nvPr/>
          </p:nvSpPr>
          <p:spPr>
            <a:xfrm>
              <a:off x="5724525" y="4585335"/>
              <a:ext cx="66675" cy="68580"/>
            </a:xfrm>
            <a:custGeom>
              <a:avLst/>
              <a:gdLst/>
              <a:ahLst/>
              <a:cxnLst/>
              <a:rect l="0" t="0" r="0" b="0"/>
              <a:pathLst>
                <a:path w="66675" h="68580">
                  <a:moveTo>
                    <a:pt x="66675" y="34290"/>
                  </a:moveTo>
                  <a:lnTo>
                    <a:pt x="0" y="68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5875"/>
            </a:solidFill>
            <a:ln w="0">
              <a:noFill/>
            </a:ln>
          </p:spPr>
        </p:sp>
        <p:sp>
          <p:nvSpPr>
            <p:cNvPr id="199" name="textbox_199">
              <a:extLst>
                <a:ext uri="{FF2B5EF4-FFF2-40B4-BE49-F238E27FC236}">
                  <a16:creationId xmlns:a16="http://schemas.microsoft.com/office/drawing/2014/main" id="{24111B80-6EA8-4354-B450-02BD9385866E}"/>
                </a:ext>
              </a:extLst>
            </p:cNvPr>
            <p:cNvSpPr>
              <a:spLocks/>
            </p:cNvSpPr>
            <p:nvPr/>
          </p:nvSpPr>
          <p:spPr>
            <a:xfrm>
              <a:off x="5534025" y="4362450"/>
              <a:ext cx="2857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vs.</a:t>
              </a:r>
            </a:p>
          </p:txBody>
        </p:sp>
        <p:sp>
          <p:nvSpPr>
            <p:cNvPr id="200" name="roundRect_200">
              <a:extLst>
                <a:ext uri="{FF2B5EF4-FFF2-40B4-BE49-F238E27FC236}">
                  <a16:creationId xmlns:a16="http://schemas.microsoft.com/office/drawing/2014/main" id="{32AFBF56-5685-402A-8C9A-DC411201E43D}"/>
                </a:ext>
              </a:extLst>
            </p:cNvPr>
            <p:cNvSpPr>
              <a:spLocks/>
            </p:cNvSpPr>
            <p:nvPr/>
          </p:nvSpPr>
          <p:spPr>
            <a:xfrm>
              <a:off x="4124325" y="5334000"/>
              <a:ext cx="3152775" cy="504825"/>
            </a:xfrm>
            <a:prstGeom prst="roundRect">
              <a:avLst>
                <a:gd name="adj" fmla="val 16981"/>
              </a:avLst>
            </a:prstGeom>
            <a:solidFill>
              <a:srgbClr val="F4EAF0"/>
            </a:solidFill>
            <a:ln w="9525">
              <a:solidFill>
                <a:srgbClr val="E1CFDA"/>
              </a:solidFill>
              <a:prstDash val="solid"/>
            </a:ln>
          </p:spPr>
        </p:sp>
        <p:sp>
          <p:nvSpPr>
            <p:cNvPr id="201" name="textbox_201">
              <a:extLst>
                <a:ext uri="{FF2B5EF4-FFF2-40B4-BE49-F238E27FC236}">
                  <a16:creationId xmlns:a16="http://schemas.microsoft.com/office/drawing/2014/main" id="{6D6EFF4A-48E2-48B5-A864-6BD79464437A}"/>
                </a:ext>
              </a:extLst>
            </p:cNvPr>
            <p:cNvSpPr>
              <a:spLocks/>
            </p:cNvSpPr>
            <p:nvPr/>
          </p:nvSpPr>
          <p:spPr>
            <a:xfrm>
              <a:off x="4238625" y="5391150"/>
              <a:ext cx="2914650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050" b="1">
                  <a:solidFill>
                    <a:srgbClr val="9C5875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1050" b="1">
                  <a:solidFill>
                    <a:srgbClr val="9C5875"/>
                  </a:solidFill>
                  <a:latin typeface="Georgia"/>
                  <a:ea typeface="Georgia"/>
                  <a:cs typeface="Georgia"/>
                </a:defRPr>
              </a:pPr>
              <a:r>
                <a:rPr sz="1050" b="1">
                  <a:solidFill>
                    <a:srgbClr val="9C5875"/>
                  </a:solidFill>
                  <a:latin typeface="Georgia"/>
                  <a:ea typeface="Georgia"/>
                  <a:cs typeface="Georgia"/>
                </a:rPr>
                <a:t>Hypothesis to test</a:t>
              </a:r>
            </a:p>
          </p:txBody>
        </p:sp>
        <p:sp>
          <p:nvSpPr>
            <p:cNvPr id="202" name="textbox_202">
              <a:extLst>
                <a:ext uri="{FF2B5EF4-FFF2-40B4-BE49-F238E27FC236}">
                  <a16:creationId xmlns:a16="http://schemas.microsoft.com/office/drawing/2014/main" id="{65222F70-52F5-4D62-A6A1-D9C47B638E7E}"/>
                </a:ext>
              </a:extLst>
            </p:cNvPr>
            <p:cNvSpPr>
              <a:spLocks/>
            </p:cNvSpPr>
            <p:nvPr/>
          </p:nvSpPr>
          <p:spPr>
            <a:xfrm>
              <a:off x="4238625" y="5619750"/>
              <a:ext cx="292417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9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9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9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Same history and errors; only residual features differ.</a:t>
              </a:r>
            </a:p>
          </p:txBody>
        </p:sp>
      </p:grpSp>
      <p:grpSp>
        <p:nvGrpSpPr>
          <p:cNvPr id="278" name="Q3_budgeted_search">
            <a:extLst>
              <a:ext uri="{FF2B5EF4-FFF2-40B4-BE49-F238E27FC236}">
                <a16:creationId xmlns:a16="http://schemas.microsoft.com/office/drawing/2014/main" id="{834A60C7-6E14-103E-49C5-7F0CA4047354}"/>
              </a:ext>
            </a:extLst>
          </p:cNvPr>
          <p:cNvGrpSpPr/>
          <p:nvPr/>
        </p:nvGrpSpPr>
        <p:grpSpPr>
          <a:xfrm>
            <a:off x="7410450" y="485775"/>
            <a:ext cx="3829050" cy="4029075"/>
            <a:chOff x="7410450" y="485775"/>
            <a:chExt cx="3829050" cy="4029075"/>
          </a:xfrm>
        </p:grpSpPr>
        <p:sp>
          <p:nvSpPr>
            <p:cNvPr id="203" name="bezier_arrow_203">
              <a:extLst>
                <a:ext uri="{FF2B5EF4-FFF2-40B4-BE49-F238E27FC236}">
                  <a16:creationId xmlns:a16="http://schemas.microsoft.com/office/drawing/2014/main" id="{F9EF0D91-AE89-49BF-9BBF-270ABFF88BBE}"/>
                </a:ext>
              </a:extLst>
            </p:cNvPr>
            <p:cNvSpPr>
              <a:spLocks/>
            </p:cNvSpPr>
            <p:nvPr/>
          </p:nvSpPr>
          <p:spPr>
            <a:xfrm>
              <a:off x="7410450" y="666750"/>
              <a:ext cx="209550" cy="857250"/>
            </a:xfrm>
            <a:custGeom>
              <a:avLst/>
              <a:gdLst/>
              <a:ahLst/>
              <a:cxnLst/>
              <a:rect l="0" t="0" r="0" b="0"/>
              <a:pathLst>
                <a:path w="209550" h="857250">
                  <a:moveTo>
                    <a:pt x="0" y="857250"/>
                  </a:moveTo>
                  <a:cubicBezTo>
                    <a:pt x="115253" y="857250"/>
                    <a:pt x="94297" y="0"/>
                    <a:pt x="209550" y="0"/>
                  </a:cubicBezTo>
                </a:path>
              </a:pathLst>
            </a:custGeom>
            <a:noFill/>
            <a:ln w="19050">
              <a:solidFill>
                <a:srgbClr val="9C5875"/>
              </a:solidFill>
            </a:ln>
          </p:spPr>
        </p:sp>
        <p:sp>
          <p:nvSpPr>
            <p:cNvPr id="204" name="arrow_tip_204">
              <a:extLst>
                <a:ext uri="{FF2B5EF4-FFF2-40B4-BE49-F238E27FC236}">
                  <a16:creationId xmlns:a16="http://schemas.microsoft.com/office/drawing/2014/main" id="{275CE51E-8EA9-48EF-9B2A-0E3FDC26BD68}"/>
                </a:ext>
              </a:extLst>
            </p:cNvPr>
            <p:cNvSpPr>
              <a:spLocks/>
            </p:cNvSpPr>
            <p:nvPr/>
          </p:nvSpPr>
          <p:spPr>
            <a:xfrm>
              <a:off x="7543800" y="628650"/>
              <a:ext cx="76200" cy="85725"/>
            </a:xfrm>
            <a:custGeom>
              <a:avLst/>
              <a:gdLst/>
              <a:ahLst/>
              <a:cxnLst/>
              <a:rect l="0" t="0" r="0" b="0"/>
              <a:pathLst>
                <a:path w="76200" h="85725">
                  <a:moveTo>
                    <a:pt x="76200" y="38100"/>
                  </a:moveTo>
                  <a:lnTo>
                    <a:pt x="0" y="0"/>
                  </a:lnTo>
                  <a:lnTo>
                    <a:pt x="9525" y="85725"/>
                  </a:lnTo>
                  <a:close/>
                </a:path>
              </a:pathLst>
            </a:custGeom>
            <a:solidFill>
              <a:srgbClr val="9C5875"/>
            </a:solidFill>
            <a:ln w="0">
              <a:noFill/>
            </a:ln>
          </p:spPr>
        </p:sp>
        <p:sp>
          <p:nvSpPr>
            <p:cNvPr id="205" name="roundRect_205">
              <a:extLst>
                <a:ext uri="{FF2B5EF4-FFF2-40B4-BE49-F238E27FC236}">
                  <a16:creationId xmlns:a16="http://schemas.microsoft.com/office/drawing/2014/main" id="{1A6C17D3-3616-4351-845E-11AB650C51D1}"/>
                </a:ext>
              </a:extLst>
            </p:cNvPr>
            <p:cNvSpPr>
              <a:spLocks/>
            </p:cNvSpPr>
            <p:nvPr/>
          </p:nvSpPr>
          <p:spPr>
            <a:xfrm>
              <a:off x="7620000" y="485775"/>
              <a:ext cx="3619500" cy="4029075"/>
            </a:xfrm>
            <a:prstGeom prst="roundRect">
              <a:avLst>
                <a:gd name="adj" fmla="val 2368"/>
              </a:avLst>
            </a:prstGeom>
            <a:solidFill>
              <a:srgbClr val="FAF9FC"/>
            </a:solidFill>
            <a:ln w="9525">
              <a:solidFill>
                <a:srgbClr val="DAD6E4"/>
              </a:solidFill>
              <a:prstDash val="solid"/>
            </a:ln>
          </p:spPr>
        </p:sp>
        <p:sp>
          <p:nvSpPr>
            <p:cNvPr id="206" name="banner_206">
              <a:extLst>
                <a:ext uri="{FF2B5EF4-FFF2-40B4-BE49-F238E27FC236}">
                  <a16:creationId xmlns:a16="http://schemas.microsoft.com/office/drawing/2014/main" id="{52DF2C49-02D6-4120-A7B6-A7DAC1BDC156}"/>
                </a:ext>
              </a:extLst>
            </p:cNvPr>
            <p:cNvSpPr>
              <a:spLocks/>
            </p:cNvSpPr>
            <p:nvPr/>
          </p:nvSpPr>
          <p:spPr>
            <a:xfrm>
              <a:off x="7620000" y="485775"/>
              <a:ext cx="3619500" cy="590550"/>
            </a:xfrm>
            <a:custGeom>
              <a:avLst/>
              <a:gdLst/>
              <a:ahLst/>
              <a:cxnLst/>
              <a:rect l="0" t="0" r="0" b="0"/>
              <a:pathLst>
                <a:path w="3619500" h="590550">
                  <a:moveTo>
                    <a:pt x="0" y="0"/>
                  </a:moveTo>
                  <a:lnTo>
                    <a:pt x="3324225" y="0"/>
                  </a:lnTo>
                  <a:lnTo>
                    <a:pt x="3619500" y="295275"/>
                  </a:lnTo>
                  <a:lnTo>
                    <a:pt x="3324225" y="590550"/>
                  </a:lnTo>
                  <a:lnTo>
                    <a:pt x="0" y="590550"/>
                  </a:lnTo>
                  <a:lnTo>
                    <a:pt x="0" y="0"/>
                  </a:lnTo>
                </a:path>
              </a:pathLst>
            </a:custGeom>
            <a:solidFill>
              <a:srgbClr val="38385B"/>
            </a:solidFill>
            <a:ln w="0">
              <a:noFill/>
            </a:ln>
          </p:spPr>
        </p:sp>
        <p:sp>
          <p:nvSpPr>
            <p:cNvPr id="207" name="ellipse_207">
              <a:extLst>
                <a:ext uri="{FF2B5EF4-FFF2-40B4-BE49-F238E27FC236}">
                  <a16:creationId xmlns:a16="http://schemas.microsoft.com/office/drawing/2014/main" id="{B923281C-B676-402B-8ADF-FCFA9BDFD141}"/>
                </a:ext>
              </a:extLst>
            </p:cNvPr>
            <p:cNvSpPr>
              <a:spLocks/>
            </p:cNvSpPr>
            <p:nvPr/>
          </p:nvSpPr>
          <p:spPr>
            <a:xfrm>
              <a:off x="7724775" y="581025"/>
              <a:ext cx="371475" cy="371475"/>
            </a:xfrm>
            <a:prstGeom prst="ellipse">
              <a:avLst/>
            </a:prstGeom>
            <a:solidFill>
              <a:srgbClr val="9C5875"/>
            </a:solidFill>
            <a:ln w="7620">
              <a:solidFill>
                <a:srgbClr val="E3CED8"/>
              </a:solidFill>
              <a:prstDash val="solid"/>
            </a:ln>
          </p:spPr>
        </p:sp>
        <p:sp>
          <p:nvSpPr>
            <p:cNvPr id="208" name="textbox_208">
              <a:extLst>
                <a:ext uri="{FF2B5EF4-FFF2-40B4-BE49-F238E27FC236}">
                  <a16:creationId xmlns:a16="http://schemas.microsoft.com/office/drawing/2014/main" id="{F072446B-0E1B-40A8-9DC0-6F0629889268}"/>
                </a:ext>
              </a:extLst>
            </p:cNvPr>
            <p:cNvSpPr>
              <a:spLocks/>
            </p:cNvSpPr>
            <p:nvPr/>
          </p:nvSpPr>
          <p:spPr>
            <a:xfrm>
              <a:off x="7762875" y="638175"/>
              <a:ext cx="295275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575" b="0">
                  <a:solidFill>
                    <a:srgbClr val="FFFFFF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1575" b="0">
                  <a:solidFill>
                    <a:srgbClr val="FFFFFF"/>
                  </a:solidFill>
                  <a:latin typeface="Georgia"/>
                  <a:ea typeface="Georgia"/>
                  <a:cs typeface="Georgia"/>
                </a:defRPr>
              </a:pPr>
              <a:r>
                <a:rPr sz="1575" b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Q3</a:t>
              </a:r>
            </a:p>
          </p:txBody>
        </p:sp>
        <p:sp>
          <p:nvSpPr>
            <p:cNvPr id="209" name="textbox_209">
              <a:extLst>
                <a:ext uri="{FF2B5EF4-FFF2-40B4-BE49-F238E27FC236}">
                  <a16:creationId xmlns:a16="http://schemas.microsoft.com/office/drawing/2014/main" id="{92E75917-4A55-47AB-882F-A9C817D00DF0}"/>
                </a:ext>
              </a:extLst>
            </p:cNvPr>
            <p:cNvSpPr>
              <a:spLocks/>
            </p:cNvSpPr>
            <p:nvPr/>
          </p:nvSpPr>
          <p:spPr>
            <a:xfrm>
              <a:off x="8191500" y="581025"/>
              <a:ext cx="285750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50" b="0">
                  <a:solidFill>
                    <a:srgbClr val="FFFFFF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1350" b="0">
                  <a:solidFill>
                    <a:srgbClr val="FFFFFF"/>
                  </a:solidFill>
                  <a:latin typeface="Georgia"/>
                  <a:ea typeface="Georgia"/>
                  <a:cs typeface="Georgia"/>
                </a:defRPr>
              </a:pPr>
              <a:r>
                <a:rPr sz="1350" b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Budgeted search</a:t>
              </a:r>
            </a:p>
          </p:txBody>
        </p:sp>
        <p:sp>
          <p:nvSpPr>
            <p:cNvPr id="210" name="textbox_210">
              <a:extLst>
                <a:ext uri="{FF2B5EF4-FFF2-40B4-BE49-F238E27FC236}">
                  <a16:creationId xmlns:a16="http://schemas.microsoft.com/office/drawing/2014/main" id="{0D6C69F0-5EA2-4138-B305-17A0CAB271D2}"/>
                </a:ext>
              </a:extLst>
            </p:cNvPr>
            <p:cNvSpPr>
              <a:spLocks/>
            </p:cNvSpPr>
            <p:nvPr/>
          </p:nvSpPr>
          <p:spPr>
            <a:xfrm>
              <a:off x="8201025" y="828675"/>
              <a:ext cx="282892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15" b="0">
                  <a:solidFill>
                    <a:srgbClr val="E8E5EF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15" b="0">
                  <a:solidFill>
                    <a:srgbClr val="E8E5E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15" b="0">
                  <a:solidFill>
                    <a:srgbClr val="E8E5EF"/>
                  </a:solidFill>
                  <a:latin typeface="Noto Sans SC"/>
                  <a:ea typeface="Noto Sans SC"/>
                  <a:cs typeface="Noto Sans SC"/>
                </a:rPr>
                <a:t>WHICH POLICY FINDS GOOD CANDIDATES WITHIN BUDGET?</a:t>
              </a:r>
            </a:p>
          </p:txBody>
        </p:sp>
        <p:sp>
          <p:nvSpPr>
            <p:cNvPr id="211" name="textbox_211">
              <a:extLst>
                <a:ext uri="{FF2B5EF4-FFF2-40B4-BE49-F238E27FC236}">
                  <a16:creationId xmlns:a16="http://schemas.microsoft.com/office/drawing/2014/main" id="{2CEF5AE0-4824-4532-A4E0-D681569BCD50}"/>
                </a:ext>
              </a:extLst>
            </p:cNvPr>
            <p:cNvSpPr>
              <a:spLocks/>
            </p:cNvSpPr>
            <p:nvPr/>
          </p:nvSpPr>
          <p:spPr>
            <a:xfrm>
              <a:off x="7734300" y="1162050"/>
              <a:ext cx="184785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Search over a candidate space</a:t>
              </a:r>
            </a:p>
          </p:txBody>
        </p:sp>
        <p:sp>
          <p:nvSpPr>
            <p:cNvPr id="212" name="line_212">
              <a:extLst>
                <a:ext uri="{FF2B5EF4-FFF2-40B4-BE49-F238E27FC236}">
                  <a16:creationId xmlns:a16="http://schemas.microsoft.com/office/drawing/2014/main" id="{9C52B0BD-BE37-40DE-BF1E-6640D989D5C9}"/>
                </a:ext>
              </a:extLst>
            </p:cNvPr>
            <p:cNvSpPr>
              <a:spLocks/>
            </p:cNvSpPr>
            <p:nvPr/>
          </p:nvSpPr>
          <p:spPr>
            <a:xfrm flipV="1">
              <a:off x="8139113" y="1562100"/>
              <a:ext cx="338138" cy="403860"/>
            </a:xfrm>
            <a:prstGeom prst="line">
              <a:avLst/>
            </a:prstGeom>
            <a:noFill/>
            <a:ln w="9525">
              <a:solidFill>
                <a:srgbClr val="9C5875"/>
              </a:solidFill>
              <a:prstDash val="solid"/>
            </a:ln>
          </p:spPr>
        </p:sp>
        <p:sp>
          <p:nvSpPr>
            <p:cNvPr id="213" name="line_213">
              <a:extLst>
                <a:ext uri="{FF2B5EF4-FFF2-40B4-BE49-F238E27FC236}">
                  <a16:creationId xmlns:a16="http://schemas.microsoft.com/office/drawing/2014/main" id="{EE723065-159A-4F78-A3A0-3E516C588795}"/>
                </a:ext>
              </a:extLst>
            </p:cNvPr>
            <p:cNvSpPr>
              <a:spLocks/>
            </p:cNvSpPr>
            <p:nvPr/>
          </p:nvSpPr>
          <p:spPr>
            <a:xfrm>
              <a:off x="8477250" y="1562100"/>
              <a:ext cx="338138" cy="403860"/>
            </a:xfrm>
            <a:prstGeom prst="line">
              <a:avLst/>
            </a:prstGeom>
            <a:noFill/>
            <a:ln w="9525">
              <a:solidFill>
                <a:srgbClr val="9C5875"/>
              </a:solidFill>
              <a:prstDash val="solid"/>
            </a:ln>
          </p:spPr>
        </p:sp>
        <p:sp>
          <p:nvSpPr>
            <p:cNvPr id="214" name="line_214">
              <a:extLst>
                <a:ext uri="{FF2B5EF4-FFF2-40B4-BE49-F238E27FC236}">
                  <a16:creationId xmlns:a16="http://schemas.microsoft.com/office/drawing/2014/main" id="{B25D1265-3183-41C0-AF76-E9B5D8858541}"/>
                </a:ext>
              </a:extLst>
            </p:cNvPr>
            <p:cNvSpPr>
              <a:spLocks/>
            </p:cNvSpPr>
            <p:nvPr/>
          </p:nvSpPr>
          <p:spPr>
            <a:xfrm flipV="1">
              <a:off x="7909179" y="1965960"/>
              <a:ext cx="229933" cy="403860"/>
            </a:xfrm>
            <a:prstGeom prst="line">
              <a:avLst/>
            </a:prstGeom>
            <a:noFill/>
            <a:ln w="9525">
              <a:solidFill>
                <a:srgbClr val="9C5875"/>
              </a:solidFill>
              <a:prstDash val="solid"/>
            </a:ln>
          </p:spPr>
        </p:sp>
        <p:sp>
          <p:nvSpPr>
            <p:cNvPr id="215" name="line_215">
              <a:extLst>
                <a:ext uri="{FF2B5EF4-FFF2-40B4-BE49-F238E27FC236}">
                  <a16:creationId xmlns:a16="http://schemas.microsoft.com/office/drawing/2014/main" id="{01061549-4B57-42CB-AD4C-B5163E928F96}"/>
                </a:ext>
              </a:extLst>
            </p:cNvPr>
            <p:cNvSpPr>
              <a:spLocks/>
            </p:cNvSpPr>
            <p:nvPr/>
          </p:nvSpPr>
          <p:spPr>
            <a:xfrm>
              <a:off x="8139113" y="1965960"/>
              <a:ext cx="148781" cy="403860"/>
            </a:xfrm>
            <a:prstGeom prst="line">
              <a:avLst/>
            </a:prstGeom>
            <a:noFill/>
            <a:ln w="9525">
              <a:solidFill>
                <a:srgbClr val="9C5875"/>
              </a:solidFill>
              <a:prstDash val="solid"/>
            </a:ln>
          </p:spPr>
        </p:sp>
        <p:sp>
          <p:nvSpPr>
            <p:cNvPr id="216" name="line_216">
              <a:extLst>
                <a:ext uri="{FF2B5EF4-FFF2-40B4-BE49-F238E27FC236}">
                  <a16:creationId xmlns:a16="http://schemas.microsoft.com/office/drawing/2014/main" id="{C4D8EE4E-F6F2-4D87-83AF-B3D1CB2918D7}"/>
                </a:ext>
              </a:extLst>
            </p:cNvPr>
            <p:cNvSpPr>
              <a:spLocks/>
            </p:cNvSpPr>
            <p:nvPr/>
          </p:nvSpPr>
          <p:spPr>
            <a:xfrm flipV="1">
              <a:off x="8666607" y="1965960"/>
              <a:ext cx="148781" cy="403860"/>
            </a:xfrm>
            <a:prstGeom prst="line">
              <a:avLst/>
            </a:prstGeom>
            <a:noFill/>
            <a:ln w="9525">
              <a:solidFill>
                <a:srgbClr val="9C5875"/>
              </a:solidFill>
              <a:prstDash val="solid"/>
            </a:ln>
          </p:spPr>
        </p:sp>
        <p:sp>
          <p:nvSpPr>
            <p:cNvPr id="217" name="line_217">
              <a:extLst>
                <a:ext uri="{FF2B5EF4-FFF2-40B4-BE49-F238E27FC236}">
                  <a16:creationId xmlns:a16="http://schemas.microsoft.com/office/drawing/2014/main" id="{156A093A-3FD6-4664-B3FA-D31C692B37ED}"/>
                </a:ext>
              </a:extLst>
            </p:cNvPr>
            <p:cNvSpPr>
              <a:spLocks/>
            </p:cNvSpPr>
            <p:nvPr/>
          </p:nvSpPr>
          <p:spPr>
            <a:xfrm>
              <a:off x="8815388" y="1965960"/>
              <a:ext cx="243459" cy="403860"/>
            </a:xfrm>
            <a:prstGeom prst="line">
              <a:avLst/>
            </a:prstGeom>
            <a:noFill/>
            <a:ln w="9525">
              <a:solidFill>
                <a:srgbClr val="9C5875"/>
              </a:solidFill>
              <a:prstDash val="solid"/>
            </a:ln>
          </p:spPr>
        </p:sp>
        <p:sp>
          <p:nvSpPr>
            <p:cNvPr id="218" name="ellipse_218">
              <a:extLst>
                <a:ext uri="{FF2B5EF4-FFF2-40B4-BE49-F238E27FC236}">
                  <a16:creationId xmlns:a16="http://schemas.microsoft.com/office/drawing/2014/main" id="{A6C5AE58-5FD0-4D14-98A7-ED1FD0A42204}"/>
                </a:ext>
              </a:extLst>
            </p:cNvPr>
            <p:cNvSpPr>
              <a:spLocks/>
            </p:cNvSpPr>
            <p:nvPr/>
          </p:nvSpPr>
          <p:spPr>
            <a:xfrm>
              <a:off x="8429625" y="1514475"/>
              <a:ext cx="95250" cy="95250"/>
            </a:xfrm>
            <a:prstGeom prst="ellipse">
              <a:avLst/>
            </a:prstGeom>
            <a:solidFill>
              <a:srgbClr val="AAA2BF"/>
            </a:solidFill>
            <a:ln w="8573">
              <a:solidFill>
                <a:srgbClr val="38385B"/>
              </a:solidFill>
              <a:prstDash val="solid"/>
            </a:ln>
          </p:spPr>
        </p:sp>
        <p:sp>
          <p:nvSpPr>
            <p:cNvPr id="219" name="ellipse_219">
              <a:extLst>
                <a:ext uri="{FF2B5EF4-FFF2-40B4-BE49-F238E27FC236}">
                  <a16:creationId xmlns:a16="http://schemas.microsoft.com/office/drawing/2014/main" id="{264ACA41-44F2-44D1-9445-2F01F2B065D8}"/>
                </a:ext>
              </a:extLst>
            </p:cNvPr>
            <p:cNvSpPr>
              <a:spLocks/>
            </p:cNvSpPr>
            <p:nvPr/>
          </p:nvSpPr>
          <p:spPr>
            <a:xfrm>
              <a:off x="8091488" y="1918335"/>
              <a:ext cx="95250" cy="95250"/>
            </a:xfrm>
            <a:prstGeom prst="ellipse">
              <a:avLst/>
            </a:prstGeom>
            <a:solidFill>
              <a:srgbClr val="FFFFFF"/>
            </a:solidFill>
            <a:ln w="8573">
              <a:solidFill>
                <a:srgbClr val="9C5875"/>
              </a:solidFill>
              <a:prstDash val="solid"/>
            </a:ln>
          </p:spPr>
        </p:sp>
        <p:sp>
          <p:nvSpPr>
            <p:cNvPr id="220" name="ellipse_220">
              <a:extLst>
                <a:ext uri="{FF2B5EF4-FFF2-40B4-BE49-F238E27FC236}">
                  <a16:creationId xmlns:a16="http://schemas.microsoft.com/office/drawing/2014/main" id="{7347E184-60EB-4C63-9D02-426CBF9BA1E3}"/>
                </a:ext>
              </a:extLst>
            </p:cNvPr>
            <p:cNvSpPr>
              <a:spLocks/>
            </p:cNvSpPr>
            <p:nvPr/>
          </p:nvSpPr>
          <p:spPr>
            <a:xfrm>
              <a:off x="8767763" y="1918335"/>
              <a:ext cx="95250" cy="95250"/>
            </a:xfrm>
            <a:prstGeom prst="ellipse">
              <a:avLst/>
            </a:prstGeom>
            <a:solidFill>
              <a:srgbClr val="AAA2BF"/>
            </a:solidFill>
            <a:ln w="8573">
              <a:solidFill>
                <a:srgbClr val="38385B"/>
              </a:solidFill>
              <a:prstDash val="solid"/>
            </a:ln>
          </p:spPr>
        </p:sp>
        <p:sp>
          <p:nvSpPr>
            <p:cNvPr id="221" name="ellipse_221">
              <a:extLst>
                <a:ext uri="{FF2B5EF4-FFF2-40B4-BE49-F238E27FC236}">
                  <a16:creationId xmlns:a16="http://schemas.microsoft.com/office/drawing/2014/main" id="{FA9E34BD-675A-488F-8C6F-5E261D63A80D}"/>
                </a:ext>
              </a:extLst>
            </p:cNvPr>
            <p:cNvSpPr>
              <a:spLocks/>
            </p:cNvSpPr>
            <p:nvPr/>
          </p:nvSpPr>
          <p:spPr>
            <a:xfrm>
              <a:off x="7861554" y="2322195"/>
              <a:ext cx="95250" cy="95250"/>
            </a:xfrm>
            <a:prstGeom prst="ellipse">
              <a:avLst/>
            </a:prstGeom>
            <a:solidFill>
              <a:srgbClr val="FFFFFF"/>
            </a:solidFill>
            <a:ln w="8573">
              <a:solidFill>
                <a:srgbClr val="9C5875"/>
              </a:solidFill>
              <a:prstDash val="solid"/>
            </a:ln>
          </p:spPr>
        </p:sp>
        <p:sp>
          <p:nvSpPr>
            <p:cNvPr id="222" name="ellipse_222">
              <a:extLst>
                <a:ext uri="{FF2B5EF4-FFF2-40B4-BE49-F238E27FC236}">
                  <a16:creationId xmlns:a16="http://schemas.microsoft.com/office/drawing/2014/main" id="{091DF6AC-E1DE-469B-A1B2-F15853AC8342}"/>
                </a:ext>
              </a:extLst>
            </p:cNvPr>
            <p:cNvSpPr>
              <a:spLocks/>
            </p:cNvSpPr>
            <p:nvPr/>
          </p:nvSpPr>
          <p:spPr>
            <a:xfrm>
              <a:off x="8240268" y="2322195"/>
              <a:ext cx="95250" cy="95250"/>
            </a:xfrm>
            <a:prstGeom prst="ellipse">
              <a:avLst/>
            </a:prstGeom>
            <a:solidFill>
              <a:srgbClr val="AAA2BF"/>
            </a:solidFill>
            <a:ln w="8573">
              <a:solidFill>
                <a:srgbClr val="38385B"/>
              </a:solidFill>
              <a:prstDash val="solid"/>
            </a:ln>
          </p:spPr>
        </p:sp>
        <p:sp>
          <p:nvSpPr>
            <p:cNvPr id="223" name="ellipse_223">
              <a:extLst>
                <a:ext uri="{FF2B5EF4-FFF2-40B4-BE49-F238E27FC236}">
                  <a16:creationId xmlns:a16="http://schemas.microsoft.com/office/drawing/2014/main" id="{BBD9CADE-A095-4ECE-898F-4F146BFE103F}"/>
                </a:ext>
              </a:extLst>
            </p:cNvPr>
            <p:cNvSpPr>
              <a:spLocks/>
            </p:cNvSpPr>
            <p:nvPr/>
          </p:nvSpPr>
          <p:spPr>
            <a:xfrm>
              <a:off x="8618982" y="2322195"/>
              <a:ext cx="95250" cy="95250"/>
            </a:xfrm>
            <a:prstGeom prst="ellipse">
              <a:avLst/>
            </a:prstGeom>
            <a:solidFill>
              <a:srgbClr val="FFFFFF"/>
            </a:solidFill>
            <a:ln w="8573">
              <a:solidFill>
                <a:srgbClr val="9C5875"/>
              </a:solidFill>
              <a:prstDash val="solid"/>
            </a:ln>
          </p:spPr>
        </p:sp>
        <p:sp>
          <p:nvSpPr>
            <p:cNvPr id="224" name="ellipse_224">
              <a:extLst>
                <a:ext uri="{FF2B5EF4-FFF2-40B4-BE49-F238E27FC236}">
                  <a16:creationId xmlns:a16="http://schemas.microsoft.com/office/drawing/2014/main" id="{E53720D2-916A-47E9-A913-1AC59A46C944}"/>
                </a:ext>
              </a:extLst>
            </p:cNvPr>
            <p:cNvSpPr>
              <a:spLocks/>
            </p:cNvSpPr>
            <p:nvPr/>
          </p:nvSpPr>
          <p:spPr>
            <a:xfrm>
              <a:off x="9011222" y="2322195"/>
              <a:ext cx="95250" cy="95250"/>
            </a:xfrm>
            <a:prstGeom prst="ellipse">
              <a:avLst/>
            </a:prstGeom>
            <a:solidFill>
              <a:srgbClr val="AAA2BF"/>
            </a:solidFill>
            <a:ln w="8573">
              <a:solidFill>
                <a:srgbClr val="38385B"/>
              </a:solidFill>
              <a:prstDash val="solid"/>
            </a:ln>
          </p:spPr>
        </p:sp>
        <p:sp>
          <p:nvSpPr>
            <p:cNvPr id="225" name="textbox_225">
              <a:extLst>
                <a:ext uri="{FF2B5EF4-FFF2-40B4-BE49-F238E27FC236}">
                  <a16:creationId xmlns:a16="http://schemas.microsoft.com/office/drawing/2014/main" id="{2238C11E-3983-4213-9E43-8DCA90F749CE}"/>
                </a:ext>
              </a:extLst>
            </p:cNvPr>
            <p:cNvSpPr>
              <a:spLocks/>
            </p:cNvSpPr>
            <p:nvPr/>
          </p:nvSpPr>
          <p:spPr>
            <a:xfrm>
              <a:off x="9286875" y="1476375"/>
              <a:ext cx="92392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○  Unmeasured</a:t>
              </a:r>
            </a:p>
          </p:txBody>
        </p:sp>
        <p:sp>
          <p:nvSpPr>
            <p:cNvPr id="226" name="textbox_226">
              <a:extLst>
                <a:ext uri="{FF2B5EF4-FFF2-40B4-BE49-F238E27FC236}">
                  <a16:creationId xmlns:a16="http://schemas.microsoft.com/office/drawing/2014/main" id="{2BC6FB9A-9379-4E59-B66A-76DEE8174551}"/>
                </a:ext>
              </a:extLst>
            </p:cNvPr>
            <p:cNvSpPr>
              <a:spLocks/>
            </p:cNvSpPr>
            <p:nvPr/>
          </p:nvSpPr>
          <p:spPr>
            <a:xfrm>
              <a:off x="9286875" y="1685925"/>
              <a:ext cx="8572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●  Measured</a:t>
              </a:r>
            </a:p>
          </p:txBody>
        </p:sp>
        <p:sp>
          <p:nvSpPr>
            <p:cNvPr id="227" name="textbox_227">
              <a:extLst>
                <a:ext uri="{FF2B5EF4-FFF2-40B4-BE49-F238E27FC236}">
                  <a16:creationId xmlns:a16="http://schemas.microsoft.com/office/drawing/2014/main" id="{880EA51B-0058-444E-9825-5E1180BCFB4E}"/>
                </a:ext>
              </a:extLst>
            </p:cNvPr>
            <p:cNvSpPr>
              <a:spLocks/>
            </p:cNvSpPr>
            <p:nvPr/>
          </p:nvSpPr>
          <p:spPr>
            <a:xfrm>
              <a:off x="9286875" y="1895475"/>
              <a:ext cx="8572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→  Expansion</a:t>
              </a:r>
            </a:p>
          </p:txBody>
        </p:sp>
        <p:sp>
          <p:nvSpPr>
            <p:cNvPr id="228" name="textbox_228">
              <a:extLst>
                <a:ext uri="{FF2B5EF4-FFF2-40B4-BE49-F238E27FC236}">
                  <a16:creationId xmlns:a16="http://schemas.microsoft.com/office/drawing/2014/main" id="{94FB03A3-07CD-44D4-B41B-A1A0BB8DCAB2}"/>
                </a:ext>
              </a:extLst>
            </p:cNvPr>
            <p:cNvSpPr>
              <a:spLocks/>
            </p:cNvSpPr>
            <p:nvPr/>
          </p:nvSpPr>
          <p:spPr>
            <a:xfrm>
              <a:off x="7734300" y="2657475"/>
              <a:ext cx="3333750" cy="219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Compare policies under the same measured budget</a:t>
              </a:r>
            </a:p>
          </p:txBody>
        </p:sp>
        <p:sp>
          <p:nvSpPr>
            <p:cNvPr id="229" name="roundRect_229">
              <a:extLst>
                <a:ext uri="{FF2B5EF4-FFF2-40B4-BE49-F238E27FC236}">
                  <a16:creationId xmlns:a16="http://schemas.microsoft.com/office/drawing/2014/main" id="{7AE0CF89-F603-41D2-B728-65D7AB739706}"/>
                </a:ext>
              </a:extLst>
            </p:cNvPr>
            <p:cNvSpPr>
              <a:spLocks/>
            </p:cNvSpPr>
            <p:nvPr/>
          </p:nvSpPr>
          <p:spPr>
            <a:xfrm>
              <a:off x="7734300" y="2952750"/>
              <a:ext cx="1057275" cy="600075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E1DCE8"/>
              </a:solidFill>
              <a:prstDash val="solid"/>
            </a:ln>
          </p:spPr>
        </p:sp>
        <p:sp>
          <p:nvSpPr>
            <p:cNvPr id="230" name="textbox_230">
              <a:extLst>
                <a:ext uri="{FF2B5EF4-FFF2-40B4-BE49-F238E27FC236}">
                  <a16:creationId xmlns:a16="http://schemas.microsoft.com/office/drawing/2014/main" id="{B85D977F-15D4-4B00-8281-4A60FE5321B6}"/>
                </a:ext>
              </a:extLst>
            </p:cNvPr>
            <p:cNvSpPr>
              <a:spLocks/>
            </p:cNvSpPr>
            <p:nvPr/>
          </p:nvSpPr>
          <p:spPr>
            <a:xfrm>
              <a:off x="7800975" y="3038475"/>
              <a:ext cx="952500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Random search</a:t>
              </a:r>
            </a:p>
          </p:txBody>
        </p:sp>
        <p:sp>
          <p:nvSpPr>
            <p:cNvPr id="231" name="textbox_231">
              <a:extLst>
                <a:ext uri="{FF2B5EF4-FFF2-40B4-BE49-F238E27FC236}">
                  <a16:creationId xmlns:a16="http://schemas.microsoft.com/office/drawing/2014/main" id="{1CE72FE7-74E1-477D-BA5A-525DC42FACB9}"/>
                </a:ext>
              </a:extLst>
            </p:cNvPr>
            <p:cNvSpPr>
              <a:spLocks/>
            </p:cNvSpPr>
            <p:nvPr/>
          </p:nvSpPr>
          <p:spPr>
            <a:xfrm>
              <a:off x="7800975" y="3276600"/>
              <a:ext cx="9525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Uniform sampling</a:t>
              </a:r>
            </a:p>
          </p:txBody>
        </p:sp>
        <p:sp>
          <p:nvSpPr>
            <p:cNvPr id="232" name="roundRect_232">
              <a:extLst>
                <a:ext uri="{FF2B5EF4-FFF2-40B4-BE49-F238E27FC236}">
                  <a16:creationId xmlns:a16="http://schemas.microsoft.com/office/drawing/2014/main" id="{B49905E9-758F-4AC8-BE6C-350CDEBBBB61}"/>
                </a:ext>
              </a:extLst>
            </p:cNvPr>
            <p:cNvSpPr>
              <a:spLocks/>
            </p:cNvSpPr>
            <p:nvPr/>
          </p:nvSpPr>
          <p:spPr>
            <a:xfrm>
              <a:off x="8867775" y="2952750"/>
              <a:ext cx="1057275" cy="600075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E1DCE8"/>
              </a:solidFill>
              <a:prstDash val="solid"/>
            </a:ln>
          </p:spPr>
        </p:sp>
        <p:sp>
          <p:nvSpPr>
            <p:cNvPr id="233" name="textbox_233">
              <a:extLst>
                <a:ext uri="{FF2B5EF4-FFF2-40B4-BE49-F238E27FC236}">
                  <a16:creationId xmlns:a16="http://schemas.microsoft.com/office/drawing/2014/main" id="{61C29CD1-E410-4056-AE2C-4912A7741DE9}"/>
                </a:ext>
              </a:extLst>
            </p:cNvPr>
            <p:cNvSpPr>
              <a:spLocks/>
            </p:cNvSpPr>
            <p:nvPr/>
          </p:nvSpPr>
          <p:spPr>
            <a:xfrm>
              <a:off x="8934450" y="3038475"/>
              <a:ext cx="952500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TPE</a:t>
              </a:r>
            </a:p>
          </p:txBody>
        </p:sp>
        <p:sp>
          <p:nvSpPr>
            <p:cNvPr id="234" name="textbox_234">
              <a:extLst>
                <a:ext uri="{FF2B5EF4-FFF2-40B4-BE49-F238E27FC236}">
                  <a16:creationId xmlns:a16="http://schemas.microsoft.com/office/drawing/2014/main" id="{793623FD-AD98-4F46-8CED-4BC851463878}"/>
                </a:ext>
              </a:extLst>
            </p:cNvPr>
            <p:cNvSpPr>
              <a:spLocks/>
            </p:cNvSpPr>
            <p:nvPr/>
          </p:nvSpPr>
          <p:spPr>
            <a:xfrm>
              <a:off x="8934450" y="3276600"/>
              <a:ext cx="9525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Surrogate-based</a:t>
              </a:r>
            </a:p>
          </p:txBody>
        </p:sp>
        <p:sp>
          <p:nvSpPr>
            <p:cNvPr id="235" name="roundRect_235">
              <a:extLst>
                <a:ext uri="{FF2B5EF4-FFF2-40B4-BE49-F238E27FC236}">
                  <a16:creationId xmlns:a16="http://schemas.microsoft.com/office/drawing/2014/main" id="{E94D2137-6981-4F89-A68A-E85A267850EE}"/>
                </a:ext>
              </a:extLst>
            </p:cNvPr>
            <p:cNvSpPr>
              <a:spLocks/>
            </p:cNvSpPr>
            <p:nvPr/>
          </p:nvSpPr>
          <p:spPr>
            <a:xfrm>
              <a:off x="10001250" y="2952750"/>
              <a:ext cx="1057275" cy="600075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9525">
              <a:solidFill>
                <a:srgbClr val="E1DCE8"/>
              </a:solidFill>
              <a:prstDash val="solid"/>
            </a:ln>
          </p:spPr>
        </p:sp>
        <p:sp>
          <p:nvSpPr>
            <p:cNvPr id="236" name="textbox_236">
              <a:extLst>
                <a:ext uri="{FF2B5EF4-FFF2-40B4-BE49-F238E27FC236}">
                  <a16:creationId xmlns:a16="http://schemas.microsoft.com/office/drawing/2014/main" id="{9FE8BB9D-5A4C-4591-84E7-E6B981F18C72}"/>
                </a:ext>
              </a:extLst>
            </p:cNvPr>
            <p:cNvSpPr>
              <a:spLocks/>
            </p:cNvSpPr>
            <p:nvPr/>
          </p:nvSpPr>
          <p:spPr>
            <a:xfrm>
              <a:off x="10067925" y="3038475"/>
              <a:ext cx="952500" cy="2000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Transfer search</a:t>
              </a:r>
            </a:p>
          </p:txBody>
        </p:sp>
        <p:sp>
          <p:nvSpPr>
            <p:cNvPr id="237" name="textbox_237">
              <a:extLst>
                <a:ext uri="{FF2B5EF4-FFF2-40B4-BE49-F238E27FC236}">
                  <a16:creationId xmlns:a16="http://schemas.microsoft.com/office/drawing/2014/main" id="{5954071B-8CEC-4199-BA7B-A8BD0AEA5724}"/>
                </a:ext>
              </a:extLst>
            </p:cNvPr>
            <p:cNvSpPr>
              <a:spLocks/>
            </p:cNvSpPr>
            <p:nvPr/>
          </p:nvSpPr>
          <p:spPr>
            <a:xfrm>
              <a:off x="10067925" y="3276600"/>
              <a:ext cx="9525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Prior task evidence</a:t>
              </a:r>
            </a:p>
          </p:txBody>
        </p:sp>
        <p:sp>
          <p:nvSpPr>
            <p:cNvPr id="238" name="roundRect_238">
              <a:extLst>
                <a:ext uri="{FF2B5EF4-FFF2-40B4-BE49-F238E27FC236}">
                  <a16:creationId xmlns:a16="http://schemas.microsoft.com/office/drawing/2014/main" id="{8DED4810-E861-4D00-A0D8-64A7C1E26AEC}"/>
                </a:ext>
              </a:extLst>
            </p:cNvPr>
            <p:cNvSpPr>
              <a:spLocks/>
            </p:cNvSpPr>
            <p:nvPr/>
          </p:nvSpPr>
          <p:spPr>
            <a:xfrm>
              <a:off x="10106025" y="1400175"/>
              <a:ext cx="1009650" cy="1133475"/>
            </a:xfrm>
            <a:prstGeom prst="roundRect">
              <a:avLst>
                <a:gd name="adj" fmla="val 8491"/>
              </a:avLst>
            </a:prstGeom>
            <a:solidFill>
              <a:srgbClr val="FFFFFF"/>
            </a:solidFill>
            <a:ln w="9525">
              <a:solidFill>
                <a:srgbClr val="DDD9E6"/>
              </a:solidFill>
              <a:prstDash val="solid"/>
            </a:ln>
          </p:spPr>
        </p:sp>
        <p:sp>
          <p:nvSpPr>
            <p:cNvPr id="239" name="textbox_239">
              <a:extLst>
                <a:ext uri="{FF2B5EF4-FFF2-40B4-BE49-F238E27FC236}">
                  <a16:creationId xmlns:a16="http://schemas.microsoft.com/office/drawing/2014/main" id="{6D26D149-1089-47BC-BCA9-1AB2F8059B84}"/>
                </a:ext>
              </a:extLst>
            </p:cNvPr>
            <p:cNvSpPr>
              <a:spLocks/>
            </p:cNvSpPr>
            <p:nvPr/>
          </p:nvSpPr>
          <p:spPr>
            <a:xfrm>
              <a:off x="10153650" y="1438275"/>
              <a:ext cx="92392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COST LEDGER</a:t>
              </a:r>
            </a:p>
          </p:txBody>
        </p:sp>
        <p:sp>
          <p:nvSpPr>
            <p:cNvPr id="240" name="textbox_240">
              <a:extLst>
                <a:ext uri="{FF2B5EF4-FFF2-40B4-BE49-F238E27FC236}">
                  <a16:creationId xmlns:a16="http://schemas.microsoft.com/office/drawing/2014/main" id="{7B95EE75-56FD-4BF2-91CB-7D5BAE1BDEFE}"/>
                </a:ext>
              </a:extLst>
            </p:cNvPr>
            <p:cNvSpPr>
              <a:spLocks/>
            </p:cNvSpPr>
            <p:nvPr/>
          </p:nvSpPr>
          <p:spPr>
            <a:xfrm>
              <a:off x="10153650" y="1657350"/>
              <a:ext cx="9334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step   cost   total</a:t>
              </a:r>
            </a:p>
          </p:txBody>
        </p:sp>
        <p:sp>
          <p:nvSpPr>
            <p:cNvPr id="241" name="line_241">
              <a:extLst>
                <a:ext uri="{FF2B5EF4-FFF2-40B4-BE49-F238E27FC236}">
                  <a16:creationId xmlns:a16="http://schemas.microsoft.com/office/drawing/2014/main" id="{DC28069F-31CC-47A2-A574-F8D9A8B1D59F}"/>
                </a:ext>
              </a:extLst>
            </p:cNvPr>
            <p:cNvSpPr>
              <a:spLocks/>
            </p:cNvSpPr>
            <p:nvPr/>
          </p:nvSpPr>
          <p:spPr>
            <a:xfrm>
              <a:off x="10134600" y="1828800"/>
              <a:ext cx="962025" cy="953"/>
            </a:xfrm>
            <a:prstGeom prst="line">
              <a:avLst/>
            </a:prstGeom>
            <a:noFill/>
            <a:ln w="5715">
              <a:solidFill>
                <a:srgbClr val="E2DEEA"/>
              </a:solidFill>
              <a:prstDash val="solid"/>
            </a:ln>
          </p:spPr>
        </p:sp>
        <p:sp>
          <p:nvSpPr>
            <p:cNvPr id="242" name="textbox_242">
              <a:extLst>
                <a:ext uri="{FF2B5EF4-FFF2-40B4-BE49-F238E27FC236}">
                  <a16:creationId xmlns:a16="http://schemas.microsoft.com/office/drawing/2014/main" id="{920FE01A-B51F-4A0B-BC61-19777302EF16}"/>
                </a:ext>
              </a:extLst>
            </p:cNvPr>
            <p:cNvSpPr>
              <a:spLocks/>
            </p:cNvSpPr>
            <p:nvPr/>
          </p:nvSpPr>
          <p:spPr>
            <a:xfrm>
              <a:off x="10153650" y="1857375"/>
              <a:ext cx="9334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1       c₁       c₁</a:t>
              </a:r>
            </a:p>
          </p:txBody>
        </p:sp>
        <p:sp>
          <p:nvSpPr>
            <p:cNvPr id="243" name="line_243">
              <a:extLst>
                <a:ext uri="{FF2B5EF4-FFF2-40B4-BE49-F238E27FC236}">
                  <a16:creationId xmlns:a16="http://schemas.microsoft.com/office/drawing/2014/main" id="{D19041B2-A275-48AA-BA3F-2419123F5880}"/>
                </a:ext>
              </a:extLst>
            </p:cNvPr>
            <p:cNvSpPr>
              <a:spLocks/>
            </p:cNvSpPr>
            <p:nvPr/>
          </p:nvSpPr>
          <p:spPr>
            <a:xfrm>
              <a:off x="10134600" y="2028825"/>
              <a:ext cx="962025" cy="953"/>
            </a:xfrm>
            <a:prstGeom prst="line">
              <a:avLst/>
            </a:prstGeom>
            <a:noFill/>
            <a:ln w="5715">
              <a:solidFill>
                <a:srgbClr val="E2DEEA"/>
              </a:solidFill>
              <a:prstDash val="solid"/>
            </a:ln>
          </p:spPr>
        </p:sp>
        <p:sp>
          <p:nvSpPr>
            <p:cNvPr id="244" name="textbox_244">
              <a:extLst>
                <a:ext uri="{FF2B5EF4-FFF2-40B4-BE49-F238E27FC236}">
                  <a16:creationId xmlns:a16="http://schemas.microsoft.com/office/drawing/2014/main" id="{DA651F1C-4A15-4B42-AB5C-1A50B0265CA9}"/>
                </a:ext>
              </a:extLst>
            </p:cNvPr>
            <p:cNvSpPr>
              <a:spLocks/>
            </p:cNvSpPr>
            <p:nvPr/>
          </p:nvSpPr>
          <p:spPr>
            <a:xfrm>
              <a:off x="10153650" y="2057400"/>
              <a:ext cx="9334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2       c₂    c₁+c₂</a:t>
              </a:r>
            </a:p>
          </p:txBody>
        </p:sp>
        <p:sp>
          <p:nvSpPr>
            <p:cNvPr id="245" name="line_245">
              <a:extLst>
                <a:ext uri="{FF2B5EF4-FFF2-40B4-BE49-F238E27FC236}">
                  <a16:creationId xmlns:a16="http://schemas.microsoft.com/office/drawing/2014/main" id="{AE094D3B-F595-432E-93E2-18244AB7B840}"/>
                </a:ext>
              </a:extLst>
            </p:cNvPr>
            <p:cNvSpPr>
              <a:spLocks/>
            </p:cNvSpPr>
            <p:nvPr/>
          </p:nvSpPr>
          <p:spPr>
            <a:xfrm>
              <a:off x="10134600" y="2228850"/>
              <a:ext cx="962025" cy="953"/>
            </a:xfrm>
            <a:prstGeom prst="line">
              <a:avLst/>
            </a:prstGeom>
            <a:noFill/>
            <a:ln w="5715">
              <a:solidFill>
                <a:srgbClr val="E2DEEA"/>
              </a:solidFill>
              <a:prstDash val="solid"/>
            </a:ln>
          </p:spPr>
        </p:sp>
        <p:sp>
          <p:nvSpPr>
            <p:cNvPr id="246" name="textbox_246">
              <a:extLst>
                <a:ext uri="{FF2B5EF4-FFF2-40B4-BE49-F238E27FC236}">
                  <a16:creationId xmlns:a16="http://schemas.microsoft.com/office/drawing/2014/main" id="{62DC21C2-0166-45B4-BB31-1CF4C34BE7B3}"/>
                </a:ext>
              </a:extLst>
            </p:cNvPr>
            <p:cNvSpPr>
              <a:spLocks/>
            </p:cNvSpPr>
            <p:nvPr/>
          </p:nvSpPr>
          <p:spPr>
            <a:xfrm>
              <a:off x="10153650" y="2257425"/>
              <a:ext cx="9334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3       c₃    Σ cᵢ</a:t>
              </a:r>
            </a:p>
          </p:txBody>
        </p:sp>
        <p:sp>
          <p:nvSpPr>
            <p:cNvPr id="247" name="line_247">
              <a:extLst>
                <a:ext uri="{FF2B5EF4-FFF2-40B4-BE49-F238E27FC236}">
                  <a16:creationId xmlns:a16="http://schemas.microsoft.com/office/drawing/2014/main" id="{76ED47C6-E380-4373-92C3-557862908F7B}"/>
                </a:ext>
              </a:extLst>
            </p:cNvPr>
            <p:cNvSpPr>
              <a:spLocks/>
            </p:cNvSpPr>
            <p:nvPr/>
          </p:nvSpPr>
          <p:spPr>
            <a:xfrm>
              <a:off x="10134600" y="2428875"/>
              <a:ext cx="962025" cy="953"/>
            </a:xfrm>
            <a:prstGeom prst="line">
              <a:avLst/>
            </a:prstGeom>
            <a:noFill/>
            <a:ln w="5715">
              <a:solidFill>
                <a:srgbClr val="E2DEEA"/>
              </a:solidFill>
              <a:prstDash val="solid"/>
            </a:ln>
          </p:spPr>
        </p:sp>
        <p:sp>
          <p:nvSpPr>
            <p:cNvPr id="248" name="textbox_248">
              <a:extLst>
                <a:ext uri="{FF2B5EF4-FFF2-40B4-BE49-F238E27FC236}">
                  <a16:creationId xmlns:a16="http://schemas.microsoft.com/office/drawing/2014/main" id="{7AA1B5CC-2D9A-4451-ABCA-4A8592A46223}"/>
                </a:ext>
              </a:extLst>
            </p:cNvPr>
            <p:cNvSpPr>
              <a:spLocks/>
            </p:cNvSpPr>
            <p:nvPr/>
          </p:nvSpPr>
          <p:spPr>
            <a:xfrm>
              <a:off x="7734300" y="3667125"/>
              <a:ext cx="333375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75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975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975" b="1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Evaluation criteria</a:t>
              </a:r>
            </a:p>
          </p:txBody>
        </p:sp>
        <p:sp>
          <p:nvSpPr>
            <p:cNvPr id="249" name="roundRect_249">
              <a:extLst>
                <a:ext uri="{FF2B5EF4-FFF2-40B4-BE49-F238E27FC236}">
                  <a16:creationId xmlns:a16="http://schemas.microsoft.com/office/drawing/2014/main" id="{661985CA-5745-4D69-AE34-E0F4F383FD22}"/>
                </a:ext>
              </a:extLst>
            </p:cNvPr>
            <p:cNvSpPr>
              <a:spLocks/>
            </p:cNvSpPr>
            <p:nvPr/>
          </p:nvSpPr>
          <p:spPr>
            <a:xfrm>
              <a:off x="7734300" y="3943350"/>
              <a:ext cx="1628775" cy="466725"/>
            </a:xfrm>
            <a:prstGeom prst="roundRect">
              <a:avLst>
                <a:gd name="adj" fmla="val 18367"/>
              </a:avLst>
            </a:prstGeom>
            <a:solidFill>
              <a:srgbClr val="FFFFFF"/>
            </a:solidFill>
            <a:ln w="9525">
              <a:solidFill>
                <a:srgbClr val="E1DCE8"/>
              </a:solidFill>
              <a:prstDash val="solid"/>
            </a:ln>
          </p:spPr>
        </p:sp>
        <p:sp>
          <p:nvSpPr>
            <p:cNvPr id="250" name="textbox_250">
              <a:extLst>
                <a:ext uri="{FF2B5EF4-FFF2-40B4-BE49-F238E27FC236}">
                  <a16:creationId xmlns:a16="http://schemas.microsoft.com/office/drawing/2014/main" id="{37331AB8-4A84-490B-9800-1A0BF1DEC071}"/>
                </a:ext>
              </a:extLst>
            </p:cNvPr>
            <p:cNvSpPr>
              <a:spLocks/>
            </p:cNvSpPr>
            <p:nvPr/>
          </p:nvSpPr>
          <p:spPr>
            <a:xfrm>
              <a:off x="7820025" y="3981450"/>
              <a:ext cx="145732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050" b="1">
                  <a:solidFill>
                    <a:srgbClr val="9C5875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1050" b="1">
                  <a:solidFill>
                    <a:srgbClr val="9C5875"/>
                  </a:solidFill>
                  <a:latin typeface="Georgia"/>
                  <a:ea typeface="Georgia"/>
                  <a:cs typeface="Georgia"/>
                </a:defRPr>
              </a:pPr>
              <a:r>
                <a:rPr sz="1050" b="1">
                  <a:solidFill>
                    <a:srgbClr val="9C5875"/>
                  </a:solidFill>
                  <a:latin typeface="Georgia"/>
                  <a:ea typeface="Georgia"/>
                  <a:cs typeface="Georgia"/>
                </a:rPr>
                <a:t>Regret</a:t>
              </a:r>
            </a:p>
          </p:txBody>
        </p:sp>
        <p:sp>
          <p:nvSpPr>
            <p:cNvPr id="251" name="textbox_251">
              <a:extLst>
                <a:ext uri="{FF2B5EF4-FFF2-40B4-BE49-F238E27FC236}">
                  <a16:creationId xmlns:a16="http://schemas.microsoft.com/office/drawing/2014/main" id="{B2793E18-B0FE-4D68-BD2A-E3EB91FE35E7}"/>
                </a:ext>
              </a:extLst>
            </p:cNvPr>
            <p:cNvSpPr>
              <a:spLocks/>
            </p:cNvSpPr>
            <p:nvPr/>
          </p:nvSpPr>
          <p:spPr>
            <a:xfrm>
              <a:off x="7820025" y="4210050"/>
              <a:ext cx="145732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Gap to the best candidate</a:t>
              </a:r>
            </a:p>
          </p:txBody>
        </p:sp>
        <p:sp>
          <p:nvSpPr>
            <p:cNvPr id="252" name="roundRect_252">
              <a:extLst>
                <a:ext uri="{FF2B5EF4-FFF2-40B4-BE49-F238E27FC236}">
                  <a16:creationId xmlns:a16="http://schemas.microsoft.com/office/drawing/2014/main" id="{57D965A6-B1B5-44F9-A9B9-A75A6F2CDD7C}"/>
                </a:ext>
              </a:extLst>
            </p:cNvPr>
            <p:cNvSpPr>
              <a:spLocks/>
            </p:cNvSpPr>
            <p:nvPr/>
          </p:nvSpPr>
          <p:spPr>
            <a:xfrm>
              <a:off x="9439275" y="3943350"/>
              <a:ext cx="1628775" cy="466725"/>
            </a:xfrm>
            <a:prstGeom prst="roundRect">
              <a:avLst>
                <a:gd name="adj" fmla="val 18367"/>
              </a:avLst>
            </a:prstGeom>
            <a:solidFill>
              <a:srgbClr val="FFFFFF"/>
            </a:solidFill>
            <a:ln w="9525">
              <a:solidFill>
                <a:srgbClr val="E1DCE8"/>
              </a:solidFill>
              <a:prstDash val="solid"/>
            </a:ln>
          </p:spPr>
        </p:sp>
        <p:sp>
          <p:nvSpPr>
            <p:cNvPr id="253" name="textbox_253">
              <a:extLst>
                <a:ext uri="{FF2B5EF4-FFF2-40B4-BE49-F238E27FC236}">
                  <a16:creationId xmlns:a16="http://schemas.microsoft.com/office/drawing/2014/main" id="{F1EA0236-054F-4F24-895B-81D8FCE1E5FB}"/>
                </a:ext>
              </a:extLst>
            </p:cNvPr>
            <p:cNvSpPr>
              <a:spLocks/>
            </p:cNvSpPr>
            <p:nvPr/>
          </p:nvSpPr>
          <p:spPr>
            <a:xfrm>
              <a:off x="9525000" y="3981450"/>
              <a:ext cx="145732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050" b="1">
                  <a:solidFill>
                    <a:srgbClr val="9C5875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1050" b="1">
                  <a:solidFill>
                    <a:srgbClr val="9C5875"/>
                  </a:solidFill>
                  <a:latin typeface="Georgia"/>
                  <a:ea typeface="Georgia"/>
                  <a:cs typeface="Georgia"/>
                </a:defRPr>
              </a:pPr>
              <a:r>
                <a:rPr sz="1050" b="1">
                  <a:solidFill>
                    <a:srgbClr val="9C5875"/>
                  </a:solidFill>
                  <a:latin typeface="Georgia"/>
                  <a:ea typeface="Georgia"/>
                  <a:cs typeface="Georgia"/>
                </a:rPr>
                <a:t>Best-so-far</a:t>
              </a:r>
            </a:p>
          </p:txBody>
        </p:sp>
        <p:sp>
          <p:nvSpPr>
            <p:cNvPr id="254" name="textbox_254">
              <a:extLst>
                <a:ext uri="{FF2B5EF4-FFF2-40B4-BE49-F238E27FC236}">
                  <a16:creationId xmlns:a16="http://schemas.microsoft.com/office/drawing/2014/main" id="{C2EC4695-BB96-4EA4-B963-63247F6C50DA}"/>
                </a:ext>
              </a:extLst>
            </p:cNvPr>
            <p:cNvSpPr>
              <a:spLocks/>
            </p:cNvSpPr>
            <p:nvPr/>
          </p:nvSpPr>
          <p:spPr>
            <a:xfrm>
              <a:off x="9525000" y="4210050"/>
              <a:ext cx="145732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Best error vs. cost</a:t>
              </a:r>
            </a:p>
          </p:txBody>
        </p:sp>
      </p:grpSp>
      <p:grpSp>
        <p:nvGrpSpPr>
          <p:cNvPr id="279" name="corner_research_path">
            <a:extLst>
              <a:ext uri="{FF2B5EF4-FFF2-40B4-BE49-F238E27FC236}">
                <a16:creationId xmlns:a16="http://schemas.microsoft.com/office/drawing/2014/main" id="{D43F62AD-9639-5E9C-9101-705F4D0724CA}"/>
              </a:ext>
            </a:extLst>
          </p:cNvPr>
          <p:cNvGrpSpPr/>
          <p:nvPr/>
        </p:nvGrpSpPr>
        <p:grpSpPr>
          <a:xfrm>
            <a:off x="7648575" y="4700111"/>
            <a:ext cx="3571875" cy="1590294"/>
            <a:chOff x="7648575" y="4700111"/>
            <a:chExt cx="3571875" cy="1590294"/>
          </a:xfrm>
        </p:grpSpPr>
        <p:sp>
          <p:nvSpPr>
            <p:cNvPr id="255" name="mountain_ridge_255">
              <a:extLst>
                <a:ext uri="{FF2B5EF4-FFF2-40B4-BE49-F238E27FC236}">
                  <a16:creationId xmlns:a16="http://schemas.microsoft.com/office/drawing/2014/main" id="{E0B594AD-35FE-4A65-92CE-256C820EF660}"/>
                </a:ext>
              </a:extLst>
            </p:cNvPr>
            <p:cNvSpPr>
              <a:spLocks/>
            </p:cNvSpPr>
            <p:nvPr/>
          </p:nvSpPr>
          <p:spPr>
            <a:xfrm>
              <a:off x="7648575" y="4700111"/>
              <a:ext cx="3571875" cy="1529239"/>
            </a:xfrm>
            <a:custGeom>
              <a:avLst/>
              <a:gdLst/>
              <a:ahLst/>
              <a:cxnLst/>
              <a:rect l="0" t="0" r="0" b="0"/>
              <a:pathLst>
                <a:path w="3571875" h="1529239">
                  <a:moveTo>
                    <a:pt x="0" y="1400461"/>
                  </a:moveTo>
                  <a:lnTo>
                    <a:pt x="357188" y="1110710"/>
                  </a:lnTo>
                  <a:lnTo>
                    <a:pt x="678656" y="1191197"/>
                  </a:lnTo>
                  <a:lnTo>
                    <a:pt x="1035844" y="708279"/>
                  </a:lnTo>
                  <a:lnTo>
                    <a:pt x="1250156" y="885349"/>
                  </a:lnTo>
                  <a:lnTo>
                    <a:pt x="1750219" y="321945"/>
                  </a:lnTo>
                  <a:lnTo>
                    <a:pt x="2000250" y="627793"/>
                  </a:lnTo>
                  <a:lnTo>
                    <a:pt x="2428875" y="0"/>
                  </a:lnTo>
                  <a:lnTo>
                    <a:pt x="2750344" y="531209"/>
                  </a:lnTo>
                  <a:lnTo>
                    <a:pt x="3000375" y="370237"/>
                  </a:lnTo>
                  <a:lnTo>
                    <a:pt x="3571875" y="1175099"/>
                  </a:lnTo>
                  <a:lnTo>
                    <a:pt x="3571875" y="1529239"/>
                  </a:lnTo>
                  <a:lnTo>
                    <a:pt x="0" y="1529239"/>
                  </a:lnTo>
                  <a:close/>
                </a:path>
              </a:pathLst>
            </a:custGeom>
            <a:solidFill>
              <a:srgbClr val="E7E5EF"/>
            </a:solidFill>
            <a:ln w="0">
              <a:noFill/>
            </a:ln>
          </p:spPr>
        </p:sp>
        <p:sp>
          <p:nvSpPr>
            <p:cNvPr id="256" name="mountain_ridge_256">
              <a:extLst>
                <a:ext uri="{FF2B5EF4-FFF2-40B4-BE49-F238E27FC236}">
                  <a16:creationId xmlns:a16="http://schemas.microsoft.com/office/drawing/2014/main" id="{89BB42F8-6B2B-4224-9E36-2AE79487D3B3}"/>
                </a:ext>
              </a:extLst>
            </p:cNvPr>
            <p:cNvSpPr>
              <a:spLocks/>
            </p:cNvSpPr>
            <p:nvPr/>
          </p:nvSpPr>
          <p:spPr>
            <a:xfrm>
              <a:off x="7648575" y="5102543"/>
              <a:ext cx="3571875" cy="1126807"/>
            </a:xfrm>
            <a:custGeom>
              <a:avLst/>
              <a:gdLst/>
              <a:ahLst/>
              <a:cxnLst/>
              <a:rect l="0" t="0" r="0" b="0"/>
              <a:pathLst>
                <a:path w="3571875" h="1126807">
                  <a:moveTo>
                    <a:pt x="0" y="1126807"/>
                  </a:moveTo>
                  <a:lnTo>
                    <a:pt x="464344" y="885349"/>
                  </a:lnTo>
                  <a:lnTo>
                    <a:pt x="892969" y="450723"/>
                  </a:lnTo>
                  <a:lnTo>
                    <a:pt x="1143000" y="676084"/>
                  </a:lnTo>
                  <a:lnTo>
                    <a:pt x="1571625" y="225361"/>
                  </a:lnTo>
                  <a:lnTo>
                    <a:pt x="1857375" y="515112"/>
                  </a:lnTo>
                  <a:lnTo>
                    <a:pt x="2286000" y="0"/>
                  </a:lnTo>
                  <a:lnTo>
                    <a:pt x="2643188" y="434626"/>
                  </a:lnTo>
                  <a:lnTo>
                    <a:pt x="3000375" y="257556"/>
                  </a:lnTo>
                  <a:lnTo>
                    <a:pt x="3571875" y="965835"/>
                  </a:lnTo>
                  <a:lnTo>
                    <a:pt x="3571875" y="1126807"/>
                  </a:lnTo>
                  <a:close/>
                </a:path>
              </a:pathLst>
            </a:custGeom>
            <a:solidFill>
              <a:srgbClr val="D6D2E2"/>
            </a:solidFill>
            <a:ln w="0">
              <a:noFill/>
            </a:ln>
          </p:spPr>
        </p:sp>
        <p:sp>
          <p:nvSpPr>
            <p:cNvPr id="257" name="mountain_ridge_257">
              <a:extLst>
                <a:ext uri="{FF2B5EF4-FFF2-40B4-BE49-F238E27FC236}">
                  <a16:creationId xmlns:a16="http://schemas.microsoft.com/office/drawing/2014/main" id="{6E87F57B-F2EF-4C61-B78F-47FC9411FA66}"/>
                </a:ext>
              </a:extLst>
            </p:cNvPr>
            <p:cNvSpPr>
              <a:spLocks/>
            </p:cNvSpPr>
            <p:nvPr/>
          </p:nvSpPr>
          <p:spPr>
            <a:xfrm>
              <a:off x="7648575" y="5665946"/>
              <a:ext cx="3571875" cy="563404"/>
            </a:xfrm>
            <a:custGeom>
              <a:avLst/>
              <a:gdLst/>
              <a:ahLst/>
              <a:cxnLst/>
              <a:rect l="0" t="0" r="0" b="0"/>
              <a:pathLst>
                <a:path w="3571875" h="563404">
                  <a:moveTo>
                    <a:pt x="0" y="563404"/>
                  </a:moveTo>
                  <a:lnTo>
                    <a:pt x="750094" y="338042"/>
                  </a:lnTo>
                  <a:lnTo>
                    <a:pt x="1178719" y="418528"/>
                  </a:lnTo>
                  <a:lnTo>
                    <a:pt x="1643063" y="48292"/>
                  </a:lnTo>
                  <a:lnTo>
                    <a:pt x="2071688" y="289750"/>
                  </a:lnTo>
                  <a:lnTo>
                    <a:pt x="2464594" y="0"/>
                  </a:lnTo>
                  <a:lnTo>
                    <a:pt x="2928938" y="289750"/>
                  </a:lnTo>
                  <a:lnTo>
                    <a:pt x="3250406" y="112681"/>
                  </a:lnTo>
                  <a:lnTo>
                    <a:pt x="3571875" y="434626"/>
                  </a:lnTo>
                  <a:lnTo>
                    <a:pt x="3571875" y="563404"/>
                  </a:lnTo>
                  <a:close/>
                </a:path>
              </a:pathLst>
            </a:custGeom>
            <a:solidFill>
              <a:srgbClr val="EAE8F0"/>
            </a:solidFill>
            <a:ln w="0">
              <a:noFill/>
            </a:ln>
          </p:spPr>
        </p:sp>
        <p:sp>
          <p:nvSpPr>
            <p:cNvPr id="258" name="mountain_facet_258">
              <a:extLst>
                <a:ext uri="{FF2B5EF4-FFF2-40B4-BE49-F238E27FC236}">
                  <a16:creationId xmlns:a16="http://schemas.microsoft.com/office/drawing/2014/main" id="{5547BA9F-2591-4C2C-9E7F-7AAB7871B059}"/>
                </a:ext>
              </a:extLst>
            </p:cNvPr>
            <p:cNvSpPr>
              <a:spLocks/>
            </p:cNvSpPr>
            <p:nvPr/>
          </p:nvSpPr>
          <p:spPr>
            <a:xfrm>
              <a:off x="8505825" y="5408390"/>
              <a:ext cx="392906" cy="402431"/>
            </a:xfrm>
            <a:custGeom>
              <a:avLst/>
              <a:gdLst/>
              <a:ahLst/>
              <a:cxnLst/>
              <a:rect l="0" t="0" r="0" b="0"/>
              <a:pathLst>
                <a:path w="392906" h="402431">
                  <a:moveTo>
                    <a:pt x="178594" y="0"/>
                  </a:moveTo>
                  <a:lnTo>
                    <a:pt x="0" y="402431"/>
                  </a:lnTo>
                  <a:lnTo>
                    <a:pt x="392906" y="177070"/>
                  </a:lnTo>
                  <a:close/>
                </a:path>
              </a:pathLst>
            </a:custGeom>
            <a:solidFill>
              <a:srgbClr val="F5F4F8"/>
            </a:solidFill>
            <a:ln w="0">
              <a:noFill/>
            </a:ln>
          </p:spPr>
        </p:sp>
        <p:sp>
          <p:nvSpPr>
            <p:cNvPr id="259" name="mountain_facet_259">
              <a:extLst>
                <a:ext uri="{FF2B5EF4-FFF2-40B4-BE49-F238E27FC236}">
                  <a16:creationId xmlns:a16="http://schemas.microsoft.com/office/drawing/2014/main" id="{500D3213-8AE4-42E4-AA4E-8CF09A1A8577}"/>
                </a:ext>
              </a:extLst>
            </p:cNvPr>
            <p:cNvSpPr>
              <a:spLocks/>
            </p:cNvSpPr>
            <p:nvPr/>
          </p:nvSpPr>
          <p:spPr>
            <a:xfrm>
              <a:off x="9220200" y="5022056"/>
              <a:ext cx="428625" cy="499015"/>
            </a:xfrm>
            <a:custGeom>
              <a:avLst/>
              <a:gdLst/>
              <a:ahLst/>
              <a:cxnLst/>
              <a:rect l="0" t="0" r="0" b="0"/>
              <a:pathLst>
                <a:path w="428625" h="499015">
                  <a:moveTo>
                    <a:pt x="178594" y="0"/>
                  </a:moveTo>
                  <a:lnTo>
                    <a:pt x="0" y="499015"/>
                  </a:lnTo>
                  <a:lnTo>
                    <a:pt x="428625" y="305848"/>
                  </a:lnTo>
                  <a:close/>
                </a:path>
              </a:pathLst>
            </a:custGeom>
            <a:solidFill>
              <a:srgbClr val="C2BCD3"/>
            </a:solidFill>
            <a:ln w="0">
              <a:noFill/>
            </a:ln>
          </p:spPr>
        </p:sp>
        <p:sp>
          <p:nvSpPr>
            <p:cNvPr id="260" name="mountain_facet_260">
              <a:extLst>
                <a:ext uri="{FF2B5EF4-FFF2-40B4-BE49-F238E27FC236}">
                  <a16:creationId xmlns:a16="http://schemas.microsoft.com/office/drawing/2014/main" id="{38D0220E-4CD1-4AFC-9360-C63CFB48E5D4}"/>
                </a:ext>
              </a:extLst>
            </p:cNvPr>
            <p:cNvSpPr>
              <a:spLocks/>
            </p:cNvSpPr>
            <p:nvPr/>
          </p:nvSpPr>
          <p:spPr>
            <a:xfrm>
              <a:off x="9863138" y="4700111"/>
              <a:ext cx="535781" cy="563404"/>
            </a:xfrm>
            <a:custGeom>
              <a:avLst/>
              <a:gdLst/>
              <a:ahLst/>
              <a:cxnLst/>
              <a:rect l="0" t="0" r="0" b="0"/>
              <a:pathLst>
                <a:path w="535781" h="563404">
                  <a:moveTo>
                    <a:pt x="214313" y="0"/>
                  </a:moveTo>
                  <a:lnTo>
                    <a:pt x="0" y="563404"/>
                  </a:lnTo>
                  <a:lnTo>
                    <a:pt x="535781" y="531209"/>
                  </a:lnTo>
                  <a:close/>
                </a:path>
              </a:pathLst>
            </a:custGeom>
            <a:solidFill>
              <a:srgbClr val="F5F4F8"/>
            </a:solidFill>
            <a:ln w="0">
              <a:noFill/>
            </a:ln>
          </p:spPr>
        </p:sp>
        <p:sp>
          <p:nvSpPr>
            <p:cNvPr id="261" name="mountain_facet_261">
              <a:extLst>
                <a:ext uri="{FF2B5EF4-FFF2-40B4-BE49-F238E27FC236}">
                  <a16:creationId xmlns:a16="http://schemas.microsoft.com/office/drawing/2014/main" id="{2BC78811-47C0-4C32-B3AC-367EB1CC6DF9}"/>
                </a:ext>
              </a:extLst>
            </p:cNvPr>
            <p:cNvSpPr>
              <a:spLocks/>
            </p:cNvSpPr>
            <p:nvPr/>
          </p:nvSpPr>
          <p:spPr>
            <a:xfrm>
              <a:off x="10506075" y="5070348"/>
              <a:ext cx="428625" cy="450723"/>
            </a:xfrm>
            <a:custGeom>
              <a:avLst/>
              <a:gdLst/>
              <a:ahLst/>
              <a:cxnLst/>
              <a:rect l="0" t="0" r="0" b="0"/>
              <a:pathLst>
                <a:path w="428625" h="450723">
                  <a:moveTo>
                    <a:pt x="142875" y="0"/>
                  </a:moveTo>
                  <a:lnTo>
                    <a:pt x="0" y="450723"/>
                  </a:lnTo>
                  <a:lnTo>
                    <a:pt x="428625" y="450723"/>
                  </a:lnTo>
                  <a:close/>
                </a:path>
              </a:pathLst>
            </a:custGeom>
            <a:solidFill>
              <a:srgbClr val="C2BCD3"/>
            </a:solidFill>
            <a:ln w="0">
              <a:noFill/>
            </a:ln>
          </p:spPr>
        </p:sp>
        <p:sp>
          <p:nvSpPr>
            <p:cNvPr id="262" name="mountain_facet_262">
              <a:extLst>
                <a:ext uri="{FF2B5EF4-FFF2-40B4-BE49-F238E27FC236}">
                  <a16:creationId xmlns:a16="http://schemas.microsoft.com/office/drawing/2014/main" id="{7B40603F-63F0-4B2A-B26B-B62182E51D28}"/>
                </a:ext>
              </a:extLst>
            </p:cNvPr>
            <p:cNvSpPr>
              <a:spLocks/>
            </p:cNvSpPr>
            <p:nvPr/>
          </p:nvSpPr>
          <p:spPr>
            <a:xfrm>
              <a:off x="9077325" y="5327904"/>
              <a:ext cx="428625" cy="418528"/>
            </a:xfrm>
            <a:custGeom>
              <a:avLst/>
              <a:gdLst/>
              <a:ahLst/>
              <a:cxnLst/>
              <a:rect l="0" t="0" r="0" b="0"/>
              <a:pathLst>
                <a:path w="428625" h="418528">
                  <a:moveTo>
                    <a:pt x="142875" y="0"/>
                  </a:moveTo>
                  <a:lnTo>
                    <a:pt x="0" y="418528"/>
                  </a:lnTo>
                  <a:lnTo>
                    <a:pt x="428625" y="289750"/>
                  </a:lnTo>
                  <a:close/>
                </a:path>
              </a:pathLst>
            </a:custGeom>
            <a:solidFill>
              <a:srgbClr val="F5F4F8"/>
            </a:solidFill>
            <a:ln w="0">
              <a:noFill/>
            </a:ln>
          </p:spPr>
        </p:sp>
        <p:sp>
          <p:nvSpPr>
            <p:cNvPr id="263" name="mountain_facet_263">
              <a:extLst>
                <a:ext uri="{FF2B5EF4-FFF2-40B4-BE49-F238E27FC236}">
                  <a16:creationId xmlns:a16="http://schemas.microsoft.com/office/drawing/2014/main" id="{26E04330-0162-4075-8EF6-C0FED60D873D}"/>
                </a:ext>
              </a:extLst>
            </p:cNvPr>
            <p:cNvSpPr>
              <a:spLocks/>
            </p:cNvSpPr>
            <p:nvPr/>
          </p:nvSpPr>
          <p:spPr>
            <a:xfrm>
              <a:off x="9791700" y="5102543"/>
              <a:ext cx="500063" cy="563404"/>
            </a:xfrm>
            <a:custGeom>
              <a:avLst/>
              <a:gdLst/>
              <a:ahLst/>
              <a:cxnLst/>
              <a:rect l="0" t="0" r="0" b="0"/>
              <a:pathLst>
                <a:path w="500063" h="563404">
                  <a:moveTo>
                    <a:pt x="142875" y="0"/>
                  </a:moveTo>
                  <a:lnTo>
                    <a:pt x="0" y="563404"/>
                  </a:lnTo>
                  <a:lnTo>
                    <a:pt x="500063" y="434626"/>
                  </a:lnTo>
                  <a:close/>
                </a:path>
              </a:pathLst>
            </a:custGeom>
            <a:solidFill>
              <a:srgbClr val="C2BCD3"/>
            </a:solidFill>
            <a:ln w="0">
              <a:noFill/>
            </a:ln>
          </p:spPr>
        </p:sp>
        <p:sp>
          <p:nvSpPr>
            <p:cNvPr id="264" name="native_curve_264">
              <a:extLst>
                <a:ext uri="{FF2B5EF4-FFF2-40B4-BE49-F238E27FC236}">
                  <a16:creationId xmlns:a16="http://schemas.microsoft.com/office/drawing/2014/main" id="{111551D1-B270-4993-AA0D-5F8FEFA96681}"/>
                </a:ext>
              </a:extLst>
            </p:cNvPr>
            <p:cNvSpPr>
              <a:spLocks/>
            </p:cNvSpPr>
            <p:nvPr/>
          </p:nvSpPr>
          <p:spPr>
            <a:xfrm>
              <a:off x="8327231" y="4941570"/>
              <a:ext cx="1785938" cy="1126808"/>
            </a:xfrm>
            <a:custGeom>
              <a:avLst/>
              <a:gdLst/>
              <a:ahLst/>
              <a:cxnLst/>
              <a:rect l="0" t="0" r="0" b="0"/>
              <a:pathLst>
                <a:path w="1785938" h="1126808">
                  <a:moveTo>
                    <a:pt x="0" y="1126808"/>
                  </a:moveTo>
                  <a:lnTo>
                    <a:pt x="463135" y="967198"/>
                  </a:lnTo>
                  <a:cubicBezTo>
                    <a:pt x="559191" y="934095"/>
                    <a:pt x="653067" y="895666"/>
                    <a:pt x="744762" y="851911"/>
                  </a:cubicBezTo>
                  <a:lnTo>
                    <a:pt x="1076894" y="693425"/>
                  </a:lnTo>
                  <a:cubicBezTo>
                    <a:pt x="1168590" y="649670"/>
                    <a:pt x="1248635" y="590227"/>
                    <a:pt x="1317029" y="515096"/>
                  </a:cubicBezTo>
                  <a:lnTo>
                    <a:pt x="1785938" y="0"/>
                  </a:lnTo>
                </a:path>
              </a:pathLst>
            </a:custGeom>
            <a:noFill/>
            <a:ln w="21908">
              <a:solidFill>
                <a:srgbClr val="FFFFFF"/>
              </a:solidFill>
              <a:prstDash val="solid"/>
            </a:ln>
          </p:spPr>
        </p:sp>
        <p:sp>
          <p:nvSpPr>
            <p:cNvPr id="265" name="native_curve_265">
              <a:extLst>
                <a:ext uri="{FF2B5EF4-FFF2-40B4-BE49-F238E27FC236}">
                  <a16:creationId xmlns:a16="http://schemas.microsoft.com/office/drawing/2014/main" id="{8ED1D262-9D5D-4E45-AA5A-68208A084109}"/>
                </a:ext>
              </a:extLst>
            </p:cNvPr>
            <p:cNvSpPr>
              <a:spLocks/>
            </p:cNvSpPr>
            <p:nvPr/>
          </p:nvSpPr>
          <p:spPr>
            <a:xfrm>
              <a:off x="8346281" y="4922520"/>
              <a:ext cx="1785938" cy="1126808"/>
            </a:xfrm>
            <a:custGeom>
              <a:avLst/>
              <a:gdLst/>
              <a:ahLst/>
              <a:cxnLst/>
              <a:rect l="0" t="0" r="0" b="0"/>
              <a:pathLst>
                <a:path w="1785938" h="1126808">
                  <a:moveTo>
                    <a:pt x="0" y="1126808"/>
                  </a:moveTo>
                  <a:lnTo>
                    <a:pt x="463135" y="967198"/>
                  </a:lnTo>
                  <a:cubicBezTo>
                    <a:pt x="559191" y="934095"/>
                    <a:pt x="653067" y="895666"/>
                    <a:pt x="744762" y="851911"/>
                  </a:cubicBezTo>
                  <a:lnTo>
                    <a:pt x="1076894" y="693425"/>
                  </a:lnTo>
                  <a:cubicBezTo>
                    <a:pt x="1168590" y="649670"/>
                    <a:pt x="1248635" y="590227"/>
                    <a:pt x="1317029" y="515096"/>
                  </a:cubicBezTo>
                  <a:lnTo>
                    <a:pt x="1785938" y="0"/>
                  </a:lnTo>
                </a:path>
              </a:pathLst>
            </a:custGeom>
            <a:noFill/>
            <a:ln w="10001">
              <a:solidFill>
                <a:srgbClr val="9C5875"/>
              </a:solidFill>
              <a:prstDash val="solid"/>
            </a:ln>
          </p:spPr>
        </p:sp>
        <p:sp>
          <p:nvSpPr>
            <p:cNvPr id="266" name="ellipse_266">
              <a:extLst>
                <a:ext uri="{FF2B5EF4-FFF2-40B4-BE49-F238E27FC236}">
                  <a16:creationId xmlns:a16="http://schemas.microsoft.com/office/drawing/2014/main" id="{0FE58A6D-4259-4789-83E4-5C5D2CAAC9CB}"/>
                </a:ext>
              </a:extLst>
            </p:cNvPr>
            <p:cNvSpPr>
              <a:spLocks/>
            </p:cNvSpPr>
            <p:nvPr/>
          </p:nvSpPr>
          <p:spPr>
            <a:xfrm>
              <a:off x="8289131" y="6030278"/>
              <a:ext cx="76200" cy="7620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9C5875"/>
              </a:solidFill>
              <a:prstDash val="solid"/>
            </a:ln>
          </p:spPr>
        </p:sp>
        <p:sp>
          <p:nvSpPr>
            <p:cNvPr id="267" name="textbox_267">
              <a:extLst>
                <a:ext uri="{FF2B5EF4-FFF2-40B4-BE49-F238E27FC236}">
                  <a16:creationId xmlns:a16="http://schemas.microsoft.com/office/drawing/2014/main" id="{DCF212FA-2D0B-4E0E-AD0D-41F63036DC83}"/>
                </a:ext>
              </a:extLst>
            </p:cNvPr>
            <p:cNvSpPr>
              <a:spLocks/>
            </p:cNvSpPr>
            <p:nvPr/>
          </p:nvSpPr>
          <p:spPr>
            <a:xfrm>
              <a:off x="8393906" y="6030278"/>
              <a:ext cx="276225" cy="1619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Q1</a:t>
              </a:r>
            </a:p>
          </p:txBody>
        </p:sp>
        <p:sp>
          <p:nvSpPr>
            <p:cNvPr id="268" name="ellipse_268">
              <a:extLst>
                <a:ext uri="{FF2B5EF4-FFF2-40B4-BE49-F238E27FC236}">
                  <a16:creationId xmlns:a16="http://schemas.microsoft.com/office/drawing/2014/main" id="{5F13B981-3E32-4797-85D3-1E07AAEEE858}"/>
                </a:ext>
              </a:extLst>
            </p:cNvPr>
            <p:cNvSpPr>
              <a:spLocks/>
            </p:cNvSpPr>
            <p:nvPr/>
          </p:nvSpPr>
          <p:spPr>
            <a:xfrm>
              <a:off x="9503569" y="5531263"/>
              <a:ext cx="76200" cy="7620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9C5875"/>
              </a:solidFill>
              <a:prstDash val="solid"/>
            </a:ln>
          </p:spPr>
        </p:sp>
        <p:sp>
          <p:nvSpPr>
            <p:cNvPr id="269" name="textbox_269">
              <a:extLst>
                <a:ext uri="{FF2B5EF4-FFF2-40B4-BE49-F238E27FC236}">
                  <a16:creationId xmlns:a16="http://schemas.microsoft.com/office/drawing/2014/main" id="{11C8D0F4-A95F-4623-AAC9-D5F9C96DCF30}"/>
                </a:ext>
              </a:extLst>
            </p:cNvPr>
            <p:cNvSpPr>
              <a:spLocks/>
            </p:cNvSpPr>
            <p:nvPr/>
          </p:nvSpPr>
          <p:spPr>
            <a:xfrm>
              <a:off x="9608344" y="5531263"/>
              <a:ext cx="276225" cy="1619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900" b="1" dirty="0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Q2</a:t>
              </a:r>
            </a:p>
          </p:txBody>
        </p:sp>
        <p:sp>
          <p:nvSpPr>
            <p:cNvPr id="270" name="ellipse_270">
              <a:extLst>
                <a:ext uri="{FF2B5EF4-FFF2-40B4-BE49-F238E27FC236}">
                  <a16:creationId xmlns:a16="http://schemas.microsoft.com/office/drawing/2014/main" id="{6899EA4B-E528-4001-8331-03510BD4E9D7}"/>
                </a:ext>
              </a:extLst>
            </p:cNvPr>
            <p:cNvSpPr>
              <a:spLocks/>
            </p:cNvSpPr>
            <p:nvPr/>
          </p:nvSpPr>
          <p:spPr>
            <a:xfrm>
              <a:off x="10075069" y="4903470"/>
              <a:ext cx="76200" cy="76200"/>
            </a:xfrm>
            <a:prstGeom prst="ellipse">
              <a:avLst/>
            </a:prstGeom>
            <a:solidFill>
              <a:srgbClr val="FFFFFF"/>
            </a:solidFill>
            <a:ln w="15240">
              <a:solidFill>
                <a:srgbClr val="9C5875"/>
              </a:solidFill>
              <a:prstDash val="solid"/>
            </a:ln>
          </p:spPr>
        </p:sp>
        <p:sp>
          <p:nvSpPr>
            <p:cNvPr id="271" name="textbox_271">
              <a:extLst>
                <a:ext uri="{FF2B5EF4-FFF2-40B4-BE49-F238E27FC236}">
                  <a16:creationId xmlns:a16="http://schemas.microsoft.com/office/drawing/2014/main" id="{1EF77A38-FABD-4D0B-9AE1-65AD19BED378}"/>
                </a:ext>
              </a:extLst>
            </p:cNvPr>
            <p:cNvSpPr>
              <a:spLocks/>
            </p:cNvSpPr>
            <p:nvPr/>
          </p:nvSpPr>
          <p:spPr>
            <a:xfrm>
              <a:off x="10179844" y="4903470"/>
              <a:ext cx="276225" cy="1619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900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900" b="1" dirty="0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Q3</a:t>
              </a:r>
            </a:p>
          </p:txBody>
        </p:sp>
        <p:sp>
          <p:nvSpPr>
            <p:cNvPr id="272" name="textbox_272">
              <a:extLst>
                <a:ext uri="{FF2B5EF4-FFF2-40B4-BE49-F238E27FC236}">
                  <a16:creationId xmlns:a16="http://schemas.microsoft.com/office/drawing/2014/main" id="{C0D03A56-ED7C-4A1C-9E8D-DC7B2F692F53}"/>
                </a:ext>
              </a:extLst>
            </p:cNvPr>
            <p:cNvSpPr>
              <a:spLocks/>
            </p:cNvSpPr>
            <p:nvPr/>
          </p:nvSpPr>
          <p:spPr>
            <a:xfrm>
              <a:off x="9041606" y="6052280"/>
              <a:ext cx="2178844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38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38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38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A research pathway · schematic</a:t>
              </a:r>
            </a:p>
          </p:txBody>
        </p:sp>
      </p:grpSp>
      <p:sp>
        <p:nvSpPr>
          <p:cNvPr id="273" name="textbox_273">
            <a:extLst>
              <a:ext uri="{FF2B5EF4-FFF2-40B4-BE49-F238E27FC236}">
                <a16:creationId xmlns:a16="http://schemas.microsoft.com/office/drawing/2014/main" id="{90FE9CAE-5337-45D6-90C8-833BE16816D5}"/>
              </a:ext>
            </a:extLst>
          </p:cNvPr>
          <p:cNvSpPr>
            <a:spLocks/>
          </p:cNvSpPr>
          <p:nvPr/>
        </p:nvSpPr>
        <p:spPr>
          <a:xfrm>
            <a:off x="200025" y="6276975"/>
            <a:ext cx="10953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研究问题与曲线均为拟议机制示意；Q2 需以同历史 B/C 对照检验，Q3 需计入真实总成本。</a:t>
            </a:r>
          </a:p>
        </p:txBody>
      </p:sp>
    </p:spTree>
    <p:extLst>
      <p:ext uri="{BB962C8B-B14F-4D97-AF65-F5344CB8AC3E}">
        <p14:creationId xmlns:p14="http://schemas.microsoft.com/office/powerpoint/2010/main" val="562843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_1">
            <a:extLst>
              <a:ext uri="{FF2B5EF4-FFF2-40B4-BE49-F238E27FC236}">
                <a16:creationId xmlns:a16="http://schemas.microsoft.com/office/drawing/2014/main" id="{1D330262-4E6C-4396-A9FF-9F057C31F196}"/>
              </a:ext>
            </a:extLst>
          </p:cNvPr>
          <p:cNvSpPr>
            <a:spLocks/>
          </p:cNvSpPr>
          <p:nvPr/>
        </p:nvSpPr>
        <p:spPr>
          <a:xfrm>
            <a:off x="3714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01  研究问题</a:t>
            </a:r>
          </a:p>
        </p:txBody>
      </p:sp>
      <p:sp>
        <p:nvSpPr>
          <p:cNvPr id="2" name="textbox_2">
            <a:extLst>
              <a:ext uri="{FF2B5EF4-FFF2-40B4-BE49-F238E27FC236}">
                <a16:creationId xmlns:a16="http://schemas.microsoft.com/office/drawing/2014/main" id="{A9CD3173-8C85-4E2F-80B7-F53A42A42710}"/>
              </a:ext>
            </a:extLst>
          </p:cNvPr>
          <p:cNvSpPr>
            <a:spLocks/>
          </p:cNvSpPr>
          <p:nvPr/>
        </p:nvSpPr>
        <p:spPr>
          <a:xfrm>
            <a:off x="251460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02  对象与基础</a:t>
            </a:r>
          </a:p>
        </p:txBody>
      </p:sp>
      <p:sp>
        <p:nvSpPr>
          <p:cNvPr id="3" name="rect_3">
            <a:extLst>
              <a:ext uri="{FF2B5EF4-FFF2-40B4-BE49-F238E27FC236}">
                <a16:creationId xmlns:a16="http://schemas.microsoft.com/office/drawing/2014/main" id="{F38E5267-A0C7-4634-8423-52E5E543EA9C}"/>
              </a:ext>
            </a:extLst>
          </p:cNvPr>
          <p:cNvSpPr>
            <a:spLocks/>
          </p:cNvSpPr>
          <p:nvPr/>
        </p:nvSpPr>
        <p:spPr>
          <a:xfrm>
            <a:off x="2514600" y="447675"/>
            <a:ext cx="1238250" cy="2857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4" name="textbox_4">
            <a:extLst>
              <a:ext uri="{FF2B5EF4-FFF2-40B4-BE49-F238E27FC236}">
                <a16:creationId xmlns:a16="http://schemas.microsoft.com/office/drawing/2014/main" id="{80F84D85-D965-4A09-88F5-54005758D09E}"/>
              </a:ext>
            </a:extLst>
          </p:cNvPr>
          <p:cNvSpPr>
            <a:spLocks/>
          </p:cNvSpPr>
          <p:nvPr/>
        </p:nvSpPr>
        <p:spPr>
          <a:xfrm>
            <a:off x="465772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03  方法与机制</a:t>
            </a:r>
          </a:p>
        </p:txBody>
      </p:sp>
      <p:sp>
        <p:nvSpPr>
          <p:cNvPr id="5" name="textbox_5">
            <a:extLst>
              <a:ext uri="{FF2B5EF4-FFF2-40B4-BE49-F238E27FC236}">
                <a16:creationId xmlns:a16="http://schemas.microsoft.com/office/drawing/2014/main" id="{7621F239-91C0-4577-BCCD-949C8475D075}"/>
              </a:ext>
            </a:extLst>
          </p:cNvPr>
          <p:cNvSpPr>
            <a:spLocks/>
          </p:cNvSpPr>
          <p:nvPr/>
        </p:nvSpPr>
        <p:spPr>
          <a:xfrm>
            <a:off x="680085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04  实验与证据</a:t>
            </a:r>
          </a:p>
        </p:txBody>
      </p:sp>
      <p:sp>
        <p:nvSpPr>
          <p:cNvPr id="6" name="textbox_6">
            <a:extLst>
              <a:ext uri="{FF2B5EF4-FFF2-40B4-BE49-F238E27FC236}">
                <a16:creationId xmlns:a16="http://schemas.microsoft.com/office/drawing/2014/main" id="{7AE01FC2-79A4-43F5-8F02-3B301C5C5721}"/>
              </a:ext>
            </a:extLst>
          </p:cNvPr>
          <p:cNvSpPr>
            <a:spLocks/>
          </p:cNvSpPr>
          <p:nvPr/>
        </p:nvSpPr>
        <p:spPr>
          <a:xfrm>
            <a:off x="89439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05  实施与产出</a:t>
            </a:r>
          </a:p>
        </p:txBody>
      </p:sp>
      <p:sp>
        <p:nvSpPr>
          <p:cNvPr id="7" name="line_7">
            <a:extLst>
              <a:ext uri="{FF2B5EF4-FFF2-40B4-BE49-F238E27FC236}">
                <a16:creationId xmlns:a16="http://schemas.microsoft.com/office/drawing/2014/main" id="{19D0AEAF-78CC-4B0E-845D-0D8C03988F5B}"/>
              </a:ext>
            </a:extLst>
          </p:cNvPr>
          <p:cNvSpPr>
            <a:spLocks/>
          </p:cNvSpPr>
          <p:nvPr/>
        </p:nvSpPr>
        <p:spPr>
          <a:xfrm>
            <a:off x="371475" y="476250"/>
            <a:ext cx="10677525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8" name="slide_title">
            <a:extLst>
              <a:ext uri="{FF2B5EF4-FFF2-40B4-BE49-F238E27FC236}">
                <a16:creationId xmlns:a16="http://schemas.microsoft.com/office/drawing/2014/main" id="{514D1E22-B3BB-4DAC-A9B6-A1627DB747F1}"/>
              </a:ext>
            </a:extLst>
          </p:cNvPr>
          <p:cNvSpPr>
            <a:spLocks/>
          </p:cNvSpPr>
          <p:nvPr/>
        </p:nvSpPr>
        <p:spPr>
          <a:xfrm>
            <a:off x="361950" y="685800"/>
            <a:ext cx="10706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defPPr>
          </a:lstStyle>
          <a:p>
            <a: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pP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02</a:t>
            </a:r>
            <a:r>
              <a:rPr sz="2175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  </a:t>
            </a: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三个候选模型提供三种不同的序列建模方式</a:t>
            </a:r>
          </a:p>
        </p:txBody>
      </p:sp>
      <p:sp>
        <p:nvSpPr>
          <p:cNvPr id="9" name="textbox_8">
            <a:extLst>
              <a:ext uri="{FF2B5EF4-FFF2-40B4-BE49-F238E27FC236}">
                <a16:creationId xmlns:a16="http://schemas.microsoft.com/office/drawing/2014/main" id="{59164C6E-8E81-4007-A421-1EB1578D4233}"/>
              </a:ext>
            </a:extLst>
          </p:cNvPr>
          <p:cNvSpPr>
            <a:spLocks/>
          </p:cNvSpPr>
          <p:nvPr/>
        </p:nvSpPr>
        <p:spPr>
          <a:xfrm>
            <a:off x="381000" y="1133475"/>
            <a:ext cx="10668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原创建模示意，依据原论文的主要机制绘制；不表示性能排序。</a:t>
            </a:r>
          </a:p>
        </p:txBody>
      </p:sp>
      <p:sp>
        <p:nvSpPr>
          <p:cNvPr id="10" name="textbox_9">
            <a:extLst>
              <a:ext uri="{FF2B5EF4-FFF2-40B4-BE49-F238E27FC236}">
                <a16:creationId xmlns:a16="http://schemas.microsoft.com/office/drawing/2014/main" id="{15021120-FF37-4D1E-940C-5C73408ABF1D}"/>
              </a:ext>
            </a:extLst>
          </p:cNvPr>
          <p:cNvSpPr>
            <a:spLocks/>
          </p:cNvSpPr>
          <p:nvPr/>
        </p:nvSpPr>
        <p:spPr>
          <a:xfrm>
            <a:off x="469011" y="1352550"/>
            <a:ext cx="3318891" cy="2089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8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28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28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a  DLinear</a:t>
            </a:r>
          </a:p>
        </p:txBody>
      </p:sp>
      <p:sp>
        <p:nvSpPr>
          <p:cNvPr id="12" name="textbox_11">
            <a:extLst>
              <a:ext uri="{FF2B5EF4-FFF2-40B4-BE49-F238E27FC236}">
                <a16:creationId xmlns:a16="http://schemas.microsoft.com/office/drawing/2014/main" id="{29830736-B5FB-4A10-AADE-BC3E9C7E75E6}"/>
              </a:ext>
            </a:extLst>
          </p:cNvPr>
          <p:cNvSpPr>
            <a:spLocks/>
          </p:cNvSpPr>
          <p:nvPr/>
        </p:nvSpPr>
        <p:spPr>
          <a:xfrm>
            <a:off x="4109085" y="1352550"/>
            <a:ext cx="3318891" cy="2089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8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28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28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b  PatchTST</a:t>
            </a:r>
          </a:p>
        </p:txBody>
      </p:sp>
      <p:sp>
        <p:nvSpPr>
          <p:cNvPr id="14" name="textbox_13">
            <a:extLst>
              <a:ext uri="{FF2B5EF4-FFF2-40B4-BE49-F238E27FC236}">
                <a16:creationId xmlns:a16="http://schemas.microsoft.com/office/drawing/2014/main" id="{F1DDDF1D-8277-49A4-9DEC-874792991614}"/>
              </a:ext>
            </a:extLst>
          </p:cNvPr>
          <p:cNvSpPr>
            <a:spLocks/>
          </p:cNvSpPr>
          <p:nvPr/>
        </p:nvSpPr>
        <p:spPr>
          <a:xfrm>
            <a:off x="7749159" y="1352550"/>
            <a:ext cx="3318891" cy="2089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8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28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28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c  TimesNet</a:t>
            </a:r>
          </a:p>
        </p:txBody>
      </p:sp>
      <p:grpSp>
        <p:nvGrpSpPr>
          <p:cNvPr id="66" name="complete_diagram_with_connectors">
            <a:extLst>
              <a:ext uri="{FF2B5EF4-FFF2-40B4-BE49-F238E27FC236}">
                <a16:creationId xmlns:a16="http://schemas.microsoft.com/office/drawing/2014/main" id="{940DB75B-F54F-05DD-B25F-6D7140515BA7}"/>
              </a:ext>
            </a:extLst>
          </p:cNvPr>
          <p:cNvGrpSpPr/>
          <p:nvPr/>
        </p:nvGrpSpPr>
        <p:grpSpPr>
          <a:xfrm>
            <a:off x="361950" y="1646672"/>
            <a:ext cx="10599039" cy="2480531"/>
            <a:chOff x="361950" y="1646672"/>
            <a:chExt cx="10599039" cy="2480531"/>
          </a:xfrm>
        </p:grpSpPr>
        <p:cxnSp>
          <p:nvCxnSpPr>
            <p:cNvPr id="20" name="connector_19">
              <a:extLst>
                <a:ext uri="{FF2B5EF4-FFF2-40B4-BE49-F238E27FC236}">
                  <a16:creationId xmlns:a16="http://schemas.microsoft.com/office/drawing/2014/main" id="{9A35FEB9-D70B-4A49-8E48-0D6B07770C3F}"/>
                </a:ext>
              </a:extLst>
            </p:cNvPr>
            <p:cNvCxnSpPr>
              <a:stCxn id="16" idx="2"/>
              <a:endCxn id="17" idx="0"/>
            </p:cNvCxnSpPr>
            <p:nvPr/>
          </p:nvCxnSpPr>
          <p:spPr>
            <a:xfrm flipH="1">
              <a:off x="1127436" y="2560340"/>
              <a:ext cx="936784" cy="274201"/>
            </a:xfrm>
            <a:prstGeom prst="straightConnector1">
              <a:avLst/>
            </a:prstGeom>
            <a:ln w="20955">
              <a:solidFill>
                <a:srgbClr val="9C5875"/>
              </a:solidFill>
              <a:prstDash val="solid"/>
              <a:tailEnd type="triangle" w="med" len="med"/>
            </a:ln>
          </p:spPr>
        </p:cxnSp>
        <p:cxnSp>
          <p:nvCxnSpPr>
            <p:cNvPr id="21" name="connector_20">
              <a:extLst>
                <a:ext uri="{FF2B5EF4-FFF2-40B4-BE49-F238E27FC236}">
                  <a16:creationId xmlns:a16="http://schemas.microsoft.com/office/drawing/2014/main" id="{E8ACC86A-243E-47C4-B24E-090C7143BC26}"/>
                </a:ext>
              </a:extLst>
            </p:cNvPr>
            <p:cNvCxnSpPr>
              <a:stCxn id="16" idx="2"/>
              <a:endCxn id="18" idx="0"/>
            </p:cNvCxnSpPr>
            <p:nvPr/>
          </p:nvCxnSpPr>
          <p:spPr>
            <a:xfrm>
              <a:off x="2064220" y="2560340"/>
              <a:ext cx="979608" cy="274201"/>
            </a:xfrm>
            <a:prstGeom prst="straightConnector1">
              <a:avLst/>
            </a:prstGeom>
            <a:ln w="20955">
              <a:solidFill>
                <a:srgbClr val="9C5875"/>
              </a:solidFill>
              <a:prstDash val="solid"/>
              <a:tailEnd type="triangle" w="med" len="med"/>
            </a:ln>
          </p:spPr>
        </p:cxnSp>
        <p:cxnSp>
          <p:nvCxnSpPr>
            <p:cNvPr id="22" name="connector_21">
              <a:extLst>
                <a:ext uri="{FF2B5EF4-FFF2-40B4-BE49-F238E27FC236}">
                  <a16:creationId xmlns:a16="http://schemas.microsoft.com/office/drawing/2014/main" id="{CC71660C-1713-4D0E-B578-BC5951E06557}"/>
                </a:ext>
              </a:extLst>
            </p:cNvPr>
            <p:cNvCxnSpPr>
              <a:stCxn id="17" idx="2"/>
              <a:endCxn id="19" idx="1"/>
            </p:cNvCxnSpPr>
            <p:nvPr/>
          </p:nvCxnSpPr>
          <p:spPr>
            <a:xfrm>
              <a:off x="1127436" y="3291543"/>
              <a:ext cx="40620" cy="639802"/>
            </a:xfrm>
            <a:prstGeom prst="straightConnector1">
              <a:avLst/>
            </a:prstGeom>
            <a:ln w="20955">
              <a:solidFill>
                <a:srgbClr val="9C5875"/>
              </a:solidFill>
              <a:prstDash val="solid"/>
              <a:tailEnd type="triangle" w="med" len="med"/>
            </a:ln>
          </p:spPr>
        </p:cxnSp>
        <p:cxnSp>
          <p:nvCxnSpPr>
            <p:cNvPr id="23" name="connector_22">
              <a:extLst>
                <a:ext uri="{FF2B5EF4-FFF2-40B4-BE49-F238E27FC236}">
                  <a16:creationId xmlns:a16="http://schemas.microsoft.com/office/drawing/2014/main" id="{26CEFE0E-D35E-484D-8804-989E9F20127C}"/>
                </a:ext>
              </a:extLst>
            </p:cNvPr>
            <p:cNvCxnSpPr>
              <a:stCxn id="18" idx="2"/>
              <a:endCxn id="19" idx="3"/>
            </p:cNvCxnSpPr>
            <p:nvPr/>
          </p:nvCxnSpPr>
          <p:spPr>
            <a:xfrm>
              <a:off x="3043828" y="3291543"/>
              <a:ext cx="176651" cy="639802"/>
            </a:xfrm>
            <a:prstGeom prst="straightConnector1">
              <a:avLst/>
            </a:prstGeom>
            <a:ln w="20955">
              <a:solidFill>
                <a:srgbClr val="9C5875"/>
              </a:solidFill>
              <a:prstDash val="solid"/>
              <a:tailEnd type="triangle" w="med" len="med"/>
            </a:ln>
          </p:spPr>
        </p:cxnSp>
        <p:cxnSp>
          <p:nvCxnSpPr>
            <p:cNvPr id="32" name="connector_31">
              <a:extLst>
                <a:ext uri="{FF2B5EF4-FFF2-40B4-BE49-F238E27FC236}">
                  <a16:creationId xmlns:a16="http://schemas.microsoft.com/office/drawing/2014/main" id="{B13B4531-5327-4484-A25A-827370AEC811}"/>
                </a:ext>
              </a:extLst>
            </p:cNvPr>
            <p:cNvCxnSpPr>
              <a:stCxn id="30" idx="2"/>
              <a:endCxn id="31" idx="0"/>
            </p:cNvCxnSpPr>
            <p:nvPr/>
          </p:nvCxnSpPr>
          <p:spPr>
            <a:xfrm flipH="1">
              <a:off x="5595659" y="3363357"/>
              <a:ext cx="87223" cy="372130"/>
            </a:xfrm>
            <a:prstGeom prst="straightConnector1">
              <a:avLst/>
            </a:prstGeom>
            <a:ln w="20955">
              <a:solidFill>
                <a:srgbClr val="9C5875"/>
              </a:solidFill>
              <a:prstDash val="solid"/>
              <a:tailEnd type="triangle" w="med" len="med"/>
            </a:ln>
          </p:spPr>
        </p:cxnSp>
        <p:grpSp>
          <p:nvGrpSpPr>
            <p:cNvPr id="65" name="page_3_stage_1">
              <a:extLst>
                <a:ext uri="{FF2B5EF4-FFF2-40B4-BE49-F238E27FC236}">
                  <a16:creationId xmlns:a16="http://schemas.microsoft.com/office/drawing/2014/main" id="{B4B41A39-35A1-C587-EA19-E716B3BC7D83}"/>
                </a:ext>
              </a:extLst>
            </p:cNvPr>
            <p:cNvGrpSpPr/>
            <p:nvPr/>
          </p:nvGrpSpPr>
          <p:grpSpPr>
            <a:xfrm>
              <a:off x="361950" y="1646672"/>
              <a:ext cx="10599039" cy="2480531"/>
              <a:chOff x="361950" y="1646672"/>
              <a:chExt cx="10599039" cy="2480531"/>
            </a:xfrm>
          </p:grpSpPr>
          <p:sp>
            <p:nvSpPr>
              <p:cNvPr id="11" name="curve_10">
                <a:extLst>
                  <a:ext uri="{FF2B5EF4-FFF2-40B4-BE49-F238E27FC236}">
                    <a16:creationId xmlns:a16="http://schemas.microsoft.com/office/drawing/2014/main" id="{3D6E6713-EFED-477E-A349-FEDEB09E36B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9011" y="1646672"/>
                <a:ext cx="3104769" cy="286588"/>
              </a:xfrm>
              <a:custGeom>
                <a:avLst/>
                <a:gdLst/>
                <a:ahLst/>
                <a:cxnLst/>
                <a:rect l="0" t="0" r="0" b="0"/>
                <a:pathLst>
                  <a:path w="3104769" h="286588">
                    <a:moveTo>
                      <a:pt x="0" y="143294"/>
                    </a:moveTo>
                    <a:lnTo>
                      <a:pt x="44997" y="182045"/>
                    </a:lnTo>
                    <a:lnTo>
                      <a:pt x="89993" y="217922"/>
                    </a:lnTo>
                    <a:lnTo>
                      <a:pt x="134990" y="248264"/>
                    </a:lnTo>
                    <a:lnTo>
                      <a:pt x="179987" y="270820"/>
                    </a:lnTo>
                    <a:lnTo>
                      <a:pt x="224983" y="283919"/>
                    </a:lnTo>
                    <a:lnTo>
                      <a:pt x="269980" y="286588"/>
                    </a:lnTo>
                    <a:lnTo>
                      <a:pt x="314977" y="278630"/>
                    </a:lnTo>
                    <a:lnTo>
                      <a:pt x="359973" y="260635"/>
                    </a:lnTo>
                    <a:lnTo>
                      <a:pt x="404970" y="233937"/>
                    </a:lnTo>
                    <a:lnTo>
                      <a:pt x="449967" y="200516"/>
                    </a:lnTo>
                    <a:lnTo>
                      <a:pt x="494963" y="162852"/>
                    </a:lnTo>
                    <a:lnTo>
                      <a:pt x="539960" y="123737"/>
                    </a:lnTo>
                    <a:lnTo>
                      <a:pt x="584956" y="86072"/>
                    </a:lnTo>
                    <a:lnTo>
                      <a:pt x="629953" y="52652"/>
                    </a:lnTo>
                    <a:lnTo>
                      <a:pt x="674950" y="25954"/>
                    </a:lnTo>
                    <a:lnTo>
                      <a:pt x="719946" y="7958"/>
                    </a:lnTo>
                    <a:lnTo>
                      <a:pt x="764943" y="0"/>
                    </a:lnTo>
                    <a:lnTo>
                      <a:pt x="809940" y="2669"/>
                    </a:lnTo>
                    <a:lnTo>
                      <a:pt x="854936" y="15768"/>
                    </a:lnTo>
                    <a:lnTo>
                      <a:pt x="899933" y="38325"/>
                    </a:lnTo>
                    <a:lnTo>
                      <a:pt x="944930" y="68667"/>
                    </a:lnTo>
                    <a:lnTo>
                      <a:pt x="989926" y="104544"/>
                    </a:lnTo>
                    <a:lnTo>
                      <a:pt x="1034923" y="143294"/>
                    </a:lnTo>
                    <a:lnTo>
                      <a:pt x="1079920" y="182045"/>
                    </a:lnTo>
                    <a:lnTo>
                      <a:pt x="1124916" y="217922"/>
                    </a:lnTo>
                    <a:lnTo>
                      <a:pt x="1169913" y="248264"/>
                    </a:lnTo>
                    <a:lnTo>
                      <a:pt x="1214910" y="270820"/>
                    </a:lnTo>
                    <a:lnTo>
                      <a:pt x="1259906" y="283919"/>
                    </a:lnTo>
                    <a:lnTo>
                      <a:pt x="1304903" y="286588"/>
                    </a:lnTo>
                    <a:lnTo>
                      <a:pt x="1349900" y="278630"/>
                    </a:lnTo>
                    <a:lnTo>
                      <a:pt x="1394896" y="260635"/>
                    </a:lnTo>
                    <a:lnTo>
                      <a:pt x="1439893" y="233937"/>
                    </a:lnTo>
                    <a:lnTo>
                      <a:pt x="1484890" y="200516"/>
                    </a:lnTo>
                    <a:lnTo>
                      <a:pt x="1529886" y="162852"/>
                    </a:lnTo>
                    <a:lnTo>
                      <a:pt x="1574883" y="123737"/>
                    </a:lnTo>
                    <a:lnTo>
                      <a:pt x="1619879" y="86072"/>
                    </a:lnTo>
                    <a:lnTo>
                      <a:pt x="1664876" y="52652"/>
                    </a:lnTo>
                    <a:lnTo>
                      <a:pt x="1709873" y="25954"/>
                    </a:lnTo>
                    <a:lnTo>
                      <a:pt x="1754869" y="7958"/>
                    </a:lnTo>
                    <a:lnTo>
                      <a:pt x="1799866" y="0"/>
                    </a:lnTo>
                    <a:lnTo>
                      <a:pt x="1844863" y="2669"/>
                    </a:lnTo>
                    <a:lnTo>
                      <a:pt x="1889859" y="15768"/>
                    </a:lnTo>
                    <a:lnTo>
                      <a:pt x="1934856" y="38325"/>
                    </a:lnTo>
                    <a:lnTo>
                      <a:pt x="1979853" y="68667"/>
                    </a:lnTo>
                    <a:lnTo>
                      <a:pt x="2024849" y="104544"/>
                    </a:lnTo>
                    <a:lnTo>
                      <a:pt x="2069846" y="143294"/>
                    </a:lnTo>
                    <a:lnTo>
                      <a:pt x="2114843" y="182045"/>
                    </a:lnTo>
                    <a:lnTo>
                      <a:pt x="2159839" y="217922"/>
                    </a:lnTo>
                    <a:lnTo>
                      <a:pt x="2204836" y="248264"/>
                    </a:lnTo>
                    <a:lnTo>
                      <a:pt x="2249833" y="270820"/>
                    </a:lnTo>
                    <a:lnTo>
                      <a:pt x="2294829" y="283919"/>
                    </a:lnTo>
                    <a:lnTo>
                      <a:pt x="2339826" y="286588"/>
                    </a:lnTo>
                    <a:lnTo>
                      <a:pt x="2384823" y="278630"/>
                    </a:lnTo>
                    <a:lnTo>
                      <a:pt x="2429819" y="260635"/>
                    </a:lnTo>
                    <a:lnTo>
                      <a:pt x="2474816" y="233937"/>
                    </a:lnTo>
                    <a:lnTo>
                      <a:pt x="2519813" y="200516"/>
                    </a:lnTo>
                    <a:lnTo>
                      <a:pt x="2564809" y="162852"/>
                    </a:lnTo>
                    <a:lnTo>
                      <a:pt x="2609806" y="123737"/>
                    </a:lnTo>
                    <a:lnTo>
                      <a:pt x="2654802" y="86072"/>
                    </a:lnTo>
                    <a:lnTo>
                      <a:pt x="2699799" y="52652"/>
                    </a:lnTo>
                    <a:lnTo>
                      <a:pt x="2744796" y="25954"/>
                    </a:lnTo>
                    <a:lnTo>
                      <a:pt x="2789792" y="7958"/>
                    </a:lnTo>
                    <a:lnTo>
                      <a:pt x="2834789" y="0"/>
                    </a:lnTo>
                    <a:lnTo>
                      <a:pt x="2879786" y="2669"/>
                    </a:lnTo>
                    <a:lnTo>
                      <a:pt x="2924782" y="15768"/>
                    </a:lnTo>
                    <a:lnTo>
                      <a:pt x="2969779" y="38325"/>
                    </a:lnTo>
                    <a:lnTo>
                      <a:pt x="3014776" y="68667"/>
                    </a:lnTo>
                    <a:lnTo>
                      <a:pt x="3059772" y="104544"/>
                    </a:lnTo>
                    <a:lnTo>
                      <a:pt x="3104769" y="143294"/>
                    </a:lnTo>
                  </a:path>
                </a:pathLst>
              </a:custGeom>
              <a:noFill/>
              <a:ln w="15240">
                <a:solidFill>
                  <a:srgbClr val="9C5875"/>
                </a:solidFill>
              </a:ln>
            </p:spPr>
          </p:sp>
          <p:sp>
            <p:nvSpPr>
              <p:cNvPr id="13" name="curve_12">
                <a:extLst>
                  <a:ext uri="{FF2B5EF4-FFF2-40B4-BE49-F238E27FC236}">
                    <a16:creationId xmlns:a16="http://schemas.microsoft.com/office/drawing/2014/main" id="{C9C2413D-8373-4C19-B0D6-6774B29C91A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9085" y="1646672"/>
                <a:ext cx="3104769" cy="286588"/>
              </a:xfrm>
              <a:custGeom>
                <a:avLst/>
                <a:gdLst/>
                <a:ahLst/>
                <a:cxnLst/>
                <a:rect l="0" t="0" r="0" b="0"/>
                <a:pathLst>
                  <a:path w="3104769" h="286588">
                    <a:moveTo>
                      <a:pt x="0" y="143294"/>
                    </a:moveTo>
                    <a:lnTo>
                      <a:pt x="44997" y="182045"/>
                    </a:lnTo>
                    <a:lnTo>
                      <a:pt x="89993" y="217922"/>
                    </a:lnTo>
                    <a:lnTo>
                      <a:pt x="134990" y="248264"/>
                    </a:lnTo>
                    <a:lnTo>
                      <a:pt x="179987" y="270820"/>
                    </a:lnTo>
                    <a:lnTo>
                      <a:pt x="224983" y="283919"/>
                    </a:lnTo>
                    <a:lnTo>
                      <a:pt x="269980" y="286588"/>
                    </a:lnTo>
                    <a:lnTo>
                      <a:pt x="314977" y="278630"/>
                    </a:lnTo>
                    <a:lnTo>
                      <a:pt x="359973" y="260635"/>
                    </a:lnTo>
                    <a:lnTo>
                      <a:pt x="404970" y="233937"/>
                    </a:lnTo>
                    <a:lnTo>
                      <a:pt x="449967" y="200516"/>
                    </a:lnTo>
                    <a:lnTo>
                      <a:pt x="494963" y="162852"/>
                    </a:lnTo>
                    <a:lnTo>
                      <a:pt x="539960" y="123737"/>
                    </a:lnTo>
                    <a:lnTo>
                      <a:pt x="584956" y="86072"/>
                    </a:lnTo>
                    <a:lnTo>
                      <a:pt x="629953" y="52652"/>
                    </a:lnTo>
                    <a:lnTo>
                      <a:pt x="674950" y="25954"/>
                    </a:lnTo>
                    <a:lnTo>
                      <a:pt x="719946" y="7958"/>
                    </a:lnTo>
                    <a:lnTo>
                      <a:pt x="764943" y="0"/>
                    </a:lnTo>
                    <a:lnTo>
                      <a:pt x="809940" y="2669"/>
                    </a:lnTo>
                    <a:lnTo>
                      <a:pt x="854936" y="15768"/>
                    </a:lnTo>
                    <a:lnTo>
                      <a:pt x="899933" y="38325"/>
                    </a:lnTo>
                    <a:lnTo>
                      <a:pt x="944930" y="68667"/>
                    </a:lnTo>
                    <a:lnTo>
                      <a:pt x="989926" y="104544"/>
                    </a:lnTo>
                    <a:lnTo>
                      <a:pt x="1034923" y="143294"/>
                    </a:lnTo>
                    <a:lnTo>
                      <a:pt x="1079920" y="182045"/>
                    </a:lnTo>
                    <a:lnTo>
                      <a:pt x="1124916" y="217922"/>
                    </a:lnTo>
                    <a:lnTo>
                      <a:pt x="1169913" y="248264"/>
                    </a:lnTo>
                    <a:lnTo>
                      <a:pt x="1214910" y="270820"/>
                    </a:lnTo>
                    <a:lnTo>
                      <a:pt x="1259906" y="283919"/>
                    </a:lnTo>
                    <a:lnTo>
                      <a:pt x="1304903" y="286588"/>
                    </a:lnTo>
                    <a:lnTo>
                      <a:pt x="1349900" y="278630"/>
                    </a:lnTo>
                    <a:lnTo>
                      <a:pt x="1394896" y="260635"/>
                    </a:lnTo>
                    <a:lnTo>
                      <a:pt x="1439893" y="233937"/>
                    </a:lnTo>
                    <a:lnTo>
                      <a:pt x="1484890" y="200516"/>
                    </a:lnTo>
                    <a:lnTo>
                      <a:pt x="1529886" y="162852"/>
                    </a:lnTo>
                    <a:lnTo>
                      <a:pt x="1574883" y="123737"/>
                    </a:lnTo>
                    <a:lnTo>
                      <a:pt x="1619879" y="86072"/>
                    </a:lnTo>
                    <a:lnTo>
                      <a:pt x="1664876" y="52652"/>
                    </a:lnTo>
                    <a:lnTo>
                      <a:pt x="1709873" y="25954"/>
                    </a:lnTo>
                    <a:lnTo>
                      <a:pt x="1754869" y="7958"/>
                    </a:lnTo>
                    <a:lnTo>
                      <a:pt x="1799866" y="0"/>
                    </a:lnTo>
                    <a:lnTo>
                      <a:pt x="1844863" y="2669"/>
                    </a:lnTo>
                    <a:lnTo>
                      <a:pt x="1889859" y="15768"/>
                    </a:lnTo>
                    <a:lnTo>
                      <a:pt x="1934856" y="38325"/>
                    </a:lnTo>
                    <a:lnTo>
                      <a:pt x="1979853" y="68667"/>
                    </a:lnTo>
                    <a:lnTo>
                      <a:pt x="2024849" y="104544"/>
                    </a:lnTo>
                    <a:lnTo>
                      <a:pt x="2069846" y="143294"/>
                    </a:lnTo>
                    <a:lnTo>
                      <a:pt x="2114843" y="182045"/>
                    </a:lnTo>
                    <a:lnTo>
                      <a:pt x="2159839" y="217922"/>
                    </a:lnTo>
                    <a:lnTo>
                      <a:pt x="2204836" y="248264"/>
                    </a:lnTo>
                    <a:lnTo>
                      <a:pt x="2249833" y="270820"/>
                    </a:lnTo>
                    <a:lnTo>
                      <a:pt x="2294829" y="283919"/>
                    </a:lnTo>
                    <a:lnTo>
                      <a:pt x="2339826" y="286588"/>
                    </a:lnTo>
                    <a:lnTo>
                      <a:pt x="2384823" y="278630"/>
                    </a:lnTo>
                    <a:lnTo>
                      <a:pt x="2429819" y="260635"/>
                    </a:lnTo>
                    <a:lnTo>
                      <a:pt x="2474816" y="233937"/>
                    </a:lnTo>
                    <a:lnTo>
                      <a:pt x="2519813" y="200516"/>
                    </a:lnTo>
                    <a:lnTo>
                      <a:pt x="2564809" y="162852"/>
                    </a:lnTo>
                    <a:lnTo>
                      <a:pt x="2609806" y="123737"/>
                    </a:lnTo>
                    <a:lnTo>
                      <a:pt x="2654802" y="86072"/>
                    </a:lnTo>
                    <a:lnTo>
                      <a:pt x="2699799" y="52652"/>
                    </a:lnTo>
                    <a:lnTo>
                      <a:pt x="2744796" y="25954"/>
                    </a:lnTo>
                    <a:lnTo>
                      <a:pt x="2789792" y="7958"/>
                    </a:lnTo>
                    <a:lnTo>
                      <a:pt x="2834789" y="0"/>
                    </a:lnTo>
                    <a:lnTo>
                      <a:pt x="2879786" y="2669"/>
                    </a:lnTo>
                    <a:lnTo>
                      <a:pt x="2924782" y="15768"/>
                    </a:lnTo>
                    <a:lnTo>
                      <a:pt x="2969779" y="38325"/>
                    </a:lnTo>
                    <a:lnTo>
                      <a:pt x="3014776" y="68667"/>
                    </a:lnTo>
                    <a:lnTo>
                      <a:pt x="3059772" y="104544"/>
                    </a:lnTo>
                    <a:lnTo>
                      <a:pt x="3104769" y="143294"/>
                    </a:lnTo>
                  </a:path>
                </a:pathLst>
              </a:custGeom>
              <a:noFill/>
              <a:ln w="15240">
                <a:solidFill>
                  <a:srgbClr val="9C5875"/>
                </a:solidFill>
              </a:ln>
            </p:spPr>
          </p:sp>
          <p:sp>
            <p:nvSpPr>
              <p:cNvPr id="15" name="curve_14">
                <a:extLst>
                  <a:ext uri="{FF2B5EF4-FFF2-40B4-BE49-F238E27FC236}">
                    <a16:creationId xmlns:a16="http://schemas.microsoft.com/office/drawing/2014/main" id="{814E6D0F-0BA0-46DE-9379-A4DFA1AFC1A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749159" y="1646672"/>
                <a:ext cx="3104769" cy="286588"/>
              </a:xfrm>
              <a:custGeom>
                <a:avLst/>
                <a:gdLst/>
                <a:ahLst/>
                <a:cxnLst/>
                <a:rect l="0" t="0" r="0" b="0"/>
                <a:pathLst>
                  <a:path w="3104769" h="286588">
                    <a:moveTo>
                      <a:pt x="0" y="143294"/>
                    </a:moveTo>
                    <a:lnTo>
                      <a:pt x="44997" y="182045"/>
                    </a:lnTo>
                    <a:lnTo>
                      <a:pt x="89993" y="217922"/>
                    </a:lnTo>
                    <a:lnTo>
                      <a:pt x="134990" y="248264"/>
                    </a:lnTo>
                    <a:lnTo>
                      <a:pt x="179987" y="270820"/>
                    </a:lnTo>
                    <a:lnTo>
                      <a:pt x="224983" y="283919"/>
                    </a:lnTo>
                    <a:lnTo>
                      <a:pt x="269980" y="286588"/>
                    </a:lnTo>
                    <a:lnTo>
                      <a:pt x="314977" y="278630"/>
                    </a:lnTo>
                    <a:lnTo>
                      <a:pt x="359973" y="260635"/>
                    </a:lnTo>
                    <a:lnTo>
                      <a:pt x="404970" y="233937"/>
                    </a:lnTo>
                    <a:lnTo>
                      <a:pt x="449967" y="200516"/>
                    </a:lnTo>
                    <a:lnTo>
                      <a:pt x="494963" y="162852"/>
                    </a:lnTo>
                    <a:lnTo>
                      <a:pt x="539960" y="123737"/>
                    </a:lnTo>
                    <a:lnTo>
                      <a:pt x="584956" y="86072"/>
                    </a:lnTo>
                    <a:lnTo>
                      <a:pt x="629953" y="52652"/>
                    </a:lnTo>
                    <a:lnTo>
                      <a:pt x="674950" y="25954"/>
                    </a:lnTo>
                    <a:lnTo>
                      <a:pt x="719946" y="7958"/>
                    </a:lnTo>
                    <a:lnTo>
                      <a:pt x="764943" y="0"/>
                    </a:lnTo>
                    <a:lnTo>
                      <a:pt x="809940" y="2669"/>
                    </a:lnTo>
                    <a:lnTo>
                      <a:pt x="854936" y="15768"/>
                    </a:lnTo>
                    <a:lnTo>
                      <a:pt x="899933" y="38325"/>
                    </a:lnTo>
                    <a:lnTo>
                      <a:pt x="944930" y="68667"/>
                    </a:lnTo>
                    <a:lnTo>
                      <a:pt x="989926" y="104544"/>
                    </a:lnTo>
                    <a:lnTo>
                      <a:pt x="1034923" y="143294"/>
                    </a:lnTo>
                    <a:lnTo>
                      <a:pt x="1079920" y="182045"/>
                    </a:lnTo>
                    <a:lnTo>
                      <a:pt x="1124916" y="217922"/>
                    </a:lnTo>
                    <a:lnTo>
                      <a:pt x="1169913" y="248264"/>
                    </a:lnTo>
                    <a:lnTo>
                      <a:pt x="1214910" y="270820"/>
                    </a:lnTo>
                    <a:lnTo>
                      <a:pt x="1259906" y="283919"/>
                    </a:lnTo>
                    <a:lnTo>
                      <a:pt x="1304903" y="286588"/>
                    </a:lnTo>
                    <a:lnTo>
                      <a:pt x="1349900" y="278630"/>
                    </a:lnTo>
                    <a:lnTo>
                      <a:pt x="1394896" y="260635"/>
                    </a:lnTo>
                    <a:lnTo>
                      <a:pt x="1439893" y="233937"/>
                    </a:lnTo>
                    <a:lnTo>
                      <a:pt x="1484890" y="200516"/>
                    </a:lnTo>
                    <a:lnTo>
                      <a:pt x="1529886" y="162852"/>
                    </a:lnTo>
                    <a:lnTo>
                      <a:pt x="1574883" y="123737"/>
                    </a:lnTo>
                    <a:lnTo>
                      <a:pt x="1619879" y="86072"/>
                    </a:lnTo>
                    <a:lnTo>
                      <a:pt x="1664876" y="52652"/>
                    </a:lnTo>
                    <a:lnTo>
                      <a:pt x="1709873" y="25954"/>
                    </a:lnTo>
                    <a:lnTo>
                      <a:pt x="1754869" y="7958"/>
                    </a:lnTo>
                    <a:lnTo>
                      <a:pt x="1799866" y="0"/>
                    </a:lnTo>
                    <a:lnTo>
                      <a:pt x="1844863" y="2669"/>
                    </a:lnTo>
                    <a:lnTo>
                      <a:pt x="1889859" y="15768"/>
                    </a:lnTo>
                    <a:lnTo>
                      <a:pt x="1934856" y="38325"/>
                    </a:lnTo>
                    <a:lnTo>
                      <a:pt x="1979853" y="68667"/>
                    </a:lnTo>
                    <a:lnTo>
                      <a:pt x="2024849" y="104544"/>
                    </a:lnTo>
                    <a:lnTo>
                      <a:pt x="2069846" y="143294"/>
                    </a:lnTo>
                    <a:lnTo>
                      <a:pt x="2114843" y="182045"/>
                    </a:lnTo>
                    <a:lnTo>
                      <a:pt x="2159839" y="217922"/>
                    </a:lnTo>
                    <a:lnTo>
                      <a:pt x="2204836" y="248264"/>
                    </a:lnTo>
                    <a:lnTo>
                      <a:pt x="2249833" y="270820"/>
                    </a:lnTo>
                    <a:lnTo>
                      <a:pt x="2294829" y="283919"/>
                    </a:lnTo>
                    <a:lnTo>
                      <a:pt x="2339826" y="286588"/>
                    </a:lnTo>
                    <a:lnTo>
                      <a:pt x="2384823" y="278630"/>
                    </a:lnTo>
                    <a:lnTo>
                      <a:pt x="2429819" y="260635"/>
                    </a:lnTo>
                    <a:lnTo>
                      <a:pt x="2474816" y="233937"/>
                    </a:lnTo>
                    <a:lnTo>
                      <a:pt x="2519813" y="200516"/>
                    </a:lnTo>
                    <a:lnTo>
                      <a:pt x="2564809" y="162852"/>
                    </a:lnTo>
                    <a:lnTo>
                      <a:pt x="2609806" y="123737"/>
                    </a:lnTo>
                    <a:lnTo>
                      <a:pt x="2654802" y="86072"/>
                    </a:lnTo>
                    <a:lnTo>
                      <a:pt x="2699799" y="52652"/>
                    </a:lnTo>
                    <a:lnTo>
                      <a:pt x="2744796" y="25954"/>
                    </a:lnTo>
                    <a:lnTo>
                      <a:pt x="2789792" y="7958"/>
                    </a:lnTo>
                    <a:lnTo>
                      <a:pt x="2834789" y="0"/>
                    </a:lnTo>
                    <a:lnTo>
                      <a:pt x="2879786" y="2669"/>
                    </a:lnTo>
                    <a:lnTo>
                      <a:pt x="2924782" y="15768"/>
                    </a:lnTo>
                    <a:lnTo>
                      <a:pt x="2969779" y="38325"/>
                    </a:lnTo>
                    <a:lnTo>
                      <a:pt x="3014776" y="68667"/>
                    </a:lnTo>
                    <a:lnTo>
                      <a:pt x="3059772" y="104544"/>
                    </a:lnTo>
                    <a:lnTo>
                      <a:pt x="3104769" y="143294"/>
                    </a:lnTo>
                  </a:path>
                </a:pathLst>
              </a:custGeom>
              <a:noFill/>
              <a:ln w="15240">
                <a:solidFill>
                  <a:srgbClr val="9C5875"/>
                </a:solidFill>
              </a:ln>
            </p:spPr>
          </p:sp>
          <p:sp>
            <p:nvSpPr>
              <p:cNvPr id="16" name="roundRect_15">
                <a:extLst>
                  <a:ext uri="{FF2B5EF4-FFF2-40B4-BE49-F238E27FC236}">
                    <a16:creationId xmlns:a16="http://schemas.microsoft.com/office/drawing/2014/main" id="{49C4E9B6-5A86-42E8-99E7-76A375E2E47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76072" y="2129453"/>
                <a:ext cx="2976296" cy="430887"/>
              </a:xfrm>
              <a:prstGeom prst="roundRect">
                <a:avLst>
                  <a:gd name="adj" fmla="val 22106"/>
                </a:avLst>
              </a:prstGeom>
              <a:solidFill>
                <a:srgbClr val="EEF0F7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118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118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t>移动平均分解</a:t>
                </a:r>
              </a:p>
            </p:txBody>
          </p:sp>
          <p:sp>
            <p:nvSpPr>
              <p:cNvPr id="17" name="roundRect_16">
                <a:extLst>
                  <a:ext uri="{FF2B5EF4-FFF2-40B4-BE49-F238E27FC236}">
                    <a16:creationId xmlns:a16="http://schemas.microsoft.com/office/drawing/2014/main" id="{E55FEB48-0740-4D48-8661-303AA12700B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61950" y="2834541"/>
                <a:ext cx="1530972" cy="457002"/>
              </a:xfrm>
              <a:prstGeom prst="roundRect">
                <a:avLst>
                  <a:gd name="adj" fmla="val 20842"/>
                </a:avLst>
              </a:prstGeom>
              <a:solidFill>
                <a:srgbClr val="EEF0F7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118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118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18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rPr>
                  <a:t>趋势分支</a:t>
                </a:r>
              </a:p>
              <a:p>
                <a:pPr algn="ctr">
                  <a:defRPr sz="118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875" b="0">
                    <a:solidFill>
                      <a:srgbClr val="6C7182"/>
                    </a:solidFill>
                    <a:latin typeface="Noto Sans SC"/>
                    <a:ea typeface="Noto Sans SC"/>
                    <a:cs typeface="Noto Sans SC"/>
                  </a:rPr>
                  <a:t>线性映射</a:t>
                </a:r>
              </a:p>
            </p:txBody>
          </p:sp>
          <p:sp>
            <p:nvSpPr>
              <p:cNvPr id="18" name="roundRect_17">
                <a:extLst>
                  <a:ext uri="{FF2B5EF4-FFF2-40B4-BE49-F238E27FC236}">
                    <a16:creationId xmlns:a16="http://schemas.microsoft.com/office/drawing/2014/main" id="{CBA96F83-4C28-4182-98C1-CFAA64FA45B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278342" y="2834541"/>
                <a:ext cx="1530972" cy="457002"/>
              </a:xfrm>
              <a:prstGeom prst="roundRect">
                <a:avLst>
                  <a:gd name="adj" fmla="val 20842"/>
                </a:avLst>
              </a:prstGeom>
              <a:solidFill>
                <a:srgbClr val="EEF0F7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118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118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18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rPr>
                  <a:t>余项分支</a:t>
                </a:r>
              </a:p>
              <a:p>
                <a:pPr algn="ctr">
                  <a:defRPr sz="118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875" b="0">
                    <a:solidFill>
                      <a:srgbClr val="6C7182"/>
                    </a:solidFill>
                    <a:latin typeface="Noto Sans SC"/>
                    <a:ea typeface="Noto Sans SC"/>
                    <a:cs typeface="Noto Sans SC"/>
                  </a:rPr>
                  <a:t>线性映射</a:t>
                </a:r>
              </a:p>
            </p:txBody>
          </p:sp>
          <p:sp>
            <p:nvSpPr>
              <p:cNvPr id="19" name="chevron_18">
                <a:extLst>
                  <a:ext uri="{FF2B5EF4-FFF2-40B4-BE49-F238E27FC236}">
                    <a16:creationId xmlns:a16="http://schemas.microsoft.com/office/drawing/2014/main" id="{65DBEC34-5C4B-4011-AC87-E7498026C77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2198" y="3735487"/>
                <a:ext cx="2248281" cy="391716"/>
              </a:xfrm>
              <a:prstGeom prst="chevron">
                <a:avLst/>
              </a:prstGeom>
              <a:solidFill>
                <a:srgbClr val="F3E5EB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118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118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t>相加得到预测</a:t>
                </a:r>
              </a:p>
            </p:txBody>
          </p:sp>
          <p:sp>
            <p:nvSpPr>
              <p:cNvPr id="24" name="roundRect_23">
                <a:extLst>
                  <a:ext uri="{FF2B5EF4-FFF2-40B4-BE49-F238E27FC236}">
                    <a16:creationId xmlns:a16="http://schemas.microsoft.com/office/drawing/2014/main" id="{6C46A1EF-6D1E-4E3C-9C5E-BF906F2B5FF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9085" y="2135981"/>
                <a:ext cx="513893" cy="300315"/>
              </a:xfrm>
              <a:prstGeom prst="roundRect">
                <a:avLst>
                  <a:gd name="adj" fmla="val 25373"/>
                </a:avLst>
              </a:prstGeom>
              <a:solidFill>
                <a:srgbClr val="BCC5DF"/>
              </a:solidFill>
              <a:ln w="0">
                <a:noFill/>
                <a:prstDash val="solid"/>
              </a:ln>
            </p:spPr>
          </p:sp>
          <p:sp>
            <p:nvSpPr>
              <p:cNvPr id="25" name="roundRect_24">
                <a:extLst>
                  <a:ext uri="{FF2B5EF4-FFF2-40B4-BE49-F238E27FC236}">
                    <a16:creationId xmlns:a16="http://schemas.microsoft.com/office/drawing/2014/main" id="{E8E5728E-2919-49BE-97C7-9367D4CE51F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19333" y="2135981"/>
                <a:ext cx="513893" cy="300315"/>
              </a:xfrm>
              <a:prstGeom prst="roundRect">
                <a:avLst>
                  <a:gd name="adj" fmla="val 25373"/>
                </a:avLst>
              </a:prstGeom>
              <a:solidFill>
                <a:srgbClr val="BCC5DF"/>
              </a:solidFill>
              <a:ln w="0">
                <a:noFill/>
                <a:prstDash val="solid"/>
              </a:ln>
            </p:spPr>
          </p:sp>
          <p:sp>
            <p:nvSpPr>
              <p:cNvPr id="26" name="roundRect_25">
                <a:extLst>
                  <a:ext uri="{FF2B5EF4-FFF2-40B4-BE49-F238E27FC236}">
                    <a16:creationId xmlns:a16="http://schemas.microsoft.com/office/drawing/2014/main" id="{F3B448BB-9FD2-4693-B1EF-98EDA5C08AA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329580" y="2135981"/>
                <a:ext cx="513893" cy="300315"/>
              </a:xfrm>
              <a:prstGeom prst="roundRect">
                <a:avLst>
                  <a:gd name="adj" fmla="val 25373"/>
                </a:avLst>
              </a:prstGeom>
              <a:solidFill>
                <a:srgbClr val="BCC5DF"/>
              </a:solidFill>
              <a:ln w="0">
                <a:noFill/>
                <a:prstDash val="solid"/>
              </a:ln>
            </p:spPr>
          </p:sp>
          <p:sp>
            <p:nvSpPr>
              <p:cNvPr id="27" name="roundRect_26">
                <a:extLst>
                  <a:ext uri="{FF2B5EF4-FFF2-40B4-BE49-F238E27FC236}">
                    <a16:creationId xmlns:a16="http://schemas.microsoft.com/office/drawing/2014/main" id="{A16FC800-ECB0-410D-B6CA-7DD523B67D6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939828" y="2135981"/>
                <a:ext cx="513893" cy="300315"/>
              </a:xfrm>
              <a:prstGeom prst="roundRect">
                <a:avLst>
                  <a:gd name="adj" fmla="val 25373"/>
                </a:avLst>
              </a:prstGeom>
              <a:solidFill>
                <a:srgbClr val="BCC5DF"/>
              </a:solidFill>
              <a:ln w="0">
                <a:noFill/>
                <a:prstDash val="solid"/>
              </a:ln>
            </p:spPr>
          </p:sp>
          <p:sp>
            <p:nvSpPr>
              <p:cNvPr id="28" name="roundRect_27">
                <a:extLst>
                  <a:ext uri="{FF2B5EF4-FFF2-40B4-BE49-F238E27FC236}">
                    <a16:creationId xmlns:a16="http://schemas.microsoft.com/office/drawing/2014/main" id="{8159A8E4-B19B-43FE-A452-9DF3054628D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550076" y="2135981"/>
                <a:ext cx="513893" cy="300315"/>
              </a:xfrm>
              <a:prstGeom prst="roundRect">
                <a:avLst>
                  <a:gd name="adj" fmla="val 25373"/>
                </a:avLst>
              </a:prstGeom>
              <a:solidFill>
                <a:srgbClr val="BCC5DF"/>
              </a:solidFill>
              <a:ln w="0">
                <a:noFill/>
                <a:prstDash val="solid"/>
              </a:ln>
            </p:spPr>
          </p:sp>
          <p:sp>
            <p:nvSpPr>
              <p:cNvPr id="29" name="textbox_28">
                <a:extLst>
                  <a:ext uri="{FF2B5EF4-FFF2-40B4-BE49-F238E27FC236}">
                    <a16:creationId xmlns:a16="http://schemas.microsoft.com/office/drawing/2014/main" id="{D5FB573E-2697-4FAD-B792-FE77C278416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09085" y="2527697"/>
                <a:ext cx="3104769" cy="261144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874" b="0">
                    <a:solidFill>
                      <a:srgbClr val="6C7182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874" b="0">
                    <a:solidFill>
                      <a:srgbClr val="6C7182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874" b="0">
                    <a:solidFill>
                      <a:srgbClr val="6C7182"/>
                    </a:solidFill>
                    <a:latin typeface="Noto Sans SC"/>
                    <a:ea typeface="Noto Sans SC"/>
                    <a:cs typeface="Noto Sans SC"/>
                  </a:rPr>
                  <a:t>局部片段成为 patch token</a:t>
                </a:r>
              </a:p>
            </p:txBody>
          </p:sp>
          <p:sp>
            <p:nvSpPr>
              <p:cNvPr id="30" name="roundRect_29">
                <a:extLst>
                  <a:ext uri="{FF2B5EF4-FFF2-40B4-BE49-F238E27FC236}">
                    <a16:creationId xmlns:a16="http://schemas.microsoft.com/office/drawing/2014/main" id="{757C950F-C4FA-49F2-8F11-4035F0F8DD4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19791" y="2860655"/>
                <a:ext cx="3126181" cy="502702"/>
              </a:xfrm>
              <a:prstGeom prst="roundRect">
                <a:avLst>
                  <a:gd name="adj" fmla="val 18948"/>
                </a:avLst>
              </a:prstGeom>
              <a:solidFill>
                <a:srgbClr val="EEF0F7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118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118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18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rPr>
                  <a:t>通道独立 Transformer</a:t>
                </a:r>
              </a:p>
              <a:p>
                <a:pPr algn="ctr">
                  <a:defRPr sz="118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875" b="0">
                    <a:solidFill>
                      <a:srgbClr val="6C7182"/>
                    </a:solidFill>
                    <a:latin typeface="Noto Sans SC"/>
                    <a:ea typeface="Noto Sans SC"/>
                    <a:cs typeface="Noto Sans SC"/>
                  </a:rPr>
                  <a:t>逐通道处理，权重共享</a:t>
                </a:r>
              </a:p>
            </p:txBody>
          </p:sp>
          <p:sp>
            <p:nvSpPr>
              <p:cNvPr id="31" name="chevron_30">
                <a:extLst>
                  <a:ext uri="{FF2B5EF4-FFF2-40B4-BE49-F238E27FC236}">
                    <a16:creationId xmlns:a16="http://schemas.microsoft.com/office/drawing/2014/main" id="{C7904AEF-57AA-4BA5-9199-D572DAAF9E1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569447" y="3735487"/>
                <a:ext cx="2248281" cy="391716"/>
              </a:xfrm>
              <a:prstGeom prst="chevron">
                <a:avLst/>
              </a:prstGeom>
              <a:solidFill>
                <a:srgbClr val="F3E5EB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118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118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t>预测头</a:t>
                </a:r>
              </a:p>
            </p:txBody>
          </p:sp>
          <p:sp>
            <p:nvSpPr>
              <p:cNvPr id="33" name="textbox_32">
                <a:extLst>
                  <a:ext uri="{FF2B5EF4-FFF2-40B4-BE49-F238E27FC236}">
                    <a16:creationId xmlns:a16="http://schemas.microsoft.com/office/drawing/2014/main" id="{69E6C54C-D6FF-460A-9E2C-C7ECDA938CE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56220" y="2103338"/>
                <a:ext cx="2997708" cy="228501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080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080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080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rPr>
                  <a:t>FFT 提取主要周期</a:t>
                </a:r>
              </a:p>
            </p:txBody>
          </p:sp>
          <p:sp>
            <p:nvSpPr>
              <p:cNvPr id="34" name="rect_33">
                <a:extLst>
                  <a:ext uri="{FF2B5EF4-FFF2-40B4-BE49-F238E27FC236}">
                    <a16:creationId xmlns:a16="http://schemas.microsoft.com/office/drawing/2014/main" id="{B28DAA06-BD05-47AB-921C-F7E672ED2DD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048930" y="2606040"/>
                <a:ext cx="249784" cy="249784"/>
              </a:xfrm>
              <a:prstGeom prst="rect">
                <a:avLst/>
              </a:prstGeom>
              <a:solidFill>
                <a:srgbClr val="9C5875"/>
              </a:solidFill>
              <a:ln w="0">
                <a:noFill/>
                <a:prstDash val="solid"/>
              </a:ln>
            </p:spPr>
          </p:sp>
          <p:sp>
            <p:nvSpPr>
              <p:cNvPr id="35" name="rect_34">
                <a:extLst>
                  <a:ext uri="{FF2B5EF4-FFF2-40B4-BE49-F238E27FC236}">
                    <a16:creationId xmlns:a16="http://schemas.microsoft.com/office/drawing/2014/main" id="{937B70E5-2CCD-4858-A930-30B98424DDD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27288" y="2606040"/>
                <a:ext cx="249784" cy="249784"/>
              </a:xfrm>
              <a:prstGeom prst="rect">
                <a:avLst/>
              </a:prstGeom>
              <a:solidFill>
                <a:srgbClr val="BEC6DF"/>
              </a:solidFill>
              <a:ln w="0">
                <a:noFill/>
                <a:prstDash val="solid"/>
              </a:ln>
            </p:spPr>
          </p:sp>
          <p:sp>
            <p:nvSpPr>
              <p:cNvPr id="36" name="rect_35">
                <a:extLst>
                  <a:ext uri="{FF2B5EF4-FFF2-40B4-BE49-F238E27FC236}">
                    <a16:creationId xmlns:a16="http://schemas.microsoft.com/office/drawing/2014/main" id="{A810B565-68C5-4543-B935-744C86B2775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605647" y="2606040"/>
                <a:ext cx="249784" cy="249784"/>
              </a:xfrm>
              <a:prstGeom prst="rect">
                <a:avLst/>
              </a:prstGeom>
              <a:solidFill>
                <a:srgbClr val="E8EAF3"/>
              </a:solidFill>
              <a:ln w="0">
                <a:noFill/>
                <a:prstDash val="solid"/>
              </a:ln>
            </p:spPr>
          </p:sp>
          <p:sp>
            <p:nvSpPr>
              <p:cNvPr id="37" name="rect_36">
                <a:extLst>
                  <a:ext uri="{FF2B5EF4-FFF2-40B4-BE49-F238E27FC236}">
                    <a16:creationId xmlns:a16="http://schemas.microsoft.com/office/drawing/2014/main" id="{FC25BA41-D1EF-49C1-9CA5-0E65FDCEC20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884006" y="2606040"/>
                <a:ext cx="249784" cy="249784"/>
              </a:xfrm>
              <a:prstGeom prst="rect">
                <a:avLst/>
              </a:prstGeom>
              <a:solidFill>
                <a:srgbClr val="9C5875"/>
              </a:solidFill>
              <a:ln w="0">
                <a:noFill/>
                <a:prstDash val="solid"/>
              </a:ln>
            </p:spPr>
          </p:sp>
          <p:sp>
            <p:nvSpPr>
              <p:cNvPr id="38" name="rect_37">
                <a:extLst>
                  <a:ext uri="{FF2B5EF4-FFF2-40B4-BE49-F238E27FC236}">
                    <a16:creationId xmlns:a16="http://schemas.microsoft.com/office/drawing/2014/main" id="{6C05E535-3FB2-4CC9-A1FF-6C1E47CCA09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62364" y="2606040"/>
                <a:ext cx="249784" cy="249784"/>
              </a:xfrm>
              <a:prstGeom prst="rect">
                <a:avLst/>
              </a:prstGeom>
              <a:solidFill>
                <a:srgbClr val="BEC6DF"/>
              </a:solidFill>
              <a:ln w="0">
                <a:noFill/>
                <a:prstDash val="solid"/>
              </a:ln>
            </p:spPr>
          </p:sp>
          <p:sp>
            <p:nvSpPr>
              <p:cNvPr id="39" name="rect_38">
                <a:extLst>
                  <a:ext uri="{FF2B5EF4-FFF2-40B4-BE49-F238E27FC236}">
                    <a16:creationId xmlns:a16="http://schemas.microsoft.com/office/drawing/2014/main" id="{C6A67B3E-68BE-4F9F-B9A0-BE473AA2FFA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440723" y="2606040"/>
                <a:ext cx="249784" cy="249784"/>
              </a:xfrm>
              <a:prstGeom prst="rect">
                <a:avLst/>
              </a:prstGeom>
              <a:solidFill>
                <a:srgbClr val="E8EAF3"/>
              </a:solidFill>
              <a:ln w="0">
                <a:noFill/>
                <a:prstDash val="solid"/>
              </a:ln>
            </p:spPr>
          </p:sp>
          <p:sp>
            <p:nvSpPr>
              <p:cNvPr id="40" name="rect_39">
                <a:extLst>
                  <a:ext uri="{FF2B5EF4-FFF2-40B4-BE49-F238E27FC236}">
                    <a16:creationId xmlns:a16="http://schemas.microsoft.com/office/drawing/2014/main" id="{70F7385F-EDB7-49F4-977A-65EBA3970D4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19081" y="2606040"/>
                <a:ext cx="249784" cy="249784"/>
              </a:xfrm>
              <a:prstGeom prst="rect">
                <a:avLst/>
              </a:prstGeom>
              <a:solidFill>
                <a:srgbClr val="9C5875"/>
              </a:solidFill>
              <a:ln w="0">
                <a:noFill/>
                <a:prstDash val="solid"/>
              </a:ln>
            </p:spPr>
          </p:sp>
          <p:sp>
            <p:nvSpPr>
              <p:cNvPr id="41" name="rect_40">
                <a:extLst>
                  <a:ext uri="{FF2B5EF4-FFF2-40B4-BE49-F238E27FC236}">
                    <a16:creationId xmlns:a16="http://schemas.microsoft.com/office/drawing/2014/main" id="{B75AC200-5816-46C3-BB99-01041396B8C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048930" y="2884399"/>
                <a:ext cx="249784" cy="249784"/>
              </a:xfrm>
              <a:prstGeom prst="rect">
                <a:avLst/>
              </a:prstGeom>
              <a:solidFill>
                <a:srgbClr val="BEC6DF"/>
              </a:solidFill>
              <a:ln w="0">
                <a:noFill/>
                <a:prstDash val="solid"/>
              </a:ln>
            </p:spPr>
          </p:sp>
          <p:sp>
            <p:nvSpPr>
              <p:cNvPr id="42" name="rect_41">
                <a:extLst>
                  <a:ext uri="{FF2B5EF4-FFF2-40B4-BE49-F238E27FC236}">
                    <a16:creationId xmlns:a16="http://schemas.microsoft.com/office/drawing/2014/main" id="{B3E6F6A2-CE74-4557-AE99-65284369589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27288" y="2884399"/>
                <a:ext cx="249784" cy="249784"/>
              </a:xfrm>
              <a:prstGeom prst="rect">
                <a:avLst/>
              </a:prstGeom>
              <a:solidFill>
                <a:srgbClr val="E8EAF3"/>
              </a:solidFill>
              <a:ln w="0">
                <a:noFill/>
                <a:prstDash val="solid"/>
              </a:ln>
            </p:spPr>
          </p:sp>
          <p:sp>
            <p:nvSpPr>
              <p:cNvPr id="43" name="rect_42">
                <a:extLst>
                  <a:ext uri="{FF2B5EF4-FFF2-40B4-BE49-F238E27FC236}">
                    <a16:creationId xmlns:a16="http://schemas.microsoft.com/office/drawing/2014/main" id="{91F6E673-B7A6-47BA-8455-04297170199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605647" y="2884399"/>
                <a:ext cx="249784" cy="249784"/>
              </a:xfrm>
              <a:prstGeom prst="rect">
                <a:avLst/>
              </a:prstGeom>
              <a:solidFill>
                <a:srgbClr val="9C5875"/>
              </a:solidFill>
              <a:ln w="0">
                <a:noFill/>
                <a:prstDash val="solid"/>
              </a:ln>
            </p:spPr>
          </p:sp>
          <p:sp>
            <p:nvSpPr>
              <p:cNvPr id="44" name="rect_43">
                <a:extLst>
                  <a:ext uri="{FF2B5EF4-FFF2-40B4-BE49-F238E27FC236}">
                    <a16:creationId xmlns:a16="http://schemas.microsoft.com/office/drawing/2014/main" id="{C4B806D8-6870-41F3-BFDB-3B1CE154297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884006" y="2884399"/>
                <a:ext cx="249784" cy="249784"/>
              </a:xfrm>
              <a:prstGeom prst="rect">
                <a:avLst/>
              </a:prstGeom>
              <a:solidFill>
                <a:srgbClr val="BEC6DF"/>
              </a:solidFill>
              <a:ln w="0">
                <a:noFill/>
                <a:prstDash val="solid"/>
              </a:ln>
            </p:spPr>
          </p:sp>
          <p:sp>
            <p:nvSpPr>
              <p:cNvPr id="45" name="rect_44">
                <a:extLst>
                  <a:ext uri="{FF2B5EF4-FFF2-40B4-BE49-F238E27FC236}">
                    <a16:creationId xmlns:a16="http://schemas.microsoft.com/office/drawing/2014/main" id="{7A80BE4F-9BCB-4352-9349-AA6D9575581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62364" y="2884399"/>
                <a:ext cx="249784" cy="249784"/>
              </a:xfrm>
              <a:prstGeom prst="rect">
                <a:avLst/>
              </a:prstGeom>
              <a:solidFill>
                <a:srgbClr val="E8EAF3"/>
              </a:solidFill>
              <a:ln w="0">
                <a:noFill/>
                <a:prstDash val="solid"/>
              </a:ln>
            </p:spPr>
          </p:sp>
          <p:sp>
            <p:nvSpPr>
              <p:cNvPr id="46" name="rect_45">
                <a:extLst>
                  <a:ext uri="{FF2B5EF4-FFF2-40B4-BE49-F238E27FC236}">
                    <a16:creationId xmlns:a16="http://schemas.microsoft.com/office/drawing/2014/main" id="{FC32023B-01F9-4A7C-8E79-8AC56547A27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440723" y="2884399"/>
                <a:ext cx="249784" cy="249784"/>
              </a:xfrm>
              <a:prstGeom prst="rect">
                <a:avLst/>
              </a:prstGeom>
              <a:solidFill>
                <a:srgbClr val="9C5875"/>
              </a:solidFill>
              <a:ln w="0">
                <a:noFill/>
                <a:prstDash val="solid"/>
              </a:ln>
            </p:spPr>
          </p:sp>
          <p:sp>
            <p:nvSpPr>
              <p:cNvPr id="47" name="rect_46">
                <a:extLst>
                  <a:ext uri="{FF2B5EF4-FFF2-40B4-BE49-F238E27FC236}">
                    <a16:creationId xmlns:a16="http://schemas.microsoft.com/office/drawing/2014/main" id="{8EF20FA6-1564-4017-8607-BCCFD9425E3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19081" y="2884399"/>
                <a:ext cx="249784" cy="249784"/>
              </a:xfrm>
              <a:prstGeom prst="rect">
                <a:avLst/>
              </a:prstGeom>
              <a:solidFill>
                <a:srgbClr val="BEC6DF"/>
              </a:solidFill>
              <a:ln w="0">
                <a:noFill/>
                <a:prstDash val="solid"/>
              </a:ln>
            </p:spPr>
          </p:sp>
          <p:sp>
            <p:nvSpPr>
              <p:cNvPr id="48" name="rect_47">
                <a:extLst>
                  <a:ext uri="{FF2B5EF4-FFF2-40B4-BE49-F238E27FC236}">
                    <a16:creationId xmlns:a16="http://schemas.microsoft.com/office/drawing/2014/main" id="{84B343C6-4B36-4CA1-8199-42759469DAD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048930" y="3162757"/>
                <a:ext cx="249784" cy="249784"/>
              </a:xfrm>
              <a:prstGeom prst="rect">
                <a:avLst/>
              </a:prstGeom>
              <a:solidFill>
                <a:srgbClr val="E8EAF3"/>
              </a:solidFill>
              <a:ln w="0">
                <a:noFill/>
                <a:prstDash val="solid"/>
              </a:ln>
            </p:spPr>
          </p:sp>
          <p:sp>
            <p:nvSpPr>
              <p:cNvPr id="49" name="rect_48">
                <a:extLst>
                  <a:ext uri="{FF2B5EF4-FFF2-40B4-BE49-F238E27FC236}">
                    <a16:creationId xmlns:a16="http://schemas.microsoft.com/office/drawing/2014/main" id="{E972B0AB-99B3-46C3-ABB7-891A3660044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27288" y="3162757"/>
                <a:ext cx="249784" cy="249784"/>
              </a:xfrm>
              <a:prstGeom prst="rect">
                <a:avLst/>
              </a:prstGeom>
              <a:solidFill>
                <a:srgbClr val="9C5875"/>
              </a:solidFill>
              <a:ln w="0">
                <a:noFill/>
                <a:prstDash val="solid"/>
              </a:ln>
            </p:spPr>
          </p:sp>
          <p:sp>
            <p:nvSpPr>
              <p:cNvPr id="50" name="rect_49">
                <a:extLst>
                  <a:ext uri="{FF2B5EF4-FFF2-40B4-BE49-F238E27FC236}">
                    <a16:creationId xmlns:a16="http://schemas.microsoft.com/office/drawing/2014/main" id="{B9A4F548-6CB5-4AD3-AED8-CF58B770676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605647" y="3162757"/>
                <a:ext cx="249784" cy="249784"/>
              </a:xfrm>
              <a:prstGeom prst="rect">
                <a:avLst/>
              </a:prstGeom>
              <a:solidFill>
                <a:srgbClr val="BEC6DF"/>
              </a:solidFill>
              <a:ln w="0">
                <a:noFill/>
                <a:prstDash val="solid"/>
              </a:ln>
            </p:spPr>
          </p:sp>
          <p:sp>
            <p:nvSpPr>
              <p:cNvPr id="51" name="rect_50">
                <a:extLst>
                  <a:ext uri="{FF2B5EF4-FFF2-40B4-BE49-F238E27FC236}">
                    <a16:creationId xmlns:a16="http://schemas.microsoft.com/office/drawing/2014/main" id="{BB2F70BD-DAC7-4CF5-873B-0941587C69A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884006" y="3162757"/>
                <a:ext cx="249784" cy="249784"/>
              </a:xfrm>
              <a:prstGeom prst="rect">
                <a:avLst/>
              </a:prstGeom>
              <a:solidFill>
                <a:srgbClr val="E8EAF3"/>
              </a:solidFill>
              <a:ln w="0">
                <a:noFill/>
                <a:prstDash val="solid"/>
              </a:ln>
            </p:spPr>
          </p:sp>
          <p:sp>
            <p:nvSpPr>
              <p:cNvPr id="52" name="rect_51">
                <a:extLst>
                  <a:ext uri="{FF2B5EF4-FFF2-40B4-BE49-F238E27FC236}">
                    <a16:creationId xmlns:a16="http://schemas.microsoft.com/office/drawing/2014/main" id="{2E74BE82-F278-4B2E-939B-F7CBB0E6786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162364" y="3162757"/>
                <a:ext cx="249784" cy="249784"/>
              </a:xfrm>
              <a:prstGeom prst="rect">
                <a:avLst/>
              </a:prstGeom>
              <a:solidFill>
                <a:srgbClr val="9C5875"/>
              </a:solidFill>
              <a:ln w="0">
                <a:noFill/>
                <a:prstDash val="solid"/>
              </a:ln>
            </p:spPr>
          </p:sp>
          <p:sp>
            <p:nvSpPr>
              <p:cNvPr id="53" name="rect_52">
                <a:extLst>
                  <a:ext uri="{FF2B5EF4-FFF2-40B4-BE49-F238E27FC236}">
                    <a16:creationId xmlns:a16="http://schemas.microsoft.com/office/drawing/2014/main" id="{683A299C-108C-41CD-B89D-1E17B7BA3AD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440723" y="3162757"/>
                <a:ext cx="249784" cy="249784"/>
              </a:xfrm>
              <a:prstGeom prst="rect">
                <a:avLst/>
              </a:prstGeom>
              <a:solidFill>
                <a:srgbClr val="BEC6DF"/>
              </a:solidFill>
              <a:ln w="0">
                <a:noFill/>
                <a:prstDash val="solid"/>
              </a:ln>
            </p:spPr>
          </p:sp>
          <p:sp>
            <p:nvSpPr>
              <p:cNvPr id="54" name="rect_53">
                <a:extLst>
                  <a:ext uri="{FF2B5EF4-FFF2-40B4-BE49-F238E27FC236}">
                    <a16:creationId xmlns:a16="http://schemas.microsoft.com/office/drawing/2014/main" id="{303970CA-2F17-4BDE-BC34-B846F44F490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19081" y="3162757"/>
                <a:ext cx="249784" cy="249784"/>
              </a:xfrm>
              <a:prstGeom prst="rect">
                <a:avLst/>
              </a:prstGeom>
              <a:solidFill>
                <a:srgbClr val="E8EAF3"/>
              </a:solidFill>
              <a:ln w="0">
                <a:noFill/>
                <a:prstDash val="solid"/>
              </a:ln>
            </p:spPr>
          </p:sp>
          <p:sp>
            <p:nvSpPr>
              <p:cNvPr id="55" name="textbox_54">
                <a:extLst>
                  <a:ext uri="{FF2B5EF4-FFF2-40B4-BE49-F238E27FC236}">
                    <a16:creationId xmlns:a16="http://schemas.microsoft.com/office/drawing/2014/main" id="{30D118FB-CC9B-45E4-ABC6-292D04DF5DB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738453" y="2351425"/>
                <a:ext cx="3222536" cy="20891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823" b="0">
                    <a:solidFill>
                      <a:srgbClr val="6C7182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823" b="0">
                    <a:solidFill>
                      <a:srgbClr val="6C7182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823" b="0">
                    <a:solidFill>
                      <a:srgbClr val="6C7182"/>
                    </a:solidFill>
                    <a:latin typeface="Noto Sans SC"/>
                    <a:ea typeface="Noto Sans SC"/>
                    <a:cs typeface="Noto Sans SC"/>
                  </a:rPr>
                  <a:t>一维序列重排为二维结构</a:t>
                </a:r>
              </a:p>
            </p:txBody>
          </p:sp>
          <p:sp>
            <p:nvSpPr>
              <p:cNvPr id="56" name="chevron_55">
                <a:extLst>
                  <a:ext uri="{FF2B5EF4-FFF2-40B4-BE49-F238E27FC236}">
                    <a16:creationId xmlns:a16="http://schemas.microsoft.com/office/drawing/2014/main" id="{309BC11C-542D-40D3-95DA-8CF9E2FFC3E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99044" y="3735487"/>
                <a:ext cx="2944178" cy="391716"/>
              </a:xfrm>
              <a:prstGeom prst="chevron">
                <a:avLst/>
              </a:prstGeom>
              <a:solidFill>
                <a:srgbClr val="F3E5EB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118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118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t>2D 卷积与聚合</a:t>
                </a:r>
              </a:p>
            </p:txBody>
          </p:sp>
          <p:sp>
            <p:nvSpPr>
              <p:cNvPr id="57" name="textbox_56">
                <a:extLst>
                  <a:ext uri="{FF2B5EF4-FFF2-40B4-BE49-F238E27FC236}">
                    <a16:creationId xmlns:a16="http://schemas.microsoft.com/office/drawing/2014/main" id="{E4F67D24-3341-4F6E-B65E-CFAC2B77D8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198815" y="3428643"/>
                <a:ext cx="2590876" cy="202386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874" b="0">
                    <a:solidFill>
                      <a:srgbClr val="6C7182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874" b="0">
                    <a:solidFill>
                      <a:srgbClr val="6C7182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874" b="0">
                    <a:solidFill>
                      <a:srgbClr val="6C7182"/>
                    </a:solidFill>
                    <a:latin typeface="Noto Sans SC"/>
                    <a:ea typeface="Noto Sans SC"/>
                    <a:cs typeface="Noto Sans SC"/>
                  </a:rPr>
                  <a:t>周期内 × 周期间</a:t>
                </a:r>
              </a:p>
            </p:txBody>
          </p:sp>
        </p:grpSp>
      </p:grpSp>
      <p:graphicFrame>
        <p:nvGraphicFramePr>
          <p:cNvPr id="58" name="表格 57">
            <a:extLst>
              <a:ext uri="{FF2B5EF4-FFF2-40B4-BE49-F238E27FC236}">
                <a16:creationId xmlns:a16="http://schemas.microsoft.com/office/drawing/2014/main" id="{DA2A3BCA-D1D5-4D0E-B6B9-BFC0FD7E772C}"/>
              </a:ext>
            </a:extLst>
          </p:cNvPr>
          <p:cNvGraphicFramePr/>
          <p:nvPr/>
        </p:nvGraphicFramePr>
        <p:xfrm>
          <a:off x="419100" y="4514850"/>
          <a:ext cx="10591801" cy="1143000"/>
        </p:xfrm>
        <a:graphic>
          <a:graphicData uri="http://schemas.openxmlformats.org/drawingml/2006/table">
            <a:tbl>
              <a:tblPr/>
              <a:tblGrid>
                <a:gridCol w="2050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16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5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候选</a:t>
                      </a:r>
                    </a:p>
                  </a:txBody>
                  <a:tcPr anchor="ctr">
                    <a:lnL w="4763">
                      <a:solidFill>
                        <a:srgbClr val="FFFFFF"/>
                      </a:solidFill>
                    </a:lnL>
                    <a:lnR w="4763">
                      <a:solidFill>
                        <a:srgbClr val="FFFFFF"/>
                      </a:solidFill>
                    </a:lnR>
                    <a:lnT w="4763">
                      <a:solidFill>
                        <a:srgbClr val="FFFFFF"/>
                      </a:solidFill>
                    </a:lnT>
                    <a:lnB w="4763">
                      <a:solidFill>
                        <a:srgbClr val="FFFFFF"/>
                      </a:solidFill>
                    </a:lnB>
                    <a:solidFill>
                      <a:srgbClr val="3838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重点检查的配置</a:t>
                      </a:r>
                    </a:p>
                  </a:txBody>
                  <a:tcPr anchor="ctr">
                    <a:lnL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FFFFFF"/>
                      </a:solidFill>
                    </a:lnR>
                    <a:lnT w="4763">
                      <a:solidFill>
                        <a:srgbClr val="FFFFFF"/>
                      </a:solidFill>
                    </a:lnT>
                    <a:lnB w="4763">
                      <a:solidFill>
                        <a:srgbClr val="FFFFFF"/>
                      </a:solidFill>
                    </a:lnB>
                    <a:solidFill>
                      <a:srgbClr val="3838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在本课题中的作用</a:t>
                      </a:r>
                    </a:p>
                  </a:txBody>
                  <a:tcPr anchor="ctr">
                    <a:lnL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FFFFFF"/>
                      </a:solidFill>
                    </a:lnR>
                    <a:lnT w="4763">
                      <a:solidFill>
                        <a:srgbClr val="FFFFFF"/>
                      </a:solidFill>
                    </a:lnT>
                    <a:lnB w="4763">
                      <a:solidFill>
                        <a:srgbClr val="FFFFFF"/>
                      </a:solidFill>
                    </a:lnB>
                    <a:solidFill>
                      <a:srgbClr val="3838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0323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DLinear</a:t>
                      </a:r>
                    </a:p>
                  </a:txBody>
                  <a:tcPr anchor="ctr">
                    <a:lnL w="4763">
                      <a:solidFill>
                        <a:srgbClr val="FFFFFF"/>
                      </a:solidFill>
                    </a:lnL>
                    <a:lnR w="4763">
                      <a:solidFill>
                        <a:srgbClr val="FFFFFF"/>
                      </a:solidFill>
                    </a:lnR>
                    <a:lnT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FFFFFF"/>
                      </a:solidFill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0323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历史长度、个体通道设置</a:t>
                      </a:r>
                    </a:p>
                  </a:txBody>
                  <a:tcPr anchor="ctr">
                    <a:lnL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FFFFFF"/>
                      </a:solidFill>
                    </a:lnR>
                    <a:lnT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FFFFFF"/>
                      </a:solidFill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0323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轻量线性候选；便于调试实验链路</a:t>
                      </a:r>
                    </a:p>
                  </a:txBody>
                  <a:tcPr anchor="ctr">
                    <a:lnL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FFFFFF"/>
                      </a:solidFill>
                    </a:lnR>
                    <a:lnT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FFFFFF"/>
                      </a:solidFill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0323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PatchTST / TimesNet</a:t>
                      </a:r>
                    </a:p>
                  </a:txBody>
                  <a:tcPr anchor="ctr">
                    <a:lnL w="4763">
                      <a:solidFill>
                        <a:srgbClr val="FFFFFF"/>
                      </a:solidFill>
                    </a:lnL>
                    <a:lnR w="4763">
                      <a:solidFill>
                        <a:srgbClr val="FFFFFF"/>
                      </a:solidFill>
                    </a:lnR>
                    <a:lnT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0323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patch 与 stride / 周期与卷积配置</a:t>
                      </a:r>
                    </a:p>
                  </a:txBody>
                  <a:tcPr anchor="ctr">
                    <a:lnL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FFFFFF"/>
                      </a:solidFill>
                    </a:lnR>
                    <a:lnT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0323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形成机制不同的候选池，检验是否需要任务适应</a:t>
                      </a:r>
                    </a:p>
                  </a:txBody>
                  <a:tcPr anchor="ctr">
                    <a:lnL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FFFFFF"/>
                      </a:solidFill>
                    </a:lnR>
                    <a:lnT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9" name="line_57">
            <a:extLst>
              <a:ext uri="{FF2B5EF4-FFF2-40B4-BE49-F238E27FC236}">
                <a16:creationId xmlns:a16="http://schemas.microsoft.com/office/drawing/2014/main" id="{62F4D4EF-B8EA-4E4F-8D84-CEF45F8E7D67}"/>
              </a:ext>
            </a:extLst>
          </p:cNvPr>
          <p:cNvSpPr>
            <a:spLocks/>
          </p:cNvSpPr>
          <p:nvPr/>
        </p:nvSpPr>
        <p:spPr>
          <a:xfrm>
            <a:off x="371475" y="5800725"/>
            <a:ext cx="10687050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60" name="rect_58">
            <a:extLst>
              <a:ext uri="{FF2B5EF4-FFF2-40B4-BE49-F238E27FC236}">
                <a16:creationId xmlns:a16="http://schemas.microsoft.com/office/drawing/2014/main" id="{B0D57339-C98E-497A-8A4B-C9FAE88E8ABF}"/>
              </a:ext>
            </a:extLst>
          </p:cNvPr>
          <p:cNvSpPr>
            <a:spLocks/>
          </p:cNvSpPr>
          <p:nvPr/>
        </p:nvSpPr>
        <p:spPr>
          <a:xfrm>
            <a:off x="371475" y="5886450"/>
            <a:ext cx="38100" cy="20002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61" name="textbox_59">
            <a:extLst>
              <a:ext uri="{FF2B5EF4-FFF2-40B4-BE49-F238E27FC236}">
                <a16:creationId xmlns:a16="http://schemas.microsoft.com/office/drawing/2014/main" id="{99835A03-6EBD-466C-8E93-AF29FF0705E9}"/>
              </a:ext>
            </a:extLst>
          </p:cNvPr>
          <p:cNvSpPr>
            <a:spLocks/>
          </p:cNvSpPr>
          <p:nvPr/>
        </p:nvSpPr>
        <p:spPr>
          <a:xfrm>
            <a:off x="495300" y="5848350"/>
            <a:ext cx="1043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候选池需要机制差异；模型是否更适合某项任务，要由统一实验回答。</a:t>
            </a:r>
          </a:p>
        </p:txBody>
      </p:sp>
      <p:sp>
        <p:nvSpPr>
          <p:cNvPr id="62" name="textbox_60">
            <a:extLst>
              <a:ext uri="{FF2B5EF4-FFF2-40B4-BE49-F238E27FC236}">
                <a16:creationId xmlns:a16="http://schemas.microsoft.com/office/drawing/2014/main" id="{4AF09C3C-EAC4-4810-9919-46B609D28CEA}"/>
              </a:ext>
            </a:extLst>
          </p:cNvPr>
          <p:cNvSpPr>
            <a:spLocks/>
          </p:cNvSpPr>
          <p:nvPr/>
        </p:nvSpPr>
        <p:spPr>
          <a:xfrm>
            <a:off x="371475" y="6219825"/>
            <a:ext cx="10287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机制来源：[1] DLinear；[2] PatchTST；[3] TimesNet。完整出处见第 22 页。</a:t>
            </a:r>
          </a:p>
        </p:txBody>
      </p:sp>
      <p:sp>
        <p:nvSpPr>
          <p:cNvPr id="63" name="textbox_61">
            <a:extLst>
              <a:ext uri="{FF2B5EF4-FFF2-40B4-BE49-F238E27FC236}">
                <a16:creationId xmlns:a16="http://schemas.microsoft.com/office/drawing/2014/main" id="{D386F5CA-8891-4F68-BC5C-BE4738B2E003}"/>
              </a:ext>
            </a:extLst>
          </p:cNvPr>
          <p:cNvSpPr>
            <a:spLocks/>
          </p:cNvSpPr>
          <p:nvPr/>
        </p:nvSpPr>
        <p:spPr>
          <a:xfrm>
            <a:off x="10620375" y="619125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10993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_1">
            <a:extLst>
              <a:ext uri="{FF2B5EF4-FFF2-40B4-BE49-F238E27FC236}">
                <a16:creationId xmlns:a16="http://schemas.microsoft.com/office/drawing/2014/main" id="{E0075043-55B6-47B8-885B-34BB3D074C70}"/>
              </a:ext>
            </a:extLst>
          </p:cNvPr>
          <p:cNvSpPr>
            <a:spLocks/>
          </p:cNvSpPr>
          <p:nvPr/>
        </p:nvSpPr>
        <p:spPr>
          <a:xfrm>
            <a:off x="3714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01  研究问题</a:t>
            </a:r>
          </a:p>
        </p:txBody>
      </p:sp>
      <p:sp>
        <p:nvSpPr>
          <p:cNvPr id="2" name="textbox_2">
            <a:extLst>
              <a:ext uri="{FF2B5EF4-FFF2-40B4-BE49-F238E27FC236}">
                <a16:creationId xmlns:a16="http://schemas.microsoft.com/office/drawing/2014/main" id="{BBEF198D-D192-44DE-88E1-87775A428665}"/>
              </a:ext>
            </a:extLst>
          </p:cNvPr>
          <p:cNvSpPr>
            <a:spLocks/>
          </p:cNvSpPr>
          <p:nvPr/>
        </p:nvSpPr>
        <p:spPr>
          <a:xfrm>
            <a:off x="251460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02  对象与基础</a:t>
            </a:r>
          </a:p>
        </p:txBody>
      </p:sp>
      <p:sp>
        <p:nvSpPr>
          <p:cNvPr id="3" name="rect_3">
            <a:extLst>
              <a:ext uri="{FF2B5EF4-FFF2-40B4-BE49-F238E27FC236}">
                <a16:creationId xmlns:a16="http://schemas.microsoft.com/office/drawing/2014/main" id="{81DD00B2-A42B-4543-B22D-B4F010AB8A7E}"/>
              </a:ext>
            </a:extLst>
          </p:cNvPr>
          <p:cNvSpPr>
            <a:spLocks/>
          </p:cNvSpPr>
          <p:nvPr/>
        </p:nvSpPr>
        <p:spPr>
          <a:xfrm>
            <a:off x="2514600" y="447675"/>
            <a:ext cx="1238250" cy="2857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4" name="textbox_4">
            <a:extLst>
              <a:ext uri="{FF2B5EF4-FFF2-40B4-BE49-F238E27FC236}">
                <a16:creationId xmlns:a16="http://schemas.microsoft.com/office/drawing/2014/main" id="{74E4AD60-CF8E-4997-ABF3-0256B788CFB2}"/>
              </a:ext>
            </a:extLst>
          </p:cNvPr>
          <p:cNvSpPr>
            <a:spLocks/>
          </p:cNvSpPr>
          <p:nvPr/>
        </p:nvSpPr>
        <p:spPr>
          <a:xfrm>
            <a:off x="465772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03  方法与机制</a:t>
            </a:r>
          </a:p>
        </p:txBody>
      </p:sp>
      <p:sp>
        <p:nvSpPr>
          <p:cNvPr id="5" name="textbox_5">
            <a:extLst>
              <a:ext uri="{FF2B5EF4-FFF2-40B4-BE49-F238E27FC236}">
                <a16:creationId xmlns:a16="http://schemas.microsoft.com/office/drawing/2014/main" id="{137A0D8E-4706-457F-AA3F-A2607471CC31}"/>
              </a:ext>
            </a:extLst>
          </p:cNvPr>
          <p:cNvSpPr>
            <a:spLocks/>
          </p:cNvSpPr>
          <p:nvPr/>
        </p:nvSpPr>
        <p:spPr>
          <a:xfrm>
            <a:off x="680085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04  实验与证据</a:t>
            </a:r>
          </a:p>
        </p:txBody>
      </p:sp>
      <p:sp>
        <p:nvSpPr>
          <p:cNvPr id="6" name="textbox_6">
            <a:extLst>
              <a:ext uri="{FF2B5EF4-FFF2-40B4-BE49-F238E27FC236}">
                <a16:creationId xmlns:a16="http://schemas.microsoft.com/office/drawing/2014/main" id="{CD531FC8-7A05-4F61-911A-3F25E31F0ACB}"/>
              </a:ext>
            </a:extLst>
          </p:cNvPr>
          <p:cNvSpPr>
            <a:spLocks/>
          </p:cNvSpPr>
          <p:nvPr/>
        </p:nvSpPr>
        <p:spPr>
          <a:xfrm>
            <a:off x="89439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05  实施与产出</a:t>
            </a:r>
          </a:p>
        </p:txBody>
      </p:sp>
      <p:sp>
        <p:nvSpPr>
          <p:cNvPr id="7" name="line_7">
            <a:extLst>
              <a:ext uri="{FF2B5EF4-FFF2-40B4-BE49-F238E27FC236}">
                <a16:creationId xmlns:a16="http://schemas.microsoft.com/office/drawing/2014/main" id="{F6CE67FD-3857-455F-91C2-305022AC6852}"/>
              </a:ext>
            </a:extLst>
          </p:cNvPr>
          <p:cNvSpPr>
            <a:spLocks/>
          </p:cNvSpPr>
          <p:nvPr/>
        </p:nvSpPr>
        <p:spPr>
          <a:xfrm>
            <a:off x="371475" y="476250"/>
            <a:ext cx="10677525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8" name="slide_title">
            <a:extLst>
              <a:ext uri="{FF2B5EF4-FFF2-40B4-BE49-F238E27FC236}">
                <a16:creationId xmlns:a16="http://schemas.microsoft.com/office/drawing/2014/main" id="{1975D6FA-7CD5-4F7E-8201-984EFE57AF70}"/>
              </a:ext>
            </a:extLst>
          </p:cNvPr>
          <p:cNvSpPr>
            <a:spLocks/>
          </p:cNvSpPr>
          <p:nvPr/>
        </p:nvSpPr>
        <p:spPr>
          <a:xfrm>
            <a:off x="361950" y="685800"/>
            <a:ext cx="10706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defPPr>
          </a:lstStyle>
          <a:p>
            <a: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pP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03</a:t>
            </a:r>
            <a:r>
              <a:rPr sz="2175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  </a:t>
            </a: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首轮实验：把“同一个任务”定义清楚</a:t>
            </a:r>
          </a:p>
        </p:txBody>
      </p:sp>
      <p:sp>
        <p:nvSpPr>
          <p:cNvPr id="9" name="textbox_8">
            <a:extLst>
              <a:ext uri="{FF2B5EF4-FFF2-40B4-BE49-F238E27FC236}">
                <a16:creationId xmlns:a16="http://schemas.microsoft.com/office/drawing/2014/main" id="{9DB095B0-247D-433B-81BB-32D98D933D8E}"/>
              </a:ext>
            </a:extLst>
          </p:cNvPr>
          <p:cNvSpPr>
            <a:spLocks/>
          </p:cNvSpPr>
          <p:nvPr/>
        </p:nvSpPr>
        <p:spPr>
          <a:xfrm>
            <a:off x="381000" y="1133475"/>
            <a:ext cx="10668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初始设置：ETTh1 · OT 单变量 · 过去 96 小时 → 未来 24 小时。</a:t>
            </a:r>
          </a:p>
        </p:txBody>
      </p:sp>
      <p:grpSp>
        <p:nvGrpSpPr>
          <p:cNvPr id="47" name="page_4_stage_1">
            <a:extLst>
              <a:ext uri="{FF2B5EF4-FFF2-40B4-BE49-F238E27FC236}">
                <a16:creationId xmlns:a16="http://schemas.microsoft.com/office/drawing/2014/main" id="{BEA526E7-19DE-8560-8A07-2D12DDF43A58}"/>
              </a:ext>
            </a:extLst>
          </p:cNvPr>
          <p:cNvGrpSpPr/>
          <p:nvPr/>
        </p:nvGrpSpPr>
        <p:grpSpPr>
          <a:xfrm>
            <a:off x="361950" y="1466850"/>
            <a:ext cx="7315200" cy="3868598"/>
            <a:chOff x="361950" y="1466850"/>
            <a:chExt cx="7315200" cy="3868598"/>
          </a:xfrm>
        </p:grpSpPr>
        <p:sp>
          <p:nvSpPr>
            <p:cNvPr id="10" name="textbox_9">
              <a:extLst>
                <a:ext uri="{FF2B5EF4-FFF2-40B4-BE49-F238E27FC236}">
                  <a16:creationId xmlns:a16="http://schemas.microsoft.com/office/drawing/2014/main" id="{C7357AC8-0B55-4258-98DA-2F0229E30B07}"/>
                </a:ext>
              </a:extLst>
            </p:cNvPr>
            <p:cNvSpPr>
              <a:spLocks/>
            </p:cNvSpPr>
            <p:nvPr/>
          </p:nvSpPr>
          <p:spPr>
            <a:xfrm>
              <a:off x="361950" y="1466850"/>
              <a:ext cx="7022592" cy="28267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82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382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382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a  时间切分先于窗口构建</a:t>
              </a:r>
            </a:p>
          </p:txBody>
        </p:sp>
        <p:sp>
          <p:nvSpPr>
            <p:cNvPr id="11" name="chevron_10">
              <a:extLst>
                <a:ext uri="{FF2B5EF4-FFF2-40B4-BE49-F238E27FC236}">
                  <a16:creationId xmlns:a16="http://schemas.microsoft.com/office/drawing/2014/main" id="{6C24AF52-A062-48AA-A761-58445A40DBCC}"/>
                </a:ext>
              </a:extLst>
            </p:cNvPr>
            <p:cNvSpPr>
              <a:spLocks/>
            </p:cNvSpPr>
            <p:nvPr/>
          </p:nvSpPr>
          <p:spPr>
            <a:xfrm>
              <a:off x="361950" y="1951434"/>
              <a:ext cx="3657600" cy="629960"/>
            </a:xfrm>
            <a:prstGeom prst="chevron">
              <a:avLst/>
            </a:prstGeom>
            <a:solidFill>
              <a:srgbClr val="DDE1EF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32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32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训练段</a:t>
              </a:r>
            </a:p>
          </p:txBody>
        </p:sp>
        <p:sp>
          <p:nvSpPr>
            <p:cNvPr id="12" name="chevron_11">
              <a:extLst>
                <a:ext uri="{FF2B5EF4-FFF2-40B4-BE49-F238E27FC236}">
                  <a16:creationId xmlns:a16="http://schemas.microsoft.com/office/drawing/2014/main" id="{EA0E07CD-1405-4025-977F-92D6BBFF7E5E}"/>
                </a:ext>
              </a:extLst>
            </p:cNvPr>
            <p:cNvSpPr>
              <a:spLocks/>
            </p:cNvSpPr>
            <p:nvPr/>
          </p:nvSpPr>
          <p:spPr>
            <a:xfrm>
              <a:off x="4019550" y="1951434"/>
              <a:ext cx="1901952" cy="629960"/>
            </a:xfrm>
            <a:prstGeom prst="chevron">
              <a:avLst/>
            </a:prstGeom>
            <a:solidFill>
              <a:srgbClr val="EAD5DF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32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32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验证段</a:t>
              </a:r>
            </a:p>
          </p:txBody>
        </p:sp>
        <p:sp>
          <p:nvSpPr>
            <p:cNvPr id="13" name="chevron_12">
              <a:extLst>
                <a:ext uri="{FF2B5EF4-FFF2-40B4-BE49-F238E27FC236}">
                  <a16:creationId xmlns:a16="http://schemas.microsoft.com/office/drawing/2014/main" id="{ECDF4FF4-8836-47C1-A4E3-3B49DF3EE261}"/>
                </a:ext>
              </a:extLst>
            </p:cNvPr>
            <p:cNvSpPr>
              <a:spLocks/>
            </p:cNvSpPr>
            <p:nvPr/>
          </p:nvSpPr>
          <p:spPr>
            <a:xfrm>
              <a:off x="5921502" y="1951434"/>
              <a:ext cx="1755648" cy="629960"/>
            </a:xfrm>
            <a:prstGeom prst="chevron">
              <a:avLst/>
            </a:prstGeom>
            <a:solidFill>
              <a:srgbClr val="E6E8EB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32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32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保留测试段</a:t>
              </a:r>
            </a:p>
          </p:txBody>
        </p:sp>
        <p:sp>
          <p:nvSpPr>
            <p:cNvPr id="14" name="textbox_13">
              <a:extLst>
                <a:ext uri="{FF2B5EF4-FFF2-40B4-BE49-F238E27FC236}">
                  <a16:creationId xmlns:a16="http://schemas.microsoft.com/office/drawing/2014/main" id="{CF7BD45F-8957-40D4-BD4F-D1E6CC92814D}"/>
                </a:ext>
              </a:extLst>
            </p:cNvPr>
            <p:cNvSpPr>
              <a:spLocks/>
            </p:cNvSpPr>
            <p:nvPr/>
          </p:nvSpPr>
          <p:spPr>
            <a:xfrm>
              <a:off x="435102" y="2734846"/>
              <a:ext cx="3364992" cy="28267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094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094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094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rPr>
                <a:t>标准化只拟合训练段</a:t>
              </a:r>
            </a:p>
          </p:txBody>
        </p:sp>
        <p:sp>
          <p:nvSpPr>
            <p:cNvPr id="15" name="textbox_14">
              <a:extLst>
                <a:ext uri="{FF2B5EF4-FFF2-40B4-BE49-F238E27FC236}">
                  <a16:creationId xmlns:a16="http://schemas.microsoft.com/office/drawing/2014/main" id="{1D80C491-2CE2-4098-AC4C-AA6A0D5F02A7}"/>
                </a:ext>
              </a:extLst>
            </p:cNvPr>
            <p:cNvSpPr>
              <a:spLocks/>
            </p:cNvSpPr>
            <p:nvPr/>
          </p:nvSpPr>
          <p:spPr>
            <a:xfrm>
              <a:off x="4239006" y="2734846"/>
              <a:ext cx="1865376" cy="28267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094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094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094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rPr>
                <a:t>选模与反馈</a:t>
              </a:r>
            </a:p>
          </p:txBody>
        </p:sp>
        <p:sp>
          <p:nvSpPr>
            <p:cNvPr id="16" name="textbox_15">
              <a:extLst>
                <a:ext uri="{FF2B5EF4-FFF2-40B4-BE49-F238E27FC236}">
                  <a16:creationId xmlns:a16="http://schemas.microsoft.com/office/drawing/2014/main" id="{087C96F1-B73E-4782-B10D-4D455AC6080E}"/>
                </a:ext>
              </a:extLst>
            </p:cNvPr>
            <p:cNvSpPr>
              <a:spLocks/>
            </p:cNvSpPr>
            <p:nvPr/>
          </p:nvSpPr>
          <p:spPr>
            <a:xfrm>
              <a:off x="6104382" y="2734846"/>
              <a:ext cx="1543507" cy="40382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037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037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037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锁定后评价</a:t>
              </a:r>
            </a:p>
          </p:txBody>
        </p:sp>
        <p:sp>
          <p:nvSpPr>
            <p:cNvPr id="17" name="textbox_16">
              <a:extLst>
                <a:ext uri="{FF2B5EF4-FFF2-40B4-BE49-F238E27FC236}">
                  <a16:creationId xmlns:a16="http://schemas.microsoft.com/office/drawing/2014/main" id="{DF473D9F-05F2-446A-ABE5-983A2150C41A}"/>
                </a:ext>
              </a:extLst>
            </p:cNvPr>
            <p:cNvSpPr>
              <a:spLocks/>
            </p:cNvSpPr>
            <p:nvPr/>
          </p:nvSpPr>
          <p:spPr>
            <a:xfrm>
              <a:off x="361950" y="3267889"/>
              <a:ext cx="6949440" cy="28267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82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382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382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b  历史 96 小时 / 未来 24 小时</a:t>
              </a:r>
            </a:p>
          </p:txBody>
        </p:sp>
        <p:sp>
          <p:nvSpPr>
            <p:cNvPr id="18" name="rect_17">
              <a:extLst>
                <a:ext uri="{FF2B5EF4-FFF2-40B4-BE49-F238E27FC236}">
                  <a16:creationId xmlns:a16="http://schemas.microsoft.com/office/drawing/2014/main" id="{02949D83-2BF6-4130-BE51-0C68DC8888D1}"/>
                </a:ext>
              </a:extLst>
            </p:cNvPr>
            <p:cNvSpPr>
              <a:spLocks/>
            </p:cNvSpPr>
            <p:nvPr/>
          </p:nvSpPr>
          <p:spPr>
            <a:xfrm>
              <a:off x="837438" y="3768626"/>
              <a:ext cx="3438144" cy="242292"/>
            </a:xfrm>
            <a:prstGeom prst="rect">
              <a:avLst/>
            </a:prstGeom>
            <a:solidFill>
              <a:srgbClr val="CFD6E9"/>
            </a:solidFill>
            <a:ln w="0">
              <a:noFill/>
              <a:prstDash val="solid"/>
            </a:ln>
          </p:spPr>
        </p:sp>
        <p:sp>
          <p:nvSpPr>
            <p:cNvPr id="19" name="rect_18">
              <a:extLst>
                <a:ext uri="{FF2B5EF4-FFF2-40B4-BE49-F238E27FC236}">
                  <a16:creationId xmlns:a16="http://schemas.microsoft.com/office/drawing/2014/main" id="{6AC0DABE-ACF7-4A52-BDC1-40AB9CBE90B7}"/>
                </a:ext>
              </a:extLst>
            </p:cNvPr>
            <p:cNvSpPr>
              <a:spLocks/>
            </p:cNvSpPr>
            <p:nvPr/>
          </p:nvSpPr>
          <p:spPr>
            <a:xfrm>
              <a:off x="4275582" y="3768626"/>
              <a:ext cx="863194" cy="242292"/>
            </a:xfrm>
            <a:prstGeom prst="rect">
              <a:avLst/>
            </a:prstGeom>
            <a:solidFill>
              <a:srgbClr val="C58EA5"/>
            </a:solidFill>
            <a:ln w="0">
              <a:noFill/>
              <a:prstDash val="solid"/>
            </a:ln>
          </p:spPr>
        </p:sp>
        <p:sp>
          <p:nvSpPr>
            <p:cNvPr id="20" name="textbox_19">
              <a:extLst>
                <a:ext uri="{FF2B5EF4-FFF2-40B4-BE49-F238E27FC236}">
                  <a16:creationId xmlns:a16="http://schemas.microsoft.com/office/drawing/2014/main" id="{0B302104-3B49-4922-8C5B-45E974491E3D}"/>
                </a:ext>
              </a:extLst>
            </p:cNvPr>
            <p:cNvSpPr>
              <a:spLocks/>
            </p:cNvSpPr>
            <p:nvPr/>
          </p:nvSpPr>
          <p:spPr>
            <a:xfrm>
              <a:off x="6140958" y="3768626"/>
              <a:ext cx="1514246" cy="30690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79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79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79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origin t1 / h=1…24</a:t>
              </a:r>
            </a:p>
          </p:txBody>
        </p:sp>
        <p:sp>
          <p:nvSpPr>
            <p:cNvPr id="21" name="rect_20">
              <a:extLst>
                <a:ext uri="{FF2B5EF4-FFF2-40B4-BE49-F238E27FC236}">
                  <a16:creationId xmlns:a16="http://schemas.microsoft.com/office/drawing/2014/main" id="{76483BC3-42AA-4720-A776-DB057559569B}"/>
                </a:ext>
              </a:extLst>
            </p:cNvPr>
            <p:cNvSpPr>
              <a:spLocks/>
            </p:cNvSpPr>
            <p:nvPr/>
          </p:nvSpPr>
          <p:spPr>
            <a:xfrm>
              <a:off x="1166622" y="4204752"/>
              <a:ext cx="3438144" cy="242292"/>
            </a:xfrm>
            <a:prstGeom prst="rect">
              <a:avLst/>
            </a:prstGeom>
            <a:solidFill>
              <a:srgbClr val="CFD6E9"/>
            </a:solidFill>
            <a:ln w="0">
              <a:noFill/>
              <a:prstDash val="solid"/>
            </a:ln>
          </p:spPr>
        </p:sp>
        <p:sp>
          <p:nvSpPr>
            <p:cNvPr id="22" name="rect_21">
              <a:extLst>
                <a:ext uri="{FF2B5EF4-FFF2-40B4-BE49-F238E27FC236}">
                  <a16:creationId xmlns:a16="http://schemas.microsoft.com/office/drawing/2014/main" id="{2E0CD32E-C79B-4FD9-83EC-439778617A98}"/>
                </a:ext>
              </a:extLst>
            </p:cNvPr>
            <p:cNvSpPr>
              <a:spLocks/>
            </p:cNvSpPr>
            <p:nvPr/>
          </p:nvSpPr>
          <p:spPr>
            <a:xfrm>
              <a:off x="4604766" y="4204752"/>
              <a:ext cx="863194" cy="242292"/>
            </a:xfrm>
            <a:prstGeom prst="rect">
              <a:avLst/>
            </a:prstGeom>
            <a:solidFill>
              <a:srgbClr val="C58EA5"/>
            </a:solidFill>
            <a:ln w="0">
              <a:noFill/>
              <a:prstDash val="solid"/>
            </a:ln>
          </p:spPr>
        </p:sp>
        <p:sp>
          <p:nvSpPr>
            <p:cNvPr id="23" name="textbox_22">
              <a:extLst>
                <a:ext uri="{FF2B5EF4-FFF2-40B4-BE49-F238E27FC236}">
                  <a16:creationId xmlns:a16="http://schemas.microsoft.com/office/drawing/2014/main" id="{6DDEEB64-9E4A-42A5-BB66-1C3F3FE619BA}"/>
                </a:ext>
              </a:extLst>
            </p:cNvPr>
            <p:cNvSpPr>
              <a:spLocks/>
            </p:cNvSpPr>
            <p:nvPr/>
          </p:nvSpPr>
          <p:spPr>
            <a:xfrm>
              <a:off x="6140958" y="4204752"/>
              <a:ext cx="1514246" cy="30690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79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79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79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origin t2 / h=1…24</a:t>
              </a:r>
            </a:p>
          </p:txBody>
        </p:sp>
        <p:sp>
          <p:nvSpPr>
            <p:cNvPr id="24" name="rect_23">
              <a:extLst>
                <a:ext uri="{FF2B5EF4-FFF2-40B4-BE49-F238E27FC236}">
                  <a16:creationId xmlns:a16="http://schemas.microsoft.com/office/drawing/2014/main" id="{E1B4307C-0B90-4E3F-A428-291BD7C4C912}"/>
                </a:ext>
              </a:extLst>
            </p:cNvPr>
            <p:cNvSpPr>
              <a:spLocks/>
            </p:cNvSpPr>
            <p:nvPr/>
          </p:nvSpPr>
          <p:spPr>
            <a:xfrm>
              <a:off x="1495806" y="4640878"/>
              <a:ext cx="3438144" cy="242292"/>
            </a:xfrm>
            <a:prstGeom prst="rect">
              <a:avLst/>
            </a:prstGeom>
            <a:solidFill>
              <a:srgbClr val="CFD6E9"/>
            </a:solidFill>
            <a:ln w="0">
              <a:noFill/>
              <a:prstDash val="solid"/>
            </a:ln>
          </p:spPr>
        </p:sp>
        <p:sp>
          <p:nvSpPr>
            <p:cNvPr id="25" name="rect_24">
              <a:extLst>
                <a:ext uri="{FF2B5EF4-FFF2-40B4-BE49-F238E27FC236}">
                  <a16:creationId xmlns:a16="http://schemas.microsoft.com/office/drawing/2014/main" id="{76E386E2-6F4E-41B5-97CF-8C3FD850852B}"/>
                </a:ext>
              </a:extLst>
            </p:cNvPr>
            <p:cNvSpPr>
              <a:spLocks/>
            </p:cNvSpPr>
            <p:nvPr/>
          </p:nvSpPr>
          <p:spPr>
            <a:xfrm>
              <a:off x="4933950" y="4640878"/>
              <a:ext cx="863194" cy="242292"/>
            </a:xfrm>
            <a:prstGeom prst="rect">
              <a:avLst/>
            </a:prstGeom>
            <a:solidFill>
              <a:srgbClr val="C58EA5"/>
            </a:solidFill>
            <a:ln w="0">
              <a:noFill/>
              <a:prstDash val="solid"/>
            </a:ln>
          </p:spPr>
        </p:sp>
        <p:sp>
          <p:nvSpPr>
            <p:cNvPr id="26" name="textbox_25">
              <a:extLst>
                <a:ext uri="{FF2B5EF4-FFF2-40B4-BE49-F238E27FC236}">
                  <a16:creationId xmlns:a16="http://schemas.microsoft.com/office/drawing/2014/main" id="{F1A3684A-632C-4A4C-B6BC-165217190486}"/>
                </a:ext>
              </a:extLst>
            </p:cNvPr>
            <p:cNvSpPr>
              <a:spLocks/>
            </p:cNvSpPr>
            <p:nvPr/>
          </p:nvSpPr>
          <p:spPr>
            <a:xfrm>
              <a:off x="6140958" y="4640878"/>
              <a:ext cx="1514246" cy="30690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79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79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79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origin t3 / h=1…24</a:t>
              </a:r>
            </a:p>
          </p:txBody>
        </p:sp>
        <p:sp>
          <p:nvSpPr>
            <p:cNvPr id="27" name="textbox_26">
              <a:extLst>
                <a:ext uri="{FF2B5EF4-FFF2-40B4-BE49-F238E27FC236}">
                  <a16:creationId xmlns:a16="http://schemas.microsoft.com/office/drawing/2014/main" id="{6674F4C5-5176-4755-A088-D3703C59B5B4}"/>
                </a:ext>
              </a:extLst>
            </p:cNvPr>
            <p:cNvSpPr>
              <a:spLocks/>
            </p:cNvSpPr>
            <p:nvPr/>
          </p:nvSpPr>
          <p:spPr>
            <a:xfrm>
              <a:off x="471678" y="5109309"/>
              <a:ext cx="7095744" cy="226139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094" b="0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094" b="0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094" b="0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rPr>
                <a:t>保存预测起点 origin 与步长 h，目标时刻为 origin + h</a:t>
              </a:r>
            </a:p>
          </p:txBody>
        </p:sp>
      </p:grpSp>
      <p:grpSp>
        <p:nvGrpSpPr>
          <p:cNvPr id="48" name="page_4_stage_2">
            <a:extLst>
              <a:ext uri="{FF2B5EF4-FFF2-40B4-BE49-F238E27FC236}">
                <a16:creationId xmlns:a16="http://schemas.microsoft.com/office/drawing/2014/main" id="{B88E5E10-68F0-9E4F-8B6B-FF80F0648226}"/>
              </a:ext>
            </a:extLst>
          </p:cNvPr>
          <p:cNvGrpSpPr/>
          <p:nvPr/>
        </p:nvGrpSpPr>
        <p:grpSpPr>
          <a:xfrm>
            <a:off x="7953375" y="1476375"/>
            <a:ext cx="3105150" cy="3981450"/>
            <a:chOff x="7953375" y="1476375"/>
            <a:chExt cx="3105150" cy="3981450"/>
          </a:xfrm>
        </p:grpSpPr>
        <p:sp>
          <p:nvSpPr>
            <p:cNvPr id="28" name="rect_27">
              <a:extLst>
                <a:ext uri="{FF2B5EF4-FFF2-40B4-BE49-F238E27FC236}">
                  <a16:creationId xmlns:a16="http://schemas.microsoft.com/office/drawing/2014/main" id="{B66E6A00-33A8-42BC-8423-6975F9A6F768}"/>
                </a:ext>
              </a:extLst>
            </p:cNvPr>
            <p:cNvSpPr>
              <a:spLocks/>
            </p:cNvSpPr>
            <p:nvPr/>
          </p:nvSpPr>
          <p:spPr>
            <a:xfrm>
              <a:off x="7953375" y="1476375"/>
              <a:ext cx="3105150" cy="1885950"/>
            </a:xfrm>
            <a:prstGeom prst="rect">
              <a:avLst/>
            </a:prstGeom>
            <a:solidFill>
              <a:srgbClr val="FAFBFC"/>
            </a:solidFill>
            <a:ln w="9525">
              <a:solidFill>
                <a:srgbClr val="D8D9E3"/>
              </a:solidFill>
              <a:prstDash val="solid"/>
            </a:ln>
          </p:spPr>
        </p:sp>
        <p:sp>
          <p:nvSpPr>
            <p:cNvPr id="29" name="rect_28">
              <a:extLst>
                <a:ext uri="{FF2B5EF4-FFF2-40B4-BE49-F238E27FC236}">
                  <a16:creationId xmlns:a16="http://schemas.microsoft.com/office/drawing/2014/main" id="{F21415F8-E916-48A7-A3E1-ED1486B2F8D8}"/>
                </a:ext>
              </a:extLst>
            </p:cNvPr>
            <p:cNvSpPr>
              <a:spLocks/>
            </p:cNvSpPr>
            <p:nvPr/>
          </p:nvSpPr>
          <p:spPr>
            <a:xfrm>
              <a:off x="7953375" y="1476375"/>
              <a:ext cx="3105150" cy="295275"/>
            </a:xfrm>
            <a:prstGeom prst="rect">
              <a:avLst/>
            </a:prstGeom>
            <a:solidFill>
              <a:srgbClr val="38385B"/>
            </a:solidFill>
            <a:ln w="0">
              <a:noFill/>
              <a:prstDash val="solid"/>
            </a:ln>
          </p:spPr>
        </p:sp>
        <p:sp>
          <p:nvSpPr>
            <p:cNvPr id="30" name="textbox_29">
              <a:extLst>
                <a:ext uri="{FF2B5EF4-FFF2-40B4-BE49-F238E27FC236}">
                  <a16:creationId xmlns:a16="http://schemas.microsoft.com/office/drawing/2014/main" id="{B47E8F66-7DFA-4CF3-ADCA-27994B2FE4A7}"/>
                </a:ext>
              </a:extLst>
            </p:cNvPr>
            <p:cNvSpPr>
              <a:spLocks/>
            </p:cNvSpPr>
            <p:nvPr/>
          </p:nvSpPr>
          <p:spPr>
            <a:xfrm>
              <a:off x="8067675" y="1533525"/>
              <a:ext cx="1236155" cy="27432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3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3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保持一致的条件</a:t>
              </a:r>
            </a:p>
          </p:txBody>
        </p:sp>
        <p:sp>
          <p:nvSpPr>
            <p:cNvPr id="31" name="textbox_30">
              <a:extLst>
                <a:ext uri="{FF2B5EF4-FFF2-40B4-BE49-F238E27FC236}">
                  <a16:creationId xmlns:a16="http://schemas.microsoft.com/office/drawing/2014/main" id="{D6857696-CB13-4EC8-A833-FFE620E4E3EB}"/>
                </a:ext>
              </a:extLst>
            </p:cNvPr>
            <p:cNvSpPr>
              <a:spLocks/>
            </p:cNvSpPr>
            <p:nvPr/>
          </p:nvSpPr>
          <p:spPr>
            <a:xfrm>
              <a:off x="8096250" y="1914525"/>
              <a:ext cx="2001393" cy="25908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275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275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275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相同时间划分与目标窗口。</a:t>
              </a:r>
            </a:p>
          </p:txBody>
        </p:sp>
        <p:sp>
          <p:nvSpPr>
            <p:cNvPr id="32" name="textbox_31">
              <a:extLst>
                <a:ext uri="{FF2B5EF4-FFF2-40B4-BE49-F238E27FC236}">
                  <a16:creationId xmlns:a16="http://schemas.microsoft.com/office/drawing/2014/main" id="{9A1444E4-1C11-410A-BD0C-467AC1609674}"/>
                </a:ext>
              </a:extLst>
            </p:cNvPr>
            <p:cNvSpPr>
              <a:spLocks/>
            </p:cNvSpPr>
            <p:nvPr/>
          </p:nvSpPr>
          <p:spPr>
            <a:xfrm>
              <a:off x="8096250" y="2181701"/>
              <a:ext cx="1667828" cy="25908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275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275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275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标准化仅拟合训练段。</a:t>
              </a:r>
            </a:p>
          </p:txBody>
        </p:sp>
        <p:sp>
          <p:nvSpPr>
            <p:cNvPr id="33" name="textbox_32">
              <a:extLst>
                <a:ext uri="{FF2B5EF4-FFF2-40B4-BE49-F238E27FC236}">
                  <a16:creationId xmlns:a16="http://schemas.microsoft.com/office/drawing/2014/main" id="{28CBD11F-679A-4A50-BDE3-DD679EABDFCE}"/>
                </a:ext>
              </a:extLst>
            </p:cNvPr>
            <p:cNvSpPr>
              <a:spLocks/>
            </p:cNvSpPr>
            <p:nvPr/>
          </p:nvSpPr>
          <p:spPr>
            <a:xfrm>
              <a:off x="8096250" y="2448878"/>
              <a:ext cx="2001393" cy="25908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275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275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275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指标在相同数据尺度计算。</a:t>
              </a:r>
            </a:p>
          </p:txBody>
        </p:sp>
        <p:sp>
          <p:nvSpPr>
            <p:cNvPr id="34" name="textbox_33">
              <a:extLst>
                <a:ext uri="{FF2B5EF4-FFF2-40B4-BE49-F238E27FC236}">
                  <a16:creationId xmlns:a16="http://schemas.microsoft.com/office/drawing/2014/main" id="{556254FE-5278-479C-B673-4278FCFB4BBB}"/>
                </a:ext>
              </a:extLst>
            </p:cNvPr>
            <p:cNvSpPr>
              <a:spLocks/>
            </p:cNvSpPr>
            <p:nvPr/>
          </p:nvSpPr>
          <p:spPr>
            <a:xfrm>
              <a:off x="8096250" y="2716054"/>
              <a:ext cx="2001393" cy="25908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275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275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275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配置与随机种子显式保存。</a:t>
              </a:r>
            </a:p>
          </p:txBody>
        </p:sp>
        <p:sp>
          <p:nvSpPr>
            <p:cNvPr id="35" name="rect_34">
              <a:extLst>
                <a:ext uri="{FF2B5EF4-FFF2-40B4-BE49-F238E27FC236}">
                  <a16:creationId xmlns:a16="http://schemas.microsoft.com/office/drawing/2014/main" id="{43790672-1380-4D11-B158-23FA1514EFAE}"/>
                </a:ext>
              </a:extLst>
            </p:cNvPr>
            <p:cNvSpPr>
              <a:spLocks/>
            </p:cNvSpPr>
            <p:nvPr/>
          </p:nvSpPr>
          <p:spPr>
            <a:xfrm>
              <a:off x="7953375" y="3524250"/>
              <a:ext cx="3105150" cy="1933575"/>
            </a:xfrm>
            <a:prstGeom prst="rect">
              <a:avLst/>
            </a:prstGeom>
            <a:solidFill>
              <a:srgbClr val="FAFBFC"/>
            </a:solidFill>
            <a:ln w="9525">
              <a:solidFill>
                <a:srgbClr val="D8D9E3"/>
              </a:solidFill>
              <a:prstDash val="solid"/>
            </a:ln>
          </p:spPr>
        </p:sp>
        <p:sp>
          <p:nvSpPr>
            <p:cNvPr id="36" name="rect_35">
              <a:extLst>
                <a:ext uri="{FF2B5EF4-FFF2-40B4-BE49-F238E27FC236}">
                  <a16:creationId xmlns:a16="http://schemas.microsoft.com/office/drawing/2014/main" id="{47C59825-B4B5-4FB3-B7E0-2310D8F2DDE8}"/>
                </a:ext>
              </a:extLst>
            </p:cNvPr>
            <p:cNvSpPr>
              <a:spLocks/>
            </p:cNvSpPr>
            <p:nvPr/>
          </p:nvSpPr>
          <p:spPr>
            <a:xfrm>
              <a:off x="7953375" y="3524250"/>
              <a:ext cx="3105150" cy="295275"/>
            </a:xfrm>
            <a:prstGeom prst="rect">
              <a:avLst/>
            </a:prstGeom>
            <a:solidFill>
              <a:srgbClr val="38385B"/>
            </a:solidFill>
            <a:ln w="0">
              <a:noFill/>
              <a:prstDash val="solid"/>
            </a:ln>
          </p:spPr>
        </p:sp>
        <p:sp>
          <p:nvSpPr>
            <p:cNvPr id="37" name="textbox_36">
              <a:extLst>
                <a:ext uri="{FF2B5EF4-FFF2-40B4-BE49-F238E27FC236}">
                  <a16:creationId xmlns:a16="http://schemas.microsoft.com/office/drawing/2014/main" id="{3777C49C-B7C3-4020-946D-C012327D4C43}"/>
                </a:ext>
              </a:extLst>
            </p:cNvPr>
            <p:cNvSpPr>
              <a:spLocks/>
            </p:cNvSpPr>
            <p:nvPr/>
          </p:nvSpPr>
          <p:spPr>
            <a:xfrm>
              <a:off x="8067675" y="3581400"/>
              <a:ext cx="1236155" cy="27432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3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3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需要分开的用途</a:t>
              </a:r>
            </a:p>
          </p:txBody>
        </p:sp>
        <p:sp>
          <p:nvSpPr>
            <p:cNvPr id="38" name="textbox_37">
              <a:extLst>
                <a:ext uri="{FF2B5EF4-FFF2-40B4-BE49-F238E27FC236}">
                  <a16:creationId xmlns:a16="http://schemas.microsoft.com/office/drawing/2014/main" id="{94FE01E0-6F8C-40FA-8142-2E13A1D11DA4}"/>
                </a:ext>
              </a:extLst>
            </p:cNvPr>
            <p:cNvSpPr>
              <a:spLocks/>
            </p:cNvSpPr>
            <p:nvPr/>
          </p:nvSpPr>
          <p:spPr>
            <a:xfrm>
              <a:off x="8096250" y="3962400"/>
              <a:ext cx="1765935" cy="27432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3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3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训练：学习模型参数。</a:t>
              </a:r>
            </a:p>
          </p:txBody>
        </p:sp>
        <p:sp>
          <p:nvSpPr>
            <p:cNvPr id="39" name="textbox_38">
              <a:extLst>
                <a:ext uri="{FF2B5EF4-FFF2-40B4-BE49-F238E27FC236}">
                  <a16:creationId xmlns:a16="http://schemas.microsoft.com/office/drawing/2014/main" id="{3E02CC4D-363B-48E5-AEA3-9628BBE6018F}"/>
                </a:ext>
              </a:extLst>
            </p:cNvPr>
            <p:cNvSpPr>
              <a:spLocks/>
            </p:cNvSpPr>
            <p:nvPr/>
          </p:nvSpPr>
          <p:spPr>
            <a:xfrm>
              <a:off x="8096250" y="4245293"/>
              <a:ext cx="2825496" cy="27432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3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3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验证：选模型、调配置、提供反馈。</a:t>
              </a:r>
            </a:p>
          </p:txBody>
        </p:sp>
        <p:sp>
          <p:nvSpPr>
            <p:cNvPr id="40" name="textbox_39">
              <a:extLst>
                <a:ext uri="{FF2B5EF4-FFF2-40B4-BE49-F238E27FC236}">
                  <a16:creationId xmlns:a16="http://schemas.microsoft.com/office/drawing/2014/main" id="{9C05C6FF-7619-4C0A-B9FD-199C0EC8C8F0}"/>
                </a:ext>
              </a:extLst>
            </p:cNvPr>
            <p:cNvSpPr>
              <a:spLocks/>
            </p:cNvSpPr>
            <p:nvPr/>
          </p:nvSpPr>
          <p:spPr>
            <a:xfrm>
              <a:off x="8096250" y="4528185"/>
              <a:ext cx="2648903" cy="27432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3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3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测试：方法锁定后评价泛化表现。</a:t>
              </a:r>
            </a:p>
          </p:txBody>
        </p:sp>
      </p:grpSp>
      <p:sp>
        <p:nvSpPr>
          <p:cNvPr id="41" name="line_40">
            <a:extLst>
              <a:ext uri="{FF2B5EF4-FFF2-40B4-BE49-F238E27FC236}">
                <a16:creationId xmlns:a16="http://schemas.microsoft.com/office/drawing/2014/main" id="{D12B9ABE-7BAA-48CE-9BD3-FEF16921AB4E}"/>
              </a:ext>
            </a:extLst>
          </p:cNvPr>
          <p:cNvSpPr>
            <a:spLocks/>
          </p:cNvSpPr>
          <p:nvPr/>
        </p:nvSpPr>
        <p:spPr>
          <a:xfrm>
            <a:off x="371475" y="5800725"/>
            <a:ext cx="10687050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42" name="rect_41">
            <a:extLst>
              <a:ext uri="{FF2B5EF4-FFF2-40B4-BE49-F238E27FC236}">
                <a16:creationId xmlns:a16="http://schemas.microsoft.com/office/drawing/2014/main" id="{BA1C04E4-C5C6-407B-9EA6-BF63B1BF16B4}"/>
              </a:ext>
            </a:extLst>
          </p:cNvPr>
          <p:cNvSpPr>
            <a:spLocks/>
          </p:cNvSpPr>
          <p:nvPr/>
        </p:nvSpPr>
        <p:spPr>
          <a:xfrm>
            <a:off x="371475" y="5886450"/>
            <a:ext cx="38100" cy="20002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43" name="textbox_42">
            <a:extLst>
              <a:ext uri="{FF2B5EF4-FFF2-40B4-BE49-F238E27FC236}">
                <a16:creationId xmlns:a16="http://schemas.microsoft.com/office/drawing/2014/main" id="{ECAFAB84-539C-43C0-8732-CA65360E9987}"/>
              </a:ext>
            </a:extLst>
          </p:cNvPr>
          <p:cNvSpPr>
            <a:spLocks/>
          </p:cNvSpPr>
          <p:nvPr/>
        </p:nvSpPr>
        <p:spPr>
          <a:xfrm>
            <a:off x="495300" y="5848350"/>
            <a:ext cx="1043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先让三种模型的输出真正可比，再讨论谁更好。</a:t>
            </a:r>
          </a:p>
        </p:txBody>
      </p:sp>
      <p:sp>
        <p:nvSpPr>
          <p:cNvPr id="44" name="textbox_43">
            <a:extLst>
              <a:ext uri="{FF2B5EF4-FFF2-40B4-BE49-F238E27FC236}">
                <a16:creationId xmlns:a16="http://schemas.microsoft.com/office/drawing/2014/main" id="{B83F7516-3545-467C-B84A-FD6C40E66A8B}"/>
              </a:ext>
            </a:extLst>
          </p:cNvPr>
          <p:cNvSpPr>
            <a:spLocks/>
          </p:cNvSpPr>
          <p:nvPr/>
        </p:nvSpPr>
        <p:spPr>
          <a:xfrm>
            <a:off x="371475" y="6219825"/>
            <a:ext cx="10287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路线 V1.0 · 视觉测试稿 · 研究设计待验证</a:t>
            </a:r>
          </a:p>
        </p:txBody>
      </p:sp>
      <p:sp>
        <p:nvSpPr>
          <p:cNvPr id="45" name="textbox_44">
            <a:extLst>
              <a:ext uri="{FF2B5EF4-FFF2-40B4-BE49-F238E27FC236}">
                <a16:creationId xmlns:a16="http://schemas.microsoft.com/office/drawing/2014/main" id="{0144EF85-F15E-44CB-935A-17553134E218}"/>
              </a:ext>
            </a:extLst>
          </p:cNvPr>
          <p:cNvSpPr>
            <a:spLocks/>
          </p:cNvSpPr>
          <p:nvPr/>
        </p:nvSpPr>
        <p:spPr>
          <a:xfrm>
            <a:off x="10620375" y="619125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03510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_1">
            <a:extLst>
              <a:ext uri="{FF2B5EF4-FFF2-40B4-BE49-F238E27FC236}">
                <a16:creationId xmlns:a16="http://schemas.microsoft.com/office/drawing/2014/main" id="{A59D0E3C-55E4-43DD-BC97-4AB64C8EEA31}"/>
              </a:ext>
            </a:extLst>
          </p:cNvPr>
          <p:cNvSpPr>
            <a:spLocks/>
          </p:cNvSpPr>
          <p:nvPr/>
        </p:nvSpPr>
        <p:spPr>
          <a:xfrm>
            <a:off x="3714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01  研究问题</a:t>
            </a:r>
          </a:p>
        </p:txBody>
      </p:sp>
      <p:sp>
        <p:nvSpPr>
          <p:cNvPr id="2" name="textbox_2">
            <a:extLst>
              <a:ext uri="{FF2B5EF4-FFF2-40B4-BE49-F238E27FC236}">
                <a16:creationId xmlns:a16="http://schemas.microsoft.com/office/drawing/2014/main" id="{3BE7DE16-7779-4359-9FBE-9D8297D321B9}"/>
              </a:ext>
            </a:extLst>
          </p:cNvPr>
          <p:cNvSpPr>
            <a:spLocks/>
          </p:cNvSpPr>
          <p:nvPr/>
        </p:nvSpPr>
        <p:spPr>
          <a:xfrm>
            <a:off x="251460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02  对象与基础</a:t>
            </a:r>
          </a:p>
        </p:txBody>
      </p:sp>
      <p:sp>
        <p:nvSpPr>
          <p:cNvPr id="3" name="rect_3">
            <a:extLst>
              <a:ext uri="{FF2B5EF4-FFF2-40B4-BE49-F238E27FC236}">
                <a16:creationId xmlns:a16="http://schemas.microsoft.com/office/drawing/2014/main" id="{EC34CFCA-90AD-4309-BAF6-FA10C5B43AE6}"/>
              </a:ext>
            </a:extLst>
          </p:cNvPr>
          <p:cNvSpPr>
            <a:spLocks/>
          </p:cNvSpPr>
          <p:nvPr/>
        </p:nvSpPr>
        <p:spPr>
          <a:xfrm>
            <a:off x="2514600" y="447675"/>
            <a:ext cx="1238250" cy="2857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4" name="textbox_4">
            <a:extLst>
              <a:ext uri="{FF2B5EF4-FFF2-40B4-BE49-F238E27FC236}">
                <a16:creationId xmlns:a16="http://schemas.microsoft.com/office/drawing/2014/main" id="{66849E4C-8347-423A-8A68-F3E1B00E99BA}"/>
              </a:ext>
            </a:extLst>
          </p:cNvPr>
          <p:cNvSpPr>
            <a:spLocks/>
          </p:cNvSpPr>
          <p:nvPr/>
        </p:nvSpPr>
        <p:spPr>
          <a:xfrm>
            <a:off x="465772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03  方法与机制</a:t>
            </a:r>
          </a:p>
        </p:txBody>
      </p:sp>
      <p:sp>
        <p:nvSpPr>
          <p:cNvPr id="5" name="textbox_5">
            <a:extLst>
              <a:ext uri="{FF2B5EF4-FFF2-40B4-BE49-F238E27FC236}">
                <a16:creationId xmlns:a16="http://schemas.microsoft.com/office/drawing/2014/main" id="{27FF0572-62A0-47E8-BC52-C5371EA8B156}"/>
              </a:ext>
            </a:extLst>
          </p:cNvPr>
          <p:cNvSpPr>
            <a:spLocks/>
          </p:cNvSpPr>
          <p:nvPr/>
        </p:nvSpPr>
        <p:spPr>
          <a:xfrm>
            <a:off x="680085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04  实验与证据</a:t>
            </a:r>
          </a:p>
        </p:txBody>
      </p:sp>
      <p:sp>
        <p:nvSpPr>
          <p:cNvPr id="6" name="textbox_6">
            <a:extLst>
              <a:ext uri="{FF2B5EF4-FFF2-40B4-BE49-F238E27FC236}">
                <a16:creationId xmlns:a16="http://schemas.microsoft.com/office/drawing/2014/main" id="{75ECE50A-381C-4D4B-83DB-2032ECC433CB}"/>
              </a:ext>
            </a:extLst>
          </p:cNvPr>
          <p:cNvSpPr>
            <a:spLocks/>
          </p:cNvSpPr>
          <p:nvPr/>
        </p:nvSpPr>
        <p:spPr>
          <a:xfrm>
            <a:off x="89439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05  实施与产出</a:t>
            </a:r>
          </a:p>
        </p:txBody>
      </p:sp>
      <p:sp>
        <p:nvSpPr>
          <p:cNvPr id="7" name="line_7">
            <a:extLst>
              <a:ext uri="{FF2B5EF4-FFF2-40B4-BE49-F238E27FC236}">
                <a16:creationId xmlns:a16="http://schemas.microsoft.com/office/drawing/2014/main" id="{487C4FB5-63F9-4346-A0D7-2E22BA806DE1}"/>
              </a:ext>
            </a:extLst>
          </p:cNvPr>
          <p:cNvSpPr>
            <a:spLocks/>
          </p:cNvSpPr>
          <p:nvPr/>
        </p:nvSpPr>
        <p:spPr>
          <a:xfrm>
            <a:off x="371475" y="476250"/>
            <a:ext cx="10677525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8" name="slide_title">
            <a:extLst>
              <a:ext uri="{FF2B5EF4-FFF2-40B4-BE49-F238E27FC236}">
                <a16:creationId xmlns:a16="http://schemas.microsoft.com/office/drawing/2014/main" id="{F3D5E697-3FE4-41C9-A8EC-E99234526958}"/>
              </a:ext>
            </a:extLst>
          </p:cNvPr>
          <p:cNvSpPr>
            <a:spLocks/>
          </p:cNvSpPr>
          <p:nvPr/>
        </p:nvSpPr>
        <p:spPr>
          <a:xfrm>
            <a:off x="361950" y="685800"/>
            <a:ext cx="10706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defPPr>
          </a:lstStyle>
          <a:p>
            <a: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pP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04</a:t>
            </a:r>
            <a:r>
              <a:rPr sz="2175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  </a:t>
            </a: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一次实验应该留下什么，才能成为可学习的经验？</a:t>
            </a:r>
          </a:p>
        </p:txBody>
      </p:sp>
      <p:sp>
        <p:nvSpPr>
          <p:cNvPr id="9" name="textbox_8">
            <a:extLst>
              <a:ext uri="{FF2B5EF4-FFF2-40B4-BE49-F238E27FC236}">
                <a16:creationId xmlns:a16="http://schemas.microsoft.com/office/drawing/2014/main" id="{EAEA9A6F-6F2A-467F-A919-4869B64B05DC}"/>
              </a:ext>
            </a:extLst>
          </p:cNvPr>
          <p:cNvSpPr>
            <a:spLocks/>
          </p:cNvSpPr>
          <p:nvPr/>
        </p:nvSpPr>
        <p:spPr>
          <a:xfrm>
            <a:off x="381000" y="1133475"/>
            <a:ext cx="10668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实验记录是元模型的训练材料，也是离线回放的依据。</a:t>
            </a:r>
          </a:p>
        </p:txBody>
      </p:sp>
      <p:grpSp>
        <p:nvGrpSpPr>
          <p:cNvPr id="33" name="complete_diagram_with_connectors">
            <a:extLst>
              <a:ext uri="{FF2B5EF4-FFF2-40B4-BE49-F238E27FC236}">
                <a16:creationId xmlns:a16="http://schemas.microsoft.com/office/drawing/2014/main" id="{109763BA-B087-B935-28D5-F6D990D719A4}"/>
              </a:ext>
            </a:extLst>
          </p:cNvPr>
          <p:cNvGrpSpPr/>
          <p:nvPr/>
        </p:nvGrpSpPr>
        <p:grpSpPr>
          <a:xfrm>
            <a:off x="438150" y="1524000"/>
            <a:ext cx="10525125" cy="3543300"/>
            <a:chOff x="438150" y="1524000"/>
            <a:chExt cx="10525125" cy="3543300"/>
          </a:xfrm>
        </p:grpSpPr>
        <p:cxnSp>
          <p:nvCxnSpPr>
            <p:cNvPr id="12" name="connector_11">
              <a:extLst>
                <a:ext uri="{FF2B5EF4-FFF2-40B4-BE49-F238E27FC236}">
                  <a16:creationId xmlns:a16="http://schemas.microsoft.com/office/drawing/2014/main" id="{214A6C67-1421-4D07-AB0D-5266819399A5}"/>
                </a:ext>
              </a:extLst>
            </p:cNvPr>
            <p:cNvCxnSpPr>
              <a:stCxn id="10" idx="4"/>
              <a:endCxn id="11" idx="1"/>
            </p:cNvCxnSpPr>
            <p:nvPr/>
          </p:nvCxnSpPr>
          <p:spPr>
            <a:xfrm flipV="1">
              <a:off x="2609850" y="1800225"/>
              <a:ext cx="1428750" cy="1562100"/>
            </a:xfrm>
            <a:prstGeom prst="bentConnector3">
              <a:avLst>
                <a:gd name="adj1" fmla="val 40333"/>
              </a:avLst>
            </a:prstGeom>
            <a:ln w="20955">
              <a:solidFill>
                <a:srgbClr val="929CBC"/>
              </a:solidFill>
              <a:prstDash val="solid"/>
              <a:tailEnd type="triangle" w="med" len="med"/>
            </a:ln>
          </p:spPr>
        </p:cxnSp>
        <p:cxnSp>
          <p:nvCxnSpPr>
            <p:cNvPr id="15" name="connector_14">
              <a:extLst>
                <a:ext uri="{FF2B5EF4-FFF2-40B4-BE49-F238E27FC236}">
                  <a16:creationId xmlns:a16="http://schemas.microsoft.com/office/drawing/2014/main" id="{3A1AF0E6-AEF8-4D6C-8DE8-8ABBEC5EAFD3}"/>
                </a:ext>
              </a:extLst>
            </p:cNvPr>
            <p:cNvCxnSpPr>
              <a:stCxn id="10" idx="4"/>
              <a:endCxn id="14" idx="1"/>
            </p:cNvCxnSpPr>
            <p:nvPr/>
          </p:nvCxnSpPr>
          <p:spPr>
            <a:xfrm flipV="1">
              <a:off x="2609850" y="2543175"/>
              <a:ext cx="1428750" cy="819150"/>
            </a:xfrm>
            <a:prstGeom prst="bentConnector3">
              <a:avLst>
                <a:gd name="adj1" fmla="val 40333"/>
              </a:avLst>
            </a:prstGeom>
            <a:ln w="20955">
              <a:solidFill>
                <a:srgbClr val="929CBC"/>
              </a:solidFill>
              <a:prstDash val="solid"/>
              <a:tailEnd type="triangle" w="med" len="med"/>
            </a:ln>
          </p:spPr>
        </p:cxnSp>
        <p:cxnSp>
          <p:nvCxnSpPr>
            <p:cNvPr id="18" name="connector_17">
              <a:extLst>
                <a:ext uri="{FF2B5EF4-FFF2-40B4-BE49-F238E27FC236}">
                  <a16:creationId xmlns:a16="http://schemas.microsoft.com/office/drawing/2014/main" id="{9A35F89B-6FEC-4BE4-AD3C-3C55DB993CB2}"/>
                </a:ext>
              </a:extLst>
            </p:cNvPr>
            <p:cNvCxnSpPr>
              <a:stCxn id="10" idx="4"/>
              <a:endCxn id="17" idx="1"/>
            </p:cNvCxnSpPr>
            <p:nvPr/>
          </p:nvCxnSpPr>
          <p:spPr>
            <a:xfrm flipV="1">
              <a:off x="2609850" y="3286125"/>
              <a:ext cx="1428750" cy="76200"/>
            </a:xfrm>
            <a:prstGeom prst="bentConnector3">
              <a:avLst>
                <a:gd name="adj1" fmla="val 40333"/>
              </a:avLst>
            </a:prstGeom>
            <a:ln w="20955">
              <a:solidFill>
                <a:srgbClr val="929CBC"/>
              </a:solidFill>
              <a:prstDash val="solid"/>
              <a:tailEnd type="triangle" w="med" len="med"/>
            </a:ln>
          </p:spPr>
        </p:cxnSp>
        <p:cxnSp>
          <p:nvCxnSpPr>
            <p:cNvPr id="21" name="connector_20">
              <a:extLst>
                <a:ext uri="{FF2B5EF4-FFF2-40B4-BE49-F238E27FC236}">
                  <a16:creationId xmlns:a16="http://schemas.microsoft.com/office/drawing/2014/main" id="{D7ADEFE2-9331-455F-882E-E6862274D016}"/>
                </a:ext>
              </a:extLst>
            </p:cNvPr>
            <p:cNvCxnSpPr>
              <a:stCxn id="10" idx="4"/>
              <a:endCxn id="20" idx="1"/>
            </p:cNvCxnSpPr>
            <p:nvPr/>
          </p:nvCxnSpPr>
          <p:spPr>
            <a:xfrm>
              <a:off x="2609850" y="3362325"/>
              <a:ext cx="1428750" cy="666750"/>
            </a:xfrm>
            <a:prstGeom prst="bentConnector3">
              <a:avLst>
                <a:gd name="adj1" fmla="val 40333"/>
              </a:avLst>
            </a:prstGeom>
            <a:ln w="20955">
              <a:solidFill>
                <a:srgbClr val="9C5875"/>
              </a:solidFill>
              <a:prstDash val="solid"/>
              <a:tailEnd type="triangle" w="med" len="med"/>
            </a:ln>
          </p:spPr>
        </p:cxnSp>
        <p:cxnSp>
          <p:nvCxnSpPr>
            <p:cNvPr id="24" name="connector_23">
              <a:extLst>
                <a:ext uri="{FF2B5EF4-FFF2-40B4-BE49-F238E27FC236}">
                  <a16:creationId xmlns:a16="http://schemas.microsoft.com/office/drawing/2014/main" id="{436F4AC1-D9A9-4331-892E-C49187E31BBA}"/>
                </a:ext>
              </a:extLst>
            </p:cNvPr>
            <p:cNvCxnSpPr>
              <a:stCxn id="10" idx="4"/>
              <a:endCxn id="23" idx="1"/>
            </p:cNvCxnSpPr>
            <p:nvPr/>
          </p:nvCxnSpPr>
          <p:spPr>
            <a:xfrm>
              <a:off x="2609850" y="3362325"/>
              <a:ext cx="1428750" cy="1409700"/>
            </a:xfrm>
            <a:prstGeom prst="bentConnector3">
              <a:avLst>
                <a:gd name="adj1" fmla="val 40333"/>
              </a:avLst>
            </a:prstGeom>
            <a:ln w="20955">
              <a:solidFill>
                <a:srgbClr val="929CBC"/>
              </a:solidFill>
              <a:prstDash val="solid"/>
              <a:tailEnd type="triangle" w="med" len="med"/>
            </a:ln>
          </p:spPr>
        </p:cxnSp>
        <p:grpSp>
          <p:nvGrpSpPr>
            <p:cNvPr id="32" name="page_5_stage_1">
              <a:extLst>
                <a:ext uri="{FF2B5EF4-FFF2-40B4-BE49-F238E27FC236}">
                  <a16:creationId xmlns:a16="http://schemas.microsoft.com/office/drawing/2014/main" id="{20461417-CC59-DA0E-4770-0A2E6B350FCB}"/>
                </a:ext>
              </a:extLst>
            </p:cNvPr>
            <p:cNvGrpSpPr/>
            <p:nvPr/>
          </p:nvGrpSpPr>
          <p:grpSpPr>
            <a:xfrm>
              <a:off x="438150" y="1524000"/>
              <a:ext cx="10525125" cy="3543300"/>
              <a:chOff x="438150" y="1524000"/>
              <a:chExt cx="10525125" cy="3543300"/>
            </a:xfrm>
          </p:grpSpPr>
          <p:sp>
            <p:nvSpPr>
              <p:cNvPr id="10" name="flowChartMagneticDisk_9">
                <a:extLst>
                  <a:ext uri="{FF2B5EF4-FFF2-40B4-BE49-F238E27FC236}">
                    <a16:creationId xmlns:a16="http://schemas.microsoft.com/office/drawing/2014/main" id="{520FACFD-23E4-4579-BBBC-DE34E14DE9F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38150" y="2247900"/>
                <a:ext cx="2171700" cy="2228850"/>
              </a:xfrm>
              <a:prstGeom prst="flowChartMagneticDisk">
                <a:avLst/>
              </a:prstGeom>
              <a:solidFill>
                <a:srgbClr val="38385B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2025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2025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2025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一条实验记录</a:t>
                </a:r>
              </a:p>
              <a:p>
                <a:pPr algn="ctr">
                  <a:defRPr sz="2025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499" b="0">
                    <a:solidFill>
                      <a:srgbClr val="DAE8EE"/>
                    </a:solidFill>
                    <a:latin typeface="Noto Sans SC"/>
                    <a:ea typeface="Noto Sans SC"/>
                    <a:cs typeface="Noto Sans SC"/>
                  </a:rPr>
                  <a:t>任务 × 候选</a:t>
                </a:r>
                <a:br>
                  <a:rPr sz="1499" b="0">
                    <a:solidFill>
                      <a:srgbClr val="DAE8EE"/>
                    </a:solidFill>
                    <a:latin typeface="Noto Sans SC"/>
                    <a:ea typeface="Noto Sans SC"/>
                    <a:cs typeface="Noto Sans SC"/>
                  </a:rPr>
                </a:br>
                <a:r>
                  <a:rPr sz="1499" b="0">
                    <a:solidFill>
                      <a:srgbClr val="DAE8EE"/>
                    </a:solidFill>
                    <a:latin typeface="Noto Sans SC"/>
                    <a:ea typeface="Noto Sans SC"/>
                    <a:cs typeface="Noto Sans SC"/>
                  </a:rPr>
                  <a:t>× 配置 × 结果</a:t>
                </a:r>
              </a:p>
            </p:txBody>
          </p:sp>
          <p:sp>
            <p:nvSpPr>
              <p:cNvPr id="11" name="chevron_10">
                <a:extLst>
                  <a:ext uri="{FF2B5EF4-FFF2-40B4-BE49-F238E27FC236}">
                    <a16:creationId xmlns:a16="http://schemas.microsoft.com/office/drawing/2014/main" id="{77F08A63-13C2-4D6C-8255-384963442D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62375" y="1524000"/>
                <a:ext cx="1876425" cy="552450"/>
              </a:xfrm>
              <a:prstGeom prst="chevron">
                <a:avLst/>
              </a:prstGeom>
              <a:solidFill>
                <a:srgbClr val="EEF0F7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1575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1575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t>任务身份</a:t>
                </a:r>
              </a:p>
            </p:txBody>
          </p:sp>
          <p:sp>
            <p:nvSpPr>
              <p:cNvPr id="13" name="textbox_12">
                <a:extLst>
                  <a:ext uri="{FF2B5EF4-FFF2-40B4-BE49-F238E27FC236}">
                    <a16:creationId xmlns:a16="http://schemas.microsoft.com/office/drawing/2014/main" id="{C0A256B6-5180-4FD1-905E-E886351429C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915025" y="1638300"/>
                <a:ext cx="5048250" cy="4572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50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50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50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来源、目标、时间切分与窗口索引</a:t>
                </a:r>
              </a:p>
            </p:txBody>
          </p:sp>
          <p:sp>
            <p:nvSpPr>
              <p:cNvPr id="14" name="chevron_13">
                <a:extLst>
                  <a:ext uri="{FF2B5EF4-FFF2-40B4-BE49-F238E27FC236}">
                    <a16:creationId xmlns:a16="http://schemas.microsoft.com/office/drawing/2014/main" id="{E40A3419-CAC1-4FD0-A0E5-447FDC698AD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62375" y="2266950"/>
                <a:ext cx="1876425" cy="552450"/>
              </a:xfrm>
              <a:prstGeom prst="chevron">
                <a:avLst/>
              </a:prstGeom>
              <a:solidFill>
                <a:srgbClr val="EEF0F7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1575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1575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t>候选设置</a:t>
                </a:r>
              </a:p>
            </p:txBody>
          </p:sp>
          <p:sp>
            <p:nvSpPr>
              <p:cNvPr id="16" name="textbox_15">
                <a:extLst>
                  <a:ext uri="{FF2B5EF4-FFF2-40B4-BE49-F238E27FC236}">
                    <a16:creationId xmlns:a16="http://schemas.microsoft.com/office/drawing/2014/main" id="{705F901B-13AB-4789-A06E-30CF1D030BA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915025" y="2381250"/>
                <a:ext cx="5048250" cy="4572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50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50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50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模型、超参数、种子与代码版本</a:t>
                </a:r>
              </a:p>
            </p:txBody>
          </p:sp>
          <p:sp>
            <p:nvSpPr>
              <p:cNvPr id="17" name="chevron_16">
                <a:extLst>
                  <a:ext uri="{FF2B5EF4-FFF2-40B4-BE49-F238E27FC236}">
                    <a16:creationId xmlns:a16="http://schemas.microsoft.com/office/drawing/2014/main" id="{46F71073-B9DE-43F4-8078-1B54E1021D4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62375" y="3009900"/>
                <a:ext cx="1876425" cy="552450"/>
              </a:xfrm>
              <a:prstGeom prst="chevron">
                <a:avLst/>
              </a:prstGeom>
              <a:solidFill>
                <a:srgbClr val="EEF0F7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1575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1575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t>预测产物</a:t>
                </a:r>
              </a:p>
            </p:txBody>
          </p:sp>
          <p:sp>
            <p:nvSpPr>
              <p:cNvPr id="19" name="textbox_18">
                <a:extLst>
                  <a:ext uri="{FF2B5EF4-FFF2-40B4-BE49-F238E27FC236}">
                    <a16:creationId xmlns:a16="http://schemas.microsoft.com/office/drawing/2014/main" id="{A45FB5EE-AF69-47BA-9644-479E46CB581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915025" y="3124200"/>
                <a:ext cx="5048250" cy="4572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50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50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50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验证预测、真值、origin 与 horizon</a:t>
                </a:r>
              </a:p>
            </p:txBody>
          </p:sp>
          <p:sp>
            <p:nvSpPr>
              <p:cNvPr id="20" name="chevron_19">
                <a:extLst>
                  <a:ext uri="{FF2B5EF4-FFF2-40B4-BE49-F238E27FC236}">
                    <a16:creationId xmlns:a16="http://schemas.microsoft.com/office/drawing/2014/main" id="{F3952B15-B5A7-4542-A4C8-963EB8FE1D6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62375" y="3752850"/>
                <a:ext cx="1876425" cy="552450"/>
              </a:xfrm>
              <a:prstGeom prst="chevron">
                <a:avLst/>
              </a:prstGeom>
              <a:solidFill>
                <a:srgbClr val="F3E5EB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1575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1575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t>执行证据</a:t>
                </a:r>
              </a:p>
            </p:txBody>
          </p:sp>
          <p:sp>
            <p:nvSpPr>
              <p:cNvPr id="22" name="textbox_21">
                <a:extLst>
                  <a:ext uri="{FF2B5EF4-FFF2-40B4-BE49-F238E27FC236}">
                    <a16:creationId xmlns:a16="http://schemas.microsoft.com/office/drawing/2014/main" id="{A4BB6DDE-62BB-49C3-8020-3C0A4919219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915025" y="3867150"/>
                <a:ext cx="5048250" cy="4572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50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50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50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状态、最佳轮次、耗时与失败原因</a:t>
                </a:r>
              </a:p>
            </p:txBody>
          </p:sp>
          <p:sp>
            <p:nvSpPr>
              <p:cNvPr id="23" name="chevron_22">
                <a:extLst>
                  <a:ext uri="{FF2B5EF4-FFF2-40B4-BE49-F238E27FC236}">
                    <a16:creationId xmlns:a16="http://schemas.microsoft.com/office/drawing/2014/main" id="{F8FBD3DE-7B44-44C5-80F0-8841F9CAB6F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762375" y="4495800"/>
                <a:ext cx="1876425" cy="552450"/>
              </a:xfrm>
              <a:prstGeom prst="chevron">
                <a:avLst/>
              </a:prstGeom>
              <a:solidFill>
                <a:srgbClr val="EEF0F7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1575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1575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t>表现标签</a:t>
                </a:r>
              </a:p>
            </p:txBody>
          </p:sp>
          <p:sp>
            <p:nvSpPr>
              <p:cNvPr id="25" name="textbox_24">
                <a:extLst>
                  <a:ext uri="{FF2B5EF4-FFF2-40B4-BE49-F238E27FC236}">
                    <a16:creationId xmlns:a16="http://schemas.microsoft.com/office/drawing/2014/main" id="{EB5571E1-2881-4BFD-8809-C126124F2D0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915025" y="4610100"/>
                <a:ext cx="5048250" cy="4572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50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50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50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MAE / MSE 及数据尺度说明</a:t>
                </a:r>
              </a:p>
            </p:txBody>
          </p:sp>
        </p:grpSp>
      </p:grpSp>
      <p:sp>
        <p:nvSpPr>
          <p:cNvPr id="26" name="line_25">
            <a:extLst>
              <a:ext uri="{FF2B5EF4-FFF2-40B4-BE49-F238E27FC236}">
                <a16:creationId xmlns:a16="http://schemas.microsoft.com/office/drawing/2014/main" id="{4670646D-DE3A-4325-AC49-C334A44288CC}"/>
              </a:ext>
            </a:extLst>
          </p:cNvPr>
          <p:cNvSpPr>
            <a:spLocks/>
          </p:cNvSpPr>
          <p:nvPr/>
        </p:nvSpPr>
        <p:spPr>
          <a:xfrm>
            <a:off x="371475" y="5800725"/>
            <a:ext cx="10687050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27" name="rect_26">
            <a:extLst>
              <a:ext uri="{FF2B5EF4-FFF2-40B4-BE49-F238E27FC236}">
                <a16:creationId xmlns:a16="http://schemas.microsoft.com/office/drawing/2014/main" id="{E59D62D6-2F0C-49B8-AA85-7F89AB5489A6}"/>
              </a:ext>
            </a:extLst>
          </p:cNvPr>
          <p:cNvSpPr>
            <a:spLocks/>
          </p:cNvSpPr>
          <p:nvPr/>
        </p:nvSpPr>
        <p:spPr>
          <a:xfrm>
            <a:off x="371475" y="5886450"/>
            <a:ext cx="38100" cy="20002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28" name="textbox_27">
            <a:extLst>
              <a:ext uri="{FF2B5EF4-FFF2-40B4-BE49-F238E27FC236}">
                <a16:creationId xmlns:a16="http://schemas.microsoft.com/office/drawing/2014/main" id="{D47408A9-9D6F-414C-B9E2-5B39234ECC71}"/>
              </a:ext>
            </a:extLst>
          </p:cNvPr>
          <p:cNvSpPr>
            <a:spLocks/>
          </p:cNvSpPr>
          <p:nvPr/>
        </p:nvSpPr>
        <p:spPr>
          <a:xfrm>
            <a:off x="495300" y="5848350"/>
            <a:ext cx="1043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一条可用样本 = 任务 × 模型 × 配置 × 结果 × 成本。</a:t>
            </a:r>
          </a:p>
        </p:txBody>
      </p:sp>
      <p:sp>
        <p:nvSpPr>
          <p:cNvPr id="29" name="textbox_28">
            <a:extLst>
              <a:ext uri="{FF2B5EF4-FFF2-40B4-BE49-F238E27FC236}">
                <a16:creationId xmlns:a16="http://schemas.microsoft.com/office/drawing/2014/main" id="{E8E24822-6F62-4325-93AE-F87063DBFC24}"/>
              </a:ext>
            </a:extLst>
          </p:cNvPr>
          <p:cNvSpPr>
            <a:spLocks/>
          </p:cNvSpPr>
          <p:nvPr/>
        </p:nvSpPr>
        <p:spPr>
          <a:xfrm>
            <a:off x="371475" y="6219825"/>
            <a:ext cx="10287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路线 V1.0 · 视觉测试稿 · 研究设计待验证</a:t>
            </a:r>
          </a:p>
        </p:txBody>
      </p:sp>
      <p:sp>
        <p:nvSpPr>
          <p:cNvPr id="30" name="textbox_29">
            <a:extLst>
              <a:ext uri="{FF2B5EF4-FFF2-40B4-BE49-F238E27FC236}">
                <a16:creationId xmlns:a16="http://schemas.microsoft.com/office/drawing/2014/main" id="{4A379752-A54A-4CA8-82F6-3D04BEA37C39}"/>
              </a:ext>
            </a:extLst>
          </p:cNvPr>
          <p:cNvSpPr>
            <a:spLocks/>
          </p:cNvSpPr>
          <p:nvPr/>
        </p:nvSpPr>
        <p:spPr>
          <a:xfrm>
            <a:off x="10620375" y="619125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69519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box_1">
            <a:extLst>
              <a:ext uri="{FF2B5EF4-FFF2-40B4-BE49-F238E27FC236}">
                <a16:creationId xmlns:a16="http://schemas.microsoft.com/office/drawing/2014/main" id="{49269020-FE11-442C-A5F1-21681EF5D7E5}"/>
              </a:ext>
            </a:extLst>
          </p:cNvPr>
          <p:cNvSpPr>
            <a:spLocks/>
          </p:cNvSpPr>
          <p:nvPr/>
        </p:nvSpPr>
        <p:spPr>
          <a:xfrm>
            <a:off x="219075" y="123825"/>
            <a:ext cx="109823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38385B"/>
                </a:solidFill>
                <a:latin typeface="Georgia"/>
                <a:ea typeface="Georgia"/>
                <a:cs typeface="Georgia"/>
              </a:defRPr>
            </a:defPPr>
          </a:lstStyle>
          <a:p>
            <a:pPr algn="l">
              <a:defRPr sz="2025" b="1">
                <a:solidFill>
                  <a:srgbClr val="38385B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38385B"/>
                </a:solidFill>
                <a:latin typeface="Georgia"/>
                <a:ea typeface="Georgia"/>
                <a:cs typeface="Georgia"/>
              </a:rPr>
              <a:t>Two Kinds of Features for Adaptive Forecasting Model Selection</a:t>
            </a:r>
          </a:p>
        </p:txBody>
      </p:sp>
      <p:sp>
        <p:nvSpPr>
          <p:cNvPr id="2" name="textbox_2">
            <a:extLst>
              <a:ext uri="{FF2B5EF4-FFF2-40B4-BE49-F238E27FC236}">
                <a16:creationId xmlns:a16="http://schemas.microsoft.com/office/drawing/2014/main" id="{D5D4C30F-6AF5-4EB2-855D-DAA368618136}"/>
              </a:ext>
            </a:extLst>
          </p:cNvPr>
          <p:cNvSpPr>
            <a:spLocks/>
          </p:cNvSpPr>
          <p:nvPr/>
        </p:nvSpPr>
        <p:spPr>
          <a:xfrm>
            <a:off x="238125" y="571500"/>
            <a:ext cx="10668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0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90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执行前描述任务，执行后描述预测误差；二者共同支持下一次候选选择。</a:t>
            </a:r>
          </a:p>
        </p:txBody>
      </p:sp>
      <p:grpSp>
        <p:nvGrpSpPr>
          <p:cNvPr id="219" name="pre_execution_lane">
            <a:extLst>
              <a:ext uri="{FF2B5EF4-FFF2-40B4-BE49-F238E27FC236}">
                <a16:creationId xmlns:a16="http://schemas.microsoft.com/office/drawing/2014/main" id="{EC50D4B7-FE11-B723-D8FD-92915E5598DE}"/>
              </a:ext>
            </a:extLst>
          </p:cNvPr>
          <p:cNvGrpSpPr/>
          <p:nvPr/>
        </p:nvGrpSpPr>
        <p:grpSpPr>
          <a:xfrm>
            <a:off x="180975" y="876300"/>
            <a:ext cx="9105900" cy="2362200"/>
            <a:chOff x="180975" y="876300"/>
            <a:chExt cx="9105900" cy="2362200"/>
          </a:xfrm>
        </p:grpSpPr>
        <p:sp>
          <p:nvSpPr>
            <p:cNvPr id="3" name="roundRect_3">
              <a:extLst>
                <a:ext uri="{FF2B5EF4-FFF2-40B4-BE49-F238E27FC236}">
                  <a16:creationId xmlns:a16="http://schemas.microsoft.com/office/drawing/2014/main" id="{534D8DE0-6A1A-468E-A76C-7EB3252C6CE6}"/>
                </a:ext>
              </a:extLst>
            </p:cNvPr>
            <p:cNvSpPr>
              <a:spLocks/>
            </p:cNvSpPr>
            <p:nvPr/>
          </p:nvSpPr>
          <p:spPr>
            <a:xfrm>
              <a:off x="180975" y="876300"/>
              <a:ext cx="9105900" cy="2362200"/>
            </a:xfrm>
            <a:prstGeom prst="roundRect">
              <a:avLst>
                <a:gd name="adj" fmla="val 3629"/>
              </a:avLst>
            </a:prstGeom>
            <a:solidFill>
              <a:srgbClr val="F0F2FB"/>
            </a:solidFill>
            <a:ln w="9525">
              <a:solidFill>
                <a:srgbClr val="E2E5F2"/>
              </a:solidFill>
              <a:prstDash val="solid"/>
            </a:ln>
          </p:spPr>
        </p:sp>
        <p:sp>
          <p:nvSpPr>
            <p:cNvPr id="4" name="ellipse_4">
              <a:extLst>
                <a:ext uri="{FF2B5EF4-FFF2-40B4-BE49-F238E27FC236}">
                  <a16:creationId xmlns:a16="http://schemas.microsoft.com/office/drawing/2014/main" id="{546AA70D-61DE-46F9-8AC5-124BCDE8709D}"/>
                </a:ext>
              </a:extLst>
            </p:cNvPr>
            <p:cNvSpPr>
              <a:spLocks/>
            </p:cNvSpPr>
            <p:nvPr/>
          </p:nvSpPr>
          <p:spPr>
            <a:xfrm>
              <a:off x="285750" y="981075"/>
              <a:ext cx="285750" cy="285750"/>
            </a:xfrm>
            <a:prstGeom prst="ellipse">
              <a:avLst/>
            </a:prstGeom>
            <a:solidFill>
              <a:srgbClr val="7775B7"/>
            </a:solidFill>
            <a:ln w="0">
              <a:noFill/>
              <a:prstDash val="solid"/>
            </a:ln>
          </p:spPr>
        </p:sp>
        <p:sp>
          <p:nvSpPr>
            <p:cNvPr id="5" name="textbox_5">
              <a:extLst>
                <a:ext uri="{FF2B5EF4-FFF2-40B4-BE49-F238E27FC236}">
                  <a16:creationId xmlns:a16="http://schemas.microsoft.com/office/drawing/2014/main" id="{0A5EF96C-337B-4DF3-961A-11DEE064631F}"/>
                </a:ext>
              </a:extLst>
            </p:cNvPr>
            <p:cNvSpPr>
              <a:spLocks/>
            </p:cNvSpPr>
            <p:nvPr/>
          </p:nvSpPr>
          <p:spPr>
            <a:xfrm>
              <a:off x="361950" y="1009650"/>
              <a:ext cx="200025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50" b="0">
                  <a:solidFill>
                    <a:srgbClr val="FFFFFF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1350" b="0">
                  <a:solidFill>
                    <a:srgbClr val="FFFFFF"/>
                  </a:solidFill>
                  <a:latin typeface="Georgia"/>
                  <a:ea typeface="Georgia"/>
                  <a:cs typeface="Georgia"/>
                </a:defRPr>
              </a:pPr>
              <a:r>
                <a:rPr sz="1350" b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1</a:t>
              </a:r>
            </a:p>
          </p:txBody>
        </p:sp>
        <p:sp>
          <p:nvSpPr>
            <p:cNvPr id="6" name="textbox_6">
              <a:extLst>
                <a:ext uri="{FF2B5EF4-FFF2-40B4-BE49-F238E27FC236}">
                  <a16:creationId xmlns:a16="http://schemas.microsoft.com/office/drawing/2014/main" id="{2FA8857B-652D-4C3F-A1F5-94760A692BF3}"/>
                </a:ext>
              </a:extLst>
            </p:cNvPr>
            <p:cNvSpPr>
              <a:spLocks/>
            </p:cNvSpPr>
            <p:nvPr/>
          </p:nvSpPr>
          <p:spPr>
            <a:xfrm>
              <a:off x="666750" y="962025"/>
              <a:ext cx="828675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575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1575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1575" b="1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Pre-execution features</a:t>
              </a:r>
            </a:p>
          </p:txBody>
        </p:sp>
        <p:sp>
          <p:nvSpPr>
            <p:cNvPr id="7" name="textbox_7">
              <a:extLst>
                <a:ext uri="{FF2B5EF4-FFF2-40B4-BE49-F238E27FC236}">
                  <a16:creationId xmlns:a16="http://schemas.microsoft.com/office/drawing/2014/main" id="{633D4D6F-CA1F-4EF2-86E6-30D2F5064759}"/>
                </a:ext>
              </a:extLst>
            </p:cNvPr>
            <p:cNvSpPr>
              <a:spLocks/>
            </p:cNvSpPr>
            <p:nvPr/>
          </p:nvSpPr>
          <p:spPr>
            <a:xfrm>
              <a:off x="666750" y="1238250"/>
              <a:ext cx="8286750" cy="219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75" b="0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975" b="0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975" b="0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From the current training series — before candidate training</a:t>
              </a:r>
            </a:p>
          </p:txBody>
        </p:sp>
        <p:sp>
          <p:nvSpPr>
            <p:cNvPr id="8" name="roundRect_8">
              <a:extLst>
                <a:ext uri="{FF2B5EF4-FFF2-40B4-BE49-F238E27FC236}">
                  <a16:creationId xmlns:a16="http://schemas.microsoft.com/office/drawing/2014/main" id="{CAA1A055-1829-42FA-9EA1-4501C6FB54CE}"/>
                </a:ext>
              </a:extLst>
            </p:cNvPr>
            <p:cNvSpPr>
              <a:spLocks/>
            </p:cNvSpPr>
            <p:nvPr/>
          </p:nvSpPr>
          <p:spPr>
            <a:xfrm>
              <a:off x="323850" y="1533525"/>
              <a:ext cx="2543175" cy="1562100"/>
            </a:xfrm>
            <a:prstGeom prst="roundRect">
              <a:avLst>
                <a:gd name="adj" fmla="val 5488"/>
              </a:avLst>
            </a:prstGeom>
            <a:solidFill>
              <a:srgbClr val="FFFFFF"/>
            </a:solidFill>
            <a:ln w="9525">
              <a:solidFill>
                <a:srgbClr val="BBBFE1"/>
              </a:solidFill>
              <a:prstDash val="solid"/>
            </a:ln>
          </p:spPr>
        </p:sp>
        <p:sp>
          <p:nvSpPr>
            <p:cNvPr id="9" name="textbox_9">
              <a:extLst>
                <a:ext uri="{FF2B5EF4-FFF2-40B4-BE49-F238E27FC236}">
                  <a16:creationId xmlns:a16="http://schemas.microsoft.com/office/drawing/2014/main" id="{6E49B926-B7DF-47D0-AD1F-B0AA75A24B31}"/>
                </a:ext>
              </a:extLst>
            </p:cNvPr>
            <p:cNvSpPr>
              <a:spLocks/>
            </p:cNvSpPr>
            <p:nvPr/>
          </p:nvSpPr>
          <p:spPr>
            <a:xfrm>
              <a:off x="428625" y="1600200"/>
              <a:ext cx="2324100" cy="219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125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1125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1125" b="1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Current training series</a:t>
              </a:r>
            </a:p>
          </p:txBody>
        </p:sp>
        <p:sp>
          <p:nvSpPr>
            <p:cNvPr id="10" name="rect_10">
              <a:extLst>
                <a:ext uri="{FF2B5EF4-FFF2-40B4-BE49-F238E27FC236}">
                  <a16:creationId xmlns:a16="http://schemas.microsoft.com/office/drawing/2014/main" id="{F9EA4D2B-E2FE-4808-ADB2-BB13FC5ECD36}"/>
                </a:ext>
              </a:extLst>
            </p:cNvPr>
            <p:cNvSpPr>
              <a:spLocks/>
            </p:cNvSpPr>
            <p:nvPr/>
          </p:nvSpPr>
          <p:spPr>
            <a:xfrm>
              <a:off x="476250" y="1924050"/>
              <a:ext cx="2247900" cy="790575"/>
            </a:xfrm>
            <a:prstGeom prst="rect">
              <a:avLst/>
            </a:prstGeom>
            <a:solidFill>
              <a:srgbClr val="EFF1FB"/>
            </a:solidFill>
            <a:ln w="0">
              <a:noFill/>
              <a:prstDash val="solid"/>
            </a:ln>
          </p:spPr>
        </p:sp>
        <p:sp>
          <p:nvSpPr>
            <p:cNvPr id="11" name="line_11">
              <a:extLst>
                <a:ext uri="{FF2B5EF4-FFF2-40B4-BE49-F238E27FC236}">
                  <a16:creationId xmlns:a16="http://schemas.microsoft.com/office/drawing/2014/main" id="{90424118-2EC1-47FE-88A3-B4046D68D6D4}"/>
                </a:ext>
              </a:extLst>
            </p:cNvPr>
            <p:cNvSpPr>
              <a:spLocks/>
            </p:cNvSpPr>
            <p:nvPr/>
          </p:nvSpPr>
          <p:spPr>
            <a:xfrm>
              <a:off x="476250" y="1933575"/>
              <a:ext cx="953" cy="781050"/>
            </a:xfrm>
            <a:prstGeom prst="line">
              <a:avLst/>
            </a:prstGeom>
            <a:noFill/>
            <a:ln w="6668">
              <a:solidFill>
                <a:srgbClr val="A6AAC1"/>
              </a:solidFill>
              <a:prstDash val="solid"/>
            </a:ln>
          </p:spPr>
        </p:sp>
        <p:sp>
          <p:nvSpPr>
            <p:cNvPr id="12" name="line_12">
              <a:extLst>
                <a:ext uri="{FF2B5EF4-FFF2-40B4-BE49-F238E27FC236}">
                  <a16:creationId xmlns:a16="http://schemas.microsoft.com/office/drawing/2014/main" id="{65EF997C-7553-45D9-A7DE-C9D805D3AC94}"/>
                </a:ext>
              </a:extLst>
            </p:cNvPr>
            <p:cNvSpPr>
              <a:spLocks/>
            </p:cNvSpPr>
            <p:nvPr/>
          </p:nvSpPr>
          <p:spPr>
            <a:xfrm>
              <a:off x="476250" y="2714625"/>
              <a:ext cx="2247900" cy="953"/>
            </a:xfrm>
            <a:prstGeom prst="line">
              <a:avLst/>
            </a:prstGeom>
            <a:noFill/>
            <a:ln w="6668">
              <a:solidFill>
                <a:srgbClr val="A6AAC1"/>
              </a:solidFill>
              <a:prstDash val="solid"/>
            </a:ln>
          </p:spPr>
        </p:sp>
        <p:sp>
          <p:nvSpPr>
            <p:cNvPr id="13" name="trace_13">
              <a:extLst>
                <a:ext uri="{FF2B5EF4-FFF2-40B4-BE49-F238E27FC236}">
                  <a16:creationId xmlns:a16="http://schemas.microsoft.com/office/drawing/2014/main" id="{C25D23A6-68B5-4185-954A-A9C2243E605A}"/>
                </a:ext>
              </a:extLst>
            </p:cNvPr>
            <p:cNvSpPr>
              <a:spLocks/>
            </p:cNvSpPr>
            <p:nvPr/>
          </p:nvSpPr>
          <p:spPr>
            <a:xfrm>
              <a:off x="514350" y="2175875"/>
              <a:ext cx="2171700" cy="345607"/>
            </a:xfrm>
            <a:custGeom>
              <a:avLst/>
              <a:gdLst/>
              <a:ahLst/>
              <a:cxnLst/>
              <a:rect l="0" t="0" r="0" b="0"/>
              <a:pathLst>
                <a:path w="2171700" h="345607">
                  <a:moveTo>
                    <a:pt x="0" y="228997"/>
                  </a:moveTo>
                  <a:lnTo>
                    <a:pt x="52968" y="186919"/>
                  </a:lnTo>
                  <a:lnTo>
                    <a:pt x="105937" y="310793"/>
                  </a:lnTo>
                  <a:lnTo>
                    <a:pt x="158905" y="279139"/>
                  </a:lnTo>
                  <a:lnTo>
                    <a:pt x="211873" y="189532"/>
                  </a:lnTo>
                  <a:lnTo>
                    <a:pt x="264841" y="204623"/>
                  </a:lnTo>
                  <a:lnTo>
                    <a:pt x="317810" y="19547"/>
                  </a:lnTo>
                  <a:lnTo>
                    <a:pt x="370778" y="98632"/>
                  </a:lnTo>
                  <a:lnTo>
                    <a:pt x="423746" y="44652"/>
                  </a:lnTo>
                  <a:lnTo>
                    <a:pt x="476715" y="117517"/>
                  </a:lnTo>
                  <a:lnTo>
                    <a:pt x="529683" y="244060"/>
                  </a:lnTo>
                  <a:lnTo>
                    <a:pt x="582651" y="206836"/>
                  </a:lnTo>
                  <a:lnTo>
                    <a:pt x="635620" y="345607"/>
                  </a:lnTo>
                  <a:lnTo>
                    <a:pt x="688588" y="210900"/>
                  </a:lnTo>
                  <a:lnTo>
                    <a:pt x="741556" y="205574"/>
                  </a:lnTo>
                  <a:lnTo>
                    <a:pt x="794524" y="129606"/>
                  </a:lnTo>
                  <a:lnTo>
                    <a:pt x="847493" y="15253"/>
                  </a:lnTo>
                  <a:lnTo>
                    <a:pt x="900461" y="112207"/>
                  </a:lnTo>
                  <a:lnTo>
                    <a:pt x="953429" y="33792"/>
                  </a:lnTo>
                  <a:lnTo>
                    <a:pt x="1006398" y="204169"/>
                  </a:lnTo>
                  <a:lnTo>
                    <a:pt x="1059366" y="227258"/>
                  </a:lnTo>
                  <a:lnTo>
                    <a:pt x="1112334" y="258289"/>
                  </a:lnTo>
                  <a:lnTo>
                    <a:pt x="1165302" y="326098"/>
                  </a:lnTo>
                  <a:lnTo>
                    <a:pt x="1218271" y="165522"/>
                  </a:lnTo>
                  <a:lnTo>
                    <a:pt x="1271239" y="207756"/>
                  </a:lnTo>
                  <a:lnTo>
                    <a:pt x="1324207" y="48355"/>
                  </a:lnTo>
                  <a:lnTo>
                    <a:pt x="1377176" y="53248"/>
                  </a:lnTo>
                  <a:lnTo>
                    <a:pt x="1430144" y="94704"/>
                  </a:lnTo>
                  <a:lnTo>
                    <a:pt x="1483112" y="71713"/>
                  </a:lnTo>
                  <a:lnTo>
                    <a:pt x="1536080" y="262876"/>
                  </a:lnTo>
                  <a:lnTo>
                    <a:pt x="1589049" y="210588"/>
                  </a:lnTo>
                  <a:lnTo>
                    <a:pt x="1642017" y="314498"/>
                  </a:lnTo>
                  <a:lnTo>
                    <a:pt x="1694985" y="261004"/>
                  </a:lnTo>
                  <a:lnTo>
                    <a:pt x="1747954" y="157535"/>
                  </a:lnTo>
                  <a:lnTo>
                    <a:pt x="1800922" y="171904"/>
                  </a:lnTo>
                  <a:lnTo>
                    <a:pt x="1853890" y="0"/>
                  </a:lnTo>
                  <a:lnTo>
                    <a:pt x="1906859" y="100506"/>
                  </a:lnTo>
                  <a:lnTo>
                    <a:pt x="1959827" y="66942"/>
                  </a:lnTo>
                  <a:lnTo>
                    <a:pt x="2012795" y="151195"/>
                  </a:lnTo>
                  <a:lnTo>
                    <a:pt x="2065763" y="274625"/>
                  </a:lnTo>
                  <a:lnTo>
                    <a:pt x="2118732" y="221725"/>
                  </a:lnTo>
                  <a:lnTo>
                    <a:pt x="2171700" y="338451"/>
                  </a:lnTo>
                </a:path>
              </a:pathLst>
            </a:custGeom>
            <a:noFill/>
            <a:ln w="13335">
              <a:solidFill>
                <a:srgbClr val="7875B7"/>
              </a:solidFill>
            </a:ln>
          </p:spPr>
        </p:sp>
        <p:sp>
          <p:nvSpPr>
            <p:cNvPr id="14" name="textbox_14">
              <a:extLst>
                <a:ext uri="{FF2B5EF4-FFF2-40B4-BE49-F238E27FC236}">
                  <a16:creationId xmlns:a16="http://schemas.microsoft.com/office/drawing/2014/main" id="{4C447E2F-33A3-445F-BF26-A7C78BCF0A81}"/>
                </a:ext>
              </a:extLst>
            </p:cNvPr>
            <p:cNvSpPr>
              <a:spLocks/>
            </p:cNvSpPr>
            <p:nvPr/>
          </p:nvSpPr>
          <p:spPr>
            <a:xfrm>
              <a:off x="1019175" y="1857375"/>
              <a:ext cx="166687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Training segment only</a:t>
              </a:r>
            </a:p>
          </p:txBody>
        </p:sp>
        <p:sp>
          <p:nvSpPr>
            <p:cNvPr id="15" name="textbox_15">
              <a:extLst>
                <a:ext uri="{FF2B5EF4-FFF2-40B4-BE49-F238E27FC236}">
                  <a16:creationId xmlns:a16="http://schemas.microsoft.com/office/drawing/2014/main" id="{8482FDE3-0F65-4D7C-A074-5012D1220E67}"/>
                </a:ext>
              </a:extLst>
            </p:cNvPr>
            <p:cNvSpPr>
              <a:spLocks/>
            </p:cNvSpPr>
            <p:nvPr/>
          </p:nvSpPr>
          <p:spPr>
            <a:xfrm>
              <a:off x="514350" y="2819400"/>
              <a:ext cx="216217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Target series: demand, load, traffic …</a:t>
              </a:r>
            </a:p>
          </p:txBody>
        </p:sp>
        <p:sp>
          <p:nvSpPr>
            <p:cNvPr id="16" name="bezier_arrow_16">
              <a:extLst>
                <a:ext uri="{FF2B5EF4-FFF2-40B4-BE49-F238E27FC236}">
                  <a16:creationId xmlns:a16="http://schemas.microsoft.com/office/drawing/2014/main" id="{88DCFC09-7007-445A-965F-EDB1D741A273}"/>
                </a:ext>
              </a:extLst>
            </p:cNvPr>
            <p:cNvSpPr>
              <a:spLocks/>
            </p:cNvSpPr>
            <p:nvPr/>
          </p:nvSpPr>
          <p:spPr>
            <a:xfrm>
              <a:off x="2876550" y="2066925"/>
              <a:ext cx="276225" cy="304800"/>
            </a:xfrm>
            <a:custGeom>
              <a:avLst/>
              <a:gdLst/>
              <a:ahLst/>
              <a:cxnLst/>
              <a:rect l="0" t="0" r="0" b="0"/>
              <a:pathLst>
                <a:path w="276225" h="304800">
                  <a:moveTo>
                    <a:pt x="0" y="304800"/>
                  </a:moveTo>
                  <a:cubicBezTo>
                    <a:pt x="151924" y="304800"/>
                    <a:pt x="124301" y="0"/>
                    <a:pt x="276225" y="0"/>
                  </a:cubicBezTo>
                </a:path>
              </a:pathLst>
            </a:custGeom>
            <a:noFill/>
            <a:ln w="19050">
              <a:solidFill>
                <a:srgbClr val="8784B8"/>
              </a:solidFill>
            </a:ln>
          </p:spPr>
        </p:sp>
        <p:sp>
          <p:nvSpPr>
            <p:cNvPr id="17" name="arrow_tip_17">
              <a:extLst>
                <a:ext uri="{FF2B5EF4-FFF2-40B4-BE49-F238E27FC236}">
                  <a16:creationId xmlns:a16="http://schemas.microsoft.com/office/drawing/2014/main" id="{E4421DE8-A962-4DCF-BDAF-CBB7F14AD2C7}"/>
                </a:ext>
              </a:extLst>
            </p:cNvPr>
            <p:cNvSpPr>
              <a:spLocks/>
            </p:cNvSpPr>
            <p:nvPr/>
          </p:nvSpPr>
          <p:spPr>
            <a:xfrm>
              <a:off x="3076575" y="2028825"/>
              <a:ext cx="76200" cy="85725"/>
            </a:xfrm>
            <a:custGeom>
              <a:avLst/>
              <a:gdLst/>
              <a:ahLst/>
              <a:cxnLst/>
              <a:rect l="0" t="0" r="0" b="0"/>
              <a:pathLst>
                <a:path w="76200" h="85725">
                  <a:moveTo>
                    <a:pt x="76200" y="38100"/>
                  </a:moveTo>
                  <a:lnTo>
                    <a:pt x="0" y="0"/>
                  </a:lnTo>
                  <a:lnTo>
                    <a:pt x="9525" y="85725"/>
                  </a:lnTo>
                  <a:close/>
                </a:path>
              </a:pathLst>
            </a:custGeom>
            <a:solidFill>
              <a:srgbClr val="8784B8"/>
            </a:solidFill>
            <a:ln w="0">
              <a:noFill/>
            </a:ln>
          </p:spPr>
        </p:sp>
        <p:sp>
          <p:nvSpPr>
            <p:cNvPr id="18" name="roundRect_18">
              <a:extLst>
                <a:ext uri="{FF2B5EF4-FFF2-40B4-BE49-F238E27FC236}">
                  <a16:creationId xmlns:a16="http://schemas.microsoft.com/office/drawing/2014/main" id="{95EC64E5-DE7E-47E0-9D1B-BD0540ECF79A}"/>
                </a:ext>
              </a:extLst>
            </p:cNvPr>
            <p:cNvSpPr>
              <a:spLocks/>
            </p:cNvSpPr>
            <p:nvPr/>
          </p:nvSpPr>
          <p:spPr>
            <a:xfrm>
              <a:off x="3171825" y="1533525"/>
              <a:ext cx="2943225" cy="1562100"/>
            </a:xfrm>
            <a:prstGeom prst="roundRect">
              <a:avLst>
                <a:gd name="adj" fmla="val 5488"/>
              </a:avLst>
            </a:prstGeom>
            <a:solidFill>
              <a:srgbClr val="FFFFFF"/>
            </a:solidFill>
            <a:ln w="9525">
              <a:solidFill>
                <a:srgbClr val="BBBFE1"/>
              </a:solidFill>
              <a:prstDash val="solid"/>
            </a:ln>
          </p:spPr>
        </p:sp>
        <p:sp>
          <p:nvSpPr>
            <p:cNvPr id="19" name="textbox_19">
              <a:extLst>
                <a:ext uri="{FF2B5EF4-FFF2-40B4-BE49-F238E27FC236}">
                  <a16:creationId xmlns:a16="http://schemas.microsoft.com/office/drawing/2014/main" id="{F9219D32-947A-4F88-A85B-ED5957E4AC60}"/>
                </a:ext>
              </a:extLst>
            </p:cNvPr>
            <p:cNvSpPr>
              <a:spLocks/>
            </p:cNvSpPr>
            <p:nvPr/>
          </p:nvSpPr>
          <p:spPr>
            <a:xfrm>
              <a:off x="3276600" y="1600200"/>
              <a:ext cx="2714625" cy="219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125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1125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1125" b="1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Time-series feature fingerprint</a:t>
              </a:r>
            </a:p>
          </p:txBody>
        </p:sp>
        <p:sp>
          <p:nvSpPr>
            <p:cNvPr id="20" name="roundRect_20">
              <a:extLst>
                <a:ext uri="{FF2B5EF4-FFF2-40B4-BE49-F238E27FC236}">
                  <a16:creationId xmlns:a16="http://schemas.microsoft.com/office/drawing/2014/main" id="{FFEF99BB-62C0-47CE-9387-941F86B4229E}"/>
                </a:ext>
              </a:extLst>
            </p:cNvPr>
            <p:cNvSpPr>
              <a:spLocks/>
            </p:cNvSpPr>
            <p:nvPr/>
          </p:nvSpPr>
          <p:spPr>
            <a:xfrm>
              <a:off x="3267075" y="1885950"/>
              <a:ext cx="2752725" cy="304800"/>
            </a:xfrm>
            <a:prstGeom prst="roundRect">
              <a:avLst>
                <a:gd name="adj" fmla="val 25000"/>
              </a:avLst>
            </a:prstGeom>
            <a:solidFill>
              <a:srgbClr val="F0F1FA"/>
            </a:solidFill>
            <a:ln w="0">
              <a:noFill/>
              <a:prstDash val="solid"/>
            </a:ln>
          </p:spPr>
        </p:sp>
        <p:sp>
          <p:nvSpPr>
            <p:cNvPr id="21" name="textbox_21">
              <a:extLst>
                <a:ext uri="{FF2B5EF4-FFF2-40B4-BE49-F238E27FC236}">
                  <a16:creationId xmlns:a16="http://schemas.microsoft.com/office/drawing/2014/main" id="{0F1DFDC2-30EA-43B2-A7A4-AA9E52CE083E}"/>
                </a:ext>
              </a:extLst>
            </p:cNvPr>
            <p:cNvSpPr>
              <a:spLocks/>
            </p:cNvSpPr>
            <p:nvPr/>
          </p:nvSpPr>
          <p:spPr>
            <a:xfrm>
              <a:off x="3333750" y="1905000"/>
              <a:ext cx="13144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Value distribution</a:t>
              </a:r>
            </a:p>
          </p:txBody>
        </p:sp>
        <p:sp>
          <p:nvSpPr>
            <p:cNvPr id="22" name="line_22">
              <a:extLst>
                <a:ext uri="{FF2B5EF4-FFF2-40B4-BE49-F238E27FC236}">
                  <a16:creationId xmlns:a16="http://schemas.microsoft.com/office/drawing/2014/main" id="{AB2D3CB5-C4A8-4A6F-9B0C-97F9A4BDB1CF}"/>
                </a:ext>
              </a:extLst>
            </p:cNvPr>
            <p:cNvSpPr>
              <a:spLocks/>
            </p:cNvSpPr>
            <p:nvPr/>
          </p:nvSpPr>
          <p:spPr>
            <a:xfrm>
              <a:off x="3333750" y="2028825"/>
              <a:ext cx="953" cy="133350"/>
            </a:xfrm>
            <a:prstGeom prst="line">
              <a:avLst/>
            </a:prstGeom>
            <a:noFill/>
            <a:ln w="6668">
              <a:solidFill>
                <a:srgbClr val="A6AAC1"/>
              </a:solidFill>
              <a:prstDash val="solid"/>
            </a:ln>
          </p:spPr>
        </p:sp>
        <p:sp>
          <p:nvSpPr>
            <p:cNvPr id="23" name="line_23">
              <a:extLst>
                <a:ext uri="{FF2B5EF4-FFF2-40B4-BE49-F238E27FC236}">
                  <a16:creationId xmlns:a16="http://schemas.microsoft.com/office/drawing/2014/main" id="{7BD29C95-8B5E-451C-9253-9542BA8591A0}"/>
                </a:ext>
              </a:extLst>
            </p:cNvPr>
            <p:cNvSpPr>
              <a:spLocks/>
            </p:cNvSpPr>
            <p:nvPr/>
          </p:nvSpPr>
          <p:spPr>
            <a:xfrm>
              <a:off x="3333750" y="2162175"/>
              <a:ext cx="1076325" cy="953"/>
            </a:xfrm>
            <a:prstGeom prst="line">
              <a:avLst/>
            </a:prstGeom>
            <a:noFill/>
            <a:ln w="6668">
              <a:solidFill>
                <a:srgbClr val="A6AAC1"/>
              </a:solidFill>
              <a:prstDash val="solid"/>
            </a:ln>
          </p:spPr>
        </p:sp>
        <p:sp>
          <p:nvSpPr>
            <p:cNvPr id="24" name="line_24">
              <a:extLst>
                <a:ext uri="{FF2B5EF4-FFF2-40B4-BE49-F238E27FC236}">
                  <a16:creationId xmlns:a16="http://schemas.microsoft.com/office/drawing/2014/main" id="{F8D5B37D-009A-4919-A833-5777D9FE1740}"/>
                </a:ext>
              </a:extLst>
            </p:cNvPr>
            <p:cNvSpPr>
              <a:spLocks/>
            </p:cNvSpPr>
            <p:nvPr/>
          </p:nvSpPr>
          <p:spPr>
            <a:xfrm>
              <a:off x="3343275" y="2152650"/>
              <a:ext cx="1047750" cy="953"/>
            </a:xfrm>
            <a:prstGeom prst="line">
              <a:avLst/>
            </a:prstGeom>
            <a:noFill/>
            <a:ln w="5715">
              <a:solidFill>
                <a:srgbClr val="D8D9E3"/>
              </a:solidFill>
              <a:prstDash val="solid"/>
            </a:ln>
          </p:spPr>
        </p:sp>
        <p:sp>
          <p:nvSpPr>
            <p:cNvPr id="25" name="rect_25">
              <a:extLst>
                <a:ext uri="{FF2B5EF4-FFF2-40B4-BE49-F238E27FC236}">
                  <a16:creationId xmlns:a16="http://schemas.microsoft.com/office/drawing/2014/main" id="{6A384B51-AB93-4EEC-B78B-3D1CC7281A6B}"/>
                </a:ext>
              </a:extLst>
            </p:cNvPr>
            <p:cNvSpPr>
              <a:spLocks/>
            </p:cNvSpPr>
            <p:nvPr/>
          </p:nvSpPr>
          <p:spPr>
            <a:xfrm>
              <a:off x="3343275" y="2072533"/>
              <a:ext cx="42496" cy="80117"/>
            </a:xfrm>
            <a:prstGeom prst="rect">
              <a:avLst/>
            </a:prstGeom>
            <a:solidFill>
              <a:srgbClr val="9B9BD1"/>
            </a:solidFill>
            <a:ln w="0">
              <a:noFill/>
              <a:prstDash val="solid"/>
            </a:ln>
          </p:spPr>
        </p:sp>
        <p:sp>
          <p:nvSpPr>
            <p:cNvPr id="26" name="rect_26">
              <a:extLst>
                <a:ext uri="{FF2B5EF4-FFF2-40B4-BE49-F238E27FC236}">
                  <a16:creationId xmlns:a16="http://schemas.microsoft.com/office/drawing/2014/main" id="{47BC3E56-399C-47D0-94A9-972C105E6BEC}"/>
                </a:ext>
              </a:extLst>
            </p:cNvPr>
            <p:cNvSpPr>
              <a:spLocks/>
            </p:cNvSpPr>
            <p:nvPr/>
          </p:nvSpPr>
          <p:spPr>
            <a:xfrm>
              <a:off x="3423871" y="2041815"/>
              <a:ext cx="42496" cy="110835"/>
            </a:xfrm>
            <a:prstGeom prst="rect">
              <a:avLst/>
            </a:prstGeom>
            <a:solidFill>
              <a:srgbClr val="9B9BD1"/>
            </a:solidFill>
            <a:ln w="0">
              <a:noFill/>
              <a:prstDash val="solid"/>
            </a:ln>
          </p:spPr>
        </p:sp>
        <p:sp>
          <p:nvSpPr>
            <p:cNvPr id="27" name="rect_27">
              <a:extLst>
                <a:ext uri="{FF2B5EF4-FFF2-40B4-BE49-F238E27FC236}">
                  <a16:creationId xmlns:a16="http://schemas.microsoft.com/office/drawing/2014/main" id="{56DBACF5-A94C-468A-9C9A-6B64DB6769C9}"/>
                </a:ext>
              </a:extLst>
            </p:cNvPr>
            <p:cNvSpPr>
              <a:spLocks/>
            </p:cNvSpPr>
            <p:nvPr/>
          </p:nvSpPr>
          <p:spPr>
            <a:xfrm>
              <a:off x="3504467" y="2113281"/>
              <a:ext cx="42496" cy="39369"/>
            </a:xfrm>
            <a:prstGeom prst="rect">
              <a:avLst/>
            </a:prstGeom>
            <a:solidFill>
              <a:srgbClr val="9B9BD1"/>
            </a:solidFill>
            <a:ln w="0">
              <a:noFill/>
              <a:prstDash val="solid"/>
            </a:ln>
          </p:spPr>
        </p:sp>
        <p:sp>
          <p:nvSpPr>
            <p:cNvPr id="28" name="rect_28">
              <a:extLst>
                <a:ext uri="{FF2B5EF4-FFF2-40B4-BE49-F238E27FC236}">
                  <a16:creationId xmlns:a16="http://schemas.microsoft.com/office/drawing/2014/main" id="{D364D2B6-2F35-4A26-9249-F316862ADA00}"/>
                </a:ext>
              </a:extLst>
            </p:cNvPr>
            <p:cNvSpPr>
              <a:spLocks/>
            </p:cNvSpPr>
            <p:nvPr/>
          </p:nvSpPr>
          <p:spPr>
            <a:xfrm>
              <a:off x="3585063" y="2039301"/>
              <a:ext cx="42496" cy="113349"/>
            </a:xfrm>
            <a:prstGeom prst="rect">
              <a:avLst/>
            </a:prstGeom>
            <a:solidFill>
              <a:srgbClr val="9B9BD1"/>
            </a:solidFill>
            <a:ln w="0">
              <a:noFill/>
              <a:prstDash val="solid"/>
            </a:ln>
          </p:spPr>
        </p:sp>
        <p:sp>
          <p:nvSpPr>
            <p:cNvPr id="29" name="rect_29">
              <a:extLst>
                <a:ext uri="{FF2B5EF4-FFF2-40B4-BE49-F238E27FC236}">
                  <a16:creationId xmlns:a16="http://schemas.microsoft.com/office/drawing/2014/main" id="{D6BFF1E8-FD40-4BFA-9523-2F100628A35C}"/>
                </a:ext>
              </a:extLst>
            </p:cNvPr>
            <p:cNvSpPr>
              <a:spLocks/>
            </p:cNvSpPr>
            <p:nvPr/>
          </p:nvSpPr>
          <p:spPr>
            <a:xfrm>
              <a:off x="3665660" y="2080585"/>
              <a:ext cx="42496" cy="72065"/>
            </a:xfrm>
            <a:prstGeom prst="rect">
              <a:avLst/>
            </a:prstGeom>
            <a:solidFill>
              <a:srgbClr val="9B9BD1"/>
            </a:solidFill>
            <a:ln w="0">
              <a:noFill/>
              <a:prstDash val="solid"/>
            </a:ln>
          </p:spPr>
        </p:sp>
        <p:sp>
          <p:nvSpPr>
            <p:cNvPr id="30" name="rect_30">
              <a:extLst>
                <a:ext uri="{FF2B5EF4-FFF2-40B4-BE49-F238E27FC236}">
                  <a16:creationId xmlns:a16="http://schemas.microsoft.com/office/drawing/2014/main" id="{24A75668-300E-4D73-8F4B-A5567549F695}"/>
                </a:ext>
              </a:extLst>
            </p:cNvPr>
            <p:cNvSpPr>
              <a:spLocks/>
            </p:cNvSpPr>
            <p:nvPr/>
          </p:nvSpPr>
          <p:spPr>
            <a:xfrm>
              <a:off x="3746256" y="2059307"/>
              <a:ext cx="42496" cy="93343"/>
            </a:xfrm>
            <a:prstGeom prst="rect">
              <a:avLst/>
            </a:prstGeom>
            <a:solidFill>
              <a:srgbClr val="9B9BD1"/>
            </a:solidFill>
            <a:ln w="0">
              <a:noFill/>
              <a:prstDash val="solid"/>
            </a:ln>
          </p:spPr>
        </p:sp>
        <p:sp>
          <p:nvSpPr>
            <p:cNvPr id="31" name="rect_31">
              <a:extLst>
                <a:ext uri="{FF2B5EF4-FFF2-40B4-BE49-F238E27FC236}">
                  <a16:creationId xmlns:a16="http://schemas.microsoft.com/office/drawing/2014/main" id="{439FB919-DB99-42B7-872B-542F78D4F72A}"/>
                </a:ext>
              </a:extLst>
            </p:cNvPr>
            <p:cNvSpPr>
              <a:spLocks/>
            </p:cNvSpPr>
            <p:nvPr/>
          </p:nvSpPr>
          <p:spPr>
            <a:xfrm>
              <a:off x="3826852" y="2049196"/>
              <a:ext cx="42496" cy="103454"/>
            </a:xfrm>
            <a:prstGeom prst="rect">
              <a:avLst/>
            </a:prstGeom>
            <a:solidFill>
              <a:srgbClr val="9B9BD1"/>
            </a:solidFill>
            <a:ln w="0">
              <a:noFill/>
              <a:prstDash val="solid"/>
            </a:ln>
          </p:spPr>
        </p:sp>
        <p:sp>
          <p:nvSpPr>
            <p:cNvPr id="32" name="rect_32">
              <a:extLst>
                <a:ext uri="{FF2B5EF4-FFF2-40B4-BE49-F238E27FC236}">
                  <a16:creationId xmlns:a16="http://schemas.microsoft.com/office/drawing/2014/main" id="{5FB41846-2E09-4926-9735-099AC8A5C237}"/>
                </a:ext>
              </a:extLst>
            </p:cNvPr>
            <p:cNvSpPr>
              <a:spLocks/>
            </p:cNvSpPr>
            <p:nvPr/>
          </p:nvSpPr>
          <p:spPr>
            <a:xfrm>
              <a:off x="3907448" y="2096106"/>
              <a:ext cx="42496" cy="56544"/>
            </a:xfrm>
            <a:prstGeom prst="rect">
              <a:avLst/>
            </a:prstGeom>
            <a:solidFill>
              <a:srgbClr val="9B9BD1"/>
            </a:solidFill>
            <a:ln w="0">
              <a:noFill/>
              <a:prstDash val="solid"/>
            </a:ln>
          </p:spPr>
        </p:sp>
        <p:sp>
          <p:nvSpPr>
            <p:cNvPr id="33" name="rect_33">
              <a:extLst>
                <a:ext uri="{FF2B5EF4-FFF2-40B4-BE49-F238E27FC236}">
                  <a16:creationId xmlns:a16="http://schemas.microsoft.com/office/drawing/2014/main" id="{A82E1382-82C6-4D37-9758-1E5E9DE3A9F2}"/>
                </a:ext>
              </a:extLst>
            </p:cNvPr>
            <p:cNvSpPr>
              <a:spLocks/>
            </p:cNvSpPr>
            <p:nvPr/>
          </p:nvSpPr>
          <p:spPr>
            <a:xfrm>
              <a:off x="3988044" y="2037494"/>
              <a:ext cx="42496" cy="115156"/>
            </a:xfrm>
            <a:prstGeom prst="rect">
              <a:avLst/>
            </a:prstGeom>
            <a:solidFill>
              <a:srgbClr val="9B9BD1"/>
            </a:solidFill>
            <a:ln w="0">
              <a:noFill/>
              <a:prstDash val="solid"/>
            </a:ln>
          </p:spPr>
        </p:sp>
        <p:sp>
          <p:nvSpPr>
            <p:cNvPr id="34" name="rect_34">
              <a:extLst>
                <a:ext uri="{FF2B5EF4-FFF2-40B4-BE49-F238E27FC236}">
                  <a16:creationId xmlns:a16="http://schemas.microsoft.com/office/drawing/2014/main" id="{BEEFA722-3FB5-4A95-B2F1-045EEC5A06B0}"/>
                </a:ext>
              </a:extLst>
            </p:cNvPr>
            <p:cNvSpPr>
              <a:spLocks/>
            </p:cNvSpPr>
            <p:nvPr/>
          </p:nvSpPr>
          <p:spPr>
            <a:xfrm>
              <a:off x="4068640" y="2096792"/>
              <a:ext cx="42496" cy="55858"/>
            </a:xfrm>
            <a:prstGeom prst="rect">
              <a:avLst/>
            </a:prstGeom>
            <a:solidFill>
              <a:srgbClr val="9B9BD1"/>
            </a:solidFill>
            <a:ln w="0">
              <a:noFill/>
              <a:prstDash val="solid"/>
            </a:ln>
          </p:spPr>
        </p:sp>
        <p:sp>
          <p:nvSpPr>
            <p:cNvPr id="35" name="rect_35">
              <a:extLst>
                <a:ext uri="{FF2B5EF4-FFF2-40B4-BE49-F238E27FC236}">
                  <a16:creationId xmlns:a16="http://schemas.microsoft.com/office/drawing/2014/main" id="{B22D40CD-A979-4F7E-AB0E-502CFF0095C6}"/>
                </a:ext>
              </a:extLst>
            </p:cNvPr>
            <p:cNvSpPr>
              <a:spLocks/>
            </p:cNvSpPr>
            <p:nvPr/>
          </p:nvSpPr>
          <p:spPr>
            <a:xfrm>
              <a:off x="4149237" y="2048828"/>
              <a:ext cx="42496" cy="103822"/>
            </a:xfrm>
            <a:prstGeom prst="rect">
              <a:avLst/>
            </a:prstGeom>
            <a:solidFill>
              <a:srgbClr val="9B9BD1"/>
            </a:solidFill>
            <a:ln w="0">
              <a:noFill/>
              <a:prstDash val="solid"/>
            </a:ln>
          </p:spPr>
        </p:sp>
        <p:sp>
          <p:nvSpPr>
            <p:cNvPr id="36" name="rect_36">
              <a:extLst>
                <a:ext uri="{FF2B5EF4-FFF2-40B4-BE49-F238E27FC236}">
                  <a16:creationId xmlns:a16="http://schemas.microsoft.com/office/drawing/2014/main" id="{BBEA4269-726F-4692-94AB-8867CF98AFC9}"/>
                </a:ext>
              </a:extLst>
            </p:cNvPr>
            <p:cNvSpPr>
              <a:spLocks/>
            </p:cNvSpPr>
            <p:nvPr/>
          </p:nvSpPr>
          <p:spPr>
            <a:xfrm>
              <a:off x="4229833" y="2059797"/>
              <a:ext cx="42496" cy="92853"/>
            </a:xfrm>
            <a:prstGeom prst="rect">
              <a:avLst/>
            </a:prstGeom>
            <a:solidFill>
              <a:srgbClr val="9B9BD1"/>
            </a:solidFill>
            <a:ln w="0">
              <a:noFill/>
              <a:prstDash val="solid"/>
            </a:ln>
          </p:spPr>
        </p:sp>
        <p:sp>
          <p:nvSpPr>
            <p:cNvPr id="37" name="rect_37">
              <a:extLst>
                <a:ext uri="{FF2B5EF4-FFF2-40B4-BE49-F238E27FC236}">
                  <a16:creationId xmlns:a16="http://schemas.microsoft.com/office/drawing/2014/main" id="{E9CBBA8C-2BAA-4154-93F1-CA1475898779}"/>
                </a:ext>
              </a:extLst>
            </p:cNvPr>
            <p:cNvSpPr>
              <a:spLocks/>
            </p:cNvSpPr>
            <p:nvPr/>
          </p:nvSpPr>
          <p:spPr>
            <a:xfrm>
              <a:off x="4310429" y="2079956"/>
              <a:ext cx="42496" cy="72694"/>
            </a:xfrm>
            <a:prstGeom prst="rect">
              <a:avLst/>
            </a:prstGeom>
            <a:solidFill>
              <a:srgbClr val="9B9BD1"/>
            </a:solidFill>
            <a:ln w="0">
              <a:noFill/>
              <a:prstDash val="solid"/>
            </a:ln>
          </p:spPr>
        </p:sp>
        <p:sp>
          <p:nvSpPr>
            <p:cNvPr id="38" name="textbox_38">
              <a:extLst>
                <a:ext uri="{FF2B5EF4-FFF2-40B4-BE49-F238E27FC236}">
                  <a16:creationId xmlns:a16="http://schemas.microsoft.com/office/drawing/2014/main" id="{6E8FD979-7BBE-4B93-8478-B792CA9D68E6}"/>
                </a:ext>
              </a:extLst>
            </p:cNvPr>
            <p:cNvSpPr>
              <a:spLocks/>
            </p:cNvSpPr>
            <p:nvPr/>
          </p:nvSpPr>
          <p:spPr>
            <a:xfrm>
              <a:off x="4572000" y="1933575"/>
              <a:ext cx="13716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Shape, spread, skewness</a:t>
              </a:r>
            </a:p>
          </p:txBody>
        </p:sp>
        <p:sp>
          <p:nvSpPr>
            <p:cNvPr id="39" name="roundRect_39">
              <a:extLst>
                <a:ext uri="{FF2B5EF4-FFF2-40B4-BE49-F238E27FC236}">
                  <a16:creationId xmlns:a16="http://schemas.microsoft.com/office/drawing/2014/main" id="{D537A159-7DAA-434E-9B26-84C8EA54841C}"/>
                </a:ext>
              </a:extLst>
            </p:cNvPr>
            <p:cNvSpPr>
              <a:spLocks/>
            </p:cNvSpPr>
            <p:nvPr/>
          </p:nvSpPr>
          <p:spPr>
            <a:xfrm>
              <a:off x="3267075" y="2219325"/>
              <a:ext cx="2752725" cy="304800"/>
            </a:xfrm>
            <a:prstGeom prst="roundRect">
              <a:avLst>
                <a:gd name="adj" fmla="val 25000"/>
              </a:avLst>
            </a:prstGeom>
            <a:solidFill>
              <a:srgbClr val="F0F1FA"/>
            </a:solidFill>
            <a:ln w="0">
              <a:noFill/>
              <a:prstDash val="solid"/>
            </a:ln>
          </p:spPr>
        </p:sp>
        <p:sp>
          <p:nvSpPr>
            <p:cNvPr id="40" name="textbox_40">
              <a:extLst>
                <a:ext uri="{FF2B5EF4-FFF2-40B4-BE49-F238E27FC236}">
                  <a16:creationId xmlns:a16="http://schemas.microsoft.com/office/drawing/2014/main" id="{F9839CFE-1208-4466-8A80-86FE2330A762}"/>
                </a:ext>
              </a:extLst>
            </p:cNvPr>
            <p:cNvSpPr>
              <a:spLocks/>
            </p:cNvSpPr>
            <p:nvPr/>
          </p:nvSpPr>
          <p:spPr>
            <a:xfrm>
              <a:off x="3333750" y="2238375"/>
              <a:ext cx="13144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Autocorrelation</a:t>
              </a:r>
            </a:p>
          </p:txBody>
        </p:sp>
        <p:sp>
          <p:nvSpPr>
            <p:cNvPr id="41" name="line_41">
              <a:extLst>
                <a:ext uri="{FF2B5EF4-FFF2-40B4-BE49-F238E27FC236}">
                  <a16:creationId xmlns:a16="http://schemas.microsoft.com/office/drawing/2014/main" id="{C1BAFCBB-50DC-4DF1-804A-A8B55290FE8B}"/>
                </a:ext>
              </a:extLst>
            </p:cNvPr>
            <p:cNvSpPr>
              <a:spLocks/>
            </p:cNvSpPr>
            <p:nvPr/>
          </p:nvSpPr>
          <p:spPr>
            <a:xfrm>
              <a:off x="3333750" y="2362200"/>
              <a:ext cx="953" cy="133350"/>
            </a:xfrm>
            <a:prstGeom prst="line">
              <a:avLst/>
            </a:prstGeom>
            <a:noFill/>
            <a:ln w="6668">
              <a:solidFill>
                <a:srgbClr val="A6AAC1"/>
              </a:solidFill>
              <a:prstDash val="solid"/>
            </a:ln>
          </p:spPr>
        </p:sp>
        <p:sp>
          <p:nvSpPr>
            <p:cNvPr id="42" name="line_42">
              <a:extLst>
                <a:ext uri="{FF2B5EF4-FFF2-40B4-BE49-F238E27FC236}">
                  <a16:creationId xmlns:a16="http://schemas.microsoft.com/office/drawing/2014/main" id="{D0A338F6-B429-4E26-AF55-96FC6A6FD534}"/>
                </a:ext>
              </a:extLst>
            </p:cNvPr>
            <p:cNvSpPr>
              <a:spLocks/>
            </p:cNvSpPr>
            <p:nvPr/>
          </p:nvSpPr>
          <p:spPr>
            <a:xfrm>
              <a:off x="3333750" y="2495550"/>
              <a:ext cx="1076325" cy="953"/>
            </a:xfrm>
            <a:prstGeom prst="line">
              <a:avLst/>
            </a:prstGeom>
            <a:noFill/>
            <a:ln w="6668">
              <a:solidFill>
                <a:srgbClr val="A6AAC1"/>
              </a:solidFill>
              <a:prstDash val="solid"/>
            </a:ln>
          </p:spPr>
        </p:sp>
        <p:sp>
          <p:nvSpPr>
            <p:cNvPr id="43" name="line_43">
              <a:extLst>
                <a:ext uri="{FF2B5EF4-FFF2-40B4-BE49-F238E27FC236}">
                  <a16:creationId xmlns:a16="http://schemas.microsoft.com/office/drawing/2014/main" id="{BB011438-C327-406D-B0AF-FC8CFF371F20}"/>
                </a:ext>
              </a:extLst>
            </p:cNvPr>
            <p:cNvSpPr>
              <a:spLocks/>
            </p:cNvSpPr>
            <p:nvPr/>
          </p:nvSpPr>
          <p:spPr>
            <a:xfrm>
              <a:off x="3362325" y="2371725"/>
              <a:ext cx="953" cy="123825"/>
            </a:xfrm>
            <a:prstGeom prst="line">
              <a:avLst/>
            </a:prstGeom>
            <a:noFill/>
            <a:ln w="16193">
              <a:solidFill>
                <a:srgbClr val="8E8FC8"/>
              </a:solidFill>
              <a:prstDash val="solid"/>
            </a:ln>
          </p:spPr>
        </p:sp>
        <p:sp>
          <p:nvSpPr>
            <p:cNvPr id="44" name="line_44">
              <a:extLst>
                <a:ext uri="{FF2B5EF4-FFF2-40B4-BE49-F238E27FC236}">
                  <a16:creationId xmlns:a16="http://schemas.microsoft.com/office/drawing/2014/main" id="{9B50EA0B-4B9B-4482-9437-C31C44DAB98F}"/>
                </a:ext>
              </a:extLst>
            </p:cNvPr>
            <p:cNvSpPr>
              <a:spLocks/>
            </p:cNvSpPr>
            <p:nvPr/>
          </p:nvSpPr>
          <p:spPr>
            <a:xfrm>
              <a:off x="3433763" y="2399115"/>
              <a:ext cx="953" cy="96435"/>
            </a:xfrm>
            <a:prstGeom prst="line">
              <a:avLst/>
            </a:prstGeom>
            <a:noFill/>
            <a:ln w="16193">
              <a:solidFill>
                <a:srgbClr val="8E8FC8"/>
              </a:solidFill>
              <a:prstDash val="solid"/>
            </a:ln>
          </p:spPr>
        </p:sp>
        <p:sp>
          <p:nvSpPr>
            <p:cNvPr id="45" name="line_45">
              <a:extLst>
                <a:ext uri="{FF2B5EF4-FFF2-40B4-BE49-F238E27FC236}">
                  <a16:creationId xmlns:a16="http://schemas.microsoft.com/office/drawing/2014/main" id="{FFAD2F55-D821-448C-9069-28786AA50F3F}"/>
                </a:ext>
              </a:extLst>
            </p:cNvPr>
            <p:cNvSpPr>
              <a:spLocks/>
            </p:cNvSpPr>
            <p:nvPr/>
          </p:nvSpPr>
          <p:spPr>
            <a:xfrm>
              <a:off x="3505200" y="2420446"/>
              <a:ext cx="953" cy="75104"/>
            </a:xfrm>
            <a:prstGeom prst="line">
              <a:avLst/>
            </a:prstGeom>
            <a:noFill/>
            <a:ln w="16193">
              <a:solidFill>
                <a:srgbClr val="8E8FC8"/>
              </a:solidFill>
              <a:prstDash val="solid"/>
            </a:ln>
          </p:spPr>
        </p:sp>
        <p:sp>
          <p:nvSpPr>
            <p:cNvPr id="46" name="line_46">
              <a:extLst>
                <a:ext uri="{FF2B5EF4-FFF2-40B4-BE49-F238E27FC236}">
                  <a16:creationId xmlns:a16="http://schemas.microsoft.com/office/drawing/2014/main" id="{83190160-8548-448D-A2AF-1DC1A5A642C2}"/>
                </a:ext>
              </a:extLst>
            </p:cNvPr>
            <p:cNvSpPr>
              <a:spLocks/>
            </p:cNvSpPr>
            <p:nvPr/>
          </p:nvSpPr>
          <p:spPr>
            <a:xfrm>
              <a:off x="3576638" y="2437059"/>
              <a:ext cx="953" cy="58491"/>
            </a:xfrm>
            <a:prstGeom prst="line">
              <a:avLst/>
            </a:prstGeom>
            <a:noFill/>
            <a:ln w="16193">
              <a:solidFill>
                <a:srgbClr val="8E8FC8"/>
              </a:solidFill>
              <a:prstDash val="solid"/>
            </a:ln>
          </p:spPr>
        </p:sp>
        <p:sp>
          <p:nvSpPr>
            <p:cNvPr id="47" name="line_47">
              <a:extLst>
                <a:ext uri="{FF2B5EF4-FFF2-40B4-BE49-F238E27FC236}">
                  <a16:creationId xmlns:a16="http://schemas.microsoft.com/office/drawing/2014/main" id="{D4C4EB70-E6BF-439F-ACD7-0C240BCAA66F}"/>
                </a:ext>
              </a:extLst>
            </p:cNvPr>
            <p:cNvSpPr>
              <a:spLocks/>
            </p:cNvSpPr>
            <p:nvPr/>
          </p:nvSpPr>
          <p:spPr>
            <a:xfrm>
              <a:off x="3648075" y="2449997"/>
              <a:ext cx="953" cy="45553"/>
            </a:xfrm>
            <a:prstGeom prst="line">
              <a:avLst/>
            </a:prstGeom>
            <a:noFill/>
            <a:ln w="16193">
              <a:solidFill>
                <a:srgbClr val="8E8FC8"/>
              </a:solidFill>
              <a:prstDash val="solid"/>
            </a:ln>
          </p:spPr>
        </p:sp>
        <p:sp>
          <p:nvSpPr>
            <p:cNvPr id="48" name="line_48">
              <a:extLst>
                <a:ext uri="{FF2B5EF4-FFF2-40B4-BE49-F238E27FC236}">
                  <a16:creationId xmlns:a16="http://schemas.microsoft.com/office/drawing/2014/main" id="{865852F4-86DF-4D54-ABBD-8BC6B8D82CCE}"/>
                </a:ext>
              </a:extLst>
            </p:cNvPr>
            <p:cNvSpPr>
              <a:spLocks/>
            </p:cNvSpPr>
            <p:nvPr/>
          </p:nvSpPr>
          <p:spPr>
            <a:xfrm>
              <a:off x="3719513" y="2460074"/>
              <a:ext cx="953" cy="35476"/>
            </a:xfrm>
            <a:prstGeom prst="line">
              <a:avLst/>
            </a:prstGeom>
            <a:noFill/>
            <a:ln w="16193">
              <a:solidFill>
                <a:srgbClr val="8E8FC8"/>
              </a:solidFill>
              <a:prstDash val="solid"/>
            </a:ln>
          </p:spPr>
        </p:sp>
        <p:sp>
          <p:nvSpPr>
            <p:cNvPr id="49" name="line_49">
              <a:extLst>
                <a:ext uri="{FF2B5EF4-FFF2-40B4-BE49-F238E27FC236}">
                  <a16:creationId xmlns:a16="http://schemas.microsoft.com/office/drawing/2014/main" id="{A1EE5FA3-E53A-44AD-AC9E-2401576402E2}"/>
                </a:ext>
              </a:extLst>
            </p:cNvPr>
            <p:cNvSpPr>
              <a:spLocks/>
            </p:cNvSpPr>
            <p:nvPr/>
          </p:nvSpPr>
          <p:spPr>
            <a:xfrm>
              <a:off x="3790950" y="2467921"/>
              <a:ext cx="953" cy="27629"/>
            </a:xfrm>
            <a:prstGeom prst="line">
              <a:avLst/>
            </a:prstGeom>
            <a:noFill/>
            <a:ln w="16193">
              <a:solidFill>
                <a:srgbClr val="8E8FC8"/>
              </a:solidFill>
              <a:prstDash val="solid"/>
            </a:ln>
          </p:spPr>
        </p:sp>
        <p:sp>
          <p:nvSpPr>
            <p:cNvPr id="50" name="line_50">
              <a:extLst>
                <a:ext uri="{FF2B5EF4-FFF2-40B4-BE49-F238E27FC236}">
                  <a16:creationId xmlns:a16="http://schemas.microsoft.com/office/drawing/2014/main" id="{50E3682D-976E-4815-BB7F-40A39102A84A}"/>
                </a:ext>
              </a:extLst>
            </p:cNvPr>
            <p:cNvSpPr>
              <a:spLocks/>
            </p:cNvSpPr>
            <p:nvPr/>
          </p:nvSpPr>
          <p:spPr>
            <a:xfrm>
              <a:off x="3862388" y="2474032"/>
              <a:ext cx="953" cy="21518"/>
            </a:xfrm>
            <a:prstGeom prst="line">
              <a:avLst/>
            </a:prstGeom>
            <a:noFill/>
            <a:ln w="16193">
              <a:solidFill>
                <a:srgbClr val="8E8FC8"/>
              </a:solidFill>
              <a:prstDash val="solid"/>
            </a:ln>
          </p:spPr>
        </p:sp>
        <p:sp>
          <p:nvSpPr>
            <p:cNvPr id="51" name="line_51">
              <a:extLst>
                <a:ext uri="{FF2B5EF4-FFF2-40B4-BE49-F238E27FC236}">
                  <a16:creationId xmlns:a16="http://schemas.microsoft.com/office/drawing/2014/main" id="{029B18E6-1027-4688-80A6-BCD1B3F94AAF}"/>
                </a:ext>
              </a:extLst>
            </p:cNvPr>
            <p:cNvSpPr>
              <a:spLocks/>
            </p:cNvSpPr>
            <p:nvPr/>
          </p:nvSpPr>
          <p:spPr>
            <a:xfrm>
              <a:off x="3933825" y="2478792"/>
              <a:ext cx="953" cy="16758"/>
            </a:xfrm>
            <a:prstGeom prst="line">
              <a:avLst/>
            </a:prstGeom>
            <a:noFill/>
            <a:ln w="16193">
              <a:solidFill>
                <a:srgbClr val="8E8FC8"/>
              </a:solidFill>
              <a:prstDash val="solid"/>
            </a:ln>
          </p:spPr>
        </p:sp>
        <p:sp>
          <p:nvSpPr>
            <p:cNvPr id="52" name="line_52">
              <a:extLst>
                <a:ext uri="{FF2B5EF4-FFF2-40B4-BE49-F238E27FC236}">
                  <a16:creationId xmlns:a16="http://schemas.microsoft.com/office/drawing/2014/main" id="{516E8C55-7B60-49DC-B661-F4C64A952967}"/>
                </a:ext>
              </a:extLst>
            </p:cNvPr>
            <p:cNvSpPr>
              <a:spLocks/>
            </p:cNvSpPr>
            <p:nvPr/>
          </p:nvSpPr>
          <p:spPr>
            <a:xfrm>
              <a:off x="4005263" y="2482499"/>
              <a:ext cx="953" cy="13051"/>
            </a:xfrm>
            <a:prstGeom prst="line">
              <a:avLst/>
            </a:prstGeom>
            <a:noFill/>
            <a:ln w="16193">
              <a:solidFill>
                <a:srgbClr val="8E8FC8"/>
              </a:solidFill>
              <a:prstDash val="solid"/>
            </a:ln>
          </p:spPr>
        </p:sp>
        <p:sp>
          <p:nvSpPr>
            <p:cNvPr id="53" name="line_53">
              <a:extLst>
                <a:ext uri="{FF2B5EF4-FFF2-40B4-BE49-F238E27FC236}">
                  <a16:creationId xmlns:a16="http://schemas.microsoft.com/office/drawing/2014/main" id="{C06E5FAC-1495-4D2C-9A4E-3E13B2AEF6AC}"/>
                </a:ext>
              </a:extLst>
            </p:cNvPr>
            <p:cNvSpPr>
              <a:spLocks/>
            </p:cNvSpPr>
            <p:nvPr/>
          </p:nvSpPr>
          <p:spPr>
            <a:xfrm>
              <a:off x="4076700" y="2485386"/>
              <a:ext cx="953" cy="10164"/>
            </a:xfrm>
            <a:prstGeom prst="line">
              <a:avLst/>
            </a:prstGeom>
            <a:noFill/>
            <a:ln w="16193">
              <a:solidFill>
                <a:srgbClr val="8E8FC8"/>
              </a:solidFill>
              <a:prstDash val="solid"/>
            </a:ln>
          </p:spPr>
        </p:sp>
        <p:sp>
          <p:nvSpPr>
            <p:cNvPr id="54" name="line_54">
              <a:extLst>
                <a:ext uri="{FF2B5EF4-FFF2-40B4-BE49-F238E27FC236}">
                  <a16:creationId xmlns:a16="http://schemas.microsoft.com/office/drawing/2014/main" id="{CE6FBDF8-8106-4EA7-827C-67065C6FF238}"/>
                </a:ext>
              </a:extLst>
            </p:cNvPr>
            <p:cNvSpPr>
              <a:spLocks/>
            </p:cNvSpPr>
            <p:nvPr/>
          </p:nvSpPr>
          <p:spPr>
            <a:xfrm>
              <a:off x="4148138" y="2487634"/>
              <a:ext cx="953" cy="7916"/>
            </a:xfrm>
            <a:prstGeom prst="line">
              <a:avLst/>
            </a:prstGeom>
            <a:noFill/>
            <a:ln w="16193">
              <a:solidFill>
                <a:srgbClr val="8E8FC8"/>
              </a:solidFill>
              <a:prstDash val="solid"/>
            </a:ln>
          </p:spPr>
        </p:sp>
        <p:sp>
          <p:nvSpPr>
            <p:cNvPr id="55" name="line_55">
              <a:extLst>
                <a:ext uri="{FF2B5EF4-FFF2-40B4-BE49-F238E27FC236}">
                  <a16:creationId xmlns:a16="http://schemas.microsoft.com/office/drawing/2014/main" id="{A39986B8-6505-47D4-BE6F-64B3AA2479A8}"/>
                </a:ext>
              </a:extLst>
            </p:cNvPr>
            <p:cNvSpPr>
              <a:spLocks/>
            </p:cNvSpPr>
            <p:nvPr/>
          </p:nvSpPr>
          <p:spPr>
            <a:xfrm>
              <a:off x="4219575" y="2489385"/>
              <a:ext cx="953" cy="6165"/>
            </a:xfrm>
            <a:prstGeom prst="line">
              <a:avLst/>
            </a:prstGeom>
            <a:noFill/>
            <a:ln w="16193">
              <a:solidFill>
                <a:srgbClr val="8E8FC8"/>
              </a:solidFill>
              <a:prstDash val="solid"/>
            </a:ln>
          </p:spPr>
        </p:sp>
        <p:sp>
          <p:nvSpPr>
            <p:cNvPr id="56" name="line_56">
              <a:extLst>
                <a:ext uri="{FF2B5EF4-FFF2-40B4-BE49-F238E27FC236}">
                  <a16:creationId xmlns:a16="http://schemas.microsoft.com/office/drawing/2014/main" id="{BCC6EDF0-9816-4234-9E66-C13C3DE3C2B5}"/>
                </a:ext>
              </a:extLst>
            </p:cNvPr>
            <p:cNvSpPr>
              <a:spLocks/>
            </p:cNvSpPr>
            <p:nvPr/>
          </p:nvSpPr>
          <p:spPr>
            <a:xfrm>
              <a:off x="4291013" y="2490749"/>
              <a:ext cx="953" cy="4801"/>
            </a:xfrm>
            <a:prstGeom prst="line">
              <a:avLst/>
            </a:prstGeom>
            <a:noFill/>
            <a:ln w="16193">
              <a:solidFill>
                <a:srgbClr val="8E8FC8"/>
              </a:solidFill>
              <a:prstDash val="solid"/>
            </a:ln>
          </p:spPr>
        </p:sp>
        <p:sp>
          <p:nvSpPr>
            <p:cNvPr id="57" name="textbox_57">
              <a:extLst>
                <a:ext uri="{FF2B5EF4-FFF2-40B4-BE49-F238E27FC236}">
                  <a16:creationId xmlns:a16="http://schemas.microsoft.com/office/drawing/2014/main" id="{62708CB9-43EA-434F-ACB2-0709F665E915}"/>
                </a:ext>
              </a:extLst>
            </p:cNvPr>
            <p:cNvSpPr>
              <a:spLocks/>
            </p:cNvSpPr>
            <p:nvPr/>
          </p:nvSpPr>
          <p:spPr>
            <a:xfrm>
              <a:off x="4572000" y="2266950"/>
              <a:ext cx="13716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Serial dependence</a:t>
              </a:r>
            </a:p>
          </p:txBody>
        </p:sp>
        <p:sp>
          <p:nvSpPr>
            <p:cNvPr id="58" name="roundRect_58">
              <a:extLst>
                <a:ext uri="{FF2B5EF4-FFF2-40B4-BE49-F238E27FC236}">
                  <a16:creationId xmlns:a16="http://schemas.microsoft.com/office/drawing/2014/main" id="{A40D43DE-91F0-4E74-90A5-680073C02F1B}"/>
                </a:ext>
              </a:extLst>
            </p:cNvPr>
            <p:cNvSpPr>
              <a:spLocks/>
            </p:cNvSpPr>
            <p:nvPr/>
          </p:nvSpPr>
          <p:spPr>
            <a:xfrm>
              <a:off x="3267075" y="2552700"/>
              <a:ext cx="2752725" cy="304800"/>
            </a:xfrm>
            <a:prstGeom prst="roundRect">
              <a:avLst>
                <a:gd name="adj" fmla="val 25000"/>
              </a:avLst>
            </a:prstGeom>
            <a:solidFill>
              <a:srgbClr val="F0F1FA"/>
            </a:solidFill>
            <a:ln w="0">
              <a:noFill/>
              <a:prstDash val="solid"/>
            </a:ln>
          </p:spPr>
        </p:sp>
        <p:sp>
          <p:nvSpPr>
            <p:cNvPr id="59" name="textbox_59">
              <a:extLst>
                <a:ext uri="{FF2B5EF4-FFF2-40B4-BE49-F238E27FC236}">
                  <a16:creationId xmlns:a16="http://schemas.microsoft.com/office/drawing/2014/main" id="{20D79D4E-F6E3-44BA-AC45-1B3D770FF78C}"/>
                </a:ext>
              </a:extLst>
            </p:cNvPr>
            <p:cNvSpPr>
              <a:spLocks/>
            </p:cNvSpPr>
            <p:nvPr/>
          </p:nvSpPr>
          <p:spPr>
            <a:xfrm>
              <a:off x="3333750" y="2571750"/>
              <a:ext cx="13144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Periodic spectrum</a:t>
              </a:r>
            </a:p>
          </p:txBody>
        </p:sp>
        <p:sp>
          <p:nvSpPr>
            <p:cNvPr id="60" name="line_60">
              <a:extLst>
                <a:ext uri="{FF2B5EF4-FFF2-40B4-BE49-F238E27FC236}">
                  <a16:creationId xmlns:a16="http://schemas.microsoft.com/office/drawing/2014/main" id="{DCD7598D-91A1-47F7-B055-43A2196878C9}"/>
                </a:ext>
              </a:extLst>
            </p:cNvPr>
            <p:cNvSpPr>
              <a:spLocks/>
            </p:cNvSpPr>
            <p:nvPr/>
          </p:nvSpPr>
          <p:spPr>
            <a:xfrm>
              <a:off x="3333750" y="2695575"/>
              <a:ext cx="953" cy="133350"/>
            </a:xfrm>
            <a:prstGeom prst="line">
              <a:avLst/>
            </a:prstGeom>
            <a:noFill/>
            <a:ln w="6668">
              <a:solidFill>
                <a:srgbClr val="A6AAC1"/>
              </a:solidFill>
              <a:prstDash val="solid"/>
            </a:ln>
          </p:spPr>
        </p:sp>
        <p:sp>
          <p:nvSpPr>
            <p:cNvPr id="61" name="line_61">
              <a:extLst>
                <a:ext uri="{FF2B5EF4-FFF2-40B4-BE49-F238E27FC236}">
                  <a16:creationId xmlns:a16="http://schemas.microsoft.com/office/drawing/2014/main" id="{2C4B5982-138D-484B-8323-B493A516AEEA}"/>
                </a:ext>
              </a:extLst>
            </p:cNvPr>
            <p:cNvSpPr>
              <a:spLocks/>
            </p:cNvSpPr>
            <p:nvPr/>
          </p:nvSpPr>
          <p:spPr>
            <a:xfrm>
              <a:off x="3333750" y="2828925"/>
              <a:ext cx="1076325" cy="953"/>
            </a:xfrm>
            <a:prstGeom prst="line">
              <a:avLst/>
            </a:prstGeom>
            <a:noFill/>
            <a:ln w="6668">
              <a:solidFill>
                <a:srgbClr val="A6AAC1"/>
              </a:solidFill>
              <a:prstDash val="solid"/>
            </a:ln>
          </p:spPr>
        </p:sp>
        <p:sp>
          <p:nvSpPr>
            <p:cNvPr id="62" name="curve_62">
              <a:extLst>
                <a:ext uri="{FF2B5EF4-FFF2-40B4-BE49-F238E27FC236}">
                  <a16:creationId xmlns:a16="http://schemas.microsoft.com/office/drawing/2014/main" id="{9BD69E5E-A99B-4903-BAE3-DE6712DDFFE5}"/>
                </a:ext>
              </a:extLst>
            </p:cNvPr>
            <p:cNvSpPr>
              <a:spLocks/>
            </p:cNvSpPr>
            <p:nvPr/>
          </p:nvSpPr>
          <p:spPr>
            <a:xfrm>
              <a:off x="3343275" y="2705100"/>
              <a:ext cx="1026795" cy="123825"/>
            </a:xfrm>
            <a:custGeom>
              <a:avLst/>
              <a:gdLst/>
              <a:ahLst/>
              <a:cxnLst/>
              <a:rect l="0" t="0" r="0" b="0"/>
              <a:pathLst>
                <a:path w="1026795" h="123825">
                  <a:moveTo>
                    <a:pt x="0" y="123825"/>
                  </a:moveTo>
                  <a:lnTo>
                    <a:pt x="20955" y="123825"/>
                  </a:lnTo>
                  <a:lnTo>
                    <a:pt x="41910" y="123825"/>
                  </a:lnTo>
                  <a:lnTo>
                    <a:pt x="62865" y="123825"/>
                  </a:lnTo>
                  <a:lnTo>
                    <a:pt x="83820" y="123825"/>
                  </a:lnTo>
                  <a:lnTo>
                    <a:pt x="104775" y="123825"/>
                  </a:lnTo>
                  <a:lnTo>
                    <a:pt x="125730" y="123825"/>
                  </a:lnTo>
                  <a:lnTo>
                    <a:pt x="146685" y="123825"/>
                  </a:lnTo>
                  <a:lnTo>
                    <a:pt x="167640" y="123824"/>
                  </a:lnTo>
                  <a:lnTo>
                    <a:pt x="188595" y="123810"/>
                  </a:lnTo>
                  <a:lnTo>
                    <a:pt x="209550" y="123586"/>
                  </a:lnTo>
                  <a:lnTo>
                    <a:pt x="230505" y="121557"/>
                  </a:lnTo>
                  <a:lnTo>
                    <a:pt x="251460" y="110774"/>
                  </a:lnTo>
                  <a:lnTo>
                    <a:pt x="272415" y="78272"/>
                  </a:lnTo>
                  <a:lnTo>
                    <a:pt x="293370" y="27390"/>
                  </a:lnTo>
                  <a:lnTo>
                    <a:pt x="314325" y="0"/>
                  </a:lnTo>
                  <a:lnTo>
                    <a:pt x="335280" y="27390"/>
                  </a:lnTo>
                  <a:lnTo>
                    <a:pt x="356235" y="78272"/>
                  </a:lnTo>
                  <a:lnTo>
                    <a:pt x="377190" y="110774"/>
                  </a:lnTo>
                  <a:lnTo>
                    <a:pt x="398145" y="121557"/>
                  </a:lnTo>
                  <a:lnTo>
                    <a:pt x="419100" y="123586"/>
                  </a:lnTo>
                  <a:lnTo>
                    <a:pt x="440055" y="123810"/>
                  </a:lnTo>
                  <a:lnTo>
                    <a:pt x="461010" y="123824"/>
                  </a:lnTo>
                  <a:lnTo>
                    <a:pt x="481965" y="123825"/>
                  </a:lnTo>
                  <a:lnTo>
                    <a:pt x="502920" y="123825"/>
                  </a:lnTo>
                  <a:lnTo>
                    <a:pt x="523875" y="123825"/>
                  </a:lnTo>
                  <a:lnTo>
                    <a:pt x="544830" y="123825"/>
                  </a:lnTo>
                  <a:lnTo>
                    <a:pt x="565785" y="123825"/>
                  </a:lnTo>
                  <a:lnTo>
                    <a:pt x="586740" y="123816"/>
                  </a:lnTo>
                  <a:lnTo>
                    <a:pt x="607695" y="123678"/>
                  </a:lnTo>
                  <a:lnTo>
                    <a:pt x="628650" y="122429"/>
                  </a:lnTo>
                  <a:lnTo>
                    <a:pt x="649605" y="115794"/>
                  </a:lnTo>
                  <a:lnTo>
                    <a:pt x="670560" y="95793"/>
                  </a:lnTo>
                  <a:lnTo>
                    <a:pt x="691515" y="64480"/>
                  </a:lnTo>
                  <a:lnTo>
                    <a:pt x="712470" y="47625"/>
                  </a:lnTo>
                  <a:lnTo>
                    <a:pt x="733425" y="64480"/>
                  </a:lnTo>
                  <a:lnTo>
                    <a:pt x="754380" y="95793"/>
                  </a:lnTo>
                  <a:lnTo>
                    <a:pt x="775335" y="115794"/>
                  </a:lnTo>
                  <a:lnTo>
                    <a:pt x="796290" y="122429"/>
                  </a:lnTo>
                  <a:lnTo>
                    <a:pt x="817245" y="123678"/>
                  </a:lnTo>
                  <a:lnTo>
                    <a:pt x="838200" y="123816"/>
                  </a:lnTo>
                  <a:lnTo>
                    <a:pt x="859155" y="123825"/>
                  </a:lnTo>
                  <a:lnTo>
                    <a:pt x="880110" y="123825"/>
                  </a:lnTo>
                  <a:lnTo>
                    <a:pt x="901065" y="123825"/>
                  </a:lnTo>
                  <a:lnTo>
                    <a:pt x="922020" y="123825"/>
                  </a:lnTo>
                  <a:lnTo>
                    <a:pt x="942975" y="123825"/>
                  </a:lnTo>
                  <a:lnTo>
                    <a:pt x="963930" y="123825"/>
                  </a:lnTo>
                  <a:lnTo>
                    <a:pt x="984885" y="123825"/>
                  </a:lnTo>
                  <a:lnTo>
                    <a:pt x="1005840" y="123825"/>
                  </a:lnTo>
                  <a:lnTo>
                    <a:pt x="1026795" y="123825"/>
                  </a:lnTo>
                </a:path>
              </a:pathLst>
            </a:custGeom>
            <a:noFill/>
            <a:ln w="11430">
              <a:solidFill>
                <a:srgbClr val="7C7DBA"/>
              </a:solidFill>
            </a:ln>
          </p:spPr>
        </p:sp>
        <p:sp>
          <p:nvSpPr>
            <p:cNvPr id="63" name="textbox_63">
              <a:extLst>
                <a:ext uri="{FF2B5EF4-FFF2-40B4-BE49-F238E27FC236}">
                  <a16:creationId xmlns:a16="http://schemas.microsoft.com/office/drawing/2014/main" id="{E2EC1C02-1FC2-4A7B-B0E4-59CB9A38F141}"/>
                </a:ext>
              </a:extLst>
            </p:cNvPr>
            <p:cNvSpPr>
              <a:spLocks/>
            </p:cNvSpPr>
            <p:nvPr/>
          </p:nvSpPr>
          <p:spPr>
            <a:xfrm>
              <a:off x="4572000" y="2600325"/>
              <a:ext cx="13716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Dominant periodicity</a:t>
              </a:r>
            </a:p>
          </p:txBody>
        </p:sp>
        <p:sp>
          <p:nvSpPr>
            <p:cNvPr id="64" name="textbox_64">
              <a:extLst>
                <a:ext uri="{FF2B5EF4-FFF2-40B4-BE49-F238E27FC236}">
                  <a16:creationId xmlns:a16="http://schemas.microsoft.com/office/drawing/2014/main" id="{46F8E7BE-0A7D-4AF2-AEFB-67DD8D2C556D}"/>
                </a:ext>
              </a:extLst>
            </p:cNvPr>
            <p:cNvSpPr>
              <a:spLocks/>
            </p:cNvSpPr>
            <p:nvPr/>
          </p:nvSpPr>
          <p:spPr>
            <a:xfrm>
              <a:off x="3295650" y="2905125"/>
              <a:ext cx="26860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Metadata: frequency · lookback L · horizon H</a:t>
              </a:r>
            </a:p>
          </p:txBody>
        </p:sp>
        <p:sp>
          <p:nvSpPr>
            <p:cNvPr id="65" name="native_curve_65">
              <a:extLst>
                <a:ext uri="{FF2B5EF4-FFF2-40B4-BE49-F238E27FC236}">
                  <a16:creationId xmlns:a16="http://schemas.microsoft.com/office/drawing/2014/main" id="{5FF4C365-484E-49C0-8A48-796F38487DE6}"/>
                </a:ext>
              </a:extLst>
            </p:cNvPr>
            <p:cNvSpPr>
              <a:spLocks/>
            </p:cNvSpPr>
            <p:nvPr/>
          </p:nvSpPr>
          <p:spPr>
            <a:xfrm>
              <a:off x="6124575" y="2324100"/>
              <a:ext cx="295275" cy="953"/>
            </a:xfrm>
            <a:custGeom>
              <a:avLst/>
              <a:gdLst/>
              <a:ahLst/>
              <a:cxnLst/>
              <a:rect l="0" t="0" r="0" b="0"/>
              <a:pathLst>
                <a:path w="295275" h="953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3335">
              <a:solidFill>
                <a:srgbClr val="8784B8"/>
              </a:solidFill>
              <a:prstDash val="solid"/>
            </a:ln>
          </p:spPr>
        </p:sp>
        <p:sp>
          <p:nvSpPr>
            <p:cNvPr id="66" name="arrow_tip_66">
              <a:extLst>
                <a:ext uri="{FF2B5EF4-FFF2-40B4-BE49-F238E27FC236}">
                  <a16:creationId xmlns:a16="http://schemas.microsoft.com/office/drawing/2014/main" id="{2FA2323A-40A5-4CEF-9E22-80A6E086FFE4}"/>
                </a:ext>
              </a:extLst>
            </p:cNvPr>
            <p:cNvSpPr>
              <a:spLocks/>
            </p:cNvSpPr>
            <p:nvPr/>
          </p:nvSpPr>
          <p:spPr>
            <a:xfrm>
              <a:off x="6353175" y="2289810"/>
              <a:ext cx="66675" cy="68580"/>
            </a:xfrm>
            <a:custGeom>
              <a:avLst/>
              <a:gdLst/>
              <a:ahLst/>
              <a:cxnLst/>
              <a:rect l="0" t="0" r="0" b="0"/>
              <a:pathLst>
                <a:path w="66675" h="68580">
                  <a:moveTo>
                    <a:pt x="66675" y="34290"/>
                  </a:moveTo>
                  <a:lnTo>
                    <a:pt x="0" y="68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84B8"/>
            </a:solidFill>
            <a:ln w="0">
              <a:noFill/>
            </a:ln>
          </p:spPr>
        </p:sp>
        <p:sp>
          <p:nvSpPr>
            <p:cNvPr id="67" name="roundRect_67">
              <a:extLst>
                <a:ext uri="{FF2B5EF4-FFF2-40B4-BE49-F238E27FC236}">
                  <a16:creationId xmlns:a16="http://schemas.microsoft.com/office/drawing/2014/main" id="{D3A4932F-4819-4211-AC45-EC9A67B8A378}"/>
                </a:ext>
              </a:extLst>
            </p:cNvPr>
            <p:cNvSpPr>
              <a:spLocks/>
            </p:cNvSpPr>
            <p:nvPr/>
          </p:nvSpPr>
          <p:spPr>
            <a:xfrm>
              <a:off x="6448425" y="1533525"/>
              <a:ext cx="2695575" cy="1562100"/>
            </a:xfrm>
            <a:prstGeom prst="roundRect">
              <a:avLst>
                <a:gd name="adj" fmla="val 5488"/>
              </a:avLst>
            </a:prstGeom>
            <a:solidFill>
              <a:srgbClr val="FFFFFF"/>
            </a:solidFill>
            <a:ln w="9525">
              <a:solidFill>
                <a:srgbClr val="BBBFE1"/>
              </a:solidFill>
              <a:prstDash val="solid"/>
            </a:ln>
          </p:spPr>
        </p:sp>
        <p:sp>
          <p:nvSpPr>
            <p:cNvPr id="68" name="textbox_68">
              <a:extLst>
                <a:ext uri="{FF2B5EF4-FFF2-40B4-BE49-F238E27FC236}">
                  <a16:creationId xmlns:a16="http://schemas.microsoft.com/office/drawing/2014/main" id="{90C95FF2-9DBA-42AE-AA8D-A5B4D85A5800}"/>
                </a:ext>
              </a:extLst>
            </p:cNvPr>
            <p:cNvSpPr>
              <a:spLocks/>
            </p:cNvSpPr>
            <p:nvPr/>
          </p:nvSpPr>
          <p:spPr>
            <a:xfrm>
              <a:off x="6562725" y="1609725"/>
              <a:ext cx="2428875" cy="219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125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1125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1125" b="1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Candidate selector</a:t>
              </a:r>
            </a:p>
          </p:txBody>
        </p:sp>
        <p:sp>
          <p:nvSpPr>
            <p:cNvPr id="69" name="roundRect_69">
              <a:extLst>
                <a:ext uri="{FF2B5EF4-FFF2-40B4-BE49-F238E27FC236}">
                  <a16:creationId xmlns:a16="http://schemas.microsoft.com/office/drawing/2014/main" id="{839C7A71-8002-4B41-91E0-5A71A795DE24}"/>
                </a:ext>
              </a:extLst>
            </p:cNvPr>
            <p:cNvSpPr>
              <a:spLocks/>
            </p:cNvSpPr>
            <p:nvPr/>
          </p:nvSpPr>
          <p:spPr>
            <a:xfrm>
              <a:off x="6572250" y="1914525"/>
              <a:ext cx="885825" cy="266700"/>
            </a:xfrm>
            <a:prstGeom prst="roundRect">
              <a:avLst>
                <a:gd name="adj" fmla="val 32143"/>
              </a:avLst>
            </a:prstGeom>
            <a:solidFill>
              <a:srgbClr val="F3F3FB"/>
            </a:solidFill>
            <a:ln w="9525">
              <a:solidFill>
                <a:srgbClr val="CDCEE5"/>
              </a:solidFill>
              <a:prstDash val="solid"/>
            </a:ln>
          </p:spPr>
        </p:sp>
        <p:sp>
          <p:nvSpPr>
            <p:cNvPr id="70" name="textbox_70">
              <a:extLst>
                <a:ext uri="{FF2B5EF4-FFF2-40B4-BE49-F238E27FC236}">
                  <a16:creationId xmlns:a16="http://schemas.microsoft.com/office/drawing/2014/main" id="{34F4A1B8-B24D-4146-A519-5E5597710C82}"/>
                </a:ext>
              </a:extLst>
            </p:cNvPr>
            <p:cNvSpPr>
              <a:spLocks/>
            </p:cNvSpPr>
            <p:nvPr/>
          </p:nvSpPr>
          <p:spPr>
            <a:xfrm>
              <a:off x="6657975" y="1952625"/>
              <a:ext cx="76200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0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900" b="0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900" b="0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DLinear</a:t>
              </a:r>
            </a:p>
          </p:txBody>
        </p:sp>
        <p:sp>
          <p:nvSpPr>
            <p:cNvPr id="71" name="line_71">
              <a:extLst>
                <a:ext uri="{FF2B5EF4-FFF2-40B4-BE49-F238E27FC236}">
                  <a16:creationId xmlns:a16="http://schemas.microsoft.com/office/drawing/2014/main" id="{C01F3706-A0BB-40B5-B38B-EE0A4878899E}"/>
                </a:ext>
              </a:extLst>
            </p:cNvPr>
            <p:cNvSpPr>
              <a:spLocks/>
            </p:cNvSpPr>
            <p:nvPr/>
          </p:nvSpPr>
          <p:spPr>
            <a:xfrm>
              <a:off x="7458075" y="2047875"/>
              <a:ext cx="304800" cy="352425"/>
            </a:xfrm>
            <a:prstGeom prst="line">
              <a:avLst/>
            </a:prstGeom>
            <a:noFill/>
            <a:ln w="8573">
              <a:solidFill>
                <a:srgbClr val="9A99BF"/>
              </a:solidFill>
              <a:prstDash val="solid"/>
            </a:ln>
          </p:spPr>
        </p:sp>
        <p:sp>
          <p:nvSpPr>
            <p:cNvPr id="72" name="roundRect_72">
              <a:extLst>
                <a:ext uri="{FF2B5EF4-FFF2-40B4-BE49-F238E27FC236}">
                  <a16:creationId xmlns:a16="http://schemas.microsoft.com/office/drawing/2014/main" id="{3F478440-A832-4503-B151-625B01949D48}"/>
                </a:ext>
              </a:extLst>
            </p:cNvPr>
            <p:cNvSpPr>
              <a:spLocks/>
            </p:cNvSpPr>
            <p:nvPr/>
          </p:nvSpPr>
          <p:spPr>
            <a:xfrm>
              <a:off x="6572250" y="2247900"/>
              <a:ext cx="885825" cy="266700"/>
            </a:xfrm>
            <a:prstGeom prst="roundRect">
              <a:avLst>
                <a:gd name="adj" fmla="val 32143"/>
              </a:avLst>
            </a:prstGeom>
            <a:solidFill>
              <a:srgbClr val="F3F3FB"/>
            </a:solidFill>
            <a:ln w="9525">
              <a:solidFill>
                <a:srgbClr val="CDCEE5"/>
              </a:solidFill>
              <a:prstDash val="solid"/>
            </a:ln>
          </p:spPr>
        </p:sp>
        <p:sp>
          <p:nvSpPr>
            <p:cNvPr id="73" name="textbox_73">
              <a:extLst>
                <a:ext uri="{FF2B5EF4-FFF2-40B4-BE49-F238E27FC236}">
                  <a16:creationId xmlns:a16="http://schemas.microsoft.com/office/drawing/2014/main" id="{1DEA7B7F-97EE-4C38-9E5C-5D2C5D929E0C}"/>
                </a:ext>
              </a:extLst>
            </p:cNvPr>
            <p:cNvSpPr>
              <a:spLocks/>
            </p:cNvSpPr>
            <p:nvPr/>
          </p:nvSpPr>
          <p:spPr>
            <a:xfrm>
              <a:off x="6657975" y="2286000"/>
              <a:ext cx="76200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0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900" b="0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900" b="0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PatchTST</a:t>
              </a:r>
            </a:p>
          </p:txBody>
        </p:sp>
        <p:sp>
          <p:nvSpPr>
            <p:cNvPr id="74" name="line_74">
              <a:extLst>
                <a:ext uri="{FF2B5EF4-FFF2-40B4-BE49-F238E27FC236}">
                  <a16:creationId xmlns:a16="http://schemas.microsoft.com/office/drawing/2014/main" id="{B9FF5F63-E8BA-46EE-A9E8-1EA1C395EEF8}"/>
                </a:ext>
              </a:extLst>
            </p:cNvPr>
            <p:cNvSpPr>
              <a:spLocks/>
            </p:cNvSpPr>
            <p:nvPr/>
          </p:nvSpPr>
          <p:spPr>
            <a:xfrm>
              <a:off x="7458075" y="2381250"/>
              <a:ext cx="304800" cy="19050"/>
            </a:xfrm>
            <a:prstGeom prst="line">
              <a:avLst/>
            </a:prstGeom>
            <a:noFill/>
            <a:ln w="8573">
              <a:solidFill>
                <a:srgbClr val="9A99BF"/>
              </a:solidFill>
              <a:prstDash val="solid"/>
            </a:ln>
          </p:spPr>
        </p:sp>
        <p:sp>
          <p:nvSpPr>
            <p:cNvPr id="75" name="roundRect_75">
              <a:extLst>
                <a:ext uri="{FF2B5EF4-FFF2-40B4-BE49-F238E27FC236}">
                  <a16:creationId xmlns:a16="http://schemas.microsoft.com/office/drawing/2014/main" id="{B782767A-CCAE-4D4D-86DE-2F8B1AB1845C}"/>
                </a:ext>
              </a:extLst>
            </p:cNvPr>
            <p:cNvSpPr>
              <a:spLocks/>
            </p:cNvSpPr>
            <p:nvPr/>
          </p:nvSpPr>
          <p:spPr>
            <a:xfrm>
              <a:off x="6572250" y="2581275"/>
              <a:ext cx="885825" cy="266700"/>
            </a:xfrm>
            <a:prstGeom prst="roundRect">
              <a:avLst>
                <a:gd name="adj" fmla="val 32143"/>
              </a:avLst>
            </a:prstGeom>
            <a:solidFill>
              <a:srgbClr val="F3F3FB"/>
            </a:solidFill>
            <a:ln w="9525">
              <a:solidFill>
                <a:srgbClr val="CDCEE5"/>
              </a:solidFill>
              <a:prstDash val="solid"/>
            </a:ln>
          </p:spPr>
        </p:sp>
        <p:sp>
          <p:nvSpPr>
            <p:cNvPr id="76" name="textbox_76">
              <a:extLst>
                <a:ext uri="{FF2B5EF4-FFF2-40B4-BE49-F238E27FC236}">
                  <a16:creationId xmlns:a16="http://schemas.microsoft.com/office/drawing/2014/main" id="{23C4810F-C53F-4E0B-86C8-8C2516DB02A4}"/>
                </a:ext>
              </a:extLst>
            </p:cNvPr>
            <p:cNvSpPr>
              <a:spLocks/>
            </p:cNvSpPr>
            <p:nvPr/>
          </p:nvSpPr>
          <p:spPr>
            <a:xfrm>
              <a:off x="6657975" y="2619375"/>
              <a:ext cx="76200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0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900" b="0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900" b="0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TimesNet</a:t>
              </a:r>
            </a:p>
          </p:txBody>
        </p:sp>
        <p:sp>
          <p:nvSpPr>
            <p:cNvPr id="77" name="line_77">
              <a:extLst>
                <a:ext uri="{FF2B5EF4-FFF2-40B4-BE49-F238E27FC236}">
                  <a16:creationId xmlns:a16="http://schemas.microsoft.com/office/drawing/2014/main" id="{0CE7EFAA-CF19-4D21-BA8E-31CBED338868}"/>
                </a:ext>
              </a:extLst>
            </p:cNvPr>
            <p:cNvSpPr>
              <a:spLocks/>
            </p:cNvSpPr>
            <p:nvPr/>
          </p:nvSpPr>
          <p:spPr>
            <a:xfrm flipV="1">
              <a:off x="7458075" y="2400300"/>
              <a:ext cx="304800" cy="314325"/>
            </a:xfrm>
            <a:prstGeom prst="line">
              <a:avLst/>
            </a:prstGeom>
            <a:noFill/>
            <a:ln w="8573">
              <a:solidFill>
                <a:srgbClr val="9A99BF"/>
              </a:solidFill>
              <a:prstDash val="solid"/>
            </a:ln>
          </p:spPr>
        </p:sp>
        <p:sp>
          <p:nvSpPr>
            <p:cNvPr id="78" name="selector_funnel_78">
              <a:extLst>
                <a:ext uri="{FF2B5EF4-FFF2-40B4-BE49-F238E27FC236}">
                  <a16:creationId xmlns:a16="http://schemas.microsoft.com/office/drawing/2014/main" id="{10959CD7-A7D9-40FA-82B6-4C205443E4A6}"/>
                </a:ext>
              </a:extLst>
            </p:cNvPr>
            <p:cNvSpPr>
              <a:spLocks/>
            </p:cNvSpPr>
            <p:nvPr/>
          </p:nvSpPr>
          <p:spPr>
            <a:xfrm>
              <a:off x="7639050" y="2219325"/>
              <a:ext cx="352425" cy="428625"/>
            </a:xfrm>
            <a:custGeom>
              <a:avLst/>
              <a:gdLst/>
              <a:ahLst/>
              <a:cxnLst/>
              <a:rect l="0" t="0" r="0" b="0"/>
              <a:pathLst>
                <a:path w="352425" h="428625">
                  <a:moveTo>
                    <a:pt x="0" y="0"/>
                  </a:moveTo>
                  <a:lnTo>
                    <a:pt x="352425" y="0"/>
                  </a:lnTo>
                  <a:lnTo>
                    <a:pt x="228600" y="247650"/>
                  </a:lnTo>
                  <a:lnTo>
                    <a:pt x="228600" y="371475"/>
                  </a:lnTo>
                  <a:lnTo>
                    <a:pt x="133350" y="428625"/>
                  </a:lnTo>
                  <a:lnTo>
                    <a:pt x="133350" y="247650"/>
                  </a:lnTo>
                  <a:close/>
                </a:path>
              </a:pathLst>
            </a:custGeom>
            <a:solidFill>
              <a:srgbClr val="A6AAD4"/>
            </a:solidFill>
            <a:ln w="0">
              <a:noFill/>
            </a:ln>
          </p:spPr>
        </p:sp>
        <p:sp>
          <p:nvSpPr>
            <p:cNvPr id="79" name="native_curve_79">
              <a:extLst>
                <a:ext uri="{FF2B5EF4-FFF2-40B4-BE49-F238E27FC236}">
                  <a16:creationId xmlns:a16="http://schemas.microsoft.com/office/drawing/2014/main" id="{66DF4338-DC00-4277-B824-2C51CDB99B4E}"/>
                </a:ext>
              </a:extLst>
            </p:cNvPr>
            <p:cNvSpPr>
              <a:spLocks/>
            </p:cNvSpPr>
            <p:nvPr/>
          </p:nvSpPr>
          <p:spPr>
            <a:xfrm>
              <a:off x="7953375" y="2390775"/>
              <a:ext cx="180975" cy="953"/>
            </a:xfrm>
            <a:custGeom>
              <a:avLst/>
              <a:gdLst/>
              <a:ahLst/>
              <a:cxnLst/>
              <a:rect l="0" t="0" r="0" b="0"/>
              <a:pathLst>
                <a:path w="180975" h="953">
                  <a:moveTo>
                    <a:pt x="0" y="0"/>
                  </a:moveTo>
                  <a:lnTo>
                    <a:pt x="180975" y="0"/>
                  </a:lnTo>
                </a:path>
              </a:pathLst>
            </a:custGeom>
            <a:noFill/>
            <a:ln w="11430">
              <a:solidFill>
                <a:srgbClr val="8784B8"/>
              </a:solidFill>
              <a:prstDash val="solid"/>
            </a:ln>
          </p:spPr>
        </p:sp>
        <p:sp>
          <p:nvSpPr>
            <p:cNvPr id="80" name="arrow_tip_80">
              <a:extLst>
                <a:ext uri="{FF2B5EF4-FFF2-40B4-BE49-F238E27FC236}">
                  <a16:creationId xmlns:a16="http://schemas.microsoft.com/office/drawing/2014/main" id="{26B42960-AD04-4168-AFE2-AC15371C6B43}"/>
                </a:ext>
              </a:extLst>
            </p:cNvPr>
            <p:cNvSpPr>
              <a:spLocks/>
            </p:cNvSpPr>
            <p:nvPr/>
          </p:nvSpPr>
          <p:spPr>
            <a:xfrm>
              <a:off x="8067675" y="2356485"/>
              <a:ext cx="66675" cy="68580"/>
            </a:xfrm>
            <a:custGeom>
              <a:avLst/>
              <a:gdLst/>
              <a:ahLst/>
              <a:cxnLst/>
              <a:rect l="0" t="0" r="0" b="0"/>
              <a:pathLst>
                <a:path w="66675" h="68580">
                  <a:moveTo>
                    <a:pt x="66675" y="34290"/>
                  </a:moveTo>
                  <a:lnTo>
                    <a:pt x="0" y="68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84B8"/>
            </a:solidFill>
            <a:ln w="0">
              <a:noFill/>
            </a:ln>
          </p:spPr>
        </p:sp>
        <p:sp>
          <p:nvSpPr>
            <p:cNvPr id="81" name="roundRect_81">
              <a:extLst>
                <a:ext uri="{FF2B5EF4-FFF2-40B4-BE49-F238E27FC236}">
                  <a16:creationId xmlns:a16="http://schemas.microsoft.com/office/drawing/2014/main" id="{1E62F052-C1E6-4B3B-9D3C-EFCBAA8478F2}"/>
                </a:ext>
              </a:extLst>
            </p:cNvPr>
            <p:cNvSpPr>
              <a:spLocks/>
            </p:cNvSpPr>
            <p:nvPr/>
          </p:nvSpPr>
          <p:spPr>
            <a:xfrm>
              <a:off x="8172450" y="1943100"/>
              <a:ext cx="857250" cy="228600"/>
            </a:xfrm>
            <a:prstGeom prst="roundRect">
              <a:avLst>
                <a:gd name="adj" fmla="val 37500"/>
              </a:avLst>
            </a:prstGeom>
            <a:solidFill>
              <a:srgbClr val="F1F2FA"/>
            </a:solidFill>
            <a:ln w="9525">
              <a:solidFill>
                <a:srgbClr val="CDCEE5"/>
              </a:solidFill>
              <a:prstDash val="solid"/>
            </a:ln>
          </p:spPr>
        </p:sp>
        <p:sp>
          <p:nvSpPr>
            <p:cNvPr id="82" name="textbox_82">
              <a:extLst>
                <a:ext uri="{FF2B5EF4-FFF2-40B4-BE49-F238E27FC236}">
                  <a16:creationId xmlns:a16="http://schemas.microsoft.com/office/drawing/2014/main" id="{836B49EA-5FB4-4352-83D1-5CF216F9852C}"/>
                </a:ext>
              </a:extLst>
            </p:cNvPr>
            <p:cNvSpPr>
              <a:spLocks/>
            </p:cNvSpPr>
            <p:nvPr/>
          </p:nvSpPr>
          <p:spPr>
            <a:xfrm>
              <a:off x="8239125" y="1971675"/>
              <a:ext cx="7620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Config #1</a:t>
              </a:r>
            </a:p>
          </p:txBody>
        </p:sp>
        <p:sp>
          <p:nvSpPr>
            <p:cNvPr id="83" name="roundRect_83">
              <a:extLst>
                <a:ext uri="{FF2B5EF4-FFF2-40B4-BE49-F238E27FC236}">
                  <a16:creationId xmlns:a16="http://schemas.microsoft.com/office/drawing/2014/main" id="{C4029922-36E6-4E53-98B7-651639F2E01C}"/>
                </a:ext>
              </a:extLst>
            </p:cNvPr>
            <p:cNvSpPr>
              <a:spLocks/>
            </p:cNvSpPr>
            <p:nvPr/>
          </p:nvSpPr>
          <p:spPr>
            <a:xfrm>
              <a:off x="8172450" y="2228850"/>
              <a:ext cx="857250" cy="228600"/>
            </a:xfrm>
            <a:prstGeom prst="roundRect">
              <a:avLst>
                <a:gd name="adj" fmla="val 37500"/>
              </a:avLst>
            </a:prstGeom>
            <a:solidFill>
              <a:srgbClr val="F1F2FA"/>
            </a:solidFill>
            <a:ln w="9525">
              <a:solidFill>
                <a:srgbClr val="CDCEE5"/>
              </a:solidFill>
              <a:prstDash val="solid"/>
            </a:ln>
          </p:spPr>
        </p:sp>
        <p:sp>
          <p:nvSpPr>
            <p:cNvPr id="84" name="textbox_84">
              <a:extLst>
                <a:ext uri="{FF2B5EF4-FFF2-40B4-BE49-F238E27FC236}">
                  <a16:creationId xmlns:a16="http://schemas.microsoft.com/office/drawing/2014/main" id="{99065F25-6627-498C-88FD-DD4F19B42092}"/>
                </a:ext>
              </a:extLst>
            </p:cNvPr>
            <p:cNvSpPr>
              <a:spLocks/>
            </p:cNvSpPr>
            <p:nvPr/>
          </p:nvSpPr>
          <p:spPr>
            <a:xfrm>
              <a:off x="8239125" y="2257425"/>
              <a:ext cx="7620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Config #2</a:t>
              </a:r>
            </a:p>
          </p:txBody>
        </p:sp>
        <p:sp>
          <p:nvSpPr>
            <p:cNvPr id="85" name="roundRect_85">
              <a:extLst>
                <a:ext uri="{FF2B5EF4-FFF2-40B4-BE49-F238E27FC236}">
                  <a16:creationId xmlns:a16="http://schemas.microsoft.com/office/drawing/2014/main" id="{894B5F31-563F-44AD-A079-4033ED3370FD}"/>
                </a:ext>
              </a:extLst>
            </p:cNvPr>
            <p:cNvSpPr>
              <a:spLocks/>
            </p:cNvSpPr>
            <p:nvPr/>
          </p:nvSpPr>
          <p:spPr>
            <a:xfrm>
              <a:off x="8172450" y="2514600"/>
              <a:ext cx="857250" cy="228600"/>
            </a:xfrm>
            <a:prstGeom prst="roundRect">
              <a:avLst>
                <a:gd name="adj" fmla="val 37500"/>
              </a:avLst>
            </a:prstGeom>
            <a:solidFill>
              <a:srgbClr val="F1F2FA"/>
            </a:solidFill>
            <a:ln w="9525">
              <a:solidFill>
                <a:srgbClr val="CDCEE5"/>
              </a:solidFill>
              <a:prstDash val="solid"/>
            </a:ln>
          </p:spPr>
        </p:sp>
        <p:sp>
          <p:nvSpPr>
            <p:cNvPr id="86" name="textbox_86">
              <a:extLst>
                <a:ext uri="{FF2B5EF4-FFF2-40B4-BE49-F238E27FC236}">
                  <a16:creationId xmlns:a16="http://schemas.microsoft.com/office/drawing/2014/main" id="{57B21CAD-A0C2-4CFD-929B-967469CC0B24}"/>
                </a:ext>
              </a:extLst>
            </p:cNvPr>
            <p:cNvSpPr>
              <a:spLocks/>
            </p:cNvSpPr>
            <p:nvPr/>
          </p:nvSpPr>
          <p:spPr>
            <a:xfrm>
              <a:off x="8239125" y="2543175"/>
              <a:ext cx="7620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Config #3</a:t>
              </a:r>
            </a:p>
          </p:txBody>
        </p:sp>
      </p:grpSp>
      <p:grpSp>
        <p:nvGrpSpPr>
          <p:cNvPr id="220" name="post_execution_lane">
            <a:extLst>
              <a:ext uri="{FF2B5EF4-FFF2-40B4-BE49-F238E27FC236}">
                <a16:creationId xmlns:a16="http://schemas.microsoft.com/office/drawing/2014/main" id="{6BB811B1-5498-DF71-9285-029870AA19D3}"/>
              </a:ext>
            </a:extLst>
          </p:cNvPr>
          <p:cNvGrpSpPr/>
          <p:nvPr/>
        </p:nvGrpSpPr>
        <p:grpSpPr>
          <a:xfrm>
            <a:off x="180975" y="3448050"/>
            <a:ext cx="9105900" cy="2514600"/>
            <a:chOff x="180975" y="3448050"/>
            <a:chExt cx="9105900" cy="2514600"/>
          </a:xfrm>
        </p:grpSpPr>
        <p:sp>
          <p:nvSpPr>
            <p:cNvPr id="87" name="roundRect_87">
              <a:extLst>
                <a:ext uri="{FF2B5EF4-FFF2-40B4-BE49-F238E27FC236}">
                  <a16:creationId xmlns:a16="http://schemas.microsoft.com/office/drawing/2014/main" id="{F30DC726-F85A-44F1-B20D-48F7807B8A68}"/>
                </a:ext>
              </a:extLst>
            </p:cNvPr>
            <p:cNvSpPr>
              <a:spLocks/>
            </p:cNvSpPr>
            <p:nvPr/>
          </p:nvSpPr>
          <p:spPr>
            <a:xfrm>
              <a:off x="180975" y="3448050"/>
              <a:ext cx="9105900" cy="2514600"/>
            </a:xfrm>
            <a:prstGeom prst="roundRect">
              <a:avLst>
                <a:gd name="adj" fmla="val 3409"/>
              </a:avLst>
            </a:prstGeom>
            <a:solidFill>
              <a:srgbClr val="FBF0F5"/>
            </a:solidFill>
            <a:ln w="9525">
              <a:solidFill>
                <a:srgbClr val="EDD8E4"/>
              </a:solidFill>
              <a:prstDash val="solid"/>
            </a:ln>
          </p:spPr>
        </p:sp>
        <p:sp>
          <p:nvSpPr>
            <p:cNvPr id="88" name="ellipse_88">
              <a:extLst>
                <a:ext uri="{FF2B5EF4-FFF2-40B4-BE49-F238E27FC236}">
                  <a16:creationId xmlns:a16="http://schemas.microsoft.com/office/drawing/2014/main" id="{908485A0-FEB7-4DFB-B94F-A33960958465}"/>
                </a:ext>
              </a:extLst>
            </p:cNvPr>
            <p:cNvSpPr>
              <a:spLocks/>
            </p:cNvSpPr>
            <p:nvPr/>
          </p:nvSpPr>
          <p:spPr>
            <a:xfrm>
              <a:off x="285750" y="3552825"/>
              <a:ext cx="285750" cy="285750"/>
            </a:xfrm>
            <a:prstGeom prst="ellipse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89" name="textbox_89">
              <a:extLst>
                <a:ext uri="{FF2B5EF4-FFF2-40B4-BE49-F238E27FC236}">
                  <a16:creationId xmlns:a16="http://schemas.microsoft.com/office/drawing/2014/main" id="{0147605C-51C3-4F64-820D-BDC737662BF6}"/>
                </a:ext>
              </a:extLst>
            </p:cNvPr>
            <p:cNvSpPr>
              <a:spLocks/>
            </p:cNvSpPr>
            <p:nvPr/>
          </p:nvSpPr>
          <p:spPr>
            <a:xfrm>
              <a:off x="361950" y="3581400"/>
              <a:ext cx="200025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50" b="0">
                  <a:solidFill>
                    <a:srgbClr val="FFFFFF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1350" b="0">
                  <a:solidFill>
                    <a:srgbClr val="FFFFFF"/>
                  </a:solidFill>
                  <a:latin typeface="Georgia"/>
                  <a:ea typeface="Georgia"/>
                  <a:cs typeface="Georgia"/>
                </a:defRPr>
              </a:pPr>
              <a:r>
                <a:rPr sz="1350" b="0">
                  <a:solidFill>
                    <a:srgbClr val="FFFFFF"/>
                  </a:solidFill>
                  <a:latin typeface="Georgia"/>
                  <a:ea typeface="Georgia"/>
                  <a:cs typeface="Georgia"/>
                </a:rPr>
                <a:t>2</a:t>
              </a:r>
            </a:p>
          </p:txBody>
        </p:sp>
        <p:sp>
          <p:nvSpPr>
            <p:cNvPr id="90" name="textbox_90">
              <a:extLst>
                <a:ext uri="{FF2B5EF4-FFF2-40B4-BE49-F238E27FC236}">
                  <a16:creationId xmlns:a16="http://schemas.microsoft.com/office/drawing/2014/main" id="{AB4A2BBA-C8BE-4450-97B1-B856C94F3FE1}"/>
                </a:ext>
              </a:extLst>
            </p:cNvPr>
            <p:cNvSpPr>
              <a:spLocks/>
            </p:cNvSpPr>
            <p:nvPr/>
          </p:nvSpPr>
          <p:spPr>
            <a:xfrm>
              <a:off x="666750" y="3533775"/>
              <a:ext cx="828675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575" b="1">
                  <a:solidFill>
                    <a:srgbClr val="9C5875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1575" b="1">
                  <a:solidFill>
                    <a:srgbClr val="9C5875"/>
                  </a:solidFill>
                  <a:latin typeface="Georgia"/>
                  <a:ea typeface="Georgia"/>
                  <a:cs typeface="Georgia"/>
                </a:defRPr>
              </a:pPr>
              <a:r>
                <a:rPr sz="1575" b="1">
                  <a:solidFill>
                    <a:srgbClr val="9C5875"/>
                  </a:solidFill>
                  <a:latin typeface="Georgia"/>
                  <a:ea typeface="Georgia"/>
                  <a:cs typeface="Georgia"/>
                </a:rPr>
                <a:t>Post-execution features</a:t>
              </a:r>
            </a:p>
          </p:txBody>
        </p:sp>
        <p:sp>
          <p:nvSpPr>
            <p:cNvPr id="91" name="textbox_91">
              <a:extLst>
                <a:ext uri="{FF2B5EF4-FFF2-40B4-BE49-F238E27FC236}">
                  <a16:creationId xmlns:a16="http://schemas.microsoft.com/office/drawing/2014/main" id="{40CB5623-E10E-4EC0-BF0B-4DF4282CE01F}"/>
                </a:ext>
              </a:extLst>
            </p:cNvPr>
            <p:cNvSpPr>
              <a:spLocks/>
            </p:cNvSpPr>
            <p:nvPr/>
          </p:nvSpPr>
          <p:spPr>
            <a:xfrm>
              <a:off x="666750" y="3810000"/>
              <a:ext cx="8286750" cy="219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75" b="0">
                  <a:solidFill>
                    <a:srgbClr val="9C5875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975" b="0">
                  <a:solidFill>
                    <a:srgbClr val="9C5875"/>
                  </a:solidFill>
                  <a:latin typeface="Georgia"/>
                  <a:ea typeface="Georgia"/>
                  <a:cs typeface="Georgia"/>
                </a:defRPr>
              </a:pPr>
              <a:r>
                <a:rPr sz="975" b="0">
                  <a:solidFill>
                    <a:srgbClr val="9C5875"/>
                  </a:solidFill>
                  <a:latin typeface="Georgia"/>
                  <a:ea typeface="Georgia"/>
                  <a:cs typeface="Georgia"/>
                </a:rPr>
                <a:t>From a real candidate training and validation run — after execution</a:t>
              </a:r>
            </a:p>
          </p:txBody>
        </p:sp>
        <p:sp>
          <p:nvSpPr>
            <p:cNvPr id="92" name="roundRect_92">
              <a:extLst>
                <a:ext uri="{FF2B5EF4-FFF2-40B4-BE49-F238E27FC236}">
                  <a16:creationId xmlns:a16="http://schemas.microsoft.com/office/drawing/2014/main" id="{C1166F14-18C7-463B-B8CD-1E32BE05F1FF}"/>
                </a:ext>
              </a:extLst>
            </p:cNvPr>
            <p:cNvSpPr>
              <a:spLocks/>
            </p:cNvSpPr>
            <p:nvPr/>
          </p:nvSpPr>
          <p:spPr>
            <a:xfrm>
              <a:off x="323850" y="4105275"/>
              <a:ext cx="2543175" cy="1704975"/>
            </a:xfrm>
            <a:prstGeom prst="roundRect">
              <a:avLst>
                <a:gd name="adj" fmla="val 5028"/>
              </a:avLst>
            </a:prstGeom>
            <a:solidFill>
              <a:srgbClr val="FFFFFF"/>
            </a:solidFill>
            <a:ln w="9525">
              <a:solidFill>
                <a:srgbClr val="D8A9BF"/>
              </a:solidFill>
              <a:prstDash val="solid"/>
            </a:ln>
          </p:spPr>
        </p:sp>
        <p:sp>
          <p:nvSpPr>
            <p:cNvPr id="93" name="textbox_93">
              <a:extLst>
                <a:ext uri="{FF2B5EF4-FFF2-40B4-BE49-F238E27FC236}">
                  <a16:creationId xmlns:a16="http://schemas.microsoft.com/office/drawing/2014/main" id="{D5F57CCF-60AF-4BCE-AFBB-8161583C55FC}"/>
                </a:ext>
              </a:extLst>
            </p:cNvPr>
            <p:cNvSpPr>
              <a:spLocks/>
            </p:cNvSpPr>
            <p:nvPr/>
          </p:nvSpPr>
          <p:spPr>
            <a:xfrm>
              <a:off x="428625" y="4181475"/>
              <a:ext cx="2333625" cy="219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125" b="1">
                  <a:solidFill>
                    <a:srgbClr val="9C5875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1125" b="1">
                  <a:solidFill>
                    <a:srgbClr val="9C5875"/>
                  </a:solidFill>
                  <a:latin typeface="Georgia"/>
                  <a:ea typeface="Georgia"/>
                  <a:cs typeface="Georgia"/>
                </a:defRPr>
              </a:pPr>
              <a:r>
                <a:rPr sz="1125" b="1">
                  <a:solidFill>
                    <a:srgbClr val="9C5875"/>
                  </a:solidFill>
                  <a:latin typeface="Georgia"/>
                  <a:ea typeface="Georgia"/>
                  <a:cs typeface="Georgia"/>
                </a:rPr>
                <a:t>Truth and prediction</a:t>
              </a:r>
            </a:p>
          </p:txBody>
        </p:sp>
        <p:sp>
          <p:nvSpPr>
            <p:cNvPr id="94" name="line_94">
              <a:extLst>
                <a:ext uri="{FF2B5EF4-FFF2-40B4-BE49-F238E27FC236}">
                  <a16:creationId xmlns:a16="http://schemas.microsoft.com/office/drawing/2014/main" id="{73A1E1B3-0BA9-4FB3-930C-428F20510531}"/>
                </a:ext>
              </a:extLst>
            </p:cNvPr>
            <p:cNvSpPr>
              <a:spLocks/>
            </p:cNvSpPr>
            <p:nvPr/>
          </p:nvSpPr>
          <p:spPr>
            <a:xfrm>
              <a:off x="485775" y="4572000"/>
              <a:ext cx="953" cy="752475"/>
            </a:xfrm>
            <a:prstGeom prst="line">
              <a:avLst/>
            </a:prstGeom>
            <a:noFill/>
            <a:ln w="6668">
              <a:solidFill>
                <a:srgbClr val="A6AAC1"/>
              </a:solidFill>
              <a:prstDash val="solid"/>
            </a:ln>
          </p:spPr>
        </p:sp>
        <p:sp>
          <p:nvSpPr>
            <p:cNvPr id="95" name="line_95">
              <a:extLst>
                <a:ext uri="{FF2B5EF4-FFF2-40B4-BE49-F238E27FC236}">
                  <a16:creationId xmlns:a16="http://schemas.microsoft.com/office/drawing/2014/main" id="{59399C04-6C4B-4C34-BFD0-5E64A92E04EC}"/>
                </a:ext>
              </a:extLst>
            </p:cNvPr>
            <p:cNvSpPr>
              <a:spLocks/>
            </p:cNvSpPr>
            <p:nvPr/>
          </p:nvSpPr>
          <p:spPr>
            <a:xfrm>
              <a:off x="485775" y="5324475"/>
              <a:ext cx="2238375" cy="953"/>
            </a:xfrm>
            <a:prstGeom prst="line">
              <a:avLst/>
            </a:prstGeom>
            <a:noFill/>
            <a:ln w="6668">
              <a:solidFill>
                <a:srgbClr val="A6AAC1"/>
              </a:solidFill>
              <a:prstDash val="solid"/>
            </a:ln>
          </p:spPr>
        </p:sp>
        <p:sp>
          <p:nvSpPr>
            <p:cNvPr id="96" name="trace_96">
              <a:extLst>
                <a:ext uri="{FF2B5EF4-FFF2-40B4-BE49-F238E27FC236}">
                  <a16:creationId xmlns:a16="http://schemas.microsoft.com/office/drawing/2014/main" id="{FF1EEB81-EDE7-4FFE-8E40-6A7E0E5D6660}"/>
                </a:ext>
              </a:extLst>
            </p:cNvPr>
            <p:cNvSpPr>
              <a:spLocks/>
            </p:cNvSpPr>
            <p:nvPr/>
          </p:nvSpPr>
          <p:spPr>
            <a:xfrm>
              <a:off x="523875" y="4740965"/>
              <a:ext cx="2162175" cy="320006"/>
            </a:xfrm>
            <a:custGeom>
              <a:avLst/>
              <a:gdLst/>
              <a:ahLst/>
              <a:cxnLst/>
              <a:rect l="0" t="0" r="0" b="0"/>
              <a:pathLst>
                <a:path w="2162175" h="320006">
                  <a:moveTo>
                    <a:pt x="0" y="212035"/>
                  </a:moveTo>
                  <a:lnTo>
                    <a:pt x="52736" y="173073"/>
                  </a:lnTo>
                  <a:lnTo>
                    <a:pt x="105472" y="287771"/>
                  </a:lnTo>
                  <a:lnTo>
                    <a:pt x="158208" y="258462"/>
                  </a:lnTo>
                  <a:lnTo>
                    <a:pt x="210944" y="175493"/>
                  </a:lnTo>
                  <a:lnTo>
                    <a:pt x="263680" y="189466"/>
                  </a:lnTo>
                  <a:lnTo>
                    <a:pt x="316416" y="18099"/>
                  </a:lnTo>
                  <a:lnTo>
                    <a:pt x="369152" y="91326"/>
                  </a:lnTo>
                  <a:lnTo>
                    <a:pt x="421888" y="41345"/>
                  </a:lnTo>
                  <a:lnTo>
                    <a:pt x="474624" y="108812"/>
                  </a:lnTo>
                  <a:lnTo>
                    <a:pt x="527360" y="225982"/>
                  </a:lnTo>
                  <a:lnTo>
                    <a:pt x="580096" y="191514"/>
                  </a:lnTo>
                  <a:lnTo>
                    <a:pt x="632832" y="320006"/>
                  </a:lnTo>
                  <a:lnTo>
                    <a:pt x="685568" y="195278"/>
                  </a:lnTo>
                  <a:lnTo>
                    <a:pt x="738304" y="190346"/>
                  </a:lnTo>
                  <a:lnTo>
                    <a:pt x="791040" y="120006"/>
                  </a:lnTo>
                  <a:lnTo>
                    <a:pt x="843776" y="14123"/>
                  </a:lnTo>
                  <a:lnTo>
                    <a:pt x="896512" y="103895"/>
                  </a:lnTo>
                  <a:lnTo>
                    <a:pt x="949248" y="31289"/>
                  </a:lnTo>
                  <a:lnTo>
                    <a:pt x="1001984" y="189045"/>
                  </a:lnTo>
                  <a:lnTo>
                    <a:pt x="1054720" y="210424"/>
                  </a:lnTo>
                  <a:lnTo>
                    <a:pt x="1107455" y="239157"/>
                  </a:lnTo>
                  <a:lnTo>
                    <a:pt x="1160191" y="301943"/>
                  </a:lnTo>
                  <a:lnTo>
                    <a:pt x="1212927" y="153261"/>
                  </a:lnTo>
                  <a:lnTo>
                    <a:pt x="1265663" y="192367"/>
                  </a:lnTo>
                  <a:lnTo>
                    <a:pt x="1318399" y="44773"/>
                  </a:lnTo>
                  <a:lnTo>
                    <a:pt x="1371135" y="49304"/>
                  </a:lnTo>
                  <a:lnTo>
                    <a:pt x="1423871" y="87689"/>
                  </a:lnTo>
                  <a:lnTo>
                    <a:pt x="1476607" y="66401"/>
                  </a:lnTo>
                  <a:lnTo>
                    <a:pt x="1529343" y="243404"/>
                  </a:lnTo>
                  <a:lnTo>
                    <a:pt x="1582079" y="194989"/>
                  </a:lnTo>
                  <a:lnTo>
                    <a:pt x="1634815" y="291201"/>
                  </a:lnTo>
                  <a:lnTo>
                    <a:pt x="1687551" y="241671"/>
                  </a:lnTo>
                  <a:lnTo>
                    <a:pt x="1740287" y="145866"/>
                  </a:lnTo>
                  <a:lnTo>
                    <a:pt x="1793023" y="159171"/>
                  </a:lnTo>
                  <a:lnTo>
                    <a:pt x="1845759" y="0"/>
                  </a:lnTo>
                  <a:lnTo>
                    <a:pt x="1898495" y="93061"/>
                  </a:lnTo>
                  <a:lnTo>
                    <a:pt x="1951231" y="61983"/>
                  </a:lnTo>
                  <a:lnTo>
                    <a:pt x="2003967" y="139996"/>
                  </a:lnTo>
                  <a:lnTo>
                    <a:pt x="2056703" y="254283"/>
                  </a:lnTo>
                  <a:lnTo>
                    <a:pt x="2109439" y="205301"/>
                  </a:lnTo>
                  <a:lnTo>
                    <a:pt x="2162175" y="313381"/>
                  </a:lnTo>
                </a:path>
              </a:pathLst>
            </a:custGeom>
            <a:noFill/>
            <a:ln w="13335">
              <a:solidFill>
                <a:srgbClr val="38385B"/>
              </a:solidFill>
            </a:ln>
          </p:spPr>
        </p:sp>
        <p:sp>
          <p:nvSpPr>
            <p:cNvPr id="97" name="prediction_trace_97">
              <a:extLst>
                <a:ext uri="{FF2B5EF4-FFF2-40B4-BE49-F238E27FC236}">
                  <a16:creationId xmlns:a16="http://schemas.microsoft.com/office/drawing/2014/main" id="{0921C087-3011-4149-9244-4643D196C1A6}"/>
                </a:ext>
              </a:extLst>
            </p:cNvPr>
            <p:cNvSpPr>
              <a:spLocks/>
            </p:cNvSpPr>
            <p:nvPr/>
          </p:nvSpPr>
          <p:spPr>
            <a:xfrm>
              <a:off x="523875" y="4753053"/>
              <a:ext cx="2162175" cy="287255"/>
            </a:xfrm>
            <a:custGeom>
              <a:avLst/>
              <a:gdLst/>
              <a:ahLst/>
              <a:cxnLst/>
              <a:rect l="0" t="0" r="0" b="0"/>
              <a:pathLst>
                <a:path w="2162175" h="287255">
                  <a:moveTo>
                    <a:pt x="0" y="206200"/>
                  </a:moveTo>
                  <a:lnTo>
                    <a:pt x="52736" y="171029"/>
                  </a:lnTo>
                  <a:lnTo>
                    <a:pt x="105472" y="276309"/>
                  </a:lnTo>
                  <a:lnTo>
                    <a:pt x="158208" y="214347"/>
                  </a:lnTo>
                  <a:lnTo>
                    <a:pt x="210944" y="160536"/>
                  </a:lnTo>
                  <a:lnTo>
                    <a:pt x="263680" y="144968"/>
                  </a:lnTo>
                  <a:lnTo>
                    <a:pt x="316416" y="11976"/>
                  </a:lnTo>
                  <a:lnTo>
                    <a:pt x="369152" y="87913"/>
                  </a:lnTo>
                  <a:lnTo>
                    <a:pt x="421888" y="39523"/>
                  </a:lnTo>
                  <a:lnTo>
                    <a:pt x="474624" y="133103"/>
                  </a:lnTo>
                  <a:lnTo>
                    <a:pt x="527360" y="209167"/>
                  </a:lnTo>
                  <a:lnTo>
                    <a:pt x="580096" y="195757"/>
                  </a:lnTo>
                  <a:lnTo>
                    <a:pt x="632832" y="287255"/>
                  </a:lnTo>
                  <a:lnTo>
                    <a:pt x="685568" y="161766"/>
                  </a:lnTo>
                  <a:lnTo>
                    <a:pt x="738304" y="169042"/>
                  </a:lnTo>
                  <a:lnTo>
                    <a:pt x="791040" y="80423"/>
                  </a:lnTo>
                  <a:lnTo>
                    <a:pt x="843776" y="22721"/>
                  </a:lnTo>
                  <a:lnTo>
                    <a:pt x="896512" y="92237"/>
                  </a:lnTo>
                  <a:lnTo>
                    <a:pt x="949248" y="46679"/>
                  </a:lnTo>
                  <a:lnTo>
                    <a:pt x="1001984" y="198313"/>
                  </a:lnTo>
                  <a:lnTo>
                    <a:pt x="1054720" y="194183"/>
                  </a:lnTo>
                  <a:lnTo>
                    <a:pt x="1107455" y="238633"/>
                  </a:lnTo>
                  <a:lnTo>
                    <a:pt x="1160191" y="255033"/>
                  </a:lnTo>
                  <a:lnTo>
                    <a:pt x="1212927" y="133217"/>
                  </a:lnTo>
                  <a:lnTo>
                    <a:pt x="1265663" y="159305"/>
                  </a:lnTo>
                  <a:lnTo>
                    <a:pt x="1318399" y="22956"/>
                  </a:lnTo>
                  <a:lnTo>
                    <a:pt x="1371135" y="59560"/>
                  </a:lnTo>
                  <a:lnTo>
                    <a:pt x="1423871" y="76488"/>
                  </a:lnTo>
                  <a:lnTo>
                    <a:pt x="1476607" y="92284"/>
                  </a:lnTo>
                  <a:lnTo>
                    <a:pt x="1529343" y="233604"/>
                  </a:lnTo>
                  <a:lnTo>
                    <a:pt x="1582079" y="187006"/>
                  </a:lnTo>
                  <a:lnTo>
                    <a:pt x="1634815" y="274217"/>
                  </a:lnTo>
                  <a:lnTo>
                    <a:pt x="1687551" y="194866"/>
                  </a:lnTo>
                  <a:lnTo>
                    <a:pt x="1740287" y="132120"/>
                  </a:lnTo>
                  <a:lnTo>
                    <a:pt x="1793023" y="119285"/>
                  </a:lnTo>
                  <a:lnTo>
                    <a:pt x="1845759" y="0"/>
                  </a:lnTo>
                  <a:lnTo>
                    <a:pt x="1898495" y="94621"/>
                  </a:lnTo>
                  <a:lnTo>
                    <a:pt x="1951231" y="62002"/>
                  </a:lnTo>
                  <a:lnTo>
                    <a:pt x="2003967" y="162128"/>
                  </a:lnTo>
                  <a:lnTo>
                    <a:pt x="2056703" y="232271"/>
                  </a:lnTo>
                  <a:lnTo>
                    <a:pt x="2109439" y="203493"/>
                  </a:lnTo>
                  <a:lnTo>
                    <a:pt x="2162175" y="276209"/>
                  </a:lnTo>
                </a:path>
              </a:pathLst>
            </a:custGeom>
            <a:noFill/>
            <a:ln w="11430">
              <a:solidFill>
                <a:srgbClr val="9C5875"/>
              </a:solidFill>
            </a:ln>
          </p:spPr>
        </p:sp>
        <p:sp>
          <p:nvSpPr>
            <p:cNvPr id="98" name="line_98">
              <a:extLst>
                <a:ext uri="{FF2B5EF4-FFF2-40B4-BE49-F238E27FC236}">
                  <a16:creationId xmlns:a16="http://schemas.microsoft.com/office/drawing/2014/main" id="{3EA3589F-2594-470C-A513-E0A696E4BD70}"/>
                </a:ext>
              </a:extLst>
            </p:cNvPr>
            <p:cNvSpPr>
              <a:spLocks/>
            </p:cNvSpPr>
            <p:nvPr/>
          </p:nvSpPr>
          <p:spPr>
            <a:xfrm>
              <a:off x="1247775" y="4572000"/>
              <a:ext cx="953" cy="752475"/>
            </a:xfrm>
            <a:prstGeom prst="line">
              <a:avLst/>
            </a:prstGeom>
            <a:noFill/>
            <a:ln w="7620">
              <a:solidFill>
                <a:srgbClr val="CBAFC0"/>
              </a:solidFill>
              <a:prstDash val="solid"/>
            </a:ln>
          </p:spPr>
        </p:sp>
        <p:sp>
          <p:nvSpPr>
            <p:cNvPr id="99" name="textbox_99">
              <a:extLst>
                <a:ext uri="{FF2B5EF4-FFF2-40B4-BE49-F238E27FC236}">
                  <a16:creationId xmlns:a16="http://schemas.microsoft.com/office/drawing/2014/main" id="{20E27AD1-149D-4794-A020-ADBC7F69DC43}"/>
                </a:ext>
              </a:extLst>
            </p:cNvPr>
            <p:cNvSpPr>
              <a:spLocks/>
            </p:cNvSpPr>
            <p:nvPr/>
          </p:nvSpPr>
          <p:spPr>
            <a:xfrm>
              <a:off x="523875" y="4438650"/>
              <a:ext cx="8572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History</a:t>
              </a:r>
            </a:p>
          </p:txBody>
        </p:sp>
        <p:sp>
          <p:nvSpPr>
            <p:cNvPr id="100" name="textbox_100">
              <a:extLst>
                <a:ext uri="{FF2B5EF4-FFF2-40B4-BE49-F238E27FC236}">
                  <a16:creationId xmlns:a16="http://schemas.microsoft.com/office/drawing/2014/main" id="{2BBB486F-98F4-4C53-B900-41A367A6C8EA}"/>
                </a:ext>
              </a:extLst>
            </p:cNvPr>
            <p:cNvSpPr>
              <a:spLocks/>
            </p:cNvSpPr>
            <p:nvPr/>
          </p:nvSpPr>
          <p:spPr>
            <a:xfrm>
              <a:off x="1457325" y="4438650"/>
              <a:ext cx="12382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Forecast horizon</a:t>
              </a:r>
            </a:p>
          </p:txBody>
        </p:sp>
        <p:sp>
          <p:nvSpPr>
            <p:cNvPr id="101" name="textbox_101">
              <a:extLst>
                <a:ext uri="{FF2B5EF4-FFF2-40B4-BE49-F238E27FC236}">
                  <a16:creationId xmlns:a16="http://schemas.microsoft.com/office/drawing/2014/main" id="{B3B43036-EAF1-4CBD-867C-101829D434AA}"/>
                </a:ext>
              </a:extLst>
            </p:cNvPr>
            <p:cNvSpPr>
              <a:spLocks/>
            </p:cNvSpPr>
            <p:nvPr/>
          </p:nvSpPr>
          <p:spPr>
            <a:xfrm>
              <a:off x="514350" y="5476875"/>
              <a:ext cx="22288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Aligned windows · train → validate → export</a:t>
              </a:r>
            </a:p>
          </p:txBody>
        </p:sp>
        <p:sp>
          <p:nvSpPr>
            <p:cNvPr id="102" name="bezier_arrow_102">
              <a:extLst>
                <a:ext uri="{FF2B5EF4-FFF2-40B4-BE49-F238E27FC236}">
                  <a16:creationId xmlns:a16="http://schemas.microsoft.com/office/drawing/2014/main" id="{830C7BD1-6AEE-46F1-A95A-1A982ACFDC4E}"/>
                </a:ext>
              </a:extLst>
            </p:cNvPr>
            <p:cNvSpPr>
              <a:spLocks/>
            </p:cNvSpPr>
            <p:nvPr/>
          </p:nvSpPr>
          <p:spPr>
            <a:xfrm>
              <a:off x="2876550" y="4619625"/>
              <a:ext cx="276225" cy="428625"/>
            </a:xfrm>
            <a:custGeom>
              <a:avLst/>
              <a:gdLst/>
              <a:ahLst/>
              <a:cxnLst/>
              <a:rect l="0" t="0" r="0" b="0"/>
              <a:pathLst>
                <a:path w="276225" h="428625">
                  <a:moveTo>
                    <a:pt x="0" y="428625"/>
                  </a:moveTo>
                  <a:cubicBezTo>
                    <a:pt x="151924" y="428625"/>
                    <a:pt x="124301" y="0"/>
                    <a:pt x="276225" y="0"/>
                  </a:cubicBezTo>
                </a:path>
              </a:pathLst>
            </a:custGeom>
            <a:noFill/>
            <a:ln w="19050">
              <a:solidFill>
                <a:srgbClr val="9C5875"/>
              </a:solidFill>
            </a:ln>
          </p:spPr>
        </p:sp>
        <p:sp>
          <p:nvSpPr>
            <p:cNvPr id="103" name="arrow_tip_103">
              <a:extLst>
                <a:ext uri="{FF2B5EF4-FFF2-40B4-BE49-F238E27FC236}">
                  <a16:creationId xmlns:a16="http://schemas.microsoft.com/office/drawing/2014/main" id="{E8A5ADF6-EA21-4BD0-81D9-C5402EC0BA8F}"/>
                </a:ext>
              </a:extLst>
            </p:cNvPr>
            <p:cNvSpPr>
              <a:spLocks/>
            </p:cNvSpPr>
            <p:nvPr/>
          </p:nvSpPr>
          <p:spPr>
            <a:xfrm>
              <a:off x="3076575" y="4581525"/>
              <a:ext cx="76200" cy="85725"/>
            </a:xfrm>
            <a:custGeom>
              <a:avLst/>
              <a:gdLst/>
              <a:ahLst/>
              <a:cxnLst/>
              <a:rect l="0" t="0" r="0" b="0"/>
              <a:pathLst>
                <a:path w="76200" h="85725">
                  <a:moveTo>
                    <a:pt x="76200" y="38100"/>
                  </a:moveTo>
                  <a:lnTo>
                    <a:pt x="0" y="0"/>
                  </a:lnTo>
                  <a:lnTo>
                    <a:pt x="9525" y="85725"/>
                  </a:lnTo>
                  <a:close/>
                </a:path>
              </a:pathLst>
            </a:custGeom>
            <a:solidFill>
              <a:srgbClr val="9C5875"/>
            </a:solidFill>
            <a:ln w="0">
              <a:noFill/>
            </a:ln>
          </p:spPr>
        </p:sp>
        <p:sp>
          <p:nvSpPr>
            <p:cNvPr id="104" name="roundRect_104">
              <a:extLst>
                <a:ext uri="{FF2B5EF4-FFF2-40B4-BE49-F238E27FC236}">
                  <a16:creationId xmlns:a16="http://schemas.microsoft.com/office/drawing/2014/main" id="{1D834B62-7D5B-4296-BD3A-D34D1B4B1F08}"/>
                </a:ext>
              </a:extLst>
            </p:cNvPr>
            <p:cNvSpPr>
              <a:spLocks/>
            </p:cNvSpPr>
            <p:nvPr/>
          </p:nvSpPr>
          <p:spPr>
            <a:xfrm>
              <a:off x="3171825" y="4105275"/>
              <a:ext cx="2143125" cy="1704975"/>
            </a:xfrm>
            <a:prstGeom prst="roundRect">
              <a:avLst>
                <a:gd name="adj" fmla="val 5028"/>
              </a:avLst>
            </a:prstGeom>
            <a:solidFill>
              <a:srgbClr val="FFFFFF"/>
            </a:solidFill>
            <a:ln w="9525">
              <a:solidFill>
                <a:srgbClr val="D8A9BF"/>
              </a:solidFill>
              <a:prstDash val="solid"/>
            </a:ln>
          </p:spPr>
        </p:sp>
        <p:sp>
          <p:nvSpPr>
            <p:cNvPr id="105" name="textbox_105">
              <a:extLst>
                <a:ext uri="{FF2B5EF4-FFF2-40B4-BE49-F238E27FC236}">
                  <a16:creationId xmlns:a16="http://schemas.microsoft.com/office/drawing/2014/main" id="{2A8BE405-B012-4C7D-9C2D-80523FB86CC1}"/>
                </a:ext>
              </a:extLst>
            </p:cNvPr>
            <p:cNvSpPr>
              <a:spLocks/>
            </p:cNvSpPr>
            <p:nvPr/>
          </p:nvSpPr>
          <p:spPr>
            <a:xfrm>
              <a:off x="3286125" y="4181475"/>
              <a:ext cx="1914525" cy="219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125" b="1">
                  <a:solidFill>
                    <a:srgbClr val="9C5875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1125" b="1">
                  <a:solidFill>
                    <a:srgbClr val="9C5875"/>
                  </a:solidFill>
                  <a:latin typeface="Georgia"/>
                  <a:ea typeface="Georgia"/>
                  <a:cs typeface="Georgia"/>
                </a:defRPr>
              </a:pPr>
              <a:r>
                <a:rPr sz="1125" b="1">
                  <a:solidFill>
                    <a:srgbClr val="9C5875"/>
                  </a:solidFill>
                  <a:latin typeface="Georgia"/>
                  <a:ea typeface="Georgia"/>
                  <a:cs typeface="Georgia"/>
                </a:rPr>
                <a:t>Residual matrix</a:t>
              </a:r>
            </a:p>
          </p:txBody>
        </p:sp>
        <p:sp>
          <p:nvSpPr>
            <p:cNvPr id="106" name="rect_106">
              <a:extLst>
                <a:ext uri="{FF2B5EF4-FFF2-40B4-BE49-F238E27FC236}">
                  <a16:creationId xmlns:a16="http://schemas.microsoft.com/office/drawing/2014/main" id="{94AB8F3C-2325-45D6-ACB0-2ACA0747EC2D}"/>
                </a:ext>
              </a:extLst>
            </p:cNvPr>
            <p:cNvSpPr>
              <a:spLocks/>
            </p:cNvSpPr>
            <p:nvPr/>
          </p:nvSpPr>
          <p:spPr>
            <a:xfrm>
              <a:off x="3533775" y="4524375"/>
              <a:ext cx="142875" cy="142875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07" name="rect_107">
              <a:extLst>
                <a:ext uri="{FF2B5EF4-FFF2-40B4-BE49-F238E27FC236}">
                  <a16:creationId xmlns:a16="http://schemas.microsoft.com/office/drawing/2014/main" id="{6B4F5085-96BA-4591-8D51-010B5DFEF686}"/>
                </a:ext>
              </a:extLst>
            </p:cNvPr>
            <p:cNvSpPr>
              <a:spLocks/>
            </p:cNvSpPr>
            <p:nvPr/>
          </p:nvSpPr>
          <p:spPr>
            <a:xfrm>
              <a:off x="3705225" y="4524375"/>
              <a:ext cx="142875" cy="142875"/>
            </a:xfrm>
            <a:prstGeom prst="rect">
              <a:avLst/>
            </a:prstGeom>
            <a:solidFill>
              <a:srgbClr val="BEC6DF"/>
            </a:solidFill>
            <a:ln w="0">
              <a:noFill/>
              <a:prstDash val="solid"/>
            </a:ln>
          </p:spPr>
        </p:sp>
        <p:sp>
          <p:nvSpPr>
            <p:cNvPr id="108" name="rect_108">
              <a:extLst>
                <a:ext uri="{FF2B5EF4-FFF2-40B4-BE49-F238E27FC236}">
                  <a16:creationId xmlns:a16="http://schemas.microsoft.com/office/drawing/2014/main" id="{326774B4-7CA4-4CA2-8C54-452D0EA9BE4B}"/>
                </a:ext>
              </a:extLst>
            </p:cNvPr>
            <p:cNvSpPr>
              <a:spLocks/>
            </p:cNvSpPr>
            <p:nvPr/>
          </p:nvSpPr>
          <p:spPr>
            <a:xfrm>
              <a:off x="3876675" y="4524375"/>
              <a:ext cx="142875" cy="142875"/>
            </a:xfrm>
            <a:prstGeom prst="rect">
              <a:avLst/>
            </a:prstGeom>
            <a:solidFill>
              <a:srgbClr val="E8EAF3"/>
            </a:solidFill>
            <a:ln w="0">
              <a:noFill/>
              <a:prstDash val="solid"/>
            </a:ln>
          </p:spPr>
        </p:sp>
        <p:sp>
          <p:nvSpPr>
            <p:cNvPr id="109" name="rect_109">
              <a:extLst>
                <a:ext uri="{FF2B5EF4-FFF2-40B4-BE49-F238E27FC236}">
                  <a16:creationId xmlns:a16="http://schemas.microsoft.com/office/drawing/2014/main" id="{12846F55-9F18-45D2-A984-2A2E2E58C983}"/>
                </a:ext>
              </a:extLst>
            </p:cNvPr>
            <p:cNvSpPr>
              <a:spLocks/>
            </p:cNvSpPr>
            <p:nvPr/>
          </p:nvSpPr>
          <p:spPr>
            <a:xfrm>
              <a:off x="4048125" y="4524375"/>
              <a:ext cx="142875" cy="142875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10" name="rect_110">
              <a:extLst>
                <a:ext uri="{FF2B5EF4-FFF2-40B4-BE49-F238E27FC236}">
                  <a16:creationId xmlns:a16="http://schemas.microsoft.com/office/drawing/2014/main" id="{5C3CB2F7-ABEC-4DFC-B1BA-D0EBBB53B19B}"/>
                </a:ext>
              </a:extLst>
            </p:cNvPr>
            <p:cNvSpPr>
              <a:spLocks/>
            </p:cNvSpPr>
            <p:nvPr/>
          </p:nvSpPr>
          <p:spPr>
            <a:xfrm>
              <a:off x="4219575" y="4524375"/>
              <a:ext cx="142875" cy="142875"/>
            </a:xfrm>
            <a:prstGeom prst="rect">
              <a:avLst/>
            </a:prstGeom>
            <a:solidFill>
              <a:srgbClr val="BEC6DF"/>
            </a:solidFill>
            <a:ln w="0">
              <a:noFill/>
              <a:prstDash val="solid"/>
            </a:ln>
          </p:spPr>
        </p:sp>
        <p:sp>
          <p:nvSpPr>
            <p:cNvPr id="111" name="rect_111">
              <a:extLst>
                <a:ext uri="{FF2B5EF4-FFF2-40B4-BE49-F238E27FC236}">
                  <a16:creationId xmlns:a16="http://schemas.microsoft.com/office/drawing/2014/main" id="{AFE8A1B5-558A-475E-A627-DC0FB2A4DB10}"/>
                </a:ext>
              </a:extLst>
            </p:cNvPr>
            <p:cNvSpPr>
              <a:spLocks/>
            </p:cNvSpPr>
            <p:nvPr/>
          </p:nvSpPr>
          <p:spPr>
            <a:xfrm>
              <a:off x="4391025" y="4524375"/>
              <a:ext cx="142875" cy="142875"/>
            </a:xfrm>
            <a:prstGeom prst="rect">
              <a:avLst/>
            </a:prstGeom>
            <a:solidFill>
              <a:srgbClr val="E8EAF3"/>
            </a:solidFill>
            <a:ln w="0">
              <a:noFill/>
              <a:prstDash val="solid"/>
            </a:ln>
          </p:spPr>
        </p:sp>
        <p:sp>
          <p:nvSpPr>
            <p:cNvPr id="112" name="rect_112">
              <a:extLst>
                <a:ext uri="{FF2B5EF4-FFF2-40B4-BE49-F238E27FC236}">
                  <a16:creationId xmlns:a16="http://schemas.microsoft.com/office/drawing/2014/main" id="{585D2C32-26BD-4490-9FD0-A7256D31C5CB}"/>
                </a:ext>
              </a:extLst>
            </p:cNvPr>
            <p:cNvSpPr>
              <a:spLocks/>
            </p:cNvSpPr>
            <p:nvPr/>
          </p:nvSpPr>
          <p:spPr>
            <a:xfrm>
              <a:off x="4562475" y="4524375"/>
              <a:ext cx="142875" cy="142875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13" name="rect_113">
              <a:extLst>
                <a:ext uri="{FF2B5EF4-FFF2-40B4-BE49-F238E27FC236}">
                  <a16:creationId xmlns:a16="http://schemas.microsoft.com/office/drawing/2014/main" id="{77A27D70-3A48-43AD-9060-D9ED09D7353E}"/>
                </a:ext>
              </a:extLst>
            </p:cNvPr>
            <p:cNvSpPr>
              <a:spLocks/>
            </p:cNvSpPr>
            <p:nvPr/>
          </p:nvSpPr>
          <p:spPr>
            <a:xfrm>
              <a:off x="4733925" y="4524375"/>
              <a:ext cx="142875" cy="142875"/>
            </a:xfrm>
            <a:prstGeom prst="rect">
              <a:avLst/>
            </a:prstGeom>
            <a:solidFill>
              <a:srgbClr val="BEC6DF"/>
            </a:solidFill>
            <a:ln w="0">
              <a:noFill/>
              <a:prstDash val="solid"/>
            </a:ln>
          </p:spPr>
        </p:sp>
        <p:sp>
          <p:nvSpPr>
            <p:cNvPr id="114" name="rect_114">
              <a:extLst>
                <a:ext uri="{FF2B5EF4-FFF2-40B4-BE49-F238E27FC236}">
                  <a16:creationId xmlns:a16="http://schemas.microsoft.com/office/drawing/2014/main" id="{52F24258-C4CB-438B-8B55-0BDC99829650}"/>
                </a:ext>
              </a:extLst>
            </p:cNvPr>
            <p:cNvSpPr>
              <a:spLocks/>
            </p:cNvSpPr>
            <p:nvPr/>
          </p:nvSpPr>
          <p:spPr>
            <a:xfrm>
              <a:off x="3533775" y="4695825"/>
              <a:ext cx="142875" cy="142875"/>
            </a:xfrm>
            <a:prstGeom prst="rect">
              <a:avLst/>
            </a:prstGeom>
            <a:solidFill>
              <a:srgbClr val="BEC6DF"/>
            </a:solidFill>
            <a:ln w="0">
              <a:noFill/>
              <a:prstDash val="solid"/>
            </a:ln>
          </p:spPr>
        </p:sp>
        <p:sp>
          <p:nvSpPr>
            <p:cNvPr id="115" name="rect_115">
              <a:extLst>
                <a:ext uri="{FF2B5EF4-FFF2-40B4-BE49-F238E27FC236}">
                  <a16:creationId xmlns:a16="http://schemas.microsoft.com/office/drawing/2014/main" id="{515CFD32-150C-4A23-AA88-102BCE8AC438}"/>
                </a:ext>
              </a:extLst>
            </p:cNvPr>
            <p:cNvSpPr>
              <a:spLocks/>
            </p:cNvSpPr>
            <p:nvPr/>
          </p:nvSpPr>
          <p:spPr>
            <a:xfrm>
              <a:off x="3705225" y="4695825"/>
              <a:ext cx="142875" cy="142875"/>
            </a:xfrm>
            <a:prstGeom prst="rect">
              <a:avLst/>
            </a:prstGeom>
            <a:solidFill>
              <a:srgbClr val="E8EAF3"/>
            </a:solidFill>
            <a:ln w="0">
              <a:noFill/>
              <a:prstDash val="solid"/>
            </a:ln>
          </p:spPr>
        </p:sp>
        <p:sp>
          <p:nvSpPr>
            <p:cNvPr id="116" name="rect_116">
              <a:extLst>
                <a:ext uri="{FF2B5EF4-FFF2-40B4-BE49-F238E27FC236}">
                  <a16:creationId xmlns:a16="http://schemas.microsoft.com/office/drawing/2014/main" id="{27FF26A6-615F-48F3-A3DE-F99A249C384B}"/>
                </a:ext>
              </a:extLst>
            </p:cNvPr>
            <p:cNvSpPr>
              <a:spLocks/>
            </p:cNvSpPr>
            <p:nvPr/>
          </p:nvSpPr>
          <p:spPr>
            <a:xfrm>
              <a:off x="3876675" y="4695825"/>
              <a:ext cx="142875" cy="142875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17" name="rect_117">
              <a:extLst>
                <a:ext uri="{FF2B5EF4-FFF2-40B4-BE49-F238E27FC236}">
                  <a16:creationId xmlns:a16="http://schemas.microsoft.com/office/drawing/2014/main" id="{D9F6DA11-E333-4046-936A-AB53999E8888}"/>
                </a:ext>
              </a:extLst>
            </p:cNvPr>
            <p:cNvSpPr>
              <a:spLocks/>
            </p:cNvSpPr>
            <p:nvPr/>
          </p:nvSpPr>
          <p:spPr>
            <a:xfrm>
              <a:off x="4048125" y="4695825"/>
              <a:ext cx="142875" cy="142875"/>
            </a:xfrm>
            <a:prstGeom prst="rect">
              <a:avLst/>
            </a:prstGeom>
            <a:solidFill>
              <a:srgbClr val="BEC6DF"/>
            </a:solidFill>
            <a:ln w="0">
              <a:noFill/>
              <a:prstDash val="solid"/>
            </a:ln>
          </p:spPr>
        </p:sp>
        <p:sp>
          <p:nvSpPr>
            <p:cNvPr id="118" name="rect_118">
              <a:extLst>
                <a:ext uri="{FF2B5EF4-FFF2-40B4-BE49-F238E27FC236}">
                  <a16:creationId xmlns:a16="http://schemas.microsoft.com/office/drawing/2014/main" id="{648D5371-D92D-4EE3-B5FA-6D75FD9520AB}"/>
                </a:ext>
              </a:extLst>
            </p:cNvPr>
            <p:cNvSpPr>
              <a:spLocks/>
            </p:cNvSpPr>
            <p:nvPr/>
          </p:nvSpPr>
          <p:spPr>
            <a:xfrm>
              <a:off x="4219575" y="4695825"/>
              <a:ext cx="142875" cy="142875"/>
            </a:xfrm>
            <a:prstGeom prst="rect">
              <a:avLst/>
            </a:prstGeom>
            <a:solidFill>
              <a:srgbClr val="E8EAF3"/>
            </a:solidFill>
            <a:ln w="0">
              <a:noFill/>
              <a:prstDash val="solid"/>
            </a:ln>
          </p:spPr>
        </p:sp>
        <p:sp>
          <p:nvSpPr>
            <p:cNvPr id="119" name="rect_119">
              <a:extLst>
                <a:ext uri="{FF2B5EF4-FFF2-40B4-BE49-F238E27FC236}">
                  <a16:creationId xmlns:a16="http://schemas.microsoft.com/office/drawing/2014/main" id="{89D4D44F-AA75-4A64-8A32-88A43464FD19}"/>
                </a:ext>
              </a:extLst>
            </p:cNvPr>
            <p:cNvSpPr>
              <a:spLocks/>
            </p:cNvSpPr>
            <p:nvPr/>
          </p:nvSpPr>
          <p:spPr>
            <a:xfrm>
              <a:off x="4391025" y="4695825"/>
              <a:ext cx="142875" cy="142875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20" name="rect_120">
              <a:extLst>
                <a:ext uri="{FF2B5EF4-FFF2-40B4-BE49-F238E27FC236}">
                  <a16:creationId xmlns:a16="http://schemas.microsoft.com/office/drawing/2014/main" id="{707E69D7-BFDD-4D88-9D17-0C8DE68CA01D}"/>
                </a:ext>
              </a:extLst>
            </p:cNvPr>
            <p:cNvSpPr>
              <a:spLocks/>
            </p:cNvSpPr>
            <p:nvPr/>
          </p:nvSpPr>
          <p:spPr>
            <a:xfrm>
              <a:off x="4562475" y="4695825"/>
              <a:ext cx="142875" cy="142875"/>
            </a:xfrm>
            <a:prstGeom prst="rect">
              <a:avLst/>
            </a:prstGeom>
            <a:solidFill>
              <a:srgbClr val="BEC6DF"/>
            </a:solidFill>
            <a:ln w="0">
              <a:noFill/>
              <a:prstDash val="solid"/>
            </a:ln>
          </p:spPr>
        </p:sp>
        <p:sp>
          <p:nvSpPr>
            <p:cNvPr id="121" name="rect_121">
              <a:extLst>
                <a:ext uri="{FF2B5EF4-FFF2-40B4-BE49-F238E27FC236}">
                  <a16:creationId xmlns:a16="http://schemas.microsoft.com/office/drawing/2014/main" id="{9D1053C5-692A-4E9D-B1A7-3A8FAA41F985}"/>
                </a:ext>
              </a:extLst>
            </p:cNvPr>
            <p:cNvSpPr>
              <a:spLocks/>
            </p:cNvSpPr>
            <p:nvPr/>
          </p:nvSpPr>
          <p:spPr>
            <a:xfrm>
              <a:off x="4733925" y="4695825"/>
              <a:ext cx="142875" cy="142875"/>
            </a:xfrm>
            <a:prstGeom prst="rect">
              <a:avLst/>
            </a:prstGeom>
            <a:solidFill>
              <a:srgbClr val="E8EAF3"/>
            </a:solidFill>
            <a:ln w="0">
              <a:noFill/>
              <a:prstDash val="solid"/>
            </a:ln>
          </p:spPr>
        </p:sp>
        <p:sp>
          <p:nvSpPr>
            <p:cNvPr id="122" name="rect_122">
              <a:extLst>
                <a:ext uri="{FF2B5EF4-FFF2-40B4-BE49-F238E27FC236}">
                  <a16:creationId xmlns:a16="http://schemas.microsoft.com/office/drawing/2014/main" id="{63A20EB0-5E38-4F25-8702-77E62A8F3E6D}"/>
                </a:ext>
              </a:extLst>
            </p:cNvPr>
            <p:cNvSpPr>
              <a:spLocks/>
            </p:cNvSpPr>
            <p:nvPr/>
          </p:nvSpPr>
          <p:spPr>
            <a:xfrm>
              <a:off x="3533775" y="4867275"/>
              <a:ext cx="142875" cy="142875"/>
            </a:xfrm>
            <a:prstGeom prst="rect">
              <a:avLst/>
            </a:prstGeom>
            <a:solidFill>
              <a:srgbClr val="E8EAF3"/>
            </a:solidFill>
            <a:ln w="0">
              <a:noFill/>
              <a:prstDash val="solid"/>
            </a:ln>
          </p:spPr>
        </p:sp>
        <p:sp>
          <p:nvSpPr>
            <p:cNvPr id="123" name="rect_123">
              <a:extLst>
                <a:ext uri="{FF2B5EF4-FFF2-40B4-BE49-F238E27FC236}">
                  <a16:creationId xmlns:a16="http://schemas.microsoft.com/office/drawing/2014/main" id="{B1662036-F13C-4F4D-B661-9EF2E4902DFE}"/>
                </a:ext>
              </a:extLst>
            </p:cNvPr>
            <p:cNvSpPr>
              <a:spLocks/>
            </p:cNvSpPr>
            <p:nvPr/>
          </p:nvSpPr>
          <p:spPr>
            <a:xfrm>
              <a:off x="3705225" y="4867275"/>
              <a:ext cx="142875" cy="142875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24" name="rect_124">
              <a:extLst>
                <a:ext uri="{FF2B5EF4-FFF2-40B4-BE49-F238E27FC236}">
                  <a16:creationId xmlns:a16="http://schemas.microsoft.com/office/drawing/2014/main" id="{0EA2A7BA-83FE-47FF-A6E3-AA3DB4B38F6B}"/>
                </a:ext>
              </a:extLst>
            </p:cNvPr>
            <p:cNvSpPr>
              <a:spLocks/>
            </p:cNvSpPr>
            <p:nvPr/>
          </p:nvSpPr>
          <p:spPr>
            <a:xfrm>
              <a:off x="3876675" y="4867275"/>
              <a:ext cx="142875" cy="142875"/>
            </a:xfrm>
            <a:prstGeom prst="rect">
              <a:avLst/>
            </a:prstGeom>
            <a:solidFill>
              <a:srgbClr val="BEC6DF"/>
            </a:solidFill>
            <a:ln w="0">
              <a:noFill/>
              <a:prstDash val="solid"/>
            </a:ln>
          </p:spPr>
        </p:sp>
        <p:sp>
          <p:nvSpPr>
            <p:cNvPr id="125" name="rect_125">
              <a:extLst>
                <a:ext uri="{FF2B5EF4-FFF2-40B4-BE49-F238E27FC236}">
                  <a16:creationId xmlns:a16="http://schemas.microsoft.com/office/drawing/2014/main" id="{6772D5D2-0700-4401-9D2D-2A92837625A5}"/>
                </a:ext>
              </a:extLst>
            </p:cNvPr>
            <p:cNvSpPr>
              <a:spLocks/>
            </p:cNvSpPr>
            <p:nvPr/>
          </p:nvSpPr>
          <p:spPr>
            <a:xfrm>
              <a:off x="4048125" y="4867275"/>
              <a:ext cx="142875" cy="142875"/>
            </a:xfrm>
            <a:prstGeom prst="rect">
              <a:avLst/>
            </a:prstGeom>
            <a:solidFill>
              <a:srgbClr val="E8EAF3"/>
            </a:solidFill>
            <a:ln w="0">
              <a:noFill/>
              <a:prstDash val="solid"/>
            </a:ln>
          </p:spPr>
        </p:sp>
        <p:sp>
          <p:nvSpPr>
            <p:cNvPr id="126" name="rect_126">
              <a:extLst>
                <a:ext uri="{FF2B5EF4-FFF2-40B4-BE49-F238E27FC236}">
                  <a16:creationId xmlns:a16="http://schemas.microsoft.com/office/drawing/2014/main" id="{53BFBA71-279A-4941-BF7D-84BFD0AC9DFD}"/>
                </a:ext>
              </a:extLst>
            </p:cNvPr>
            <p:cNvSpPr>
              <a:spLocks/>
            </p:cNvSpPr>
            <p:nvPr/>
          </p:nvSpPr>
          <p:spPr>
            <a:xfrm>
              <a:off x="4219575" y="4867275"/>
              <a:ext cx="142875" cy="142875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27" name="rect_127">
              <a:extLst>
                <a:ext uri="{FF2B5EF4-FFF2-40B4-BE49-F238E27FC236}">
                  <a16:creationId xmlns:a16="http://schemas.microsoft.com/office/drawing/2014/main" id="{2CA276EA-038D-4E2E-B833-010E7F90F0B5}"/>
                </a:ext>
              </a:extLst>
            </p:cNvPr>
            <p:cNvSpPr>
              <a:spLocks/>
            </p:cNvSpPr>
            <p:nvPr/>
          </p:nvSpPr>
          <p:spPr>
            <a:xfrm>
              <a:off x="4391025" y="4867275"/>
              <a:ext cx="142875" cy="142875"/>
            </a:xfrm>
            <a:prstGeom prst="rect">
              <a:avLst/>
            </a:prstGeom>
            <a:solidFill>
              <a:srgbClr val="BEC6DF"/>
            </a:solidFill>
            <a:ln w="0">
              <a:noFill/>
              <a:prstDash val="solid"/>
            </a:ln>
          </p:spPr>
        </p:sp>
        <p:sp>
          <p:nvSpPr>
            <p:cNvPr id="128" name="rect_128">
              <a:extLst>
                <a:ext uri="{FF2B5EF4-FFF2-40B4-BE49-F238E27FC236}">
                  <a16:creationId xmlns:a16="http://schemas.microsoft.com/office/drawing/2014/main" id="{D63B2BFE-6692-4187-A683-916677848FB5}"/>
                </a:ext>
              </a:extLst>
            </p:cNvPr>
            <p:cNvSpPr>
              <a:spLocks/>
            </p:cNvSpPr>
            <p:nvPr/>
          </p:nvSpPr>
          <p:spPr>
            <a:xfrm>
              <a:off x="4562475" y="4867275"/>
              <a:ext cx="142875" cy="142875"/>
            </a:xfrm>
            <a:prstGeom prst="rect">
              <a:avLst/>
            </a:prstGeom>
            <a:solidFill>
              <a:srgbClr val="E8EAF3"/>
            </a:solidFill>
            <a:ln w="0">
              <a:noFill/>
              <a:prstDash val="solid"/>
            </a:ln>
          </p:spPr>
        </p:sp>
        <p:sp>
          <p:nvSpPr>
            <p:cNvPr id="129" name="rect_129">
              <a:extLst>
                <a:ext uri="{FF2B5EF4-FFF2-40B4-BE49-F238E27FC236}">
                  <a16:creationId xmlns:a16="http://schemas.microsoft.com/office/drawing/2014/main" id="{CD354873-FA90-4D06-B8F2-24A2FA37BDC8}"/>
                </a:ext>
              </a:extLst>
            </p:cNvPr>
            <p:cNvSpPr>
              <a:spLocks/>
            </p:cNvSpPr>
            <p:nvPr/>
          </p:nvSpPr>
          <p:spPr>
            <a:xfrm>
              <a:off x="4733925" y="4867275"/>
              <a:ext cx="142875" cy="142875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30" name="rect_130">
              <a:extLst>
                <a:ext uri="{FF2B5EF4-FFF2-40B4-BE49-F238E27FC236}">
                  <a16:creationId xmlns:a16="http://schemas.microsoft.com/office/drawing/2014/main" id="{294D70E3-F371-4C70-905B-A669FEEA2B6A}"/>
                </a:ext>
              </a:extLst>
            </p:cNvPr>
            <p:cNvSpPr>
              <a:spLocks/>
            </p:cNvSpPr>
            <p:nvPr/>
          </p:nvSpPr>
          <p:spPr>
            <a:xfrm>
              <a:off x="3533775" y="5038725"/>
              <a:ext cx="142875" cy="142875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31" name="rect_131">
              <a:extLst>
                <a:ext uri="{FF2B5EF4-FFF2-40B4-BE49-F238E27FC236}">
                  <a16:creationId xmlns:a16="http://schemas.microsoft.com/office/drawing/2014/main" id="{646E3200-96EB-4315-A380-161AE3553733}"/>
                </a:ext>
              </a:extLst>
            </p:cNvPr>
            <p:cNvSpPr>
              <a:spLocks/>
            </p:cNvSpPr>
            <p:nvPr/>
          </p:nvSpPr>
          <p:spPr>
            <a:xfrm>
              <a:off x="3705225" y="5038725"/>
              <a:ext cx="142875" cy="142875"/>
            </a:xfrm>
            <a:prstGeom prst="rect">
              <a:avLst/>
            </a:prstGeom>
            <a:solidFill>
              <a:srgbClr val="BEC6DF"/>
            </a:solidFill>
            <a:ln w="0">
              <a:noFill/>
              <a:prstDash val="solid"/>
            </a:ln>
          </p:spPr>
        </p:sp>
        <p:sp>
          <p:nvSpPr>
            <p:cNvPr id="132" name="rect_132">
              <a:extLst>
                <a:ext uri="{FF2B5EF4-FFF2-40B4-BE49-F238E27FC236}">
                  <a16:creationId xmlns:a16="http://schemas.microsoft.com/office/drawing/2014/main" id="{A85BC21F-8B4C-4F8F-886D-8C90282E1783}"/>
                </a:ext>
              </a:extLst>
            </p:cNvPr>
            <p:cNvSpPr>
              <a:spLocks/>
            </p:cNvSpPr>
            <p:nvPr/>
          </p:nvSpPr>
          <p:spPr>
            <a:xfrm>
              <a:off x="3876675" y="5038725"/>
              <a:ext cx="142875" cy="142875"/>
            </a:xfrm>
            <a:prstGeom prst="rect">
              <a:avLst/>
            </a:prstGeom>
            <a:solidFill>
              <a:srgbClr val="E8EAF3"/>
            </a:solidFill>
            <a:ln w="0">
              <a:noFill/>
              <a:prstDash val="solid"/>
            </a:ln>
          </p:spPr>
        </p:sp>
        <p:sp>
          <p:nvSpPr>
            <p:cNvPr id="133" name="rect_133">
              <a:extLst>
                <a:ext uri="{FF2B5EF4-FFF2-40B4-BE49-F238E27FC236}">
                  <a16:creationId xmlns:a16="http://schemas.microsoft.com/office/drawing/2014/main" id="{55E50275-577B-4BDB-85C2-88EB561BFB79}"/>
                </a:ext>
              </a:extLst>
            </p:cNvPr>
            <p:cNvSpPr>
              <a:spLocks/>
            </p:cNvSpPr>
            <p:nvPr/>
          </p:nvSpPr>
          <p:spPr>
            <a:xfrm>
              <a:off x="4048125" y="5038725"/>
              <a:ext cx="142875" cy="142875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34" name="rect_134">
              <a:extLst>
                <a:ext uri="{FF2B5EF4-FFF2-40B4-BE49-F238E27FC236}">
                  <a16:creationId xmlns:a16="http://schemas.microsoft.com/office/drawing/2014/main" id="{10708461-575E-4CCD-81AA-9435B0910F3F}"/>
                </a:ext>
              </a:extLst>
            </p:cNvPr>
            <p:cNvSpPr>
              <a:spLocks/>
            </p:cNvSpPr>
            <p:nvPr/>
          </p:nvSpPr>
          <p:spPr>
            <a:xfrm>
              <a:off x="4219575" y="5038725"/>
              <a:ext cx="142875" cy="142875"/>
            </a:xfrm>
            <a:prstGeom prst="rect">
              <a:avLst/>
            </a:prstGeom>
            <a:solidFill>
              <a:srgbClr val="BEC6DF"/>
            </a:solidFill>
            <a:ln w="0">
              <a:noFill/>
              <a:prstDash val="solid"/>
            </a:ln>
          </p:spPr>
        </p:sp>
        <p:sp>
          <p:nvSpPr>
            <p:cNvPr id="135" name="rect_135">
              <a:extLst>
                <a:ext uri="{FF2B5EF4-FFF2-40B4-BE49-F238E27FC236}">
                  <a16:creationId xmlns:a16="http://schemas.microsoft.com/office/drawing/2014/main" id="{442D7EDA-FF3B-4BA4-BB9E-F7972D56671E}"/>
                </a:ext>
              </a:extLst>
            </p:cNvPr>
            <p:cNvSpPr>
              <a:spLocks/>
            </p:cNvSpPr>
            <p:nvPr/>
          </p:nvSpPr>
          <p:spPr>
            <a:xfrm>
              <a:off x="4391025" y="5038725"/>
              <a:ext cx="142875" cy="142875"/>
            </a:xfrm>
            <a:prstGeom prst="rect">
              <a:avLst/>
            </a:prstGeom>
            <a:solidFill>
              <a:srgbClr val="E8EAF3"/>
            </a:solidFill>
            <a:ln w="0">
              <a:noFill/>
              <a:prstDash val="solid"/>
            </a:ln>
          </p:spPr>
        </p:sp>
        <p:sp>
          <p:nvSpPr>
            <p:cNvPr id="136" name="rect_136">
              <a:extLst>
                <a:ext uri="{FF2B5EF4-FFF2-40B4-BE49-F238E27FC236}">
                  <a16:creationId xmlns:a16="http://schemas.microsoft.com/office/drawing/2014/main" id="{3B8CED7F-C131-45EB-8693-DE8DCCB0B189}"/>
                </a:ext>
              </a:extLst>
            </p:cNvPr>
            <p:cNvSpPr>
              <a:spLocks/>
            </p:cNvSpPr>
            <p:nvPr/>
          </p:nvSpPr>
          <p:spPr>
            <a:xfrm>
              <a:off x="4562475" y="5038725"/>
              <a:ext cx="142875" cy="142875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37" name="rect_137">
              <a:extLst>
                <a:ext uri="{FF2B5EF4-FFF2-40B4-BE49-F238E27FC236}">
                  <a16:creationId xmlns:a16="http://schemas.microsoft.com/office/drawing/2014/main" id="{A71D94FE-8A3B-4B3D-BAB1-B81DED2716DD}"/>
                </a:ext>
              </a:extLst>
            </p:cNvPr>
            <p:cNvSpPr>
              <a:spLocks/>
            </p:cNvSpPr>
            <p:nvPr/>
          </p:nvSpPr>
          <p:spPr>
            <a:xfrm>
              <a:off x="4733925" y="5038725"/>
              <a:ext cx="142875" cy="142875"/>
            </a:xfrm>
            <a:prstGeom prst="rect">
              <a:avLst/>
            </a:prstGeom>
            <a:solidFill>
              <a:srgbClr val="BEC6DF"/>
            </a:solidFill>
            <a:ln w="0">
              <a:noFill/>
              <a:prstDash val="solid"/>
            </a:ln>
          </p:spPr>
        </p:sp>
        <p:sp>
          <p:nvSpPr>
            <p:cNvPr id="138" name="rect_138">
              <a:extLst>
                <a:ext uri="{FF2B5EF4-FFF2-40B4-BE49-F238E27FC236}">
                  <a16:creationId xmlns:a16="http://schemas.microsoft.com/office/drawing/2014/main" id="{20D524D5-E40F-48FB-A2B7-067FF299D481}"/>
                </a:ext>
              </a:extLst>
            </p:cNvPr>
            <p:cNvSpPr>
              <a:spLocks/>
            </p:cNvSpPr>
            <p:nvPr/>
          </p:nvSpPr>
          <p:spPr>
            <a:xfrm>
              <a:off x="3533775" y="5210175"/>
              <a:ext cx="142875" cy="142875"/>
            </a:xfrm>
            <a:prstGeom prst="rect">
              <a:avLst/>
            </a:prstGeom>
            <a:solidFill>
              <a:srgbClr val="BEC6DF"/>
            </a:solidFill>
            <a:ln w="0">
              <a:noFill/>
              <a:prstDash val="solid"/>
            </a:ln>
          </p:spPr>
        </p:sp>
        <p:sp>
          <p:nvSpPr>
            <p:cNvPr id="139" name="rect_139">
              <a:extLst>
                <a:ext uri="{FF2B5EF4-FFF2-40B4-BE49-F238E27FC236}">
                  <a16:creationId xmlns:a16="http://schemas.microsoft.com/office/drawing/2014/main" id="{D44308B5-8BF2-4B86-B7F9-F20AA4D58454}"/>
                </a:ext>
              </a:extLst>
            </p:cNvPr>
            <p:cNvSpPr>
              <a:spLocks/>
            </p:cNvSpPr>
            <p:nvPr/>
          </p:nvSpPr>
          <p:spPr>
            <a:xfrm>
              <a:off x="3705225" y="5210175"/>
              <a:ext cx="142875" cy="142875"/>
            </a:xfrm>
            <a:prstGeom prst="rect">
              <a:avLst/>
            </a:prstGeom>
            <a:solidFill>
              <a:srgbClr val="E8EAF3"/>
            </a:solidFill>
            <a:ln w="0">
              <a:noFill/>
              <a:prstDash val="solid"/>
            </a:ln>
          </p:spPr>
        </p:sp>
        <p:sp>
          <p:nvSpPr>
            <p:cNvPr id="140" name="rect_140">
              <a:extLst>
                <a:ext uri="{FF2B5EF4-FFF2-40B4-BE49-F238E27FC236}">
                  <a16:creationId xmlns:a16="http://schemas.microsoft.com/office/drawing/2014/main" id="{FF05008E-9053-4DF3-B319-79F134D3D686}"/>
                </a:ext>
              </a:extLst>
            </p:cNvPr>
            <p:cNvSpPr>
              <a:spLocks/>
            </p:cNvSpPr>
            <p:nvPr/>
          </p:nvSpPr>
          <p:spPr>
            <a:xfrm>
              <a:off x="3876675" y="5210175"/>
              <a:ext cx="142875" cy="142875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41" name="rect_141">
              <a:extLst>
                <a:ext uri="{FF2B5EF4-FFF2-40B4-BE49-F238E27FC236}">
                  <a16:creationId xmlns:a16="http://schemas.microsoft.com/office/drawing/2014/main" id="{74F9E06A-4EC4-4DA3-8E04-DA86C7E5F326}"/>
                </a:ext>
              </a:extLst>
            </p:cNvPr>
            <p:cNvSpPr>
              <a:spLocks/>
            </p:cNvSpPr>
            <p:nvPr/>
          </p:nvSpPr>
          <p:spPr>
            <a:xfrm>
              <a:off x="4048125" y="5210175"/>
              <a:ext cx="142875" cy="142875"/>
            </a:xfrm>
            <a:prstGeom prst="rect">
              <a:avLst/>
            </a:prstGeom>
            <a:solidFill>
              <a:srgbClr val="BEC6DF"/>
            </a:solidFill>
            <a:ln w="0">
              <a:noFill/>
              <a:prstDash val="solid"/>
            </a:ln>
          </p:spPr>
        </p:sp>
        <p:sp>
          <p:nvSpPr>
            <p:cNvPr id="142" name="rect_142">
              <a:extLst>
                <a:ext uri="{FF2B5EF4-FFF2-40B4-BE49-F238E27FC236}">
                  <a16:creationId xmlns:a16="http://schemas.microsoft.com/office/drawing/2014/main" id="{738351DF-25E4-4937-8392-7BD67317D2EE}"/>
                </a:ext>
              </a:extLst>
            </p:cNvPr>
            <p:cNvSpPr>
              <a:spLocks/>
            </p:cNvSpPr>
            <p:nvPr/>
          </p:nvSpPr>
          <p:spPr>
            <a:xfrm>
              <a:off x="4219575" y="5210175"/>
              <a:ext cx="142875" cy="142875"/>
            </a:xfrm>
            <a:prstGeom prst="rect">
              <a:avLst/>
            </a:prstGeom>
            <a:solidFill>
              <a:srgbClr val="E8EAF3"/>
            </a:solidFill>
            <a:ln w="0">
              <a:noFill/>
              <a:prstDash val="solid"/>
            </a:ln>
          </p:spPr>
        </p:sp>
        <p:sp>
          <p:nvSpPr>
            <p:cNvPr id="143" name="rect_143">
              <a:extLst>
                <a:ext uri="{FF2B5EF4-FFF2-40B4-BE49-F238E27FC236}">
                  <a16:creationId xmlns:a16="http://schemas.microsoft.com/office/drawing/2014/main" id="{307BDC86-B071-449E-8A2D-B2165DFA16FE}"/>
                </a:ext>
              </a:extLst>
            </p:cNvPr>
            <p:cNvSpPr>
              <a:spLocks/>
            </p:cNvSpPr>
            <p:nvPr/>
          </p:nvSpPr>
          <p:spPr>
            <a:xfrm>
              <a:off x="4391025" y="5210175"/>
              <a:ext cx="142875" cy="142875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44" name="rect_144">
              <a:extLst>
                <a:ext uri="{FF2B5EF4-FFF2-40B4-BE49-F238E27FC236}">
                  <a16:creationId xmlns:a16="http://schemas.microsoft.com/office/drawing/2014/main" id="{6D044A3F-8420-45AC-8A7C-12153ABCFE63}"/>
                </a:ext>
              </a:extLst>
            </p:cNvPr>
            <p:cNvSpPr>
              <a:spLocks/>
            </p:cNvSpPr>
            <p:nvPr/>
          </p:nvSpPr>
          <p:spPr>
            <a:xfrm>
              <a:off x="4562475" y="5210175"/>
              <a:ext cx="142875" cy="142875"/>
            </a:xfrm>
            <a:prstGeom prst="rect">
              <a:avLst/>
            </a:prstGeom>
            <a:solidFill>
              <a:srgbClr val="BEC6DF"/>
            </a:solidFill>
            <a:ln w="0">
              <a:noFill/>
              <a:prstDash val="solid"/>
            </a:ln>
          </p:spPr>
        </p:sp>
        <p:sp>
          <p:nvSpPr>
            <p:cNvPr id="145" name="rect_145">
              <a:extLst>
                <a:ext uri="{FF2B5EF4-FFF2-40B4-BE49-F238E27FC236}">
                  <a16:creationId xmlns:a16="http://schemas.microsoft.com/office/drawing/2014/main" id="{9D916DFC-6B17-474E-BB54-09083159A278}"/>
                </a:ext>
              </a:extLst>
            </p:cNvPr>
            <p:cNvSpPr>
              <a:spLocks/>
            </p:cNvSpPr>
            <p:nvPr/>
          </p:nvSpPr>
          <p:spPr>
            <a:xfrm>
              <a:off x="4733925" y="5210175"/>
              <a:ext cx="142875" cy="142875"/>
            </a:xfrm>
            <a:prstGeom prst="rect">
              <a:avLst/>
            </a:prstGeom>
            <a:solidFill>
              <a:srgbClr val="E8EAF3"/>
            </a:solidFill>
            <a:ln w="0">
              <a:noFill/>
              <a:prstDash val="solid"/>
            </a:ln>
          </p:spPr>
        </p:sp>
        <p:sp>
          <p:nvSpPr>
            <p:cNvPr id="146" name="textbox_146">
              <a:extLst>
                <a:ext uri="{FF2B5EF4-FFF2-40B4-BE49-F238E27FC236}">
                  <a16:creationId xmlns:a16="http://schemas.microsoft.com/office/drawing/2014/main" id="{58CF28C5-BC81-47B1-A1AD-95E92FFC0333}"/>
                </a:ext>
              </a:extLst>
            </p:cNvPr>
            <p:cNvSpPr>
              <a:spLocks/>
            </p:cNvSpPr>
            <p:nvPr/>
          </p:nvSpPr>
          <p:spPr>
            <a:xfrm>
              <a:off x="3286125" y="4638674"/>
              <a:ext cx="190500" cy="4191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t₁</a:t>
              </a:r>
            </a:p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t₂</a:t>
              </a:r>
            </a:p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⋮</a:t>
              </a:r>
            </a:p>
          </p:txBody>
        </p:sp>
        <p:sp>
          <p:nvSpPr>
            <p:cNvPr id="147" name="textbox_147">
              <a:extLst>
                <a:ext uri="{FF2B5EF4-FFF2-40B4-BE49-F238E27FC236}">
                  <a16:creationId xmlns:a16="http://schemas.microsoft.com/office/drawing/2014/main" id="{6DD05EB3-050F-4160-9730-558F9050D463}"/>
                </a:ext>
              </a:extLst>
            </p:cNvPr>
            <p:cNvSpPr>
              <a:spLocks/>
            </p:cNvSpPr>
            <p:nvPr/>
          </p:nvSpPr>
          <p:spPr>
            <a:xfrm>
              <a:off x="3552825" y="5410200"/>
              <a:ext cx="158115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1    2    3    …    H</a:t>
              </a:r>
            </a:p>
          </p:txBody>
        </p:sp>
        <p:sp>
          <p:nvSpPr>
            <p:cNvPr id="148" name="textbox_148">
              <a:extLst>
                <a:ext uri="{FF2B5EF4-FFF2-40B4-BE49-F238E27FC236}">
                  <a16:creationId xmlns:a16="http://schemas.microsoft.com/office/drawing/2014/main" id="{572BC142-3311-427D-A826-DF0786ED35F2}"/>
                </a:ext>
              </a:extLst>
            </p:cNvPr>
            <p:cNvSpPr>
              <a:spLocks/>
            </p:cNvSpPr>
            <p:nvPr/>
          </p:nvSpPr>
          <p:spPr>
            <a:xfrm>
              <a:off x="3295650" y="5600700"/>
              <a:ext cx="1924050" cy="171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0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900" b="0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900" b="0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r(t,h) = y(t+h) − ŷ(t,h)</a:t>
              </a:r>
            </a:p>
          </p:txBody>
        </p:sp>
        <p:sp>
          <p:nvSpPr>
            <p:cNvPr id="149" name="native_curve_149">
              <a:extLst>
                <a:ext uri="{FF2B5EF4-FFF2-40B4-BE49-F238E27FC236}">
                  <a16:creationId xmlns:a16="http://schemas.microsoft.com/office/drawing/2014/main" id="{F4D2DD6B-FAD2-4473-96E4-F89DFA0C084F}"/>
                </a:ext>
              </a:extLst>
            </p:cNvPr>
            <p:cNvSpPr>
              <a:spLocks/>
            </p:cNvSpPr>
            <p:nvPr/>
          </p:nvSpPr>
          <p:spPr>
            <a:xfrm>
              <a:off x="5324475" y="4981575"/>
              <a:ext cx="285750" cy="953"/>
            </a:xfrm>
            <a:custGeom>
              <a:avLst/>
              <a:gdLst/>
              <a:ahLst/>
              <a:cxnLst/>
              <a:rect l="0" t="0" r="0" b="0"/>
              <a:pathLst>
                <a:path w="285750" h="953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3335">
              <a:solidFill>
                <a:srgbClr val="9C5875"/>
              </a:solidFill>
              <a:prstDash val="solid"/>
            </a:ln>
          </p:spPr>
        </p:sp>
        <p:sp>
          <p:nvSpPr>
            <p:cNvPr id="150" name="arrow_tip_150">
              <a:extLst>
                <a:ext uri="{FF2B5EF4-FFF2-40B4-BE49-F238E27FC236}">
                  <a16:creationId xmlns:a16="http://schemas.microsoft.com/office/drawing/2014/main" id="{419FCDA0-909F-4673-859C-2D86835C910A}"/>
                </a:ext>
              </a:extLst>
            </p:cNvPr>
            <p:cNvSpPr>
              <a:spLocks/>
            </p:cNvSpPr>
            <p:nvPr/>
          </p:nvSpPr>
          <p:spPr>
            <a:xfrm>
              <a:off x="5543550" y="4947285"/>
              <a:ext cx="66675" cy="68580"/>
            </a:xfrm>
            <a:custGeom>
              <a:avLst/>
              <a:gdLst/>
              <a:ahLst/>
              <a:cxnLst/>
              <a:rect l="0" t="0" r="0" b="0"/>
              <a:pathLst>
                <a:path w="66675" h="68580">
                  <a:moveTo>
                    <a:pt x="66675" y="34290"/>
                  </a:moveTo>
                  <a:lnTo>
                    <a:pt x="0" y="68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5875"/>
            </a:solidFill>
            <a:ln w="0">
              <a:noFill/>
            </a:ln>
          </p:spPr>
        </p:sp>
        <p:sp>
          <p:nvSpPr>
            <p:cNvPr id="151" name="roundRect_151">
              <a:extLst>
                <a:ext uri="{FF2B5EF4-FFF2-40B4-BE49-F238E27FC236}">
                  <a16:creationId xmlns:a16="http://schemas.microsoft.com/office/drawing/2014/main" id="{29ACEA7F-FF36-406A-93E4-79975F9AA6E0}"/>
                </a:ext>
              </a:extLst>
            </p:cNvPr>
            <p:cNvSpPr>
              <a:spLocks/>
            </p:cNvSpPr>
            <p:nvPr/>
          </p:nvSpPr>
          <p:spPr>
            <a:xfrm>
              <a:off x="5638800" y="4105275"/>
              <a:ext cx="3505200" cy="1704975"/>
            </a:xfrm>
            <a:prstGeom prst="roundRect">
              <a:avLst>
                <a:gd name="adj" fmla="val 5028"/>
              </a:avLst>
            </a:prstGeom>
            <a:solidFill>
              <a:srgbClr val="FFFFFF"/>
            </a:solidFill>
            <a:ln w="9525">
              <a:solidFill>
                <a:srgbClr val="D8A9BF"/>
              </a:solidFill>
              <a:prstDash val="solid"/>
            </a:ln>
          </p:spPr>
        </p:sp>
        <p:sp>
          <p:nvSpPr>
            <p:cNvPr id="152" name="textbox_152">
              <a:extLst>
                <a:ext uri="{FF2B5EF4-FFF2-40B4-BE49-F238E27FC236}">
                  <a16:creationId xmlns:a16="http://schemas.microsoft.com/office/drawing/2014/main" id="{30BF065D-A36B-4261-835C-6F288F98383E}"/>
                </a:ext>
              </a:extLst>
            </p:cNvPr>
            <p:cNvSpPr>
              <a:spLocks/>
            </p:cNvSpPr>
            <p:nvPr/>
          </p:nvSpPr>
          <p:spPr>
            <a:xfrm>
              <a:off x="5753100" y="4181475"/>
              <a:ext cx="3238500" cy="2190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125" b="1">
                  <a:solidFill>
                    <a:srgbClr val="9C5875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1125" b="1">
                  <a:solidFill>
                    <a:srgbClr val="9C5875"/>
                  </a:solidFill>
                  <a:latin typeface="Georgia"/>
                  <a:ea typeface="Georgia"/>
                  <a:cs typeface="Georgia"/>
                </a:defRPr>
              </a:pPr>
              <a:r>
                <a:rPr sz="1125" b="1">
                  <a:solidFill>
                    <a:srgbClr val="9C5875"/>
                  </a:solidFill>
                  <a:latin typeface="Georgia"/>
                  <a:ea typeface="Georgia"/>
                  <a:cs typeface="Georgia"/>
                </a:rPr>
                <a:t>Residual fingerprint</a:t>
              </a:r>
            </a:p>
          </p:txBody>
        </p:sp>
        <p:sp>
          <p:nvSpPr>
            <p:cNvPr id="153" name="roundRect_153">
              <a:extLst>
                <a:ext uri="{FF2B5EF4-FFF2-40B4-BE49-F238E27FC236}">
                  <a16:creationId xmlns:a16="http://schemas.microsoft.com/office/drawing/2014/main" id="{47F51D22-E475-43EF-9310-B7A86545439E}"/>
                </a:ext>
              </a:extLst>
            </p:cNvPr>
            <p:cNvSpPr>
              <a:spLocks/>
            </p:cNvSpPr>
            <p:nvPr/>
          </p:nvSpPr>
          <p:spPr>
            <a:xfrm>
              <a:off x="5734050" y="4467225"/>
              <a:ext cx="3305175" cy="381000"/>
            </a:xfrm>
            <a:prstGeom prst="roundRect">
              <a:avLst>
                <a:gd name="adj" fmla="val 20000"/>
              </a:avLst>
            </a:prstGeom>
            <a:solidFill>
              <a:srgbClr val="FAF0F5"/>
            </a:solidFill>
            <a:ln w="0">
              <a:noFill/>
              <a:prstDash val="solid"/>
            </a:ln>
          </p:spPr>
        </p:sp>
        <p:sp>
          <p:nvSpPr>
            <p:cNvPr id="154" name="textbox_154">
              <a:extLst>
                <a:ext uri="{FF2B5EF4-FFF2-40B4-BE49-F238E27FC236}">
                  <a16:creationId xmlns:a16="http://schemas.microsoft.com/office/drawing/2014/main" id="{315BF928-0942-40E9-B114-A900A3E7D77D}"/>
                </a:ext>
              </a:extLst>
            </p:cNvPr>
            <p:cNvSpPr>
              <a:spLocks/>
            </p:cNvSpPr>
            <p:nvPr/>
          </p:nvSpPr>
          <p:spPr>
            <a:xfrm>
              <a:off x="5810250" y="4486275"/>
              <a:ext cx="15621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Bias by horizon</a:t>
              </a:r>
            </a:p>
          </p:txBody>
        </p:sp>
        <p:sp>
          <p:nvSpPr>
            <p:cNvPr id="155" name="line_155">
              <a:extLst>
                <a:ext uri="{FF2B5EF4-FFF2-40B4-BE49-F238E27FC236}">
                  <a16:creationId xmlns:a16="http://schemas.microsoft.com/office/drawing/2014/main" id="{8891E9F2-1921-426F-B7EC-E02ABFA204D5}"/>
                </a:ext>
              </a:extLst>
            </p:cNvPr>
            <p:cNvSpPr>
              <a:spLocks/>
            </p:cNvSpPr>
            <p:nvPr/>
          </p:nvSpPr>
          <p:spPr>
            <a:xfrm>
              <a:off x="5819775" y="4638675"/>
              <a:ext cx="953" cy="171450"/>
            </a:xfrm>
            <a:prstGeom prst="line">
              <a:avLst/>
            </a:prstGeom>
            <a:noFill/>
            <a:ln w="6668">
              <a:solidFill>
                <a:srgbClr val="A6AAC1"/>
              </a:solidFill>
              <a:prstDash val="solid"/>
            </a:ln>
          </p:spPr>
        </p:sp>
        <p:sp>
          <p:nvSpPr>
            <p:cNvPr id="156" name="line_156">
              <a:extLst>
                <a:ext uri="{FF2B5EF4-FFF2-40B4-BE49-F238E27FC236}">
                  <a16:creationId xmlns:a16="http://schemas.microsoft.com/office/drawing/2014/main" id="{3ECC1895-DB65-44E8-87BD-D6740A0D4A6B}"/>
                </a:ext>
              </a:extLst>
            </p:cNvPr>
            <p:cNvSpPr>
              <a:spLocks/>
            </p:cNvSpPr>
            <p:nvPr/>
          </p:nvSpPr>
          <p:spPr>
            <a:xfrm>
              <a:off x="5819775" y="4810125"/>
              <a:ext cx="1362075" cy="953"/>
            </a:xfrm>
            <a:prstGeom prst="line">
              <a:avLst/>
            </a:prstGeom>
            <a:noFill/>
            <a:ln w="6668">
              <a:solidFill>
                <a:srgbClr val="A6AAC1"/>
              </a:solidFill>
              <a:prstDash val="solid"/>
            </a:ln>
          </p:spPr>
        </p:sp>
        <p:sp>
          <p:nvSpPr>
            <p:cNvPr id="157" name="line_157">
              <a:extLst>
                <a:ext uri="{FF2B5EF4-FFF2-40B4-BE49-F238E27FC236}">
                  <a16:creationId xmlns:a16="http://schemas.microsoft.com/office/drawing/2014/main" id="{2A92F6C2-39FA-4522-B9BC-303D0BAEF4FB}"/>
                </a:ext>
              </a:extLst>
            </p:cNvPr>
            <p:cNvSpPr>
              <a:spLocks/>
            </p:cNvSpPr>
            <p:nvPr/>
          </p:nvSpPr>
          <p:spPr>
            <a:xfrm>
              <a:off x="5829300" y="4705350"/>
              <a:ext cx="1352550" cy="953"/>
            </a:xfrm>
            <a:prstGeom prst="line">
              <a:avLst/>
            </a:prstGeom>
            <a:noFill/>
            <a:ln w="5715">
              <a:solidFill>
                <a:srgbClr val="CFADBF"/>
              </a:solidFill>
              <a:prstDash val="solid"/>
            </a:ln>
          </p:spPr>
        </p:sp>
        <p:sp>
          <p:nvSpPr>
            <p:cNvPr id="158" name="rect_158">
              <a:extLst>
                <a:ext uri="{FF2B5EF4-FFF2-40B4-BE49-F238E27FC236}">
                  <a16:creationId xmlns:a16="http://schemas.microsoft.com/office/drawing/2014/main" id="{561A445E-671C-4935-8ABA-0985C18D2DF8}"/>
                </a:ext>
              </a:extLst>
            </p:cNvPr>
            <p:cNvSpPr>
              <a:spLocks/>
            </p:cNvSpPr>
            <p:nvPr/>
          </p:nvSpPr>
          <p:spPr>
            <a:xfrm>
              <a:off x="5857875" y="4705350"/>
              <a:ext cx="85725" cy="9525"/>
            </a:xfrm>
            <a:prstGeom prst="rect">
              <a:avLst/>
            </a:prstGeom>
            <a:solidFill>
              <a:srgbClr val="C995B0"/>
            </a:solidFill>
            <a:ln w="0">
              <a:noFill/>
              <a:prstDash val="solid"/>
            </a:ln>
          </p:spPr>
        </p:sp>
        <p:sp>
          <p:nvSpPr>
            <p:cNvPr id="159" name="rect_159">
              <a:extLst>
                <a:ext uri="{FF2B5EF4-FFF2-40B4-BE49-F238E27FC236}">
                  <a16:creationId xmlns:a16="http://schemas.microsoft.com/office/drawing/2014/main" id="{3BBFAE74-7C95-48A9-8B38-3E5EF4BB68AD}"/>
                </a:ext>
              </a:extLst>
            </p:cNvPr>
            <p:cNvSpPr>
              <a:spLocks/>
            </p:cNvSpPr>
            <p:nvPr/>
          </p:nvSpPr>
          <p:spPr>
            <a:xfrm>
              <a:off x="6000750" y="4643855"/>
              <a:ext cx="85725" cy="61495"/>
            </a:xfrm>
            <a:prstGeom prst="rect">
              <a:avLst/>
            </a:prstGeom>
            <a:solidFill>
              <a:srgbClr val="C995B0"/>
            </a:solidFill>
            <a:ln w="0">
              <a:noFill/>
              <a:prstDash val="solid"/>
            </a:ln>
          </p:spPr>
        </p:sp>
        <p:sp>
          <p:nvSpPr>
            <p:cNvPr id="160" name="rect_160">
              <a:extLst>
                <a:ext uri="{FF2B5EF4-FFF2-40B4-BE49-F238E27FC236}">
                  <a16:creationId xmlns:a16="http://schemas.microsoft.com/office/drawing/2014/main" id="{CF54F8B8-5473-4E5C-A1FF-2F4D77300DE1}"/>
                </a:ext>
              </a:extLst>
            </p:cNvPr>
            <p:cNvSpPr>
              <a:spLocks/>
            </p:cNvSpPr>
            <p:nvPr/>
          </p:nvSpPr>
          <p:spPr>
            <a:xfrm>
              <a:off x="6143625" y="4619662"/>
              <a:ext cx="85725" cy="85688"/>
            </a:xfrm>
            <a:prstGeom prst="rect">
              <a:avLst/>
            </a:prstGeom>
            <a:solidFill>
              <a:srgbClr val="C995B0"/>
            </a:solidFill>
            <a:ln w="0">
              <a:noFill/>
              <a:prstDash val="solid"/>
            </a:ln>
          </p:spPr>
        </p:sp>
        <p:sp>
          <p:nvSpPr>
            <p:cNvPr id="161" name="rect_161">
              <a:extLst>
                <a:ext uri="{FF2B5EF4-FFF2-40B4-BE49-F238E27FC236}">
                  <a16:creationId xmlns:a16="http://schemas.microsoft.com/office/drawing/2014/main" id="{FD929126-59BB-46AE-874C-0FC88BE8BC82}"/>
                </a:ext>
              </a:extLst>
            </p:cNvPr>
            <p:cNvSpPr>
              <a:spLocks/>
            </p:cNvSpPr>
            <p:nvPr/>
          </p:nvSpPr>
          <p:spPr>
            <a:xfrm>
              <a:off x="6286500" y="4647446"/>
              <a:ext cx="85725" cy="57904"/>
            </a:xfrm>
            <a:prstGeom prst="rect">
              <a:avLst/>
            </a:prstGeom>
            <a:solidFill>
              <a:srgbClr val="C995B0"/>
            </a:solidFill>
            <a:ln w="0">
              <a:noFill/>
              <a:prstDash val="solid"/>
            </a:ln>
          </p:spPr>
        </p:sp>
        <p:sp>
          <p:nvSpPr>
            <p:cNvPr id="162" name="rect_162">
              <a:extLst>
                <a:ext uri="{FF2B5EF4-FFF2-40B4-BE49-F238E27FC236}">
                  <a16:creationId xmlns:a16="http://schemas.microsoft.com/office/drawing/2014/main" id="{97C7EED5-2091-4926-A52C-72ACA53E26CB}"/>
                </a:ext>
              </a:extLst>
            </p:cNvPr>
            <p:cNvSpPr>
              <a:spLocks/>
            </p:cNvSpPr>
            <p:nvPr/>
          </p:nvSpPr>
          <p:spPr>
            <a:xfrm>
              <a:off x="6429375" y="4705350"/>
              <a:ext cx="85725" cy="5004"/>
            </a:xfrm>
            <a:prstGeom prst="rect">
              <a:avLst/>
            </a:prstGeom>
            <a:solidFill>
              <a:srgbClr val="C995B0"/>
            </a:solidFill>
            <a:ln w="0">
              <a:noFill/>
              <a:prstDash val="solid"/>
            </a:ln>
          </p:spPr>
        </p:sp>
        <p:sp>
          <p:nvSpPr>
            <p:cNvPr id="163" name="rect_163">
              <a:extLst>
                <a:ext uri="{FF2B5EF4-FFF2-40B4-BE49-F238E27FC236}">
                  <a16:creationId xmlns:a16="http://schemas.microsoft.com/office/drawing/2014/main" id="{3CBD397A-B5A9-4224-89A9-94E11B609262}"/>
                </a:ext>
              </a:extLst>
            </p:cNvPr>
            <p:cNvSpPr>
              <a:spLocks/>
            </p:cNvSpPr>
            <p:nvPr/>
          </p:nvSpPr>
          <p:spPr>
            <a:xfrm>
              <a:off x="6572250" y="4705350"/>
              <a:ext cx="85725" cy="64877"/>
            </a:xfrm>
            <a:prstGeom prst="rect">
              <a:avLst/>
            </a:prstGeom>
            <a:solidFill>
              <a:srgbClr val="C995B0"/>
            </a:solidFill>
            <a:ln w="0">
              <a:noFill/>
              <a:prstDash val="solid"/>
            </a:ln>
          </p:spPr>
        </p:sp>
        <p:sp>
          <p:nvSpPr>
            <p:cNvPr id="164" name="rect_164">
              <a:extLst>
                <a:ext uri="{FF2B5EF4-FFF2-40B4-BE49-F238E27FC236}">
                  <a16:creationId xmlns:a16="http://schemas.microsoft.com/office/drawing/2014/main" id="{07F3E9B5-A150-4CBB-80D4-D21FFA0E7D5E}"/>
                </a:ext>
              </a:extLst>
            </p:cNvPr>
            <p:cNvSpPr>
              <a:spLocks/>
            </p:cNvSpPr>
            <p:nvPr/>
          </p:nvSpPr>
          <p:spPr>
            <a:xfrm>
              <a:off x="6715125" y="4705350"/>
              <a:ext cx="85725" cy="85396"/>
            </a:xfrm>
            <a:prstGeom prst="rect">
              <a:avLst/>
            </a:prstGeom>
            <a:solidFill>
              <a:srgbClr val="C995B0"/>
            </a:solidFill>
            <a:ln w="0">
              <a:noFill/>
              <a:prstDash val="solid"/>
            </a:ln>
          </p:spPr>
        </p:sp>
        <p:sp>
          <p:nvSpPr>
            <p:cNvPr id="165" name="rect_165">
              <a:extLst>
                <a:ext uri="{FF2B5EF4-FFF2-40B4-BE49-F238E27FC236}">
                  <a16:creationId xmlns:a16="http://schemas.microsoft.com/office/drawing/2014/main" id="{C9ADB17D-D63F-4DD3-87E7-1A4457A3BEC8}"/>
                </a:ext>
              </a:extLst>
            </p:cNvPr>
            <p:cNvSpPr>
              <a:spLocks/>
            </p:cNvSpPr>
            <p:nvPr/>
          </p:nvSpPr>
          <p:spPr>
            <a:xfrm>
              <a:off x="6858000" y="4705350"/>
              <a:ext cx="85725" cy="54115"/>
            </a:xfrm>
            <a:prstGeom prst="rect">
              <a:avLst/>
            </a:prstGeom>
            <a:solidFill>
              <a:srgbClr val="C995B0"/>
            </a:solidFill>
            <a:ln w="0">
              <a:noFill/>
              <a:prstDash val="solid"/>
            </a:ln>
          </p:spPr>
        </p:sp>
        <p:sp>
          <p:nvSpPr>
            <p:cNvPr id="166" name="rect_166">
              <a:extLst>
                <a:ext uri="{FF2B5EF4-FFF2-40B4-BE49-F238E27FC236}">
                  <a16:creationId xmlns:a16="http://schemas.microsoft.com/office/drawing/2014/main" id="{8861C376-8E44-4526-9A7E-9D31E8810039}"/>
                </a:ext>
              </a:extLst>
            </p:cNvPr>
            <p:cNvSpPr>
              <a:spLocks/>
            </p:cNvSpPr>
            <p:nvPr/>
          </p:nvSpPr>
          <p:spPr>
            <a:xfrm>
              <a:off x="7000875" y="4695359"/>
              <a:ext cx="85725" cy="9991"/>
            </a:xfrm>
            <a:prstGeom prst="rect">
              <a:avLst/>
            </a:prstGeom>
            <a:solidFill>
              <a:srgbClr val="C995B0"/>
            </a:solidFill>
            <a:ln w="0">
              <a:noFill/>
              <a:prstDash val="solid"/>
            </a:ln>
          </p:spPr>
        </p:sp>
        <p:sp>
          <p:nvSpPr>
            <p:cNvPr id="167" name="textbox_167">
              <a:extLst>
                <a:ext uri="{FF2B5EF4-FFF2-40B4-BE49-F238E27FC236}">
                  <a16:creationId xmlns:a16="http://schemas.microsoft.com/office/drawing/2014/main" id="{802FD9EA-1AFE-46A7-89C8-7485DAC4EA4D}"/>
                </a:ext>
              </a:extLst>
            </p:cNvPr>
            <p:cNvSpPr>
              <a:spLocks/>
            </p:cNvSpPr>
            <p:nvPr/>
          </p:nvSpPr>
          <p:spPr>
            <a:xfrm>
              <a:off x="7362825" y="4562475"/>
              <a:ext cx="157162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Systematic over / underprediction</a:t>
              </a:r>
            </a:p>
          </p:txBody>
        </p:sp>
        <p:sp>
          <p:nvSpPr>
            <p:cNvPr id="168" name="roundRect_168">
              <a:extLst>
                <a:ext uri="{FF2B5EF4-FFF2-40B4-BE49-F238E27FC236}">
                  <a16:creationId xmlns:a16="http://schemas.microsoft.com/office/drawing/2014/main" id="{65F08509-3A6C-4BE8-B371-11DF4D6E65FB}"/>
                </a:ext>
              </a:extLst>
            </p:cNvPr>
            <p:cNvSpPr>
              <a:spLocks/>
            </p:cNvSpPr>
            <p:nvPr/>
          </p:nvSpPr>
          <p:spPr>
            <a:xfrm>
              <a:off x="5734050" y="4886325"/>
              <a:ext cx="3305175" cy="381000"/>
            </a:xfrm>
            <a:prstGeom prst="roundRect">
              <a:avLst>
                <a:gd name="adj" fmla="val 20000"/>
              </a:avLst>
            </a:prstGeom>
            <a:solidFill>
              <a:srgbClr val="FAF0F5"/>
            </a:solidFill>
            <a:ln w="0">
              <a:noFill/>
              <a:prstDash val="solid"/>
            </a:ln>
          </p:spPr>
        </p:sp>
        <p:sp>
          <p:nvSpPr>
            <p:cNvPr id="169" name="textbox_169">
              <a:extLst>
                <a:ext uri="{FF2B5EF4-FFF2-40B4-BE49-F238E27FC236}">
                  <a16:creationId xmlns:a16="http://schemas.microsoft.com/office/drawing/2014/main" id="{C0445444-8005-4607-ACF2-0ABE46FC8082}"/>
                </a:ext>
              </a:extLst>
            </p:cNvPr>
            <p:cNvSpPr>
              <a:spLocks/>
            </p:cNvSpPr>
            <p:nvPr/>
          </p:nvSpPr>
          <p:spPr>
            <a:xfrm>
              <a:off x="5810250" y="4905375"/>
              <a:ext cx="15621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Horizon error profile</a:t>
              </a:r>
            </a:p>
          </p:txBody>
        </p:sp>
        <p:sp>
          <p:nvSpPr>
            <p:cNvPr id="170" name="line_170">
              <a:extLst>
                <a:ext uri="{FF2B5EF4-FFF2-40B4-BE49-F238E27FC236}">
                  <a16:creationId xmlns:a16="http://schemas.microsoft.com/office/drawing/2014/main" id="{DADF8BFA-8357-49A0-ADCB-0C2BCFB522E8}"/>
                </a:ext>
              </a:extLst>
            </p:cNvPr>
            <p:cNvSpPr>
              <a:spLocks/>
            </p:cNvSpPr>
            <p:nvPr/>
          </p:nvSpPr>
          <p:spPr>
            <a:xfrm>
              <a:off x="5819775" y="5057775"/>
              <a:ext cx="953" cy="171450"/>
            </a:xfrm>
            <a:prstGeom prst="line">
              <a:avLst/>
            </a:prstGeom>
            <a:noFill/>
            <a:ln w="6668">
              <a:solidFill>
                <a:srgbClr val="A6AAC1"/>
              </a:solidFill>
              <a:prstDash val="solid"/>
            </a:ln>
          </p:spPr>
        </p:sp>
        <p:sp>
          <p:nvSpPr>
            <p:cNvPr id="171" name="line_171">
              <a:extLst>
                <a:ext uri="{FF2B5EF4-FFF2-40B4-BE49-F238E27FC236}">
                  <a16:creationId xmlns:a16="http://schemas.microsoft.com/office/drawing/2014/main" id="{54B7B5E9-6FCA-4C3B-8332-FDFAA3ABA94D}"/>
                </a:ext>
              </a:extLst>
            </p:cNvPr>
            <p:cNvSpPr>
              <a:spLocks/>
            </p:cNvSpPr>
            <p:nvPr/>
          </p:nvSpPr>
          <p:spPr>
            <a:xfrm>
              <a:off x="5819775" y="5229225"/>
              <a:ext cx="1362075" cy="953"/>
            </a:xfrm>
            <a:prstGeom prst="line">
              <a:avLst/>
            </a:prstGeom>
            <a:noFill/>
            <a:ln w="6668">
              <a:solidFill>
                <a:srgbClr val="A6AAC1"/>
              </a:solidFill>
              <a:prstDash val="solid"/>
            </a:ln>
          </p:spPr>
        </p:sp>
        <p:sp>
          <p:nvSpPr>
            <p:cNvPr id="172" name="curve_172">
              <a:extLst>
                <a:ext uri="{FF2B5EF4-FFF2-40B4-BE49-F238E27FC236}">
                  <a16:creationId xmlns:a16="http://schemas.microsoft.com/office/drawing/2014/main" id="{804C7B7E-18A5-4B88-A058-9DBAE8D1DEFB}"/>
                </a:ext>
              </a:extLst>
            </p:cNvPr>
            <p:cNvSpPr>
              <a:spLocks/>
            </p:cNvSpPr>
            <p:nvPr/>
          </p:nvSpPr>
          <p:spPr>
            <a:xfrm>
              <a:off x="5857875" y="5083493"/>
              <a:ext cx="1266825" cy="126682"/>
            </a:xfrm>
            <a:custGeom>
              <a:avLst/>
              <a:gdLst/>
              <a:ahLst/>
              <a:cxnLst/>
              <a:rect l="0" t="0" r="0" b="0"/>
              <a:pathLst>
                <a:path w="1266825" h="126682">
                  <a:moveTo>
                    <a:pt x="0" y="126682"/>
                  </a:moveTo>
                  <a:lnTo>
                    <a:pt x="180975" y="108585"/>
                  </a:lnTo>
                  <a:lnTo>
                    <a:pt x="361950" y="90488"/>
                  </a:lnTo>
                  <a:lnTo>
                    <a:pt x="542925" y="72390"/>
                  </a:lnTo>
                  <a:lnTo>
                    <a:pt x="723900" y="54292"/>
                  </a:lnTo>
                  <a:lnTo>
                    <a:pt x="904875" y="36195"/>
                  </a:lnTo>
                  <a:lnTo>
                    <a:pt x="1085850" y="18097"/>
                  </a:lnTo>
                  <a:lnTo>
                    <a:pt x="1266825" y="0"/>
                  </a:lnTo>
                </a:path>
              </a:pathLst>
            </a:custGeom>
            <a:noFill/>
            <a:ln w="12383">
              <a:solidFill>
                <a:srgbClr val="A3688A"/>
              </a:solidFill>
            </a:ln>
          </p:spPr>
        </p:sp>
        <p:sp>
          <p:nvSpPr>
            <p:cNvPr id="173" name="textbox_173">
              <a:extLst>
                <a:ext uri="{FF2B5EF4-FFF2-40B4-BE49-F238E27FC236}">
                  <a16:creationId xmlns:a16="http://schemas.microsoft.com/office/drawing/2014/main" id="{0B954429-AF82-46E6-A7B7-E49199B97241}"/>
                </a:ext>
              </a:extLst>
            </p:cNvPr>
            <p:cNvSpPr>
              <a:spLocks/>
            </p:cNvSpPr>
            <p:nvPr/>
          </p:nvSpPr>
          <p:spPr>
            <a:xfrm>
              <a:off x="7362825" y="4981575"/>
              <a:ext cx="157162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Error growth across horizons</a:t>
              </a:r>
            </a:p>
          </p:txBody>
        </p:sp>
        <p:sp>
          <p:nvSpPr>
            <p:cNvPr id="174" name="roundRect_174">
              <a:extLst>
                <a:ext uri="{FF2B5EF4-FFF2-40B4-BE49-F238E27FC236}">
                  <a16:creationId xmlns:a16="http://schemas.microsoft.com/office/drawing/2014/main" id="{23E0D62E-06A3-4C86-AB53-D0276B27BC45}"/>
                </a:ext>
              </a:extLst>
            </p:cNvPr>
            <p:cNvSpPr>
              <a:spLocks/>
            </p:cNvSpPr>
            <p:nvPr/>
          </p:nvSpPr>
          <p:spPr>
            <a:xfrm>
              <a:off x="5734050" y="5305425"/>
              <a:ext cx="3305175" cy="381000"/>
            </a:xfrm>
            <a:prstGeom prst="roundRect">
              <a:avLst>
                <a:gd name="adj" fmla="val 20000"/>
              </a:avLst>
            </a:prstGeom>
            <a:solidFill>
              <a:srgbClr val="FAF0F5"/>
            </a:solidFill>
            <a:ln w="0">
              <a:noFill/>
              <a:prstDash val="solid"/>
            </a:ln>
          </p:spPr>
        </p:sp>
        <p:sp>
          <p:nvSpPr>
            <p:cNvPr id="175" name="textbox_175">
              <a:extLst>
                <a:ext uri="{FF2B5EF4-FFF2-40B4-BE49-F238E27FC236}">
                  <a16:creationId xmlns:a16="http://schemas.microsoft.com/office/drawing/2014/main" id="{C9459723-0CCF-4BD9-827E-CEED2B8F03E5}"/>
                </a:ext>
              </a:extLst>
            </p:cNvPr>
            <p:cNvSpPr>
              <a:spLocks/>
            </p:cNvSpPr>
            <p:nvPr/>
          </p:nvSpPr>
          <p:spPr>
            <a:xfrm>
              <a:off x="5810250" y="5324475"/>
              <a:ext cx="1562100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750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Residual autocorrelation</a:t>
              </a:r>
            </a:p>
          </p:txBody>
        </p:sp>
        <p:sp>
          <p:nvSpPr>
            <p:cNvPr id="176" name="line_176">
              <a:extLst>
                <a:ext uri="{FF2B5EF4-FFF2-40B4-BE49-F238E27FC236}">
                  <a16:creationId xmlns:a16="http://schemas.microsoft.com/office/drawing/2014/main" id="{B2DC1D77-2A77-4FA8-B4F3-F7246443302E}"/>
                </a:ext>
              </a:extLst>
            </p:cNvPr>
            <p:cNvSpPr>
              <a:spLocks/>
            </p:cNvSpPr>
            <p:nvPr/>
          </p:nvSpPr>
          <p:spPr>
            <a:xfrm>
              <a:off x="5819775" y="5476875"/>
              <a:ext cx="953" cy="171450"/>
            </a:xfrm>
            <a:prstGeom prst="line">
              <a:avLst/>
            </a:prstGeom>
            <a:noFill/>
            <a:ln w="6668">
              <a:solidFill>
                <a:srgbClr val="A6AAC1"/>
              </a:solidFill>
              <a:prstDash val="solid"/>
            </a:ln>
          </p:spPr>
        </p:sp>
        <p:sp>
          <p:nvSpPr>
            <p:cNvPr id="177" name="line_177">
              <a:extLst>
                <a:ext uri="{FF2B5EF4-FFF2-40B4-BE49-F238E27FC236}">
                  <a16:creationId xmlns:a16="http://schemas.microsoft.com/office/drawing/2014/main" id="{C1892DFA-DAF8-4068-B635-97F489AE2268}"/>
                </a:ext>
              </a:extLst>
            </p:cNvPr>
            <p:cNvSpPr>
              <a:spLocks/>
            </p:cNvSpPr>
            <p:nvPr/>
          </p:nvSpPr>
          <p:spPr>
            <a:xfrm>
              <a:off x="5819775" y="5648325"/>
              <a:ext cx="1362075" cy="953"/>
            </a:xfrm>
            <a:prstGeom prst="line">
              <a:avLst/>
            </a:prstGeom>
            <a:noFill/>
            <a:ln w="6668">
              <a:solidFill>
                <a:srgbClr val="A6AAC1"/>
              </a:solidFill>
              <a:prstDash val="solid"/>
            </a:ln>
          </p:spPr>
        </p:sp>
        <p:sp>
          <p:nvSpPr>
            <p:cNvPr id="178" name="line_178">
              <a:extLst>
                <a:ext uri="{FF2B5EF4-FFF2-40B4-BE49-F238E27FC236}">
                  <a16:creationId xmlns:a16="http://schemas.microsoft.com/office/drawing/2014/main" id="{1807DB0F-6F77-48D7-B082-DB35318BCA63}"/>
                </a:ext>
              </a:extLst>
            </p:cNvPr>
            <p:cNvSpPr>
              <a:spLocks/>
            </p:cNvSpPr>
            <p:nvPr/>
          </p:nvSpPr>
          <p:spPr>
            <a:xfrm>
              <a:off x="5857875" y="5495925"/>
              <a:ext cx="953" cy="152400"/>
            </a:xfrm>
            <a:prstGeom prst="line">
              <a:avLst/>
            </a:prstGeom>
            <a:noFill/>
            <a:ln w="19050">
              <a:solidFill>
                <a:srgbClr val="B37D9C"/>
              </a:solidFill>
              <a:prstDash val="solid"/>
            </a:ln>
          </p:spPr>
        </p:sp>
        <p:sp>
          <p:nvSpPr>
            <p:cNvPr id="179" name="line_179">
              <a:extLst>
                <a:ext uri="{FF2B5EF4-FFF2-40B4-BE49-F238E27FC236}">
                  <a16:creationId xmlns:a16="http://schemas.microsoft.com/office/drawing/2014/main" id="{E2B02BD5-B61D-4C16-AD77-C2D71BA341C2}"/>
                </a:ext>
              </a:extLst>
            </p:cNvPr>
            <p:cNvSpPr>
              <a:spLocks/>
            </p:cNvSpPr>
            <p:nvPr/>
          </p:nvSpPr>
          <p:spPr>
            <a:xfrm>
              <a:off x="5956935" y="5529636"/>
              <a:ext cx="953" cy="118689"/>
            </a:xfrm>
            <a:prstGeom prst="line">
              <a:avLst/>
            </a:prstGeom>
            <a:noFill/>
            <a:ln w="19050">
              <a:solidFill>
                <a:srgbClr val="B37D9C"/>
              </a:solidFill>
              <a:prstDash val="solid"/>
            </a:ln>
          </p:spPr>
        </p:sp>
        <p:sp>
          <p:nvSpPr>
            <p:cNvPr id="180" name="line_180">
              <a:extLst>
                <a:ext uri="{FF2B5EF4-FFF2-40B4-BE49-F238E27FC236}">
                  <a16:creationId xmlns:a16="http://schemas.microsoft.com/office/drawing/2014/main" id="{8869EAC1-70B9-4B47-A948-297B40F96A5E}"/>
                </a:ext>
              </a:extLst>
            </p:cNvPr>
            <p:cNvSpPr>
              <a:spLocks/>
            </p:cNvSpPr>
            <p:nvPr/>
          </p:nvSpPr>
          <p:spPr>
            <a:xfrm>
              <a:off x="6055995" y="5555890"/>
              <a:ext cx="953" cy="92435"/>
            </a:xfrm>
            <a:prstGeom prst="line">
              <a:avLst/>
            </a:prstGeom>
            <a:noFill/>
            <a:ln w="19050">
              <a:solidFill>
                <a:srgbClr val="B37D9C"/>
              </a:solidFill>
              <a:prstDash val="solid"/>
            </a:ln>
          </p:spPr>
        </p:sp>
        <p:sp>
          <p:nvSpPr>
            <p:cNvPr id="181" name="line_181">
              <a:extLst>
                <a:ext uri="{FF2B5EF4-FFF2-40B4-BE49-F238E27FC236}">
                  <a16:creationId xmlns:a16="http://schemas.microsoft.com/office/drawing/2014/main" id="{ECFAADCA-DCB0-49E7-985F-964CAA8951D4}"/>
                </a:ext>
              </a:extLst>
            </p:cNvPr>
            <p:cNvSpPr>
              <a:spLocks/>
            </p:cNvSpPr>
            <p:nvPr/>
          </p:nvSpPr>
          <p:spPr>
            <a:xfrm>
              <a:off x="6155055" y="5576336"/>
              <a:ext cx="953" cy="71989"/>
            </a:xfrm>
            <a:prstGeom prst="line">
              <a:avLst/>
            </a:prstGeom>
            <a:noFill/>
            <a:ln w="19050">
              <a:solidFill>
                <a:srgbClr val="B37D9C"/>
              </a:solidFill>
              <a:prstDash val="solid"/>
            </a:ln>
          </p:spPr>
        </p:sp>
        <p:sp>
          <p:nvSpPr>
            <p:cNvPr id="182" name="line_182">
              <a:extLst>
                <a:ext uri="{FF2B5EF4-FFF2-40B4-BE49-F238E27FC236}">
                  <a16:creationId xmlns:a16="http://schemas.microsoft.com/office/drawing/2014/main" id="{593283D6-5FBA-4370-B26D-0E0104249AFE}"/>
                </a:ext>
              </a:extLst>
            </p:cNvPr>
            <p:cNvSpPr>
              <a:spLocks/>
            </p:cNvSpPr>
            <p:nvPr/>
          </p:nvSpPr>
          <p:spPr>
            <a:xfrm>
              <a:off x="6254115" y="5592260"/>
              <a:ext cx="953" cy="56065"/>
            </a:xfrm>
            <a:prstGeom prst="line">
              <a:avLst/>
            </a:prstGeom>
            <a:noFill/>
            <a:ln w="19050">
              <a:solidFill>
                <a:srgbClr val="B37D9C"/>
              </a:solidFill>
              <a:prstDash val="solid"/>
            </a:ln>
          </p:spPr>
        </p:sp>
        <p:sp>
          <p:nvSpPr>
            <p:cNvPr id="183" name="line_183">
              <a:extLst>
                <a:ext uri="{FF2B5EF4-FFF2-40B4-BE49-F238E27FC236}">
                  <a16:creationId xmlns:a16="http://schemas.microsoft.com/office/drawing/2014/main" id="{3BF9171E-B1D9-47D0-952F-C8EEEA65B8AE}"/>
                </a:ext>
              </a:extLst>
            </p:cNvPr>
            <p:cNvSpPr>
              <a:spLocks/>
            </p:cNvSpPr>
            <p:nvPr/>
          </p:nvSpPr>
          <p:spPr>
            <a:xfrm>
              <a:off x="6353175" y="5604662"/>
              <a:ext cx="953" cy="43663"/>
            </a:xfrm>
            <a:prstGeom prst="line">
              <a:avLst/>
            </a:prstGeom>
            <a:noFill/>
            <a:ln w="19050">
              <a:solidFill>
                <a:srgbClr val="B37D9C"/>
              </a:solidFill>
              <a:prstDash val="solid"/>
            </a:ln>
          </p:spPr>
        </p:sp>
        <p:sp>
          <p:nvSpPr>
            <p:cNvPr id="184" name="line_184">
              <a:extLst>
                <a:ext uri="{FF2B5EF4-FFF2-40B4-BE49-F238E27FC236}">
                  <a16:creationId xmlns:a16="http://schemas.microsoft.com/office/drawing/2014/main" id="{26889E66-8502-41B0-AE27-2359A918D24A}"/>
                </a:ext>
              </a:extLst>
            </p:cNvPr>
            <p:cNvSpPr>
              <a:spLocks/>
            </p:cNvSpPr>
            <p:nvPr/>
          </p:nvSpPr>
          <p:spPr>
            <a:xfrm>
              <a:off x="6452235" y="5614320"/>
              <a:ext cx="953" cy="34005"/>
            </a:xfrm>
            <a:prstGeom prst="line">
              <a:avLst/>
            </a:prstGeom>
            <a:noFill/>
            <a:ln w="19050">
              <a:solidFill>
                <a:srgbClr val="B37D9C"/>
              </a:solidFill>
              <a:prstDash val="solid"/>
            </a:ln>
          </p:spPr>
        </p:sp>
        <p:sp>
          <p:nvSpPr>
            <p:cNvPr id="185" name="line_185">
              <a:extLst>
                <a:ext uri="{FF2B5EF4-FFF2-40B4-BE49-F238E27FC236}">
                  <a16:creationId xmlns:a16="http://schemas.microsoft.com/office/drawing/2014/main" id="{1957D464-3D16-4480-981C-F15C2B40FC44}"/>
                </a:ext>
              </a:extLst>
            </p:cNvPr>
            <p:cNvSpPr>
              <a:spLocks/>
            </p:cNvSpPr>
            <p:nvPr/>
          </p:nvSpPr>
          <p:spPr>
            <a:xfrm>
              <a:off x="6551295" y="5621842"/>
              <a:ext cx="953" cy="26483"/>
            </a:xfrm>
            <a:prstGeom prst="line">
              <a:avLst/>
            </a:prstGeom>
            <a:noFill/>
            <a:ln w="19050">
              <a:solidFill>
                <a:srgbClr val="B37D9C"/>
              </a:solidFill>
              <a:prstDash val="solid"/>
            </a:ln>
          </p:spPr>
        </p:sp>
        <p:sp>
          <p:nvSpPr>
            <p:cNvPr id="186" name="line_186">
              <a:extLst>
                <a:ext uri="{FF2B5EF4-FFF2-40B4-BE49-F238E27FC236}">
                  <a16:creationId xmlns:a16="http://schemas.microsoft.com/office/drawing/2014/main" id="{8E5F32DE-CB18-48F6-A17F-D529C4694F0D}"/>
                </a:ext>
              </a:extLst>
            </p:cNvPr>
            <p:cNvSpPr>
              <a:spLocks/>
            </p:cNvSpPr>
            <p:nvPr/>
          </p:nvSpPr>
          <p:spPr>
            <a:xfrm>
              <a:off x="6650355" y="5627700"/>
              <a:ext cx="953" cy="20625"/>
            </a:xfrm>
            <a:prstGeom prst="line">
              <a:avLst/>
            </a:prstGeom>
            <a:noFill/>
            <a:ln w="19050">
              <a:solidFill>
                <a:srgbClr val="B37D9C"/>
              </a:solidFill>
              <a:prstDash val="solid"/>
            </a:ln>
          </p:spPr>
        </p:sp>
        <p:sp>
          <p:nvSpPr>
            <p:cNvPr id="187" name="line_187">
              <a:extLst>
                <a:ext uri="{FF2B5EF4-FFF2-40B4-BE49-F238E27FC236}">
                  <a16:creationId xmlns:a16="http://schemas.microsoft.com/office/drawing/2014/main" id="{437D47AB-44F7-45C4-8E84-1B2D68E33DD0}"/>
                </a:ext>
              </a:extLst>
            </p:cNvPr>
            <p:cNvSpPr>
              <a:spLocks/>
            </p:cNvSpPr>
            <p:nvPr/>
          </p:nvSpPr>
          <p:spPr>
            <a:xfrm>
              <a:off x="6749415" y="5632262"/>
              <a:ext cx="953" cy="16063"/>
            </a:xfrm>
            <a:prstGeom prst="line">
              <a:avLst/>
            </a:prstGeom>
            <a:noFill/>
            <a:ln w="19050">
              <a:solidFill>
                <a:srgbClr val="B37D9C"/>
              </a:solidFill>
              <a:prstDash val="solid"/>
            </a:ln>
          </p:spPr>
        </p:sp>
        <p:sp>
          <p:nvSpPr>
            <p:cNvPr id="188" name="line_188">
              <a:extLst>
                <a:ext uri="{FF2B5EF4-FFF2-40B4-BE49-F238E27FC236}">
                  <a16:creationId xmlns:a16="http://schemas.microsoft.com/office/drawing/2014/main" id="{1C14C2A0-5895-4106-B03B-AA786619EA1F}"/>
                </a:ext>
              </a:extLst>
            </p:cNvPr>
            <p:cNvSpPr>
              <a:spLocks/>
            </p:cNvSpPr>
            <p:nvPr/>
          </p:nvSpPr>
          <p:spPr>
            <a:xfrm>
              <a:off x="6848475" y="5635815"/>
              <a:ext cx="953" cy="12510"/>
            </a:xfrm>
            <a:prstGeom prst="line">
              <a:avLst/>
            </a:prstGeom>
            <a:noFill/>
            <a:ln w="19050">
              <a:solidFill>
                <a:srgbClr val="B37D9C"/>
              </a:solidFill>
              <a:prstDash val="solid"/>
            </a:ln>
          </p:spPr>
        </p:sp>
        <p:sp>
          <p:nvSpPr>
            <p:cNvPr id="189" name="line_189">
              <a:extLst>
                <a:ext uri="{FF2B5EF4-FFF2-40B4-BE49-F238E27FC236}">
                  <a16:creationId xmlns:a16="http://schemas.microsoft.com/office/drawing/2014/main" id="{EA2D6BDF-18E2-4A51-A859-A8C9B5211547}"/>
                </a:ext>
              </a:extLst>
            </p:cNvPr>
            <p:cNvSpPr>
              <a:spLocks/>
            </p:cNvSpPr>
            <p:nvPr/>
          </p:nvSpPr>
          <p:spPr>
            <a:xfrm>
              <a:off x="6947535" y="5638582"/>
              <a:ext cx="953" cy="9743"/>
            </a:xfrm>
            <a:prstGeom prst="line">
              <a:avLst/>
            </a:prstGeom>
            <a:noFill/>
            <a:ln w="19050">
              <a:solidFill>
                <a:srgbClr val="B37D9C"/>
              </a:solidFill>
              <a:prstDash val="solid"/>
            </a:ln>
          </p:spPr>
        </p:sp>
        <p:sp>
          <p:nvSpPr>
            <p:cNvPr id="190" name="line_190">
              <a:extLst>
                <a:ext uri="{FF2B5EF4-FFF2-40B4-BE49-F238E27FC236}">
                  <a16:creationId xmlns:a16="http://schemas.microsoft.com/office/drawing/2014/main" id="{31F4B37C-2910-4ED2-AE05-77D8A0C4081A}"/>
                </a:ext>
              </a:extLst>
            </p:cNvPr>
            <p:cNvSpPr>
              <a:spLocks/>
            </p:cNvSpPr>
            <p:nvPr/>
          </p:nvSpPr>
          <p:spPr>
            <a:xfrm>
              <a:off x="7046595" y="5640737"/>
              <a:ext cx="953" cy="7588"/>
            </a:xfrm>
            <a:prstGeom prst="line">
              <a:avLst/>
            </a:prstGeom>
            <a:noFill/>
            <a:ln w="19050">
              <a:solidFill>
                <a:srgbClr val="B37D9C"/>
              </a:solidFill>
              <a:prstDash val="solid"/>
            </a:ln>
          </p:spPr>
        </p:sp>
        <p:sp>
          <p:nvSpPr>
            <p:cNvPr id="191" name="textbox_191">
              <a:extLst>
                <a:ext uri="{FF2B5EF4-FFF2-40B4-BE49-F238E27FC236}">
                  <a16:creationId xmlns:a16="http://schemas.microsoft.com/office/drawing/2014/main" id="{E172E989-4B74-4F02-BDB7-08224B7C4264}"/>
                </a:ext>
              </a:extLst>
            </p:cNvPr>
            <p:cNvSpPr>
              <a:spLocks/>
            </p:cNvSpPr>
            <p:nvPr/>
          </p:nvSpPr>
          <p:spPr>
            <a:xfrm>
              <a:off x="7362825" y="5400675"/>
              <a:ext cx="157162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Remaining dependence in errors</a:t>
              </a:r>
            </a:p>
          </p:txBody>
        </p:sp>
      </p:grpSp>
      <p:grpSp>
        <p:nvGrpSpPr>
          <p:cNvPr id="221" name="state_update_and_arrows">
            <a:extLst>
              <a:ext uri="{FF2B5EF4-FFF2-40B4-BE49-F238E27FC236}">
                <a16:creationId xmlns:a16="http://schemas.microsoft.com/office/drawing/2014/main" id="{40A9599C-20F7-4762-0D89-6871AFDA9FCB}"/>
              </a:ext>
            </a:extLst>
          </p:cNvPr>
          <p:cNvGrpSpPr/>
          <p:nvPr/>
        </p:nvGrpSpPr>
        <p:grpSpPr>
          <a:xfrm>
            <a:off x="9296400" y="2333625"/>
            <a:ext cx="1952625" cy="2647950"/>
            <a:chOff x="9296400" y="2333625"/>
            <a:chExt cx="1952625" cy="2647950"/>
          </a:xfrm>
        </p:grpSpPr>
        <p:sp>
          <p:nvSpPr>
            <p:cNvPr id="192" name="bezier_arrow_192">
              <a:extLst>
                <a:ext uri="{FF2B5EF4-FFF2-40B4-BE49-F238E27FC236}">
                  <a16:creationId xmlns:a16="http://schemas.microsoft.com/office/drawing/2014/main" id="{79F6791E-E201-4582-AE8E-DA8FFECA33F1}"/>
                </a:ext>
              </a:extLst>
            </p:cNvPr>
            <p:cNvSpPr>
              <a:spLocks/>
            </p:cNvSpPr>
            <p:nvPr/>
          </p:nvSpPr>
          <p:spPr>
            <a:xfrm>
              <a:off x="9296400" y="2333625"/>
              <a:ext cx="323850" cy="381000"/>
            </a:xfrm>
            <a:custGeom>
              <a:avLst/>
              <a:gdLst/>
              <a:ahLst/>
              <a:cxnLst/>
              <a:rect l="0" t="0" r="0" b="0"/>
              <a:pathLst>
                <a:path w="323850" h="381000">
                  <a:moveTo>
                    <a:pt x="0" y="0"/>
                  </a:moveTo>
                  <a:cubicBezTo>
                    <a:pt x="178118" y="0"/>
                    <a:pt x="145732" y="381000"/>
                    <a:pt x="323850" y="381000"/>
                  </a:cubicBezTo>
                </a:path>
              </a:pathLst>
            </a:custGeom>
            <a:noFill/>
            <a:ln w="19050">
              <a:solidFill>
                <a:srgbClr val="8784B8"/>
              </a:solidFill>
            </a:ln>
          </p:spPr>
        </p:sp>
        <p:sp>
          <p:nvSpPr>
            <p:cNvPr id="193" name="arrow_tip_193">
              <a:extLst>
                <a:ext uri="{FF2B5EF4-FFF2-40B4-BE49-F238E27FC236}">
                  <a16:creationId xmlns:a16="http://schemas.microsoft.com/office/drawing/2014/main" id="{0D61B998-1FBE-4110-B80B-4E2435222D33}"/>
                </a:ext>
              </a:extLst>
            </p:cNvPr>
            <p:cNvSpPr>
              <a:spLocks/>
            </p:cNvSpPr>
            <p:nvPr/>
          </p:nvSpPr>
          <p:spPr>
            <a:xfrm>
              <a:off x="9544050" y="2676525"/>
              <a:ext cx="76200" cy="85725"/>
            </a:xfrm>
            <a:custGeom>
              <a:avLst/>
              <a:gdLst/>
              <a:ahLst/>
              <a:cxnLst/>
              <a:rect l="0" t="0" r="0" b="0"/>
              <a:pathLst>
                <a:path w="76200" h="85725">
                  <a:moveTo>
                    <a:pt x="76200" y="38100"/>
                  </a:moveTo>
                  <a:lnTo>
                    <a:pt x="0" y="0"/>
                  </a:lnTo>
                  <a:lnTo>
                    <a:pt x="9525" y="85725"/>
                  </a:lnTo>
                  <a:close/>
                </a:path>
              </a:pathLst>
            </a:custGeom>
            <a:solidFill>
              <a:srgbClr val="8784B8"/>
            </a:solidFill>
            <a:ln w="0">
              <a:noFill/>
            </a:ln>
          </p:spPr>
        </p:sp>
        <p:sp>
          <p:nvSpPr>
            <p:cNvPr id="194" name="bezier_arrow_194">
              <a:extLst>
                <a:ext uri="{FF2B5EF4-FFF2-40B4-BE49-F238E27FC236}">
                  <a16:creationId xmlns:a16="http://schemas.microsoft.com/office/drawing/2014/main" id="{014B98F5-1829-42CA-A831-16E44683E15A}"/>
                </a:ext>
              </a:extLst>
            </p:cNvPr>
            <p:cNvSpPr>
              <a:spLocks/>
            </p:cNvSpPr>
            <p:nvPr/>
          </p:nvSpPr>
          <p:spPr>
            <a:xfrm>
              <a:off x="9296400" y="4286250"/>
              <a:ext cx="323850" cy="695325"/>
            </a:xfrm>
            <a:custGeom>
              <a:avLst/>
              <a:gdLst/>
              <a:ahLst/>
              <a:cxnLst/>
              <a:rect l="0" t="0" r="0" b="0"/>
              <a:pathLst>
                <a:path w="323850" h="695325">
                  <a:moveTo>
                    <a:pt x="0" y="695325"/>
                  </a:moveTo>
                  <a:cubicBezTo>
                    <a:pt x="178118" y="695325"/>
                    <a:pt x="145732" y="0"/>
                    <a:pt x="323850" y="0"/>
                  </a:cubicBezTo>
                </a:path>
              </a:pathLst>
            </a:custGeom>
            <a:noFill/>
            <a:ln w="19050">
              <a:solidFill>
                <a:srgbClr val="9C5875"/>
              </a:solidFill>
            </a:ln>
          </p:spPr>
        </p:sp>
        <p:sp>
          <p:nvSpPr>
            <p:cNvPr id="195" name="arrow_tip_195">
              <a:extLst>
                <a:ext uri="{FF2B5EF4-FFF2-40B4-BE49-F238E27FC236}">
                  <a16:creationId xmlns:a16="http://schemas.microsoft.com/office/drawing/2014/main" id="{F3655939-BEAD-48B9-9C9C-FDB3F2082FAE}"/>
                </a:ext>
              </a:extLst>
            </p:cNvPr>
            <p:cNvSpPr>
              <a:spLocks/>
            </p:cNvSpPr>
            <p:nvPr/>
          </p:nvSpPr>
          <p:spPr>
            <a:xfrm>
              <a:off x="9544050" y="4248150"/>
              <a:ext cx="76200" cy="85725"/>
            </a:xfrm>
            <a:custGeom>
              <a:avLst/>
              <a:gdLst/>
              <a:ahLst/>
              <a:cxnLst/>
              <a:rect l="0" t="0" r="0" b="0"/>
              <a:pathLst>
                <a:path w="76200" h="85725">
                  <a:moveTo>
                    <a:pt x="76200" y="38100"/>
                  </a:moveTo>
                  <a:lnTo>
                    <a:pt x="0" y="0"/>
                  </a:lnTo>
                  <a:lnTo>
                    <a:pt x="9525" y="85725"/>
                  </a:lnTo>
                  <a:close/>
                </a:path>
              </a:pathLst>
            </a:custGeom>
            <a:solidFill>
              <a:srgbClr val="9C5875"/>
            </a:solidFill>
            <a:ln w="0">
              <a:noFill/>
            </a:ln>
          </p:spPr>
        </p:sp>
        <p:sp>
          <p:nvSpPr>
            <p:cNvPr id="196" name="roundRect_196">
              <a:extLst>
                <a:ext uri="{FF2B5EF4-FFF2-40B4-BE49-F238E27FC236}">
                  <a16:creationId xmlns:a16="http://schemas.microsoft.com/office/drawing/2014/main" id="{669C93D0-A06A-47D3-AE0E-3236564C95AE}"/>
                </a:ext>
              </a:extLst>
            </p:cNvPr>
            <p:cNvSpPr>
              <a:spLocks/>
            </p:cNvSpPr>
            <p:nvPr/>
          </p:nvSpPr>
          <p:spPr>
            <a:xfrm>
              <a:off x="9620250" y="2638425"/>
              <a:ext cx="1628775" cy="2019300"/>
            </a:xfrm>
            <a:prstGeom prst="roundRect">
              <a:avLst>
                <a:gd name="adj" fmla="val 5263"/>
              </a:avLst>
            </a:prstGeom>
            <a:solidFill>
              <a:srgbClr val="F1F0F8"/>
            </a:solidFill>
            <a:ln w="9525">
              <a:solidFill>
                <a:srgbClr val="C5BED9"/>
              </a:solidFill>
              <a:prstDash val="solid"/>
            </a:ln>
          </p:spPr>
        </p:sp>
        <p:sp>
          <p:nvSpPr>
            <p:cNvPr id="197" name="textbox_197">
              <a:extLst>
                <a:ext uri="{FF2B5EF4-FFF2-40B4-BE49-F238E27FC236}">
                  <a16:creationId xmlns:a16="http://schemas.microsoft.com/office/drawing/2014/main" id="{0336D544-0507-4523-A362-4704074D00FA}"/>
                </a:ext>
              </a:extLst>
            </p:cNvPr>
            <p:cNvSpPr>
              <a:spLocks/>
            </p:cNvSpPr>
            <p:nvPr/>
          </p:nvSpPr>
          <p:spPr>
            <a:xfrm>
              <a:off x="9734550" y="2743200"/>
              <a:ext cx="1400175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50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defPPr>
            </a:lstStyle>
            <a:p>
              <a:pPr algn="l">
                <a:defRPr sz="1350" b="1">
                  <a:solidFill>
                    <a:srgbClr val="38385B"/>
                  </a:solidFill>
                  <a:latin typeface="Georgia"/>
                  <a:ea typeface="Georgia"/>
                  <a:cs typeface="Georgia"/>
                </a:defRPr>
              </a:pPr>
              <a:r>
                <a:rPr sz="1350" b="1">
                  <a:solidFill>
                    <a:srgbClr val="38385B"/>
                  </a:solidFill>
                  <a:latin typeface="Georgia"/>
                  <a:ea typeface="Georgia"/>
                  <a:cs typeface="Georgia"/>
                </a:rPr>
                <a:t>State update</a:t>
              </a:r>
            </a:p>
          </p:txBody>
        </p:sp>
        <p:sp>
          <p:nvSpPr>
            <p:cNvPr id="198" name="textbox_198">
              <a:extLst>
                <a:ext uri="{FF2B5EF4-FFF2-40B4-BE49-F238E27FC236}">
                  <a16:creationId xmlns:a16="http://schemas.microsoft.com/office/drawing/2014/main" id="{30B4AB96-010E-4640-B313-57C34074F344}"/>
                </a:ext>
              </a:extLst>
            </p:cNvPr>
            <p:cNvSpPr>
              <a:spLocks/>
            </p:cNvSpPr>
            <p:nvPr/>
          </p:nvSpPr>
          <p:spPr>
            <a:xfrm>
              <a:off x="9734550" y="3076575"/>
              <a:ext cx="140017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82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82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82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Integrate available</a:t>
              </a:r>
            </a:p>
            <a:p>
              <a:pPr algn="l">
                <a:defRPr sz="82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82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experiment feedback</a:t>
              </a:r>
            </a:p>
          </p:txBody>
        </p:sp>
        <p:sp>
          <p:nvSpPr>
            <p:cNvPr id="199" name="state_layers_199">
              <a:extLst>
                <a:ext uri="{FF2B5EF4-FFF2-40B4-BE49-F238E27FC236}">
                  <a16:creationId xmlns:a16="http://schemas.microsoft.com/office/drawing/2014/main" id="{3F71D806-9C2E-45C1-AAC5-85C3724679D4}"/>
                </a:ext>
              </a:extLst>
            </p:cNvPr>
            <p:cNvSpPr>
              <a:spLocks/>
            </p:cNvSpPr>
            <p:nvPr/>
          </p:nvSpPr>
          <p:spPr>
            <a:xfrm>
              <a:off x="10020300" y="3381375"/>
              <a:ext cx="685800" cy="314325"/>
            </a:xfrm>
            <a:custGeom>
              <a:avLst/>
              <a:gdLst/>
              <a:ahLst/>
              <a:cxnLst/>
              <a:rect l="0" t="0" r="0" b="0"/>
              <a:pathLst>
                <a:path w="685800" h="314325">
                  <a:moveTo>
                    <a:pt x="0" y="152400"/>
                  </a:moveTo>
                  <a:lnTo>
                    <a:pt x="342900" y="0"/>
                  </a:lnTo>
                  <a:lnTo>
                    <a:pt x="685800" y="152400"/>
                  </a:lnTo>
                  <a:lnTo>
                    <a:pt x="342900" y="314325"/>
                  </a:lnTo>
                  <a:close/>
                </a:path>
              </a:pathLst>
            </a:custGeom>
            <a:solidFill>
              <a:srgbClr val="E1E1F1"/>
            </a:solidFill>
            <a:ln w="0">
              <a:noFill/>
            </a:ln>
          </p:spPr>
        </p:sp>
        <p:sp>
          <p:nvSpPr>
            <p:cNvPr id="200" name="state_layers_200">
              <a:extLst>
                <a:ext uri="{FF2B5EF4-FFF2-40B4-BE49-F238E27FC236}">
                  <a16:creationId xmlns:a16="http://schemas.microsoft.com/office/drawing/2014/main" id="{F00ACCF4-DDD6-4AE8-970F-AF9075BB1907}"/>
                </a:ext>
              </a:extLst>
            </p:cNvPr>
            <p:cNvSpPr>
              <a:spLocks/>
            </p:cNvSpPr>
            <p:nvPr/>
          </p:nvSpPr>
          <p:spPr>
            <a:xfrm>
              <a:off x="10020300" y="3476625"/>
              <a:ext cx="685800" cy="314325"/>
            </a:xfrm>
            <a:custGeom>
              <a:avLst/>
              <a:gdLst/>
              <a:ahLst/>
              <a:cxnLst/>
              <a:rect l="0" t="0" r="0" b="0"/>
              <a:pathLst>
                <a:path w="685800" h="314325">
                  <a:moveTo>
                    <a:pt x="0" y="152400"/>
                  </a:moveTo>
                  <a:lnTo>
                    <a:pt x="342900" y="0"/>
                  </a:lnTo>
                  <a:lnTo>
                    <a:pt x="685800" y="152400"/>
                  </a:lnTo>
                  <a:lnTo>
                    <a:pt x="342900" y="314325"/>
                  </a:lnTo>
                  <a:close/>
                </a:path>
              </a:pathLst>
            </a:custGeom>
            <a:solidFill>
              <a:srgbClr val="EED8E5"/>
            </a:solidFill>
            <a:ln w="0">
              <a:noFill/>
            </a:ln>
          </p:spPr>
        </p:sp>
        <p:sp>
          <p:nvSpPr>
            <p:cNvPr id="201" name="state_layers_201">
              <a:extLst>
                <a:ext uri="{FF2B5EF4-FFF2-40B4-BE49-F238E27FC236}">
                  <a16:creationId xmlns:a16="http://schemas.microsoft.com/office/drawing/2014/main" id="{3836A528-F0A2-4BA8-83CC-6FD3E05EE7AA}"/>
                </a:ext>
              </a:extLst>
            </p:cNvPr>
            <p:cNvSpPr>
              <a:spLocks/>
            </p:cNvSpPr>
            <p:nvPr/>
          </p:nvSpPr>
          <p:spPr>
            <a:xfrm>
              <a:off x="10020300" y="3571875"/>
              <a:ext cx="685800" cy="314325"/>
            </a:xfrm>
            <a:custGeom>
              <a:avLst/>
              <a:gdLst/>
              <a:ahLst/>
              <a:cxnLst/>
              <a:rect l="0" t="0" r="0" b="0"/>
              <a:pathLst>
                <a:path w="685800" h="314325">
                  <a:moveTo>
                    <a:pt x="0" y="152400"/>
                  </a:moveTo>
                  <a:lnTo>
                    <a:pt x="342900" y="0"/>
                  </a:lnTo>
                  <a:lnTo>
                    <a:pt x="685800" y="152400"/>
                  </a:lnTo>
                  <a:lnTo>
                    <a:pt x="342900" y="314325"/>
                  </a:lnTo>
                  <a:close/>
                </a:path>
              </a:pathLst>
            </a:custGeom>
            <a:solidFill>
              <a:srgbClr val="E1E1F1"/>
            </a:solidFill>
            <a:ln w="0">
              <a:noFill/>
            </a:ln>
          </p:spPr>
        </p:sp>
        <p:sp>
          <p:nvSpPr>
            <p:cNvPr id="202" name="rect_202">
              <a:extLst>
                <a:ext uri="{FF2B5EF4-FFF2-40B4-BE49-F238E27FC236}">
                  <a16:creationId xmlns:a16="http://schemas.microsoft.com/office/drawing/2014/main" id="{FB08AF87-D982-4691-815E-4123E3225530}"/>
                </a:ext>
              </a:extLst>
            </p:cNvPr>
            <p:cNvSpPr>
              <a:spLocks/>
            </p:cNvSpPr>
            <p:nvPr/>
          </p:nvSpPr>
          <p:spPr>
            <a:xfrm>
              <a:off x="9744075" y="4048125"/>
              <a:ext cx="66675" cy="66675"/>
            </a:xfrm>
            <a:prstGeom prst="rect">
              <a:avLst/>
            </a:prstGeom>
            <a:noFill/>
            <a:ln w="7620">
              <a:solidFill>
                <a:srgbClr val="9187B1"/>
              </a:solidFill>
              <a:prstDash val="solid"/>
            </a:ln>
          </p:spPr>
        </p:sp>
        <p:sp>
          <p:nvSpPr>
            <p:cNvPr id="203" name="textbox_203">
              <a:extLst>
                <a:ext uri="{FF2B5EF4-FFF2-40B4-BE49-F238E27FC236}">
                  <a16:creationId xmlns:a16="http://schemas.microsoft.com/office/drawing/2014/main" id="{3F9AB44F-A4D9-4280-B118-06D22CA1C910}"/>
                </a:ext>
              </a:extLst>
            </p:cNvPr>
            <p:cNvSpPr>
              <a:spLocks/>
            </p:cNvSpPr>
            <p:nvPr/>
          </p:nvSpPr>
          <p:spPr>
            <a:xfrm>
              <a:off x="9877425" y="4010025"/>
              <a:ext cx="126682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Update candidate scores</a:t>
              </a:r>
            </a:p>
          </p:txBody>
        </p:sp>
        <p:sp>
          <p:nvSpPr>
            <p:cNvPr id="204" name="rect_204">
              <a:extLst>
                <a:ext uri="{FF2B5EF4-FFF2-40B4-BE49-F238E27FC236}">
                  <a16:creationId xmlns:a16="http://schemas.microsoft.com/office/drawing/2014/main" id="{7C85F1ED-A113-436E-8A67-199343519214}"/>
                </a:ext>
              </a:extLst>
            </p:cNvPr>
            <p:cNvSpPr>
              <a:spLocks/>
            </p:cNvSpPr>
            <p:nvPr/>
          </p:nvSpPr>
          <p:spPr>
            <a:xfrm>
              <a:off x="9744075" y="4219575"/>
              <a:ext cx="66675" cy="66675"/>
            </a:xfrm>
            <a:prstGeom prst="rect">
              <a:avLst/>
            </a:prstGeom>
            <a:noFill/>
            <a:ln w="7620">
              <a:solidFill>
                <a:srgbClr val="9187B1"/>
              </a:solidFill>
              <a:prstDash val="solid"/>
            </a:ln>
          </p:spPr>
        </p:sp>
        <p:sp>
          <p:nvSpPr>
            <p:cNvPr id="205" name="textbox_205">
              <a:extLst>
                <a:ext uri="{FF2B5EF4-FFF2-40B4-BE49-F238E27FC236}">
                  <a16:creationId xmlns:a16="http://schemas.microsoft.com/office/drawing/2014/main" id="{1F788560-20D7-42A0-B974-0B454AA1CEB8}"/>
                </a:ext>
              </a:extLst>
            </p:cNvPr>
            <p:cNvSpPr>
              <a:spLocks/>
            </p:cNvSpPr>
            <p:nvPr/>
          </p:nvSpPr>
          <p:spPr>
            <a:xfrm>
              <a:off x="9877425" y="4181475"/>
              <a:ext cx="126682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Adapt selection strategy</a:t>
              </a:r>
            </a:p>
          </p:txBody>
        </p:sp>
        <p:sp>
          <p:nvSpPr>
            <p:cNvPr id="206" name="rect_206">
              <a:extLst>
                <a:ext uri="{FF2B5EF4-FFF2-40B4-BE49-F238E27FC236}">
                  <a16:creationId xmlns:a16="http://schemas.microsoft.com/office/drawing/2014/main" id="{C38B78DB-92CF-4A8A-A092-806F2B39BFD8}"/>
                </a:ext>
              </a:extLst>
            </p:cNvPr>
            <p:cNvSpPr>
              <a:spLocks/>
            </p:cNvSpPr>
            <p:nvPr/>
          </p:nvSpPr>
          <p:spPr>
            <a:xfrm>
              <a:off x="9744075" y="4391025"/>
              <a:ext cx="66675" cy="66675"/>
            </a:xfrm>
            <a:prstGeom prst="rect">
              <a:avLst/>
            </a:prstGeom>
            <a:noFill/>
            <a:ln w="7620">
              <a:solidFill>
                <a:srgbClr val="9187B1"/>
              </a:solidFill>
              <a:prstDash val="solid"/>
            </a:ln>
          </p:spPr>
        </p:sp>
        <p:sp>
          <p:nvSpPr>
            <p:cNvPr id="207" name="textbox_207">
              <a:extLst>
                <a:ext uri="{FF2B5EF4-FFF2-40B4-BE49-F238E27FC236}">
                  <a16:creationId xmlns:a16="http://schemas.microsoft.com/office/drawing/2014/main" id="{E06B9ED4-07A6-4814-BD79-FA614C8883B3}"/>
                </a:ext>
              </a:extLst>
            </p:cNvPr>
            <p:cNvSpPr>
              <a:spLocks/>
            </p:cNvSpPr>
            <p:nvPr/>
          </p:nvSpPr>
          <p:spPr>
            <a:xfrm>
              <a:off x="9877425" y="4352925"/>
              <a:ext cx="1266825" cy="2381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67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Inform the next experiment</a:t>
              </a:r>
            </a:p>
          </p:txBody>
        </p:sp>
      </p:grpSp>
      <p:sp>
        <p:nvSpPr>
          <p:cNvPr id="208" name="native_curve_208">
            <a:extLst>
              <a:ext uri="{FF2B5EF4-FFF2-40B4-BE49-F238E27FC236}">
                <a16:creationId xmlns:a16="http://schemas.microsoft.com/office/drawing/2014/main" id="{A0732635-7C49-4872-8E71-0E177BECBCCB}"/>
              </a:ext>
            </a:extLst>
          </p:cNvPr>
          <p:cNvSpPr>
            <a:spLocks/>
          </p:cNvSpPr>
          <p:nvPr/>
        </p:nvSpPr>
        <p:spPr>
          <a:xfrm>
            <a:off x="9648825" y="1285875"/>
            <a:ext cx="238125" cy="953"/>
          </a:xfrm>
          <a:custGeom>
            <a:avLst/>
            <a:gdLst/>
            <a:ahLst/>
            <a:cxnLst/>
            <a:rect l="0" t="0" r="0" b="0"/>
            <a:pathLst>
              <a:path w="238125" h="953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12383">
            <a:solidFill>
              <a:srgbClr val="8784B8"/>
            </a:solidFill>
            <a:prstDash val="solid"/>
          </a:ln>
        </p:spPr>
      </p:sp>
      <p:sp>
        <p:nvSpPr>
          <p:cNvPr id="209" name="arrow_tip_209">
            <a:extLst>
              <a:ext uri="{FF2B5EF4-FFF2-40B4-BE49-F238E27FC236}">
                <a16:creationId xmlns:a16="http://schemas.microsoft.com/office/drawing/2014/main" id="{BD8EA849-F8D6-4819-AF3B-A936D2CBF42A}"/>
              </a:ext>
            </a:extLst>
          </p:cNvPr>
          <p:cNvSpPr>
            <a:spLocks/>
          </p:cNvSpPr>
          <p:nvPr/>
        </p:nvSpPr>
        <p:spPr>
          <a:xfrm>
            <a:off x="9820275" y="1251585"/>
            <a:ext cx="66675" cy="68580"/>
          </a:xfrm>
          <a:custGeom>
            <a:avLst/>
            <a:gdLst/>
            <a:ahLst/>
            <a:cxnLst/>
            <a:rect l="0" t="0" r="0" b="0"/>
            <a:pathLst>
              <a:path w="66675" h="68580">
                <a:moveTo>
                  <a:pt x="66675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>
            <a:srgbClr val="8784B8"/>
          </a:solidFill>
          <a:ln w="0">
            <a:noFill/>
          </a:ln>
        </p:spPr>
      </p:sp>
      <p:sp>
        <p:nvSpPr>
          <p:cNvPr id="210" name="textbox_210">
            <a:extLst>
              <a:ext uri="{FF2B5EF4-FFF2-40B4-BE49-F238E27FC236}">
                <a16:creationId xmlns:a16="http://schemas.microsoft.com/office/drawing/2014/main" id="{C240BF6F-0DFA-423C-836C-B41755F60A2F}"/>
              </a:ext>
            </a:extLst>
          </p:cNvPr>
          <p:cNvSpPr>
            <a:spLocks/>
          </p:cNvSpPr>
          <p:nvPr/>
        </p:nvSpPr>
        <p:spPr>
          <a:xfrm>
            <a:off x="9991725" y="1209675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25" b="0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825" b="0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Before training</a:t>
            </a:r>
          </a:p>
        </p:txBody>
      </p:sp>
      <p:sp>
        <p:nvSpPr>
          <p:cNvPr id="211" name="native_curve_211">
            <a:extLst>
              <a:ext uri="{FF2B5EF4-FFF2-40B4-BE49-F238E27FC236}">
                <a16:creationId xmlns:a16="http://schemas.microsoft.com/office/drawing/2014/main" id="{089B366C-3B6F-47DB-AB21-81BFE3AC0870}"/>
              </a:ext>
            </a:extLst>
          </p:cNvPr>
          <p:cNvSpPr>
            <a:spLocks/>
          </p:cNvSpPr>
          <p:nvPr/>
        </p:nvSpPr>
        <p:spPr>
          <a:xfrm>
            <a:off x="9648825" y="1581150"/>
            <a:ext cx="238125" cy="953"/>
          </a:xfrm>
          <a:custGeom>
            <a:avLst/>
            <a:gdLst/>
            <a:ahLst/>
            <a:cxnLst/>
            <a:rect l="0" t="0" r="0" b="0"/>
            <a:pathLst>
              <a:path w="238125" h="953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12383">
            <a:solidFill>
              <a:srgbClr val="9C5875"/>
            </a:solidFill>
            <a:prstDash val="solid"/>
          </a:ln>
        </p:spPr>
      </p:sp>
      <p:sp>
        <p:nvSpPr>
          <p:cNvPr id="212" name="arrow_tip_212">
            <a:extLst>
              <a:ext uri="{FF2B5EF4-FFF2-40B4-BE49-F238E27FC236}">
                <a16:creationId xmlns:a16="http://schemas.microsoft.com/office/drawing/2014/main" id="{2A287CFA-ADE7-4B9E-BF88-D5E585AB53D6}"/>
              </a:ext>
            </a:extLst>
          </p:cNvPr>
          <p:cNvSpPr>
            <a:spLocks/>
          </p:cNvSpPr>
          <p:nvPr/>
        </p:nvSpPr>
        <p:spPr>
          <a:xfrm>
            <a:off x="9820275" y="1546860"/>
            <a:ext cx="66675" cy="68580"/>
          </a:xfrm>
          <a:custGeom>
            <a:avLst/>
            <a:gdLst/>
            <a:ahLst/>
            <a:cxnLst/>
            <a:rect l="0" t="0" r="0" b="0"/>
            <a:pathLst>
              <a:path w="66675" h="68580">
                <a:moveTo>
                  <a:pt x="66675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>
            <a:srgbClr val="9C5875"/>
          </a:solidFill>
          <a:ln w="0">
            <a:noFill/>
          </a:ln>
        </p:spPr>
      </p:sp>
      <p:sp>
        <p:nvSpPr>
          <p:cNvPr id="213" name="textbox_213">
            <a:extLst>
              <a:ext uri="{FF2B5EF4-FFF2-40B4-BE49-F238E27FC236}">
                <a16:creationId xmlns:a16="http://schemas.microsoft.com/office/drawing/2014/main" id="{B5924F2A-AE73-4EAA-8798-6FF408C7D4AF}"/>
              </a:ext>
            </a:extLst>
          </p:cNvPr>
          <p:cNvSpPr>
            <a:spLocks/>
          </p:cNvSpPr>
          <p:nvPr/>
        </p:nvSpPr>
        <p:spPr>
          <a:xfrm>
            <a:off x="9991725" y="15049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25" b="0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825" b="0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After execution</a:t>
            </a:r>
          </a:p>
        </p:txBody>
      </p:sp>
      <p:sp>
        <p:nvSpPr>
          <p:cNvPr id="214" name="native_curve_214">
            <a:extLst>
              <a:ext uri="{FF2B5EF4-FFF2-40B4-BE49-F238E27FC236}">
                <a16:creationId xmlns:a16="http://schemas.microsoft.com/office/drawing/2014/main" id="{153F6429-E272-49DE-8B05-35EB7D081949}"/>
              </a:ext>
            </a:extLst>
          </p:cNvPr>
          <p:cNvSpPr>
            <a:spLocks/>
          </p:cNvSpPr>
          <p:nvPr/>
        </p:nvSpPr>
        <p:spPr>
          <a:xfrm>
            <a:off x="9648825" y="1876425"/>
            <a:ext cx="238125" cy="953"/>
          </a:xfrm>
          <a:custGeom>
            <a:avLst/>
            <a:gdLst/>
            <a:ahLst/>
            <a:cxnLst/>
            <a:rect l="0" t="0" r="0" b="0"/>
            <a:pathLst>
              <a:path w="238125" h="953">
                <a:moveTo>
                  <a:pt x="0" y="0"/>
                </a:moveTo>
                <a:lnTo>
                  <a:pt x="238125" y="0"/>
                </a:lnTo>
              </a:path>
            </a:pathLst>
          </a:custGeom>
          <a:noFill/>
          <a:ln w="12383">
            <a:solidFill>
              <a:srgbClr val="38385B"/>
            </a:solidFill>
            <a:prstDash val="solid"/>
          </a:ln>
        </p:spPr>
      </p:sp>
      <p:sp>
        <p:nvSpPr>
          <p:cNvPr id="215" name="arrow_tip_215">
            <a:extLst>
              <a:ext uri="{FF2B5EF4-FFF2-40B4-BE49-F238E27FC236}">
                <a16:creationId xmlns:a16="http://schemas.microsoft.com/office/drawing/2014/main" id="{9F29DC0B-1F76-4C09-AD0E-107FE0789F0E}"/>
              </a:ext>
            </a:extLst>
          </p:cNvPr>
          <p:cNvSpPr>
            <a:spLocks/>
          </p:cNvSpPr>
          <p:nvPr/>
        </p:nvSpPr>
        <p:spPr>
          <a:xfrm>
            <a:off x="9820275" y="1842135"/>
            <a:ext cx="66675" cy="68580"/>
          </a:xfrm>
          <a:custGeom>
            <a:avLst/>
            <a:gdLst/>
            <a:ahLst/>
            <a:cxnLst/>
            <a:rect l="0" t="0" r="0" b="0"/>
            <a:pathLst>
              <a:path w="66675" h="68580">
                <a:moveTo>
                  <a:pt x="66675" y="34290"/>
                </a:moveTo>
                <a:lnTo>
                  <a:pt x="0" y="68580"/>
                </a:lnTo>
                <a:lnTo>
                  <a:pt x="0" y="0"/>
                </a:lnTo>
                <a:close/>
              </a:path>
            </a:pathLst>
          </a:custGeom>
          <a:solidFill>
            <a:srgbClr val="38385B"/>
          </a:solidFill>
          <a:ln w="0">
            <a:noFill/>
          </a:ln>
        </p:spPr>
      </p:sp>
      <p:sp>
        <p:nvSpPr>
          <p:cNvPr id="216" name="textbox_216">
            <a:extLst>
              <a:ext uri="{FF2B5EF4-FFF2-40B4-BE49-F238E27FC236}">
                <a16:creationId xmlns:a16="http://schemas.microsoft.com/office/drawing/2014/main" id="{069D6EF5-E00C-4F5F-AF89-D62D0343864D}"/>
              </a:ext>
            </a:extLst>
          </p:cNvPr>
          <p:cNvSpPr>
            <a:spLocks/>
          </p:cNvSpPr>
          <p:nvPr/>
        </p:nvSpPr>
        <p:spPr>
          <a:xfrm>
            <a:off x="9991725" y="1800225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25" b="0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825" b="0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Combined state</a:t>
            </a:r>
          </a:p>
        </p:txBody>
      </p:sp>
      <p:sp>
        <p:nvSpPr>
          <p:cNvPr id="217" name="textbox_217">
            <a:extLst>
              <a:ext uri="{FF2B5EF4-FFF2-40B4-BE49-F238E27FC236}">
                <a16:creationId xmlns:a16="http://schemas.microsoft.com/office/drawing/2014/main" id="{E8469AF7-637F-4E0F-810F-0FF77383BBA7}"/>
              </a:ext>
            </a:extLst>
          </p:cNvPr>
          <p:cNvSpPr>
            <a:spLocks/>
          </p:cNvSpPr>
          <p:nvPr/>
        </p:nvSpPr>
        <p:spPr>
          <a:xfrm>
            <a:off x="228600" y="6143625"/>
            <a:ext cx="10953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82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82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Proposed workflow; plots are schematic.  真实预测产物产生残差；当前选择只能使用当时可见的信息。</a:t>
            </a:r>
          </a:p>
        </p:txBody>
      </p:sp>
    </p:spTree>
    <p:extLst>
      <p:ext uri="{BB962C8B-B14F-4D97-AF65-F5344CB8AC3E}">
        <p14:creationId xmlns:p14="http://schemas.microsoft.com/office/powerpoint/2010/main" val="736686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_1">
            <a:extLst>
              <a:ext uri="{FF2B5EF4-FFF2-40B4-BE49-F238E27FC236}">
                <a16:creationId xmlns:a16="http://schemas.microsoft.com/office/drawing/2014/main" id="{FFCAF2D0-8AFF-4687-B8F2-D821917105E4}"/>
              </a:ext>
            </a:extLst>
          </p:cNvPr>
          <p:cNvSpPr>
            <a:spLocks/>
          </p:cNvSpPr>
          <p:nvPr/>
        </p:nvSpPr>
        <p:spPr>
          <a:xfrm>
            <a:off x="3714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01  研究问题</a:t>
            </a:r>
          </a:p>
        </p:txBody>
      </p:sp>
      <p:sp>
        <p:nvSpPr>
          <p:cNvPr id="2" name="textbox_2">
            <a:extLst>
              <a:ext uri="{FF2B5EF4-FFF2-40B4-BE49-F238E27FC236}">
                <a16:creationId xmlns:a16="http://schemas.microsoft.com/office/drawing/2014/main" id="{E42B6167-D72A-421F-B347-8878C6316C5E}"/>
              </a:ext>
            </a:extLst>
          </p:cNvPr>
          <p:cNvSpPr>
            <a:spLocks/>
          </p:cNvSpPr>
          <p:nvPr/>
        </p:nvSpPr>
        <p:spPr>
          <a:xfrm>
            <a:off x="251460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02  对象与基础</a:t>
            </a:r>
          </a:p>
        </p:txBody>
      </p:sp>
      <p:sp>
        <p:nvSpPr>
          <p:cNvPr id="3" name="textbox_3">
            <a:extLst>
              <a:ext uri="{FF2B5EF4-FFF2-40B4-BE49-F238E27FC236}">
                <a16:creationId xmlns:a16="http://schemas.microsoft.com/office/drawing/2014/main" id="{5495683E-4946-4259-A518-2750811F0ED1}"/>
              </a:ext>
            </a:extLst>
          </p:cNvPr>
          <p:cNvSpPr>
            <a:spLocks/>
          </p:cNvSpPr>
          <p:nvPr/>
        </p:nvSpPr>
        <p:spPr>
          <a:xfrm>
            <a:off x="465772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03  方法与机制</a:t>
            </a:r>
          </a:p>
        </p:txBody>
      </p:sp>
      <p:sp>
        <p:nvSpPr>
          <p:cNvPr id="4" name="rect_4">
            <a:extLst>
              <a:ext uri="{FF2B5EF4-FFF2-40B4-BE49-F238E27FC236}">
                <a16:creationId xmlns:a16="http://schemas.microsoft.com/office/drawing/2014/main" id="{59EC82CD-8067-40F7-B621-D3F3E340B8A2}"/>
              </a:ext>
            </a:extLst>
          </p:cNvPr>
          <p:cNvSpPr>
            <a:spLocks/>
          </p:cNvSpPr>
          <p:nvPr/>
        </p:nvSpPr>
        <p:spPr>
          <a:xfrm>
            <a:off x="4657725" y="447675"/>
            <a:ext cx="1238250" cy="2857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5" name="textbox_5">
            <a:extLst>
              <a:ext uri="{FF2B5EF4-FFF2-40B4-BE49-F238E27FC236}">
                <a16:creationId xmlns:a16="http://schemas.microsoft.com/office/drawing/2014/main" id="{F944DCF7-604F-4D9B-B9A1-86E373EC98E2}"/>
              </a:ext>
            </a:extLst>
          </p:cNvPr>
          <p:cNvSpPr>
            <a:spLocks/>
          </p:cNvSpPr>
          <p:nvPr/>
        </p:nvSpPr>
        <p:spPr>
          <a:xfrm>
            <a:off x="680085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04  实验与证据</a:t>
            </a:r>
          </a:p>
        </p:txBody>
      </p:sp>
      <p:sp>
        <p:nvSpPr>
          <p:cNvPr id="6" name="textbox_6">
            <a:extLst>
              <a:ext uri="{FF2B5EF4-FFF2-40B4-BE49-F238E27FC236}">
                <a16:creationId xmlns:a16="http://schemas.microsoft.com/office/drawing/2014/main" id="{B659394B-606E-49EA-895A-94136F4D714D}"/>
              </a:ext>
            </a:extLst>
          </p:cNvPr>
          <p:cNvSpPr>
            <a:spLocks/>
          </p:cNvSpPr>
          <p:nvPr/>
        </p:nvSpPr>
        <p:spPr>
          <a:xfrm>
            <a:off x="89439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05  实施与产出</a:t>
            </a:r>
          </a:p>
        </p:txBody>
      </p:sp>
      <p:sp>
        <p:nvSpPr>
          <p:cNvPr id="7" name="line_7">
            <a:extLst>
              <a:ext uri="{FF2B5EF4-FFF2-40B4-BE49-F238E27FC236}">
                <a16:creationId xmlns:a16="http://schemas.microsoft.com/office/drawing/2014/main" id="{1FAE1B3E-39CA-4E25-A6DF-7F86FAAB2D0A}"/>
              </a:ext>
            </a:extLst>
          </p:cNvPr>
          <p:cNvSpPr>
            <a:spLocks/>
          </p:cNvSpPr>
          <p:nvPr/>
        </p:nvSpPr>
        <p:spPr>
          <a:xfrm>
            <a:off x="371475" y="476250"/>
            <a:ext cx="10677525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8" name="slide_title">
            <a:extLst>
              <a:ext uri="{FF2B5EF4-FFF2-40B4-BE49-F238E27FC236}">
                <a16:creationId xmlns:a16="http://schemas.microsoft.com/office/drawing/2014/main" id="{BDE43142-79FC-4597-9FD3-1DAD4DCEAB2A}"/>
              </a:ext>
            </a:extLst>
          </p:cNvPr>
          <p:cNvSpPr>
            <a:spLocks/>
          </p:cNvSpPr>
          <p:nvPr/>
        </p:nvSpPr>
        <p:spPr>
          <a:xfrm>
            <a:off x="361950" y="685800"/>
            <a:ext cx="10706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defPPr>
          </a:lstStyle>
          <a:p>
            <a: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pP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06</a:t>
            </a:r>
            <a:r>
              <a:rPr sz="2175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  </a:t>
            </a: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MAE</a:t>
            </a:r>
            <a:r>
              <a:rPr sz="2175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相同，误差的时间结构也可能完全不同</a:t>
            </a:r>
          </a:p>
        </p:txBody>
      </p:sp>
      <p:sp>
        <p:nvSpPr>
          <p:cNvPr id="9" name="textbox_8">
            <a:extLst>
              <a:ext uri="{FF2B5EF4-FFF2-40B4-BE49-F238E27FC236}">
                <a16:creationId xmlns:a16="http://schemas.microsoft.com/office/drawing/2014/main" id="{458F48F9-5875-4A79-BA9B-2EBCD709524D}"/>
              </a:ext>
            </a:extLst>
          </p:cNvPr>
          <p:cNvSpPr>
            <a:spLocks/>
          </p:cNvSpPr>
          <p:nvPr/>
        </p:nvSpPr>
        <p:spPr>
          <a:xfrm>
            <a:off x="381000" y="1133475"/>
            <a:ext cx="10668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教学构造：两组各 48 个残差，均为 ±1；两者 MAE 与 RMSE 均等于 1。</a:t>
            </a:r>
          </a:p>
        </p:txBody>
      </p:sp>
      <p:graphicFrame>
        <p:nvGraphicFramePr>
          <p:cNvPr id="10" name="Chart">
            <a:extLst>
              <a:ext uri="{FF2B5EF4-FFF2-40B4-BE49-F238E27FC236}">
                <a16:creationId xmlns:a16="http://schemas.microsoft.com/office/drawing/2014/main" id="{24ACB324-1D5B-4355-A1ED-CAE563251A6B}"/>
              </a:ext>
            </a:extLst>
          </p:cNvPr>
          <p:cNvGraphicFramePr/>
          <p:nvPr/>
        </p:nvGraphicFramePr>
        <p:xfrm>
          <a:off x="361950" y="1447800"/>
          <a:ext cx="3575304" cy="1831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">
            <a:extLst>
              <a:ext uri="{FF2B5EF4-FFF2-40B4-BE49-F238E27FC236}">
                <a16:creationId xmlns:a16="http://schemas.microsoft.com/office/drawing/2014/main" id="{6ED465AA-F5C1-4128-B4F1-17337EB52693}"/>
              </a:ext>
            </a:extLst>
          </p:cNvPr>
          <p:cNvGraphicFramePr/>
          <p:nvPr/>
        </p:nvGraphicFramePr>
        <p:xfrm>
          <a:off x="361950" y="3518154"/>
          <a:ext cx="3575304" cy="1831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Chart">
            <a:extLst>
              <a:ext uri="{FF2B5EF4-FFF2-40B4-BE49-F238E27FC236}">
                <a16:creationId xmlns:a16="http://schemas.microsoft.com/office/drawing/2014/main" id="{7E3B23E4-1CAE-44B5-950C-0BFE0D76F3B1}"/>
              </a:ext>
            </a:extLst>
          </p:cNvPr>
          <p:cNvGraphicFramePr/>
          <p:nvPr/>
        </p:nvGraphicFramePr>
        <p:xfrm>
          <a:off x="4160711" y="1447800"/>
          <a:ext cx="3575304" cy="1831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art">
            <a:extLst>
              <a:ext uri="{FF2B5EF4-FFF2-40B4-BE49-F238E27FC236}">
                <a16:creationId xmlns:a16="http://schemas.microsoft.com/office/drawing/2014/main" id="{2E537589-EDBC-4CD1-8D51-5BAF928E18AE}"/>
              </a:ext>
            </a:extLst>
          </p:cNvPr>
          <p:cNvGraphicFramePr/>
          <p:nvPr/>
        </p:nvGraphicFramePr>
        <p:xfrm>
          <a:off x="4160711" y="3518154"/>
          <a:ext cx="3575304" cy="1831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33" name="page_7_stage_1">
            <a:extLst>
              <a:ext uri="{FF2B5EF4-FFF2-40B4-BE49-F238E27FC236}">
                <a16:creationId xmlns:a16="http://schemas.microsoft.com/office/drawing/2014/main" id="{E3980AB2-2A60-B5A2-46D4-686F38A0C00E}"/>
              </a:ext>
            </a:extLst>
          </p:cNvPr>
          <p:cNvGrpSpPr/>
          <p:nvPr/>
        </p:nvGrpSpPr>
        <p:grpSpPr>
          <a:xfrm>
            <a:off x="8058150" y="1485900"/>
            <a:ext cx="3000375" cy="3971925"/>
            <a:chOff x="8058150" y="1485900"/>
            <a:chExt cx="3000375" cy="3971925"/>
          </a:xfrm>
        </p:grpSpPr>
        <p:sp>
          <p:nvSpPr>
            <p:cNvPr id="14" name="rect_9">
              <a:extLst>
                <a:ext uri="{FF2B5EF4-FFF2-40B4-BE49-F238E27FC236}">
                  <a16:creationId xmlns:a16="http://schemas.microsoft.com/office/drawing/2014/main" id="{1E849896-E136-495E-A871-B630C44037EB}"/>
                </a:ext>
              </a:extLst>
            </p:cNvPr>
            <p:cNvSpPr>
              <a:spLocks/>
            </p:cNvSpPr>
            <p:nvPr/>
          </p:nvSpPr>
          <p:spPr>
            <a:xfrm>
              <a:off x="8058150" y="1485900"/>
              <a:ext cx="3000375" cy="1733550"/>
            </a:xfrm>
            <a:prstGeom prst="rect">
              <a:avLst/>
            </a:prstGeom>
            <a:solidFill>
              <a:srgbClr val="FAFBFC"/>
            </a:solidFill>
            <a:ln w="9525">
              <a:solidFill>
                <a:srgbClr val="D8D9E3"/>
              </a:solidFill>
              <a:prstDash val="solid"/>
            </a:ln>
          </p:spPr>
        </p:sp>
        <p:sp>
          <p:nvSpPr>
            <p:cNvPr id="15" name="rect_10">
              <a:extLst>
                <a:ext uri="{FF2B5EF4-FFF2-40B4-BE49-F238E27FC236}">
                  <a16:creationId xmlns:a16="http://schemas.microsoft.com/office/drawing/2014/main" id="{662973A6-4630-473B-8711-D60E651F6C9E}"/>
                </a:ext>
              </a:extLst>
            </p:cNvPr>
            <p:cNvSpPr>
              <a:spLocks/>
            </p:cNvSpPr>
            <p:nvPr/>
          </p:nvSpPr>
          <p:spPr>
            <a:xfrm>
              <a:off x="8058150" y="1485900"/>
              <a:ext cx="3000375" cy="295275"/>
            </a:xfrm>
            <a:prstGeom prst="rect">
              <a:avLst/>
            </a:prstGeom>
            <a:solidFill>
              <a:srgbClr val="38385B"/>
            </a:solidFill>
            <a:ln w="0">
              <a:noFill/>
              <a:prstDash val="solid"/>
            </a:ln>
          </p:spPr>
        </p:sp>
        <p:sp>
          <p:nvSpPr>
            <p:cNvPr id="16" name="textbox_11">
              <a:extLst>
                <a:ext uri="{FF2B5EF4-FFF2-40B4-BE49-F238E27FC236}">
                  <a16:creationId xmlns:a16="http://schemas.microsoft.com/office/drawing/2014/main" id="{77DA62EA-6D69-4930-9BD0-481D20C1B920}"/>
                </a:ext>
              </a:extLst>
            </p:cNvPr>
            <p:cNvSpPr>
              <a:spLocks/>
            </p:cNvSpPr>
            <p:nvPr/>
          </p:nvSpPr>
          <p:spPr>
            <a:xfrm>
              <a:off x="8172450" y="1543050"/>
              <a:ext cx="1765935" cy="27432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3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3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图里能直接读到什么？</a:t>
              </a:r>
            </a:p>
          </p:txBody>
        </p:sp>
        <p:sp>
          <p:nvSpPr>
            <p:cNvPr id="17" name="textbox_12">
              <a:extLst>
                <a:ext uri="{FF2B5EF4-FFF2-40B4-BE49-F238E27FC236}">
                  <a16:creationId xmlns:a16="http://schemas.microsoft.com/office/drawing/2014/main" id="{A59D67B5-B671-4F92-A34D-3139621FD54F}"/>
                </a:ext>
              </a:extLst>
            </p:cNvPr>
            <p:cNvSpPr>
              <a:spLocks/>
            </p:cNvSpPr>
            <p:nvPr/>
          </p:nvSpPr>
          <p:spPr>
            <a:xfrm>
              <a:off x="8201025" y="1924050"/>
              <a:ext cx="2472309" cy="27432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3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3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左侧正负交替；右侧连续一段偏</a:t>
              </a:r>
            </a:p>
          </p:txBody>
        </p:sp>
        <p:sp>
          <p:nvSpPr>
            <p:cNvPr id="18" name="textbox_13">
              <a:extLst>
                <a:ext uri="{FF2B5EF4-FFF2-40B4-BE49-F238E27FC236}">
                  <a16:creationId xmlns:a16="http://schemas.microsoft.com/office/drawing/2014/main" id="{72033288-0BF4-4D3A-953C-F2739C000CC8}"/>
                </a:ext>
              </a:extLst>
            </p:cNvPr>
            <p:cNvSpPr>
              <a:spLocks/>
            </p:cNvSpPr>
            <p:nvPr/>
          </p:nvSpPr>
          <p:spPr>
            <a:xfrm>
              <a:off x="8201025" y="2206943"/>
              <a:ext cx="1412748" cy="27432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3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3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高、另一段偏低。</a:t>
              </a:r>
            </a:p>
          </p:txBody>
        </p:sp>
        <p:sp>
          <p:nvSpPr>
            <p:cNvPr id="19" name="textbox_14">
              <a:extLst>
                <a:ext uri="{FF2B5EF4-FFF2-40B4-BE49-F238E27FC236}">
                  <a16:creationId xmlns:a16="http://schemas.microsoft.com/office/drawing/2014/main" id="{AD3B1F13-331C-4CDF-8706-1CD848C8CAC2}"/>
                </a:ext>
              </a:extLst>
            </p:cNvPr>
            <p:cNvSpPr>
              <a:spLocks/>
            </p:cNvSpPr>
            <p:nvPr/>
          </p:nvSpPr>
          <p:spPr>
            <a:xfrm>
              <a:off x="8201025" y="2489835"/>
              <a:ext cx="2648903" cy="27432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3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3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整体误差压缩掉了这些顺序信息。</a:t>
              </a:r>
            </a:p>
          </p:txBody>
        </p:sp>
        <p:sp>
          <p:nvSpPr>
            <p:cNvPr id="20" name="rect_15">
              <a:extLst>
                <a:ext uri="{FF2B5EF4-FFF2-40B4-BE49-F238E27FC236}">
                  <a16:creationId xmlns:a16="http://schemas.microsoft.com/office/drawing/2014/main" id="{A6C2960A-722E-433E-B670-56D50FA6561E}"/>
                </a:ext>
              </a:extLst>
            </p:cNvPr>
            <p:cNvSpPr>
              <a:spLocks/>
            </p:cNvSpPr>
            <p:nvPr/>
          </p:nvSpPr>
          <p:spPr>
            <a:xfrm>
              <a:off x="8058150" y="3390900"/>
              <a:ext cx="3000375" cy="2066925"/>
            </a:xfrm>
            <a:prstGeom prst="rect">
              <a:avLst/>
            </a:prstGeom>
            <a:solidFill>
              <a:srgbClr val="FAFBFC"/>
            </a:solidFill>
            <a:ln w="9525">
              <a:solidFill>
                <a:srgbClr val="D8D9E3"/>
              </a:solidFill>
              <a:prstDash val="solid"/>
            </a:ln>
          </p:spPr>
        </p:sp>
        <p:sp>
          <p:nvSpPr>
            <p:cNvPr id="21" name="rect_16">
              <a:extLst>
                <a:ext uri="{FF2B5EF4-FFF2-40B4-BE49-F238E27FC236}">
                  <a16:creationId xmlns:a16="http://schemas.microsoft.com/office/drawing/2014/main" id="{907C377A-5B1D-4FD5-BD58-FDFC14B24789}"/>
                </a:ext>
              </a:extLst>
            </p:cNvPr>
            <p:cNvSpPr>
              <a:spLocks/>
            </p:cNvSpPr>
            <p:nvPr/>
          </p:nvSpPr>
          <p:spPr>
            <a:xfrm>
              <a:off x="8058150" y="3390900"/>
              <a:ext cx="3000375" cy="295275"/>
            </a:xfrm>
            <a:prstGeom prst="rect">
              <a:avLst/>
            </a:prstGeom>
            <a:solidFill>
              <a:srgbClr val="38385B"/>
            </a:solidFill>
            <a:ln w="0">
              <a:noFill/>
              <a:prstDash val="solid"/>
            </a:ln>
          </p:spPr>
        </p:sp>
        <p:sp>
          <p:nvSpPr>
            <p:cNvPr id="22" name="textbox_17">
              <a:extLst>
                <a:ext uri="{FF2B5EF4-FFF2-40B4-BE49-F238E27FC236}">
                  <a16:creationId xmlns:a16="http://schemas.microsoft.com/office/drawing/2014/main" id="{EF9F747B-286D-45B1-B343-0EA9900CCB2D}"/>
                </a:ext>
              </a:extLst>
            </p:cNvPr>
            <p:cNvSpPr>
              <a:spLocks/>
            </p:cNvSpPr>
            <p:nvPr/>
          </p:nvSpPr>
          <p:spPr>
            <a:xfrm>
              <a:off x="8172450" y="3448050"/>
              <a:ext cx="1942529" cy="27432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3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3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研究要进一步回答什么？</a:t>
              </a:r>
            </a:p>
          </p:txBody>
        </p:sp>
        <p:sp>
          <p:nvSpPr>
            <p:cNvPr id="23" name="textbox_18">
              <a:extLst>
                <a:ext uri="{FF2B5EF4-FFF2-40B4-BE49-F238E27FC236}">
                  <a16:creationId xmlns:a16="http://schemas.microsoft.com/office/drawing/2014/main" id="{8FDEA37E-5896-4F87-ABFF-636D09DDD961}"/>
                </a:ext>
              </a:extLst>
            </p:cNvPr>
            <p:cNvSpPr>
              <a:spLocks/>
            </p:cNvSpPr>
            <p:nvPr/>
          </p:nvSpPr>
          <p:spPr>
            <a:xfrm>
              <a:off x="8201025" y="3829050"/>
              <a:ext cx="2648903" cy="27432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3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3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结构不同，是否能预测“换成哪个</a:t>
              </a:r>
            </a:p>
          </p:txBody>
        </p:sp>
        <p:sp>
          <p:nvSpPr>
            <p:cNvPr id="24" name="textbox_19">
              <a:extLst>
                <a:ext uri="{FF2B5EF4-FFF2-40B4-BE49-F238E27FC236}">
                  <a16:creationId xmlns:a16="http://schemas.microsoft.com/office/drawing/2014/main" id="{DF5AF1DA-B100-40A4-BCDB-821CBC1ACBDB}"/>
                </a:ext>
              </a:extLst>
            </p:cNvPr>
            <p:cNvSpPr>
              <a:spLocks/>
            </p:cNvSpPr>
            <p:nvPr/>
          </p:nvSpPr>
          <p:spPr>
            <a:xfrm>
              <a:off x="8201025" y="4111943"/>
              <a:ext cx="1236155" cy="27432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3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3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候选会改善”？</a:t>
              </a:r>
            </a:p>
          </p:txBody>
        </p:sp>
        <p:sp>
          <p:nvSpPr>
            <p:cNvPr id="25" name="textbox_20">
              <a:extLst>
                <a:ext uri="{FF2B5EF4-FFF2-40B4-BE49-F238E27FC236}">
                  <a16:creationId xmlns:a16="http://schemas.microsoft.com/office/drawing/2014/main" id="{999333C0-2D6B-4369-9A8D-5D6954E99D83}"/>
                </a:ext>
              </a:extLst>
            </p:cNvPr>
            <p:cNvSpPr>
              <a:spLocks/>
            </p:cNvSpPr>
            <p:nvPr/>
          </p:nvSpPr>
          <p:spPr>
            <a:xfrm>
              <a:off x="8201025" y="4394835"/>
              <a:ext cx="2648903" cy="27432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3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3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这需要真实跨任务实验，不能仅由</a:t>
              </a:r>
            </a:p>
          </p:txBody>
        </p:sp>
        <p:sp>
          <p:nvSpPr>
            <p:cNvPr id="26" name="textbox_21">
              <a:extLst>
                <a:ext uri="{FF2B5EF4-FFF2-40B4-BE49-F238E27FC236}">
                  <a16:creationId xmlns:a16="http://schemas.microsoft.com/office/drawing/2014/main" id="{31ACCA81-AA26-483B-94D6-21DF1518A4A9}"/>
                </a:ext>
              </a:extLst>
            </p:cNvPr>
            <p:cNvSpPr>
              <a:spLocks/>
            </p:cNvSpPr>
            <p:nvPr/>
          </p:nvSpPr>
          <p:spPr>
            <a:xfrm>
              <a:off x="8201025" y="4677728"/>
              <a:ext cx="1059561" cy="27432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3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3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示意图得出。</a:t>
              </a:r>
            </a:p>
          </p:txBody>
        </p:sp>
      </p:grpSp>
      <p:sp>
        <p:nvSpPr>
          <p:cNvPr id="27" name="line_22">
            <a:extLst>
              <a:ext uri="{FF2B5EF4-FFF2-40B4-BE49-F238E27FC236}">
                <a16:creationId xmlns:a16="http://schemas.microsoft.com/office/drawing/2014/main" id="{F4978321-6F20-4C87-B065-2E5CBFE3770C}"/>
              </a:ext>
            </a:extLst>
          </p:cNvPr>
          <p:cNvSpPr>
            <a:spLocks/>
          </p:cNvSpPr>
          <p:nvPr/>
        </p:nvSpPr>
        <p:spPr>
          <a:xfrm>
            <a:off x="371475" y="5800725"/>
            <a:ext cx="10687050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28" name="rect_23">
            <a:extLst>
              <a:ext uri="{FF2B5EF4-FFF2-40B4-BE49-F238E27FC236}">
                <a16:creationId xmlns:a16="http://schemas.microsoft.com/office/drawing/2014/main" id="{7397A72F-FC36-44C3-94D5-7C0AFEBEDC74}"/>
              </a:ext>
            </a:extLst>
          </p:cNvPr>
          <p:cNvSpPr>
            <a:spLocks/>
          </p:cNvSpPr>
          <p:nvPr/>
        </p:nvSpPr>
        <p:spPr>
          <a:xfrm>
            <a:off x="371475" y="5886450"/>
            <a:ext cx="38100" cy="20002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29" name="textbox_24">
            <a:extLst>
              <a:ext uri="{FF2B5EF4-FFF2-40B4-BE49-F238E27FC236}">
                <a16:creationId xmlns:a16="http://schemas.microsoft.com/office/drawing/2014/main" id="{F525BB04-774E-4E7A-988D-98CCE56C82FE}"/>
              </a:ext>
            </a:extLst>
          </p:cNvPr>
          <p:cNvSpPr>
            <a:spLocks/>
          </p:cNvSpPr>
          <p:nvPr/>
        </p:nvSpPr>
        <p:spPr>
          <a:xfrm>
            <a:off x="495300" y="5848350"/>
            <a:ext cx="1043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动机成立：误差标量会丢失结构；方法价值仍需 C 对 B 的实验证据。</a:t>
            </a:r>
          </a:p>
        </p:txBody>
      </p:sp>
      <p:sp>
        <p:nvSpPr>
          <p:cNvPr id="30" name="textbox_25">
            <a:extLst>
              <a:ext uri="{FF2B5EF4-FFF2-40B4-BE49-F238E27FC236}">
                <a16:creationId xmlns:a16="http://schemas.microsoft.com/office/drawing/2014/main" id="{DD567AEF-AB5B-4E31-B0B4-5F4172739E0B}"/>
              </a:ext>
            </a:extLst>
          </p:cNvPr>
          <p:cNvSpPr>
            <a:spLocks/>
          </p:cNvSpPr>
          <p:nvPr/>
        </p:nvSpPr>
        <p:spPr>
          <a:xfrm>
            <a:off x="371475" y="6219825"/>
            <a:ext cx="10287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数学教学构造；不是 ETTh1 实验结果。ACF 使用中心化残差、统一全长能量分母。</a:t>
            </a:r>
          </a:p>
        </p:txBody>
      </p:sp>
      <p:sp>
        <p:nvSpPr>
          <p:cNvPr id="31" name="textbox_26">
            <a:extLst>
              <a:ext uri="{FF2B5EF4-FFF2-40B4-BE49-F238E27FC236}">
                <a16:creationId xmlns:a16="http://schemas.microsoft.com/office/drawing/2014/main" id="{BF369196-C752-46FE-9F80-1AD2DDA2246C}"/>
              </a:ext>
            </a:extLst>
          </p:cNvPr>
          <p:cNvSpPr>
            <a:spLocks/>
          </p:cNvSpPr>
          <p:nvPr/>
        </p:nvSpPr>
        <p:spPr>
          <a:xfrm>
            <a:off x="10620375" y="619125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31921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_1">
            <a:extLst>
              <a:ext uri="{FF2B5EF4-FFF2-40B4-BE49-F238E27FC236}">
                <a16:creationId xmlns:a16="http://schemas.microsoft.com/office/drawing/2014/main" id="{89C6CF14-02E7-4522-A130-90757A91B617}"/>
              </a:ext>
            </a:extLst>
          </p:cNvPr>
          <p:cNvSpPr>
            <a:spLocks/>
          </p:cNvSpPr>
          <p:nvPr/>
        </p:nvSpPr>
        <p:spPr>
          <a:xfrm>
            <a:off x="3714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01  研究问题</a:t>
            </a:r>
          </a:p>
        </p:txBody>
      </p:sp>
      <p:sp>
        <p:nvSpPr>
          <p:cNvPr id="2" name="textbox_2">
            <a:extLst>
              <a:ext uri="{FF2B5EF4-FFF2-40B4-BE49-F238E27FC236}">
                <a16:creationId xmlns:a16="http://schemas.microsoft.com/office/drawing/2014/main" id="{712CFB5C-4798-4B71-BF77-4EE936F9DF55}"/>
              </a:ext>
            </a:extLst>
          </p:cNvPr>
          <p:cNvSpPr>
            <a:spLocks/>
          </p:cNvSpPr>
          <p:nvPr/>
        </p:nvSpPr>
        <p:spPr>
          <a:xfrm>
            <a:off x="251460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02  对象与基础</a:t>
            </a:r>
          </a:p>
        </p:txBody>
      </p:sp>
      <p:sp>
        <p:nvSpPr>
          <p:cNvPr id="3" name="textbox_3">
            <a:extLst>
              <a:ext uri="{FF2B5EF4-FFF2-40B4-BE49-F238E27FC236}">
                <a16:creationId xmlns:a16="http://schemas.microsoft.com/office/drawing/2014/main" id="{B1529CED-B11E-4200-A3F8-1A48FE02D55B}"/>
              </a:ext>
            </a:extLst>
          </p:cNvPr>
          <p:cNvSpPr>
            <a:spLocks/>
          </p:cNvSpPr>
          <p:nvPr/>
        </p:nvSpPr>
        <p:spPr>
          <a:xfrm>
            <a:off x="465772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03  方法与机制</a:t>
            </a:r>
          </a:p>
        </p:txBody>
      </p:sp>
      <p:sp>
        <p:nvSpPr>
          <p:cNvPr id="4" name="rect_4">
            <a:extLst>
              <a:ext uri="{FF2B5EF4-FFF2-40B4-BE49-F238E27FC236}">
                <a16:creationId xmlns:a16="http://schemas.microsoft.com/office/drawing/2014/main" id="{CF41184C-DFBC-4705-A49C-877F1D7FAB03}"/>
              </a:ext>
            </a:extLst>
          </p:cNvPr>
          <p:cNvSpPr>
            <a:spLocks/>
          </p:cNvSpPr>
          <p:nvPr/>
        </p:nvSpPr>
        <p:spPr>
          <a:xfrm>
            <a:off x="4657725" y="447675"/>
            <a:ext cx="1238250" cy="2857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5" name="textbox_5">
            <a:extLst>
              <a:ext uri="{FF2B5EF4-FFF2-40B4-BE49-F238E27FC236}">
                <a16:creationId xmlns:a16="http://schemas.microsoft.com/office/drawing/2014/main" id="{E8EAB099-B859-4BA8-925B-833B2F994167}"/>
              </a:ext>
            </a:extLst>
          </p:cNvPr>
          <p:cNvSpPr>
            <a:spLocks/>
          </p:cNvSpPr>
          <p:nvPr/>
        </p:nvSpPr>
        <p:spPr>
          <a:xfrm>
            <a:off x="680085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04  实验与证据</a:t>
            </a:r>
          </a:p>
        </p:txBody>
      </p:sp>
      <p:sp>
        <p:nvSpPr>
          <p:cNvPr id="6" name="textbox_6">
            <a:extLst>
              <a:ext uri="{FF2B5EF4-FFF2-40B4-BE49-F238E27FC236}">
                <a16:creationId xmlns:a16="http://schemas.microsoft.com/office/drawing/2014/main" id="{3FDF6F2D-6B48-4D47-8BA0-415CC1FD05A6}"/>
              </a:ext>
            </a:extLst>
          </p:cNvPr>
          <p:cNvSpPr>
            <a:spLocks/>
          </p:cNvSpPr>
          <p:nvPr/>
        </p:nvSpPr>
        <p:spPr>
          <a:xfrm>
            <a:off x="89439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05  实施与产出</a:t>
            </a:r>
          </a:p>
        </p:txBody>
      </p:sp>
      <p:sp>
        <p:nvSpPr>
          <p:cNvPr id="7" name="line_7">
            <a:extLst>
              <a:ext uri="{FF2B5EF4-FFF2-40B4-BE49-F238E27FC236}">
                <a16:creationId xmlns:a16="http://schemas.microsoft.com/office/drawing/2014/main" id="{E6A11792-FE09-4ADC-AABC-E86A5CD9C561}"/>
              </a:ext>
            </a:extLst>
          </p:cNvPr>
          <p:cNvSpPr>
            <a:spLocks/>
          </p:cNvSpPr>
          <p:nvPr/>
        </p:nvSpPr>
        <p:spPr>
          <a:xfrm>
            <a:off x="371475" y="476250"/>
            <a:ext cx="10677525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8" name="slide_title">
            <a:extLst>
              <a:ext uri="{FF2B5EF4-FFF2-40B4-BE49-F238E27FC236}">
                <a16:creationId xmlns:a16="http://schemas.microsoft.com/office/drawing/2014/main" id="{24D74BCB-1A76-4D01-A83D-3B7AA95EE748}"/>
              </a:ext>
            </a:extLst>
          </p:cNvPr>
          <p:cNvSpPr>
            <a:spLocks/>
          </p:cNvSpPr>
          <p:nvPr/>
        </p:nvSpPr>
        <p:spPr>
          <a:xfrm>
            <a:off x="361950" y="685800"/>
            <a:ext cx="10706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defPPr>
          </a:lstStyle>
          <a:p>
            <a: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pP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07</a:t>
            </a:r>
            <a:r>
              <a:rPr sz="2175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  </a:t>
            </a: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残差怎么提取，才能保留正确的时间含义？</a:t>
            </a:r>
          </a:p>
        </p:txBody>
      </p:sp>
      <p:sp>
        <p:nvSpPr>
          <p:cNvPr id="9" name="textbox_8">
            <a:extLst>
              <a:ext uri="{FF2B5EF4-FFF2-40B4-BE49-F238E27FC236}">
                <a16:creationId xmlns:a16="http://schemas.microsoft.com/office/drawing/2014/main" id="{97FE73AC-BA45-423D-9351-E7B6301CF5B6}"/>
              </a:ext>
            </a:extLst>
          </p:cNvPr>
          <p:cNvSpPr>
            <a:spLocks/>
          </p:cNvSpPr>
          <p:nvPr/>
        </p:nvSpPr>
        <p:spPr>
          <a:xfrm>
            <a:off x="381000" y="1133475"/>
            <a:ext cx="10668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预测残差 r(origin, h) = 真值 y(origin+h) − 预测 ŷ(origin,h)。</a:t>
            </a:r>
          </a:p>
        </p:txBody>
      </p:sp>
      <p:grpSp>
        <p:nvGrpSpPr>
          <p:cNvPr id="64" name="page_8_stage_1">
            <a:extLst>
              <a:ext uri="{FF2B5EF4-FFF2-40B4-BE49-F238E27FC236}">
                <a16:creationId xmlns:a16="http://schemas.microsoft.com/office/drawing/2014/main" id="{A61099DD-8F10-F099-631C-304B24841236}"/>
              </a:ext>
            </a:extLst>
          </p:cNvPr>
          <p:cNvGrpSpPr/>
          <p:nvPr/>
        </p:nvGrpSpPr>
        <p:grpSpPr>
          <a:xfrm>
            <a:off x="466725" y="1504950"/>
            <a:ext cx="4857750" cy="3905250"/>
            <a:chOff x="466725" y="1504950"/>
            <a:chExt cx="4857750" cy="3905250"/>
          </a:xfrm>
        </p:grpSpPr>
        <p:sp>
          <p:nvSpPr>
            <p:cNvPr id="10" name="textbox_9">
              <a:extLst>
                <a:ext uri="{FF2B5EF4-FFF2-40B4-BE49-F238E27FC236}">
                  <a16:creationId xmlns:a16="http://schemas.microsoft.com/office/drawing/2014/main" id="{62DFAC4F-B7F4-428B-B000-A538AA54FBD9}"/>
                </a:ext>
              </a:extLst>
            </p:cNvPr>
            <p:cNvSpPr>
              <a:spLocks/>
            </p:cNvSpPr>
            <p:nvPr/>
          </p:nvSpPr>
          <p:spPr>
            <a:xfrm>
              <a:off x="466725" y="1504950"/>
              <a:ext cx="4857750" cy="3333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9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9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9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预测残差保留两维索引</a:t>
              </a:r>
            </a:p>
          </p:txBody>
        </p:sp>
        <p:sp>
          <p:nvSpPr>
            <p:cNvPr id="11" name="textbox_10">
              <a:extLst>
                <a:ext uri="{FF2B5EF4-FFF2-40B4-BE49-F238E27FC236}">
                  <a16:creationId xmlns:a16="http://schemas.microsoft.com/office/drawing/2014/main" id="{22EC74B6-2A2B-4CBD-A56C-5DED2776E078}"/>
                </a:ext>
              </a:extLst>
            </p:cNvPr>
            <p:cNvSpPr>
              <a:spLocks/>
            </p:cNvSpPr>
            <p:nvPr/>
          </p:nvSpPr>
          <p:spPr>
            <a:xfrm>
              <a:off x="466725" y="1981200"/>
              <a:ext cx="4791075" cy="609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575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575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75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rPr>
                <a:t>r(origin, h) = y(origin+h) − ŷ(origin,h)</a:t>
              </a:r>
            </a:p>
          </p:txBody>
        </p:sp>
        <p:sp>
          <p:nvSpPr>
            <p:cNvPr id="12" name="textbox_11">
              <a:extLst>
                <a:ext uri="{FF2B5EF4-FFF2-40B4-BE49-F238E27FC236}">
                  <a16:creationId xmlns:a16="http://schemas.microsoft.com/office/drawing/2014/main" id="{19A9994B-9519-4DDF-9207-3414DE0F7A81}"/>
                </a:ext>
              </a:extLst>
            </p:cNvPr>
            <p:cNvSpPr>
              <a:spLocks/>
            </p:cNvSpPr>
            <p:nvPr/>
          </p:nvSpPr>
          <p:spPr>
            <a:xfrm>
              <a:off x="466725" y="2762250"/>
              <a:ext cx="923925" cy="3238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27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27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27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origin 1</a:t>
              </a:r>
            </a:p>
          </p:txBody>
        </p:sp>
        <p:sp>
          <p:nvSpPr>
            <p:cNvPr id="13" name="rect_12">
              <a:extLst>
                <a:ext uri="{FF2B5EF4-FFF2-40B4-BE49-F238E27FC236}">
                  <a16:creationId xmlns:a16="http://schemas.microsoft.com/office/drawing/2014/main" id="{AA1CD86D-1A9B-42BA-9731-2436AD2D80E4}"/>
                </a:ext>
              </a:extLst>
            </p:cNvPr>
            <p:cNvSpPr>
              <a:spLocks/>
            </p:cNvSpPr>
            <p:nvPr/>
          </p:nvSpPr>
          <p:spPr>
            <a:xfrm>
              <a:off x="1524000" y="2667000"/>
              <a:ext cx="419100" cy="361950"/>
            </a:xfrm>
            <a:prstGeom prst="rect">
              <a:avLst/>
            </a:prstGeom>
            <a:solidFill>
              <a:srgbClr val="D9E6EC"/>
            </a:solidFill>
            <a:ln w="0">
              <a:noFill/>
              <a:prstDash val="solid"/>
            </a:ln>
          </p:spPr>
        </p:sp>
        <p:sp>
          <p:nvSpPr>
            <p:cNvPr id="14" name="rect_13">
              <a:extLst>
                <a:ext uri="{FF2B5EF4-FFF2-40B4-BE49-F238E27FC236}">
                  <a16:creationId xmlns:a16="http://schemas.microsoft.com/office/drawing/2014/main" id="{D50768A6-3C60-47C9-AC67-27ECCF5E4ED2}"/>
                </a:ext>
              </a:extLst>
            </p:cNvPr>
            <p:cNvSpPr>
              <a:spLocks/>
            </p:cNvSpPr>
            <p:nvPr/>
          </p:nvSpPr>
          <p:spPr>
            <a:xfrm>
              <a:off x="2000250" y="2667000"/>
              <a:ext cx="419100" cy="361950"/>
            </a:xfrm>
            <a:prstGeom prst="rect">
              <a:avLst/>
            </a:prstGeom>
            <a:solidFill>
              <a:srgbClr val="B9C2DD"/>
            </a:solidFill>
            <a:ln w="0">
              <a:noFill/>
              <a:prstDash val="solid"/>
            </a:ln>
          </p:spPr>
        </p:sp>
        <p:sp>
          <p:nvSpPr>
            <p:cNvPr id="15" name="rect_14">
              <a:extLst>
                <a:ext uri="{FF2B5EF4-FFF2-40B4-BE49-F238E27FC236}">
                  <a16:creationId xmlns:a16="http://schemas.microsoft.com/office/drawing/2014/main" id="{06937E67-1140-40E7-8814-A9113E5A8EE3}"/>
                </a:ext>
              </a:extLst>
            </p:cNvPr>
            <p:cNvSpPr>
              <a:spLocks/>
            </p:cNvSpPr>
            <p:nvPr/>
          </p:nvSpPr>
          <p:spPr>
            <a:xfrm>
              <a:off x="2476500" y="2667000"/>
              <a:ext cx="419100" cy="361950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16" name="rect_15">
              <a:extLst>
                <a:ext uri="{FF2B5EF4-FFF2-40B4-BE49-F238E27FC236}">
                  <a16:creationId xmlns:a16="http://schemas.microsoft.com/office/drawing/2014/main" id="{3D3EE1CE-24C5-4543-B212-8F2097E5BC61}"/>
                </a:ext>
              </a:extLst>
            </p:cNvPr>
            <p:cNvSpPr>
              <a:spLocks/>
            </p:cNvSpPr>
            <p:nvPr/>
          </p:nvSpPr>
          <p:spPr>
            <a:xfrm>
              <a:off x="2952750" y="2667000"/>
              <a:ext cx="419100" cy="361950"/>
            </a:xfrm>
            <a:prstGeom prst="rect">
              <a:avLst/>
            </a:prstGeom>
            <a:solidFill>
              <a:srgbClr val="D9E6EC"/>
            </a:solidFill>
            <a:ln w="0">
              <a:noFill/>
              <a:prstDash val="solid"/>
            </a:ln>
          </p:spPr>
        </p:sp>
        <p:sp>
          <p:nvSpPr>
            <p:cNvPr id="17" name="rect_16">
              <a:extLst>
                <a:ext uri="{FF2B5EF4-FFF2-40B4-BE49-F238E27FC236}">
                  <a16:creationId xmlns:a16="http://schemas.microsoft.com/office/drawing/2014/main" id="{0FFAF69D-C420-403C-B668-6027012CC04F}"/>
                </a:ext>
              </a:extLst>
            </p:cNvPr>
            <p:cNvSpPr>
              <a:spLocks/>
            </p:cNvSpPr>
            <p:nvPr/>
          </p:nvSpPr>
          <p:spPr>
            <a:xfrm>
              <a:off x="3429000" y="2667000"/>
              <a:ext cx="419100" cy="361950"/>
            </a:xfrm>
            <a:prstGeom prst="rect">
              <a:avLst/>
            </a:prstGeom>
            <a:solidFill>
              <a:srgbClr val="B9C2DD"/>
            </a:solidFill>
            <a:ln w="0">
              <a:noFill/>
              <a:prstDash val="solid"/>
            </a:ln>
          </p:spPr>
        </p:sp>
        <p:sp>
          <p:nvSpPr>
            <p:cNvPr id="18" name="rect_17">
              <a:extLst>
                <a:ext uri="{FF2B5EF4-FFF2-40B4-BE49-F238E27FC236}">
                  <a16:creationId xmlns:a16="http://schemas.microsoft.com/office/drawing/2014/main" id="{72924D25-D196-4324-A357-848461C00C77}"/>
                </a:ext>
              </a:extLst>
            </p:cNvPr>
            <p:cNvSpPr>
              <a:spLocks/>
            </p:cNvSpPr>
            <p:nvPr/>
          </p:nvSpPr>
          <p:spPr>
            <a:xfrm>
              <a:off x="3905250" y="2667000"/>
              <a:ext cx="419100" cy="361950"/>
            </a:xfrm>
            <a:prstGeom prst="rect">
              <a:avLst/>
            </a:prstGeom>
            <a:solidFill>
              <a:srgbClr val="EAF1F4"/>
            </a:solidFill>
            <a:ln w="0">
              <a:noFill/>
              <a:prstDash val="solid"/>
            </a:ln>
          </p:spPr>
        </p:sp>
        <p:sp>
          <p:nvSpPr>
            <p:cNvPr id="19" name="textbox_18">
              <a:extLst>
                <a:ext uri="{FF2B5EF4-FFF2-40B4-BE49-F238E27FC236}">
                  <a16:creationId xmlns:a16="http://schemas.microsoft.com/office/drawing/2014/main" id="{2385D963-CE1B-4EA9-9EDB-4BFEB650F3E6}"/>
                </a:ext>
              </a:extLst>
            </p:cNvPr>
            <p:cNvSpPr>
              <a:spLocks/>
            </p:cNvSpPr>
            <p:nvPr/>
          </p:nvSpPr>
          <p:spPr>
            <a:xfrm>
              <a:off x="466725" y="3190875"/>
              <a:ext cx="923925" cy="3238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27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27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27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origin 2</a:t>
              </a:r>
            </a:p>
          </p:txBody>
        </p:sp>
        <p:sp>
          <p:nvSpPr>
            <p:cNvPr id="20" name="rect_19">
              <a:extLst>
                <a:ext uri="{FF2B5EF4-FFF2-40B4-BE49-F238E27FC236}">
                  <a16:creationId xmlns:a16="http://schemas.microsoft.com/office/drawing/2014/main" id="{A4776516-767B-462E-9D28-534956FDE9FA}"/>
                </a:ext>
              </a:extLst>
            </p:cNvPr>
            <p:cNvSpPr>
              <a:spLocks/>
            </p:cNvSpPr>
            <p:nvPr/>
          </p:nvSpPr>
          <p:spPr>
            <a:xfrm>
              <a:off x="1524000" y="3095625"/>
              <a:ext cx="419100" cy="361950"/>
            </a:xfrm>
            <a:prstGeom prst="rect">
              <a:avLst/>
            </a:prstGeom>
            <a:solidFill>
              <a:srgbClr val="B9C2DD"/>
            </a:solidFill>
            <a:ln w="0">
              <a:noFill/>
              <a:prstDash val="solid"/>
            </a:ln>
          </p:spPr>
        </p:sp>
        <p:sp>
          <p:nvSpPr>
            <p:cNvPr id="21" name="rect_20">
              <a:extLst>
                <a:ext uri="{FF2B5EF4-FFF2-40B4-BE49-F238E27FC236}">
                  <a16:creationId xmlns:a16="http://schemas.microsoft.com/office/drawing/2014/main" id="{4B611C81-C627-4D34-BADE-B248DC9062FE}"/>
                </a:ext>
              </a:extLst>
            </p:cNvPr>
            <p:cNvSpPr>
              <a:spLocks/>
            </p:cNvSpPr>
            <p:nvPr/>
          </p:nvSpPr>
          <p:spPr>
            <a:xfrm>
              <a:off x="2000250" y="3095625"/>
              <a:ext cx="419100" cy="361950"/>
            </a:xfrm>
            <a:prstGeom prst="rect">
              <a:avLst/>
            </a:prstGeom>
            <a:solidFill>
              <a:srgbClr val="EAF1F4"/>
            </a:solidFill>
            <a:ln w="0">
              <a:noFill/>
              <a:prstDash val="solid"/>
            </a:ln>
          </p:spPr>
        </p:sp>
        <p:sp>
          <p:nvSpPr>
            <p:cNvPr id="22" name="rect_21">
              <a:extLst>
                <a:ext uri="{FF2B5EF4-FFF2-40B4-BE49-F238E27FC236}">
                  <a16:creationId xmlns:a16="http://schemas.microsoft.com/office/drawing/2014/main" id="{10330063-6315-420B-BB82-95F43B57A3E8}"/>
                </a:ext>
              </a:extLst>
            </p:cNvPr>
            <p:cNvSpPr>
              <a:spLocks/>
            </p:cNvSpPr>
            <p:nvPr/>
          </p:nvSpPr>
          <p:spPr>
            <a:xfrm>
              <a:off x="2476500" y="3095625"/>
              <a:ext cx="419100" cy="361950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23" name="rect_22">
              <a:extLst>
                <a:ext uri="{FF2B5EF4-FFF2-40B4-BE49-F238E27FC236}">
                  <a16:creationId xmlns:a16="http://schemas.microsoft.com/office/drawing/2014/main" id="{21F8A194-8405-4A47-9D24-917AF9D3FB21}"/>
                </a:ext>
              </a:extLst>
            </p:cNvPr>
            <p:cNvSpPr>
              <a:spLocks/>
            </p:cNvSpPr>
            <p:nvPr/>
          </p:nvSpPr>
          <p:spPr>
            <a:xfrm>
              <a:off x="2952750" y="3095625"/>
              <a:ext cx="419100" cy="361950"/>
            </a:xfrm>
            <a:prstGeom prst="rect">
              <a:avLst/>
            </a:prstGeom>
            <a:solidFill>
              <a:srgbClr val="B9C2DD"/>
            </a:solidFill>
            <a:ln w="0">
              <a:noFill/>
              <a:prstDash val="solid"/>
            </a:ln>
          </p:spPr>
        </p:sp>
        <p:sp>
          <p:nvSpPr>
            <p:cNvPr id="24" name="rect_23">
              <a:extLst>
                <a:ext uri="{FF2B5EF4-FFF2-40B4-BE49-F238E27FC236}">
                  <a16:creationId xmlns:a16="http://schemas.microsoft.com/office/drawing/2014/main" id="{0B688702-C28A-465E-9491-78B56BFFC391}"/>
                </a:ext>
              </a:extLst>
            </p:cNvPr>
            <p:cNvSpPr>
              <a:spLocks/>
            </p:cNvSpPr>
            <p:nvPr/>
          </p:nvSpPr>
          <p:spPr>
            <a:xfrm>
              <a:off x="3429000" y="3095625"/>
              <a:ext cx="419100" cy="361950"/>
            </a:xfrm>
            <a:prstGeom prst="rect">
              <a:avLst/>
            </a:prstGeom>
            <a:solidFill>
              <a:srgbClr val="EAF1F4"/>
            </a:solidFill>
            <a:ln w="0">
              <a:noFill/>
              <a:prstDash val="solid"/>
            </a:ln>
          </p:spPr>
        </p:sp>
        <p:sp>
          <p:nvSpPr>
            <p:cNvPr id="25" name="rect_24">
              <a:extLst>
                <a:ext uri="{FF2B5EF4-FFF2-40B4-BE49-F238E27FC236}">
                  <a16:creationId xmlns:a16="http://schemas.microsoft.com/office/drawing/2014/main" id="{C4CD4EDD-76A5-4058-AF13-944B0F5CB014}"/>
                </a:ext>
              </a:extLst>
            </p:cNvPr>
            <p:cNvSpPr>
              <a:spLocks/>
            </p:cNvSpPr>
            <p:nvPr/>
          </p:nvSpPr>
          <p:spPr>
            <a:xfrm>
              <a:off x="3905250" y="3095625"/>
              <a:ext cx="419100" cy="361950"/>
            </a:xfrm>
            <a:prstGeom prst="rect">
              <a:avLst/>
            </a:prstGeom>
            <a:solidFill>
              <a:srgbClr val="D9E6EC"/>
            </a:solidFill>
            <a:ln w="0">
              <a:noFill/>
              <a:prstDash val="solid"/>
            </a:ln>
          </p:spPr>
        </p:sp>
        <p:sp>
          <p:nvSpPr>
            <p:cNvPr id="26" name="textbox_25">
              <a:extLst>
                <a:ext uri="{FF2B5EF4-FFF2-40B4-BE49-F238E27FC236}">
                  <a16:creationId xmlns:a16="http://schemas.microsoft.com/office/drawing/2014/main" id="{6F0938BB-417F-405C-A039-94183CABFA15}"/>
                </a:ext>
              </a:extLst>
            </p:cNvPr>
            <p:cNvSpPr>
              <a:spLocks/>
            </p:cNvSpPr>
            <p:nvPr/>
          </p:nvSpPr>
          <p:spPr>
            <a:xfrm>
              <a:off x="466725" y="3619500"/>
              <a:ext cx="923925" cy="3238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27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27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27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origin 3</a:t>
              </a:r>
            </a:p>
          </p:txBody>
        </p:sp>
        <p:sp>
          <p:nvSpPr>
            <p:cNvPr id="27" name="rect_26">
              <a:extLst>
                <a:ext uri="{FF2B5EF4-FFF2-40B4-BE49-F238E27FC236}">
                  <a16:creationId xmlns:a16="http://schemas.microsoft.com/office/drawing/2014/main" id="{833690C0-8E92-4B97-9B69-B704CD490201}"/>
                </a:ext>
              </a:extLst>
            </p:cNvPr>
            <p:cNvSpPr>
              <a:spLocks/>
            </p:cNvSpPr>
            <p:nvPr/>
          </p:nvSpPr>
          <p:spPr>
            <a:xfrm>
              <a:off x="1524000" y="3524250"/>
              <a:ext cx="419100" cy="361950"/>
            </a:xfrm>
            <a:prstGeom prst="rect">
              <a:avLst/>
            </a:prstGeom>
            <a:solidFill>
              <a:srgbClr val="EAF1F4"/>
            </a:solidFill>
            <a:ln w="0">
              <a:noFill/>
              <a:prstDash val="solid"/>
            </a:ln>
          </p:spPr>
        </p:sp>
        <p:sp>
          <p:nvSpPr>
            <p:cNvPr id="28" name="rect_27">
              <a:extLst>
                <a:ext uri="{FF2B5EF4-FFF2-40B4-BE49-F238E27FC236}">
                  <a16:creationId xmlns:a16="http://schemas.microsoft.com/office/drawing/2014/main" id="{A30C1BD6-66C5-4C0A-AD93-500794DAA369}"/>
                </a:ext>
              </a:extLst>
            </p:cNvPr>
            <p:cNvSpPr>
              <a:spLocks/>
            </p:cNvSpPr>
            <p:nvPr/>
          </p:nvSpPr>
          <p:spPr>
            <a:xfrm>
              <a:off x="2000250" y="3524250"/>
              <a:ext cx="419100" cy="361950"/>
            </a:xfrm>
            <a:prstGeom prst="rect">
              <a:avLst/>
            </a:prstGeom>
            <a:solidFill>
              <a:srgbClr val="D9E6EC"/>
            </a:solidFill>
            <a:ln w="0">
              <a:noFill/>
              <a:prstDash val="solid"/>
            </a:ln>
          </p:spPr>
        </p:sp>
        <p:sp>
          <p:nvSpPr>
            <p:cNvPr id="29" name="rect_28">
              <a:extLst>
                <a:ext uri="{FF2B5EF4-FFF2-40B4-BE49-F238E27FC236}">
                  <a16:creationId xmlns:a16="http://schemas.microsoft.com/office/drawing/2014/main" id="{422CB5FA-95CB-4ED0-A47B-177894A3157D}"/>
                </a:ext>
              </a:extLst>
            </p:cNvPr>
            <p:cNvSpPr>
              <a:spLocks/>
            </p:cNvSpPr>
            <p:nvPr/>
          </p:nvSpPr>
          <p:spPr>
            <a:xfrm>
              <a:off x="2476500" y="3524250"/>
              <a:ext cx="419100" cy="361950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30" name="rect_29">
              <a:extLst>
                <a:ext uri="{FF2B5EF4-FFF2-40B4-BE49-F238E27FC236}">
                  <a16:creationId xmlns:a16="http://schemas.microsoft.com/office/drawing/2014/main" id="{F58ED3BD-89FA-4B56-8ECF-08B508068C79}"/>
                </a:ext>
              </a:extLst>
            </p:cNvPr>
            <p:cNvSpPr>
              <a:spLocks/>
            </p:cNvSpPr>
            <p:nvPr/>
          </p:nvSpPr>
          <p:spPr>
            <a:xfrm>
              <a:off x="2952750" y="3524250"/>
              <a:ext cx="419100" cy="361950"/>
            </a:xfrm>
            <a:prstGeom prst="rect">
              <a:avLst/>
            </a:prstGeom>
            <a:solidFill>
              <a:srgbClr val="EAF1F4"/>
            </a:solidFill>
            <a:ln w="0">
              <a:noFill/>
              <a:prstDash val="solid"/>
            </a:ln>
          </p:spPr>
        </p:sp>
        <p:sp>
          <p:nvSpPr>
            <p:cNvPr id="31" name="rect_30">
              <a:extLst>
                <a:ext uri="{FF2B5EF4-FFF2-40B4-BE49-F238E27FC236}">
                  <a16:creationId xmlns:a16="http://schemas.microsoft.com/office/drawing/2014/main" id="{197723DB-AC09-4484-AB29-9BE2DF1E9468}"/>
                </a:ext>
              </a:extLst>
            </p:cNvPr>
            <p:cNvSpPr>
              <a:spLocks/>
            </p:cNvSpPr>
            <p:nvPr/>
          </p:nvSpPr>
          <p:spPr>
            <a:xfrm>
              <a:off x="3429000" y="3524250"/>
              <a:ext cx="419100" cy="361950"/>
            </a:xfrm>
            <a:prstGeom prst="rect">
              <a:avLst/>
            </a:prstGeom>
            <a:solidFill>
              <a:srgbClr val="D9E6EC"/>
            </a:solidFill>
            <a:ln w="0">
              <a:noFill/>
              <a:prstDash val="solid"/>
            </a:ln>
          </p:spPr>
        </p:sp>
        <p:sp>
          <p:nvSpPr>
            <p:cNvPr id="32" name="rect_31">
              <a:extLst>
                <a:ext uri="{FF2B5EF4-FFF2-40B4-BE49-F238E27FC236}">
                  <a16:creationId xmlns:a16="http://schemas.microsoft.com/office/drawing/2014/main" id="{F951CC01-3478-496C-98EC-B46BF8BECD5D}"/>
                </a:ext>
              </a:extLst>
            </p:cNvPr>
            <p:cNvSpPr>
              <a:spLocks/>
            </p:cNvSpPr>
            <p:nvPr/>
          </p:nvSpPr>
          <p:spPr>
            <a:xfrm>
              <a:off x="3905250" y="3524250"/>
              <a:ext cx="419100" cy="361950"/>
            </a:xfrm>
            <a:prstGeom prst="rect">
              <a:avLst/>
            </a:prstGeom>
            <a:solidFill>
              <a:srgbClr val="B9C2DD"/>
            </a:solidFill>
            <a:ln w="0">
              <a:noFill/>
              <a:prstDash val="solid"/>
            </a:ln>
          </p:spPr>
        </p:sp>
        <p:sp>
          <p:nvSpPr>
            <p:cNvPr id="33" name="textbox_32">
              <a:extLst>
                <a:ext uri="{FF2B5EF4-FFF2-40B4-BE49-F238E27FC236}">
                  <a16:creationId xmlns:a16="http://schemas.microsoft.com/office/drawing/2014/main" id="{7AC382A0-B415-4D93-8C8F-DC15C687A139}"/>
                </a:ext>
              </a:extLst>
            </p:cNvPr>
            <p:cNvSpPr>
              <a:spLocks/>
            </p:cNvSpPr>
            <p:nvPr/>
          </p:nvSpPr>
          <p:spPr>
            <a:xfrm>
              <a:off x="466725" y="4048125"/>
              <a:ext cx="923925" cy="3238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27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27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27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origin 4</a:t>
              </a:r>
            </a:p>
          </p:txBody>
        </p:sp>
        <p:sp>
          <p:nvSpPr>
            <p:cNvPr id="34" name="rect_33">
              <a:extLst>
                <a:ext uri="{FF2B5EF4-FFF2-40B4-BE49-F238E27FC236}">
                  <a16:creationId xmlns:a16="http://schemas.microsoft.com/office/drawing/2014/main" id="{6FE0EB09-C6C2-4DED-8521-D4D63CB12B77}"/>
                </a:ext>
              </a:extLst>
            </p:cNvPr>
            <p:cNvSpPr>
              <a:spLocks/>
            </p:cNvSpPr>
            <p:nvPr/>
          </p:nvSpPr>
          <p:spPr>
            <a:xfrm>
              <a:off x="1524000" y="3952875"/>
              <a:ext cx="419100" cy="361950"/>
            </a:xfrm>
            <a:prstGeom prst="rect">
              <a:avLst/>
            </a:prstGeom>
            <a:solidFill>
              <a:srgbClr val="D9E6EC"/>
            </a:solidFill>
            <a:ln w="0">
              <a:noFill/>
              <a:prstDash val="solid"/>
            </a:ln>
          </p:spPr>
        </p:sp>
        <p:sp>
          <p:nvSpPr>
            <p:cNvPr id="35" name="rect_34">
              <a:extLst>
                <a:ext uri="{FF2B5EF4-FFF2-40B4-BE49-F238E27FC236}">
                  <a16:creationId xmlns:a16="http://schemas.microsoft.com/office/drawing/2014/main" id="{877454F9-23D0-4BBD-90E7-0B8F882524BF}"/>
                </a:ext>
              </a:extLst>
            </p:cNvPr>
            <p:cNvSpPr>
              <a:spLocks/>
            </p:cNvSpPr>
            <p:nvPr/>
          </p:nvSpPr>
          <p:spPr>
            <a:xfrm>
              <a:off x="2000250" y="3952875"/>
              <a:ext cx="419100" cy="361950"/>
            </a:xfrm>
            <a:prstGeom prst="rect">
              <a:avLst/>
            </a:prstGeom>
            <a:solidFill>
              <a:srgbClr val="B9C2DD"/>
            </a:solidFill>
            <a:ln w="0">
              <a:noFill/>
              <a:prstDash val="solid"/>
            </a:ln>
          </p:spPr>
        </p:sp>
        <p:sp>
          <p:nvSpPr>
            <p:cNvPr id="36" name="rect_35">
              <a:extLst>
                <a:ext uri="{FF2B5EF4-FFF2-40B4-BE49-F238E27FC236}">
                  <a16:creationId xmlns:a16="http://schemas.microsoft.com/office/drawing/2014/main" id="{3DE75350-41FD-487B-A68E-89DEAD0925F4}"/>
                </a:ext>
              </a:extLst>
            </p:cNvPr>
            <p:cNvSpPr>
              <a:spLocks/>
            </p:cNvSpPr>
            <p:nvPr/>
          </p:nvSpPr>
          <p:spPr>
            <a:xfrm>
              <a:off x="2476500" y="3952875"/>
              <a:ext cx="419100" cy="361950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37" name="rect_36">
              <a:extLst>
                <a:ext uri="{FF2B5EF4-FFF2-40B4-BE49-F238E27FC236}">
                  <a16:creationId xmlns:a16="http://schemas.microsoft.com/office/drawing/2014/main" id="{74C9BBDE-CEC9-4587-8D88-FE7F626904BF}"/>
                </a:ext>
              </a:extLst>
            </p:cNvPr>
            <p:cNvSpPr>
              <a:spLocks/>
            </p:cNvSpPr>
            <p:nvPr/>
          </p:nvSpPr>
          <p:spPr>
            <a:xfrm>
              <a:off x="2952750" y="3952875"/>
              <a:ext cx="419100" cy="361950"/>
            </a:xfrm>
            <a:prstGeom prst="rect">
              <a:avLst/>
            </a:prstGeom>
            <a:solidFill>
              <a:srgbClr val="D9E6EC"/>
            </a:solidFill>
            <a:ln w="0">
              <a:noFill/>
              <a:prstDash val="solid"/>
            </a:ln>
          </p:spPr>
        </p:sp>
        <p:sp>
          <p:nvSpPr>
            <p:cNvPr id="38" name="rect_37">
              <a:extLst>
                <a:ext uri="{FF2B5EF4-FFF2-40B4-BE49-F238E27FC236}">
                  <a16:creationId xmlns:a16="http://schemas.microsoft.com/office/drawing/2014/main" id="{5DB6B487-E869-4D6E-B8AA-A64B8848A89D}"/>
                </a:ext>
              </a:extLst>
            </p:cNvPr>
            <p:cNvSpPr>
              <a:spLocks/>
            </p:cNvSpPr>
            <p:nvPr/>
          </p:nvSpPr>
          <p:spPr>
            <a:xfrm>
              <a:off x="3429000" y="3952875"/>
              <a:ext cx="419100" cy="361950"/>
            </a:xfrm>
            <a:prstGeom prst="rect">
              <a:avLst/>
            </a:prstGeom>
            <a:solidFill>
              <a:srgbClr val="B9C2DD"/>
            </a:solidFill>
            <a:ln w="0">
              <a:noFill/>
              <a:prstDash val="solid"/>
            </a:ln>
          </p:spPr>
        </p:sp>
        <p:sp>
          <p:nvSpPr>
            <p:cNvPr id="39" name="rect_38">
              <a:extLst>
                <a:ext uri="{FF2B5EF4-FFF2-40B4-BE49-F238E27FC236}">
                  <a16:creationId xmlns:a16="http://schemas.microsoft.com/office/drawing/2014/main" id="{BB61122A-CEFE-4D22-90CB-E789DED28B16}"/>
                </a:ext>
              </a:extLst>
            </p:cNvPr>
            <p:cNvSpPr>
              <a:spLocks/>
            </p:cNvSpPr>
            <p:nvPr/>
          </p:nvSpPr>
          <p:spPr>
            <a:xfrm>
              <a:off x="3905250" y="3952875"/>
              <a:ext cx="419100" cy="361950"/>
            </a:xfrm>
            <a:prstGeom prst="rect">
              <a:avLst/>
            </a:prstGeom>
            <a:solidFill>
              <a:srgbClr val="EAF1F4"/>
            </a:solidFill>
            <a:ln w="0">
              <a:noFill/>
              <a:prstDash val="solid"/>
            </a:ln>
          </p:spPr>
        </p:sp>
        <p:sp>
          <p:nvSpPr>
            <p:cNvPr id="40" name="textbox_39">
              <a:extLst>
                <a:ext uri="{FF2B5EF4-FFF2-40B4-BE49-F238E27FC236}">
                  <a16:creationId xmlns:a16="http://schemas.microsoft.com/office/drawing/2014/main" id="{BEA8D014-776A-4002-889B-47FDEC4AC038}"/>
                </a:ext>
              </a:extLst>
            </p:cNvPr>
            <p:cNvSpPr>
              <a:spLocks/>
            </p:cNvSpPr>
            <p:nvPr/>
          </p:nvSpPr>
          <p:spPr>
            <a:xfrm>
              <a:off x="466725" y="4476750"/>
              <a:ext cx="923925" cy="3238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27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27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27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origin 5</a:t>
              </a:r>
            </a:p>
          </p:txBody>
        </p:sp>
        <p:sp>
          <p:nvSpPr>
            <p:cNvPr id="41" name="rect_40">
              <a:extLst>
                <a:ext uri="{FF2B5EF4-FFF2-40B4-BE49-F238E27FC236}">
                  <a16:creationId xmlns:a16="http://schemas.microsoft.com/office/drawing/2014/main" id="{BE27F580-4A69-4EA3-85F4-94F8EF99B7F1}"/>
                </a:ext>
              </a:extLst>
            </p:cNvPr>
            <p:cNvSpPr>
              <a:spLocks/>
            </p:cNvSpPr>
            <p:nvPr/>
          </p:nvSpPr>
          <p:spPr>
            <a:xfrm>
              <a:off x="1524000" y="4381500"/>
              <a:ext cx="419100" cy="361950"/>
            </a:xfrm>
            <a:prstGeom prst="rect">
              <a:avLst/>
            </a:prstGeom>
            <a:solidFill>
              <a:srgbClr val="B9C2DD"/>
            </a:solidFill>
            <a:ln w="0">
              <a:noFill/>
              <a:prstDash val="solid"/>
            </a:ln>
          </p:spPr>
        </p:sp>
        <p:sp>
          <p:nvSpPr>
            <p:cNvPr id="42" name="rect_41">
              <a:extLst>
                <a:ext uri="{FF2B5EF4-FFF2-40B4-BE49-F238E27FC236}">
                  <a16:creationId xmlns:a16="http://schemas.microsoft.com/office/drawing/2014/main" id="{2A27C6A5-2C0A-47C9-A841-CE11C26AC813}"/>
                </a:ext>
              </a:extLst>
            </p:cNvPr>
            <p:cNvSpPr>
              <a:spLocks/>
            </p:cNvSpPr>
            <p:nvPr/>
          </p:nvSpPr>
          <p:spPr>
            <a:xfrm>
              <a:off x="2000250" y="4381500"/>
              <a:ext cx="419100" cy="361950"/>
            </a:xfrm>
            <a:prstGeom prst="rect">
              <a:avLst/>
            </a:prstGeom>
            <a:solidFill>
              <a:srgbClr val="EAF1F4"/>
            </a:solidFill>
            <a:ln w="0">
              <a:noFill/>
              <a:prstDash val="solid"/>
            </a:ln>
          </p:spPr>
        </p:sp>
        <p:sp>
          <p:nvSpPr>
            <p:cNvPr id="43" name="rect_42">
              <a:extLst>
                <a:ext uri="{FF2B5EF4-FFF2-40B4-BE49-F238E27FC236}">
                  <a16:creationId xmlns:a16="http://schemas.microsoft.com/office/drawing/2014/main" id="{1474AA20-E357-465B-AC44-59122F39B35C}"/>
                </a:ext>
              </a:extLst>
            </p:cNvPr>
            <p:cNvSpPr>
              <a:spLocks/>
            </p:cNvSpPr>
            <p:nvPr/>
          </p:nvSpPr>
          <p:spPr>
            <a:xfrm>
              <a:off x="2476500" y="4381500"/>
              <a:ext cx="419100" cy="361950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44" name="rect_43">
              <a:extLst>
                <a:ext uri="{FF2B5EF4-FFF2-40B4-BE49-F238E27FC236}">
                  <a16:creationId xmlns:a16="http://schemas.microsoft.com/office/drawing/2014/main" id="{B5158EC6-05E9-43DA-8591-78104F3E971F}"/>
                </a:ext>
              </a:extLst>
            </p:cNvPr>
            <p:cNvSpPr>
              <a:spLocks/>
            </p:cNvSpPr>
            <p:nvPr/>
          </p:nvSpPr>
          <p:spPr>
            <a:xfrm>
              <a:off x="2952750" y="4381500"/>
              <a:ext cx="419100" cy="361950"/>
            </a:xfrm>
            <a:prstGeom prst="rect">
              <a:avLst/>
            </a:prstGeom>
            <a:solidFill>
              <a:srgbClr val="B9C2DD"/>
            </a:solidFill>
            <a:ln w="0">
              <a:noFill/>
              <a:prstDash val="solid"/>
            </a:ln>
          </p:spPr>
        </p:sp>
        <p:sp>
          <p:nvSpPr>
            <p:cNvPr id="45" name="rect_44">
              <a:extLst>
                <a:ext uri="{FF2B5EF4-FFF2-40B4-BE49-F238E27FC236}">
                  <a16:creationId xmlns:a16="http://schemas.microsoft.com/office/drawing/2014/main" id="{C863C982-2076-4931-9E14-5910A3B48894}"/>
                </a:ext>
              </a:extLst>
            </p:cNvPr>
            <p:cNvSpPr>
              <a:spLocks/>
            </p:cNvSpPr>
            <p:nvPr/>
          </p:nvSpPr>
          <p:spPr>
            <a:xfrm>
              <a:off x="3429000" y="4381500"/>
              <a:ext cx="419100" cy="361950"/>
            </a:xfrm>
            <a:prstGeom prst="rect">
              <a:avLst/>
            </a:prstGeom>
            <a:solidFill>
              <a:srgbClr val="EAF1F4"/>
            </a:solidFill>
            <a:ln w="0">
              <a:noFill/>
              <a:prstDash val="solid"/>
            </a:ln>
          </p:spPr>
        </p:sp>
        <p:sp>
          <p:nvSpPr>
            <p:cNvPr id="46" name="rect_45">
              <a:extLst>
                <a:ext uri="{FF2B5EF4-FFF2-40B4-BE49-F238E27FC236}">
                  <a16:creationId xmlns:a16="http://schemas.microsoft.com/office/drawing/2014/main" id="{6CDFA0E8-8600-48C0-8827-A03B73FA968D}"/>
                </a:ext>
              </a:extLst>
            </p:cNvPr>
            <p:cNvSpPr>
              <a:spLocks/>
            </p:cNvSpPr>
            <p:nvPr/>
          </p:nvSpPr>
          <p:spPr>
            <a:xfrm>
              <a:off x="3905250" y="4381500"/>
              <a:ext cx="419100" cy="361950"/>
            </a:xfrm>
            <a:prstGeom prst="rect">
              <a:avLst/>
            </a:prstGeom>
            <a:solidFill>
              <a:srgbClr val="D9E6EC"/>
            </a:solidFill>
            <a:ln w="0">
              <a:noFill/>
              <a:prstDash val="solid"/>
            </a:ln>
          </p:spPr>
        </p:sp>
        <p:sp>
          <p:nvSpPr>
            <p:cNvPr id="47" name="textbox_46">
              <a:extLst>
                <a:ext uri="{FF2B5EF4-FFF2-40B4-BE49-F238E27FC236}">
                  <a16:creationId xmlns:a16="http://schemas.microsoft.com/office/drawing/2014/main" id="{87A925DD-6801-4244-A750-5EDDB126B582}"/>
                </a:ext>
              </a:extLst>
            </p:cNvPr>
            <p:cNvSpPr>
              <a:spLocks/>
            </p:cNvSpPr>
            <p:nvPr/>
          </p:nvSpPr>
          <p:spPr>
            <a:xfrm>
              <a:off x="1457325" y="2381250"/>
              <a:ext cx="55245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h=1</a:t>
              </a:r>
            </a:p>
          </p:txBody>
        </p:sp>
        <p:sp>
          <p:nvSpPr>
            <p:cNvPr id="48" name="textbox_47">
              <a:extLst>
                <a:ext uri="{FF2B5EF4-FFF2-40B4-BE49-F238E27FC236}">
                  <a16:creationId xmlns:a16="http://schemas.microsoft.com/office/drawing/2014/main" id="{5B185369-2DC1-42D4-B845-F101FB04677E}"/>
                </a:ext>
              </a:extLst>
            </p:cNvPr>
            <p:cNvSpPr>
              <a:spLocks/>
            </p:cNvSpPr>
            <p:nvPr/>
          </p:nvSpPr>
          <p:spPr>
            <a:xfrm>
              <a:off x="1933575" y="2381250"/>
              <a:ext cx="55245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h=2</a:t>
              </a:r>
            </a:p>
          </p:txBody>
        </p:sp>
        <p:sp>
          <p:nvSpPr>
            <p:cNvPr id="49" name="textbox_48">
              <a:extLst>
                <a:ext uri="{FF2B5EF4-FFF2-40B4-BE49-F238E27FC236}">
                  <a16:creationId xmlns:a16="http://schemas.microsoft.com/office/drawing/2014/main" id="{67C5262B-11F8-426A-BCB2-4012DE4351DE}"/>
                </a:ext>
              </a:extLst>
            </p:cNvPr>
            <p:cNvSpPr>
              <a:spLocks/>
            </p:cNvSpPr>
            <p:nvPr/>
          </p:nvSpPr>
          <p:spPr>
            <a:xfrm>
              <a:off x="2409825" y="2381250"/>
              <a:ext cx="55245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h=3</a:t>
              </a:r>
            </a:p>
          </p:txBody>
        </p:sp>
        <p:sp>
          <p:nvSpPr>
            <p:cNvPr id="50" name="textbox_49">
              <a:extLst>
                <a:ext uri="{FF2B5EF4-FFF2-40B4-BE49-F238E27FC236}">
                  <a16:creationId xmlns:a16="http://schemas.microsoft.com/office/drawing/2014/main" id="{1517EE92-5BD2-4DE0-9551-4F8FFC143D5E}"/>
                </a:ext>
              </a:extLst>
            </p:cNvPr>
            <p:cNvSpPr>
              <a:spLocks/>
            </p:cNvSpPr>
            <p:nvPr/>
          </p:nvSpPr>
          <p:spPr>
            <a:xfrm>
              <a:off x="2886075" y="2381250"/>
              <a:ext cx="55245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…</a:t>
              </a:r>
            </a:p>
          </p:txBody>
        </p:sp>
        <p:sp>
          <p:nvSpPr>
            <p:cNvPr id="51" name="textbox_50">
              <a:extLst>
                <a:ext uri="{FF2B5EF4-FFF2-40B4-BE49-F238E27FC236}">
                  <a16:creationId xmlns:a16="http://schemas.microsoft.com/office/drawing/2014/main" id="{3F0A122E-AD50-44C1-98EA-FDECB281B79C}"/>
                </a:ext>
              </a:extLst>
            </p:cNvPr>
            <p:cNvSpPr>
              <a:spLocks/>
            </p:cNvSpPr>
            <p:nvPr/>
          </p:nvSpPr>
          <p:spPr>
            <a:xfrm>
              <a:off x="3362325" y="2381250"/>
              <a:ext cx="55245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h=23</a:t>
              </a:r>
            </a:p>
          </p:txBody>
        </p:sp>
        <p:sp>
          <p:nvSpPr>
            <p:cNvPr id="52" name="textbox_51">
              <a:extLst>
                <a:ext uri="{FF2B5EF4-FFF2-40B4-BE49-F238E27FC236}">
                  <a16:creationId xmlns:a16="http://schemas.microsoft.com/office/drawing/2014/main" id="{9CFBDDBD-5903-4DEB-B941-E29E4DF77FDD}"/>
                </a:ext>
              </a:extLst>
            </p:cNvPr>
            <p:cNvSpPr>
              <a:spLocks/>
            </p:cNvSpPr>
            <p:nvPr/>
          </p:nvSpPr>
          <p:spPr>
            <a:xfrm>
              <a:off x="3838575" y="2381250"/>
              <a:ext cx="552450" cy="2571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h=24</a:t>
              </a:r>
            </a:p>
          </p:txBody>
        </p:sp>
        <p:sp>
          <p:nvSpPr>
            <p:cNvPr id="53" name="rightArrow_52">
              <a:extLst>
                <a:ext uri="{FF2B5EF4-FFF2-40B4-BE49-F238E27FC236}">
                  <a16:creationId xmlns:a16="http://schemas.microsoft.com/office/drawing/2014/main" id="{52C39D00-3591-4729-900D-A114C2185152}"/>
                </a:ext>
              </a:extLst>
            </p:cNvPr>
            <p:cNvSpPr>
              <a:spLocks/>
            </p:cNvSpPr>
            <p:nvPr/>
          </p:nvSpPr>
          <p:spPr>
            <a:xfrm>
              <a:off x="1876425" y="5029200"/>
              <a:ext cx="2638425" cy="381000"/>
            </a:xfrm>
            <a:prstGeom prst="rightArrow">
              <a:avLst/>
            </a:prstGeom>
            <a:solidFill>
              <a:srgbClr val="F3E5EB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42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42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固定 h，沿时间计算 ACF</a:t>
              </a:r>
            </a:p>
          </p:txBody>
        </p:sp>
      </p:grpSp>
      <p:grpSp>
        <p:nvGrpSpPr>
          <p:cNvPr id="65" name="page_8_stage_2">
            <a:extLst>
              <a:ext uri="{FF2B5EF4-FFF2-40B4-BE49-F238E27FC236}">
                <a16:creationId xmlns:a16="http://schemas.microsoft.com/office/drawing/2014/main" id="{CBC10AB6-2C9C-D97F-AC06-F1AFB0AD3387}"/>
              </a:ext>
            </a:extLst>
          </p:cNvPr>
          <p:cNvGrpSpPr/>
          <p:nvPr/>
        </p:nvGrpSpPr>
        <p:grpSpPr>
          <a:xfrm>
            <a:off x="5410200" y="1609725"/>
            <a:ext cx="5448300" cy="3600450"/>
            <a:chOff x="5410200" y="1609725"/>
            <a:chExt cx="5448300" cy="3600450"/>
          </a:xfrm>
        </p:grpSpPr>
        <p:sp>
          <p:nvSpPr>
            <p:cNvPr id="54" name="textbox_53">
              <a:extLst>
                <a:ext uri="{FF2B5EF4-FFF2-40B4-BE49-F238E27FC236}">
                  <a16:creationId xmlns:a16="http://schemas.microsoft.com/office/drawing/2014/main" id="{1DC435FB-A22C-4811-A7C4-7009D78804FC}"/>
                </a:ext>
              </a:extLst>
            </p:cNvPr>
            <p:cNvSpPr>
              <a:spLocks/>
            </p:cNvSpPr>
            <p:nvPr/>
          </p:nvSpPr>
          <p:spPr>
            <a:xfrm>
              <a:off x="5429250" y="1609725"/>
              <a:ext cx="5429250" cy="4000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9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9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9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为什么不能把所有窗口展平？</a:t>
              </a:r>
            </a:p>
          </p:txBody>
        </p:sp>
        <p:sp>
          <p:nvSpPr>
            <p:cNvPr id="55" name="textbox_54">
              <a:extLst>
                <a:ext uri="{FF2B5EF4-FFF2-40B4-BE49-F238E27FC236}">
                  <a16:creationId xmlns:a16="http://schemas.microsoft.com/office/drawing/2014/main" id="{772EE966-FAFE-476A-B6B3-BAF79210E4F3}"/>
                </a:ext>
              </a:extLst>
            </p:cNvPr>
            <p:cNvSpPr>
              <a:spLocks/>
            </p:cNvSpPr>
            <p:nvPr/>
          </p:nvSpPr>
          <p:spPr>
            <a:xfrm>
              <a:off x="5429250" y="2181225"/>
              <a:ext cx="5334000" cy="1409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575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575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75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一个目标时刻可能出现在多个预测窗口中。</a:t>
              </a:r>
            </a:p>
            <a:p>
              <a:pPr algn="l">
                <a:defRPr sz="1575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75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直接展平会拼接窗口边界，混合不同步长，</a:t>
              </a:r>
            </a:p>
            <a:p>
              <a:pPr algn="l">
                <a:defRPr sz="1575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75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从而制造并不存在的相关结构。</a:t>
              </a:r>
            </a:p>
          </p:txBody>
        </p:sp>
        <p:sp>
          <p:nvSpPr>
            <p:cNvPr id="56" name="rect_55">
              <a:extLst>
                <a:ext uri="{FF2B5EF4-FFF2-40B4-BE49-F238E27FC236}">
                  <a16:creationId xmlns:a16="http://schemas.microsoft.com/office/drawing/2014/main" id="{D22100D6-E69D-4CC3-ABC8-4D005AF0CE00}"/>
                </a:ext>
              </a:extLst>
            </p:cNvPr>
            <p:cNvSpPr>
              <a:spLocks/>
            </p:cNvSpPr>
            <p:nvPr/>
          </p:nvSpPr>
          <p:spPr>
            <a:xfrm>
              <a:off x="5410200" y="3838575"/>
              <a:ext cx="5305425" cy="38100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57" name="textbox_56">
              <a:extLst>
                <a:ext uri="{FF2B5EF4-FFF2-40B4-BE49-F238E27FC236}">
                  <a16:creationId xmlns:a16="http://schemas.microsoft.com/office/drawing/2014/main" id="{A3F2C81E-A11C-483B-93E2-CAC298E65F92}"/>
                </a:ext>
              </a:extLst>
            </p:cNvPr>
            <p:cNvSpPr>
              <a:spLocks/>
            </p:cNvSpPr>
            <p:nvPr/>
          </p:nvSpPr>
          <p:spPr>
            <a:xfrm>
              <a:off x="5429250" y="4095750"/>
              <a:ext cx="5343525" cy="11144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50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50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分步长 MAE：固定 h 聚合误差</a:t>
              </a:r>
            </a:p>
            <a:p>
              <a:pPr algn="l">
                <a:defRPr sz="150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偏差与波动：统一尺度并保留候选身份</a:t>
              </a:r>
            </a:p>
            <a:p>
              <a:pPr algn="l">
                <a:defRPr sz="150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分解余项：输入减移动平均，与预测残差不同</a:t>
              </a:r>
            </a:p>
          </p:txBody>
        </p:sp>
      </p:grpSp>
      <p:sp>
        <p:nvSpPr>
          <p:cNvPr id="58" name="line_57">
            <a:extLst>
              <a:ext uri="{FF2B5EF4-FFF2-40B4-BE49-F238E27FC236}">
                <a16:creationId xmlns:a16="http://schemas.microsoft.com/office/drawing/2014/main" id="{BE99888E-6904-4AE7-B35A-DDFDAD63E446}"/>
              </a:ext>
            </a:extLst>
          </p:cNvPr>
          <p:cNvSpPr>
            <a:spLocks/>
          </p:cNvSpPr>
          <p:nvPr/>
        </p:nvSpPr>
        <p:spPr>
          <a:xfrm>
            <a:off x="371475" y="5800725"/>
            <a:ext cx="10687050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59" name="rect_58">
            <a:extLst>
              <a:ext uri="{FF2B5EF4-FFF2-40B4-BE49-F238E27FC236}">
                <a16:creationId xmlns:a16="http://schemas.microsoft.com/office/drawing/2014/main" id="{BC9C14D7-A11D-4AE2-854D-5BA4EE15BE3B}"/>
              </a:ext>
            </a:extLst>
          </p:cNvPr>
          <p:cNvSpPr>
            <a:spLocks/>
          </p:cNvSpPr>
          <p:nvPr/>
        </p:nvSpPr>
        <p:spPr>
          <a:xfrm>
            <a:off x="371475" y="5886450"/>
            <a:ext cx="38100" cy="20002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60" name="textbox_59">
            <a:extLst>
              <a:ext uri="{FF2B5EF4-FFF2-40B4-BE49-F238E27FC236}">
                <a16:creationId xmlns:a16="http://schemas.microsoft.com/office/drawing/2014/main" id="{837FBBFC-3B72-48AC-8804-5CFB93770C46}"/>
              </a:ext>
            </a:extLst>
          </p:cNvPr>
          <p:cNvSpPr>
            <a:spLocks/>
          </p:cNvSpPr>
          <p:nvPr/>
        </p:nvSpPr>
        <p:spPr>
          <a:xfrm>
            <a:off x="495300" y="5848350"/>
            <a:ext cx="1043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索引约定先固定，再谈残差特征的增量价值。</a:t>
            </a:r>
          </a:p>
        </p:txBody>
      </p:sp>
      <p:sp>
        <p:nvSpPr>
          <p:cNvPr id="61" name="textbox_60">
            <a:extLst>
              <a:ext uri="{FF2B5EF4-FFF2-40B4-BE49-F238E27FC236}">
                <a16:creationId xmlns:a16="http://schemas.microsoft.com/office/drawing/2014/main" id="{102B0062-514A-49BD-86F5-25D55EA785A6}"/>
              </a:ext>
            </a:extLst>
          </p:cNvPr>
          <p:cNvSpPr>
            <a:spLocks/>
          </p:cNvSpPr>
          <p:nvPr/>
        </p:nvSpPr>
        <p:spPr>
          <a:xfrm>
            <a:off x="371475" y="6219825"/>
            <a:ext cx="10287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路线 V1.0 · 视觉测试稿 · 研究设计待验证</a:t>
            </a:r>
          </a:p>
        </p:txBody>
      </p:sp>
      <p:sp>
        <p:nvSpPr>
          <p:cNvPr id="62" name="textbox_61">
            <a:extLst>
              <a:ext uri="{FF2B5EF4-FFF2-40B4-BE49-F238E27FC236}">
                <a16:creationId xmlns:a16="http://schemas.microsoft.com/office/drawing/2014/main" id="{47F57D37-4690-462D-9B1E-3A4AB96741D4}"/>
              </a:ext>
            </a:extLst>
          </p:cNvPr>
          <p:cNvSpPr>
            <a:spLocks/>
          </p:cNvSpPr>
          <p:nvPr/>
        </p:nvSpPr>
        <p:spPr>
          <a:xfrm>
            <a:off x="10620375" y="619125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5991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_1">
            <a:extLst>
              <a:ext uri="{FF2B5EF4-FFF2-40B4-BE49-F238E27FC236}">
                <a16:creationId xmlns:a16="http://schemas.microsoft.com/office/drawing/2014/main" id="{F6F61D08-51F3-4CE8-8BA2-3D6FB1C830F1}"/>
              </a:ext>
            </a:extLst>
          </p:cNvPr>
          <p:cNvSpPr>
            <a:spLocks/>
          </p:cNvSpPr>
          <p:nvPr/>
        </p:nvSpPr>
        <p:spPr>
          <a:xfrm>
            <a:off x="3714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01  研究问题</a:t>
            </a:r>
          </a:p>
        </p:txBody>
      </p:sp>
      <p:sp>
        <p:nvSpPr>
          <p:cNvPr id="2" name="textbox_2">
            <a:extLst>
              <a:ext uri="{FF2B5EF4-FFF2-40B4-BE49-F238E27FC236}">
                <a16:creationId xmlns:a16="http://schemas.microsoft.com/office/drawing/2014/main" id="{63AD8CC6-C60E-48CB-A01C-09EB76B12E2A}"/>
              </a:ext>
            </a:extLst>
          </p:cNvPr>
          <p:cNvSpPr>
            <a:spLocks/>
          </p:cNvSpPr>
          <p:nvPr/>
        </p:nvSpPr>
        <p:spPr>
          <a:xfrm>
            <a:off x="251460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02  对象与基础</a:t>
            </a:r>
          </a:p>
        </p:txBody>
      </p:sp>
      <p:sp>
        <p:nvSpPr>
          <p:cNvPr id="3" name="textbox_3">
            <a:extLst>
              <a:ext uri="{FF2B5EF4-FFF2-40B4-BE49-F238E27FC236}">
                <a16:creationId xmlns:a16="http://schemas.microsoft.com/office/drawing/2014/main" id="{22DA0E7A-7FDC-4A18-B79B-860D2F88B748}"/>
              </a:ext>
            </a:extLst>
          </p:cNvPr>
          <p:cNvSpPr>
            <a:spLocks/>
          </p:cNvSpPr>
          <p:nvPr/>
        </p:nvSpPr>
        <p:spPr>
          <a:xfrm>
            <a:off x="465772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03  方法与机制</a:t>
            </a:r>
          </a:p>
        </p:txBody>
      </p:sp>
      <p:sp>
        <p:nvSpPr>
          <p:cNvPr id="4" name="rect_4">
            <a:extLst>
              <a:ext uri="{FF2B5EF4-FFF2-40B4-BE49-F238E27FC236}">
                <a16:creationId xmlns:a16="http://schemas.microsoft.com/office/drawing/2014/main" id="{73C48C57-5B6B-4390-A164-798BA527C712}"/>
              </a:ext>
            </a:extLst>
          </p:cNvPr>
          <p:cNvSpPr>
            <a:spLocks/>
          </p:cNvSpPr>
          <p:nvPr/>
        </p:nvSpPr>
        <p:spPr>
          <a:xfrm>
            <a:off x="4657725" y="447675"/>
            <a:ext cx="1238250" cy="2857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5" name="textbox_5">
            <a:extLst>
              <a:ext uri="{FF2B5EF4-FFF2-40B4-BE49-F238E27FC236}">
                <a16:creationId xmlns:a16="http://schemas.microsoft.com/office/drawing/2014/main" id="{F27181A8-6BAD-4111-802B-2286BE9932FF}"/>
              </a:ext>
            </a:extLst>
          </p:cNvPr>
          <p:cNvSpPr>
            <a:spLocks/>
          </p:cNvSpPr>
          <p:nvPr/>
        </p:nvSpPr>
        <p:spPr>
          <a:xfrm>
            <a:off x="680085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04  实验与证据</a:t>
            </a:r>
          </a:p>
        </p:txBody>
      </p:sp>
      <p:sp>
        <p:nvSpPr>
          <p:cNvPr id="6" name="textbox_6">
            <a:extLst>
              <a:ext uri="{FF2B5EF4-FFF2-40B4-BE49-F238E27FC236}">
                <a16:creationId xmlns:a16="http://schemas.microsoft.com/office/drawing/2014/main" id="{63F2B23F-715A-40D7-B4B4-81F4C9E3E2EA}"/>
              </a:ext>
            </a:extLst>
          </p:cNvPr>
          <p:cNvSpPr>
            <a:spLocks/>
          </p:cNvSpPr>
          <p:nvPr/>
        </p:nvSpPr>
        <p:spPr>
          <a:xfrm>
            <a:off x="89439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05  实施与产出</a:t>
            </a:r>
          </a:p>
        </p:txBody>
      </p:sp>
      <p:sp>
        <p:nvSpPr>
          <p:cNvPr id="7" name="line_7">
            <a:extLst>
              <a:ext uri="{FF2B5EF4-FFF2-40B4-BE49-F238E27FC236}">
                <a16:creationId xmlns:a16="http://schemas.microsoft.com/office/drawing/2014/main" id="{A9BA2AF0-82A7-4DCF-8246-C9C7688FC4B3}"/>
              </a:ext>
            </a:extLst>
          </p:cNvPr>
          <p:cNvSpPr>
            <a:spLocks/>
          </p:cNvSpPr>
          <p:nvPr/>
        </p:nvSpPr>
        <p:spPr>
          <a:xfrm>
            <a:off x="371475" y="476250"/>
            <a:ext cx="10677525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8" name="slide_title">
            <a:extLst>
              <a:ext uri="{FF2B5EF4-FFF2-40B4-BE49-F238E27FC236}">
                <a16:creationId xmlns:a16="http://schemas.microsoft.com/office/drawing/2014/main" id="{86DBCF88-B244-4D54-896D-7165D3BDDD30}"/>
              </a:ext>
            </a:extLst>
          </p:cNvPr>
          <p:cNvSpPr>
            <a:spLocks/>
          </p:cNvSpPr>
          <p:nvPr/>
        </p:nvSpPr>
        <p:spPr>
          <a:xfrm>
            <a:off x="361950" y="685800"/>
            <a:ext cx="10706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defPPr>
          </a:lstStyle>
          <a:p>
            <a: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pP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08</a:t>
            </a:r>
            <a:r>
              <a:rPr sz="2175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  </a:t>
            </a: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元模型：学习“什么任务下，哪个候选可能更好”</a:t>
            </a:r>
          </a:p>
        </p:txBody>
      </p:sp>
      <p:sp>
        <p:nvSpPr>
          <p:cNvPr id="9" name="textbox_8">
            <a:extLst>
              <a:ext uri="{FF2B5EF4-FFF2-40B4-BE49-F238E27FC236}">
                <a16:creationId xmlns:a16="http://schemas.microsoft.com/office/drawing/2014/main" id="{EEA77934-BBBD-4465-AF50-27FE35691E7B}"/>
              </a:ext>
            </a:extLst>
          </p:cNvPr>
          <p:cNvSpPr>
            <a:spLocks/>
          </p:cNvSpPr>
          <p:nvPr/>
        </p:nvSpPr>
        <p:spPr>
          <a:xfrm>
            <a:off x="381000" y="1133475"/>
            <a:ext cx="10668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第一版用 RandomForest 作为表现预测器；这是一项拟议实现。</a:t>
            </a:r>
          </a:p>
        </p:txBody>
      </p:sp>
      <p:grpSp>
        <p:nvGrpSpPr>
          <p:cNvPr id="41" name="complete_diagram_with_connectors">
            <a:extLst>
              <a:ext uri="{FF2B5EF4-FFF2-40B4-BE49-F238E27FC236}">
                <a16:creationId xmlns:a16="http://schemas.microsoft.com/office/drawing/2014/main" id="{753B1D6B-E9DC-BB23-D848-D6D4599616B0}"/>
              </a:ext>
            </a:extLst>
          </p:cNvPr>
          <p:cNvGrpSpPr/>
          <p:nvPr/>
        </p:nvGrpSpPr>
        <p:grpSpPr>
          <a:xfrm>
            <a:off x="438245" y="1466850"/>
            <a:ext cx="10648855" cy="3990975"/>
            <a:chOff x="438245" y="1466850"/>
            <a:chExt cx="10648855" cy="3990975"/>
          </a:xfrm>
        </p:grpSpPr>
        <p:cxnSp>
          <p:nvCxnSpPr>
            <p:cNvPr id="12" name="connector_11">
              <a:extLst>
                <a:ext uri="{FF2B5EF4-FFF2-40B4-BE49-F238E27FC236}">
                  <a16:creationId xmlns:a16="http://schemas.microsoft.com/office/drawing/2014/main" id="{4B76127E-CC3A-4A75-887D-EF033B810224}"/>
                </a:ext>
              </a:extLst>
            </p:cNvPr>
            <p:cNvCxnSpPr>
              <a:stCxn id="10" idx="4"/>
              <a:endCxn id="11" idx="3"/>
            </p:cNvCxnSpPr>
            <p:nvPr/>
          </p:nvCxnSpPr>
          <p:spPr>
            <a:xfrm>
              <a:off x="2193036" y="3459997"/>
              <a:ext cx="1091022" cy="0"/>
            </a:xfrm>
            <a:prstGeom prst="straightConnector1">
              <a:avLst/>
            </a:prstGeom>
            <a:ln w="20955">
              <a:solidFill>
                <a:srgbClr val="9C5875"/>
              </a:solidFill>
              <a:prstDash val="solid"/>
              <a:tailEnd type="triangle" w="med" len="med"/>
            </a:ln>
          </p:spPr>
        </p:cxnSp>
        <p:cxnSp>
          <p:nvCxnSpPr>
            <p:cNvPr id="14" name="connector_13">
              <a:extLst>
                <a:ext uri="{FF2B5EF4-FFF2-40B4-BE49-F238E27FC236}">
                  <a16:creationId xmlns:a16="http://schemas.microsoft.com/office/drawing/2014/main" id="{4011BC23-0036-4610-94AF-D3ACBD6FE760}"/>
                </a:ext>
              </a:extLst>
            </p:cNvPr>
            <p:cNvCxnSpPr>
              <a:stCxn id="11" idx="0"/>
              <a:endCxn id="13" idx="1"/>
            </p:cNvCxnSpPr>
            <p:nvPr/>
          </p:nvCxnSpPr>
          <p:spPr>
            <a:xfrm flipV="1">
              <a:off x="5473732" y="2378125"/>
              <a:ext cx="885025" cy="1081872"/>
            </a:xfrm>
            <a:prstGeom prst="bentConnector3">
              <a:avLst>
                <a:gd name="adj1" fmla="val 50000"/>
              </a:avLst>
            </a:prstGeom>
            <a:ln w="20955">
              <a:solidFill>
                <a:srgbClr val="9C5875"/>
              </a:solidFill>
              <a:prstDash val="solid"/>
              <a:tailEnd type="triangle" w="med" len="med"/>
            </a:ln>
          </p:spPr>
        </p:cxnSp>
        <p:cxnSp>
          <p:nvCxnSpPr>
            <p:cNvPr id="16" name="connector_15">
              <a:extLst>
                <a:ext uri="{FF2B5EF4-FFF2-40B4-BE49-F238E27FC236}">
                  <a16:creationId xmlns:a16="http://schemas.microsoft.com/office/drawing/2014/main" id="{F5C3B9D8-2556-437F-A6A2-11DD9AADDA93}"/>
                </a:ext>
              </a:extLst>
            </p:cNvPr>
            <p:cNvCxnSpPr>
              <a:stCxn id="11" idx="0"/>
              <a:endCxn id="15" idx="1"/>
            </p:cNvCxnSpPr>
            <p:nvPr/>
          </p:nvCxnSpPr>
          <p:spPr>
            <a:xfrm>
              <a:off x="5473732" y="3459997"/>
              <a:ext cx="885025" cy="129490"/>
            </a:xfrm>
            <a:prstGeom prst="bentConnector3">
              <a:avLst>
                <a:gd name="adj1" fmla="val 50000"/>
              </a:avLst>
            </a:prstGeom>
            <a:ln w="20955">
              <a:solidFill>
                <a:srgbClr val="9C5875"/>
              </a:solidFill>
              <a:prstDash val="solid"/>
              <a:tailEnd type="triangle" w="med" len="med"/>
            </a:ln>
          </p:spPr>
        </p:cxnSp>
        <p:cxnSp>
          <p:nvCxnSpPr>
            <p:cNvPr id="18" name="connector_17">
              <a:extLst>
                <a:ext uri="{FF2B5EF4-FFF2-40B4-BE49-F238E27FC236}">
                  <a16:creationId xmlns:a16="http://schemas.microsoft.com/office/drawing/2014/main" id="{24CE1DD9-6A6E-4D2E-829B-A3B73982D6E3}"/>
                </a:ext>
              </a:extLst>
            </p:cNvPr>
            <p:cNvCxnSpPr>
              <a:stCxn id="11" idx="0"/>
              <a:endCxn id="17" idx="1"/>
            </p:cNvCxnSpPr>
            <p:nvPr/>
          </p:nvCxnSpPr>
          <p:spPr>
            <a:xfrm>
              <a:off x="5473732" y="3459997"/>
              <a:ext cx="885025" cy="1340852"/>
            </a:xfrm>
            <a:prstGeom prst="bentConnector3">
              <a:avLst>
                <a:gd name="adj1" fmla="val 50000"/>
              </a:avLst>
            </a:prstGeom>
            <a:ln w="20955">
              <a:solidFill>
                <a:srgbClr val="9C5875"/>
              </a:solidFill>
              <a:prstDash val="solid"/>
              <a:tailEnd type="triangle" w="med" len="med"/>
            </a:ln>
          </p:spPr>
        </p:cxnSp>
        <p:grpSp>
          <p:nvGrpSpPr>
            <p:cNvPr id="40" name="page_9_stage_1">
              <a:extLst>
                <a:ext uri="{FF2B5EF4-FFF2-40B4-BE49-F238E27FC236}">
                  <a16:creationId xmlns:a16="http://schemas.microsoft.com/office/drawing/2014/main" id="{3C870E56-22CA-BC68-091D-33D1BC73106E}"/>
                </a:ext>
              </a:extLst>
            </p:cNvPr>
            <p:cNvGrpSpPr/>
            <p:nvPr/>
          </p:nvGrpSpPr>
          <p:grpSpPr>
            <a:xfrm>
              <a:off x="438245" y="1466850"/>
              <a:ext cx="10648855" cy="3990975"/>
              <a:chOff x="438245" y="1466850"/>
              <a:chExt cx="10648855" cy="3990975"/>
            </a:xfrm>
          </p:grpSpPr>
          <p:sp>
            <p:nvSpPr>
              <p:cNvPr id="10" name="flowChartMagneticDisk_9">
                <a:extLst>
                  <a:ext uri="{FF2B5EF4-FFF2-40B4-BE49-F238E27FC236}">
                    <a16:creationId xmlns:a16="http://schemas.microsoft.com/office/drawing/2014/main" id="{CBD547AD-B053-41C1-8AD9-5217B1D6C34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38245" y="2415719"/>
                <a:ext cx="1754791" cy="2088555"/>
              </a:xfrm>
              <a:prstGeom prst="flowChartMagneticDisk">
                <a:avLst/>
              </a:prstGeom>
              <a:solidFill>
                <a:srgbClr val="38385B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1682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1682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682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历史实验库</a:t>
                </a:r>
              </a:p>
              <a:p>
                <a:pPr algn="ctr">
                  <a:defRPr sz="1682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245" b="0">
                    <a:solidFill>
                      <a:srgbClr val="DAE8EE"/>
                    </a:solidFill>
                    <a:latin typeface="Noto Sans SC"/>
                    <a:ea typeface="Noto Sans SC"/>
                    <a:cs typeface="Noto Sans SC"/>
                  </a:rPr>
                  <a:t>任务 / 候选 / 配置</a:t>
                </a:r>
                <a:br>
                  <a:rPr sz="1245" b="0">
                    <a:solidFill>
                      <a:srgbClr val="DAE8EE"/>
                    </a:solidFill>
                    <a:latin typeface="Noto Sans SC"/>
                    <a:ea typeface="Noto Sans SC"/>
                    <a:cs typeface="Noto Sans SC"/>
                  </a:rPr>
                </a:br>
                <a:r>
                  <a:rPr sz="1245" b="0">
                    <a:solidFill>
                      <a:srgbClr val="DAE8EE"/>
                    </a:solidFill>
                    <a:latin typeface="Noto Sans SC"/>
                    <a:ea typeface="Noto Sans SC"/>
                    <a:cs typeface="Noto Sans SC"/>
                  </a:rPr>
                  <a:t>表现 / 成本</a:t>
                </a:r>
              </a:p>
            </p:txBody>
          </p:sp>
          <p:sp>
            <p:nvSpPr>
              <p:cNvPr id="11" name="hexagon_10">
                <a:extLst>
                  <a:ext uri="{FF2B5EF4-FFF2-40B4-BE49-F238E27FC236}">
                    <a16:creationId xmlns:a16="http://schemas.microsoft.com/office/drawing/2014/main" id="{567F5795-6D90-41EA-967C-B0F2C50F85C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284058" y="2607866"/>
                <a:ext cx="2189674" cy="1704261"/>
              </a:xfrm>
              <a:prstGeom prst="hexagon">
                <a:avLst/>
              </a:prstGeom>
              <a:solidFill>
                <a:srgbClr val="F3E5EB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168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168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68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rPr>
                  <a:t>随机森林</a:t>
                </a:r>
              </a:p>
              <a:p>
                <a:pPr algn="ctr">
                  <a:defRPr sz="168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245" b="0">
                    <a:solidFill>
                      <a:srgbClr val="6C7182"/>
                    </a:solidFill>
                    <a:latin typeface="Noto Sans SC"/>
                    <a:ea typeface="Noto Sans SC"/>
                    <a:cs typeface="Noto Sans SC"/>
                  </a:rPr>
                  <a:t>预计验证误差 ê</a:t>
                </a:r>
              </a:p>
            </p:txBody>
          </p:sp>
          <p:sp>
            <p:nvSpPr>
              <p:cNvPr id="13" name="roundRect_12">
                <a:extLst>
                  <a:ext uri="{FF2B5EF4-FFF2-40B4-BE49-F238E27FC236}">
                    <a16:creationId xmlns:a16="http://schemas.microsoft.com/office/drawing/2014/main" id="{571EF6D1-08EB-4081-B929-4AB15DEA930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358757" y="2023070"/>
                <a:ext cx="1518275" cy="710109"/>
              </a:xfrm>
              <a:prstGeom prst="roundRect">
                <a:avLst>
                  <a:gd name="adj" fmla="val 13413"/>
                </a:avLst>
              </a:prstGeom>
              <a:solidFill>
                <a:srgbClr val="EEF0F7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132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132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2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rPr>
                  <a:t>候选 m₁</a:t>
                </a:r>
              </a:p>
              <a:p>
                <a:pPr algn="ctr">
                  <a:defRPr sz="132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978" b="0">
                    <a:solidFill>
                      <a:srgbClr val="6C7182"/>
                    </a:solidFill>
                    <a:latin typeface="Noto Sans SC"/>
                    <a:ea typeface="Noto Sans SC"/>
                    <a:cs typeface="Noto Sans SC"/>
                  </a:rPr>
                  <a:t>误差估计</a:t>
                </a:r>
              </a:p>
            </p:txBody>
          </p:sp>
          <p:sp>
            <p:nvSpPr>
              <p:cNvPr id="15" name="roundRect_14">
                <a:extLst>
                  <a:ext uri="{FF2B5EF4-FFF2-40B4-BE49-F238E27FC236}">
                    <a16:creationId xmlns:a16="http://schemas.microsoft.com/office/drawing/2014/main" id="{F4969D3A-6463-4B06-B77C-4CBDE46F2DC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358757" y="3234432"/>
                <a:ext cx="1518275" cy="710109"/>
              </a:xfrm>
              <a:prstGeom prst="roundRect">
                <a:avLst>
                  <a:gd name="adj" fmla="val 13413"/>
                </a:avLst>
              </a:prstGeom>
              <a:solidFill>
                <a:srgbClr val="F3E5EB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132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132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2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rPr>
                  <a:t>候选 m₂</a:t>
                </a:r>
              </a:p>
              <a:p>
                <a:pPr algn="ctr">
                  <a:defRPr sz="132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978" b="0">
                    <a:solidFill>
                      <a:srgbClr val="6C7182"/>
                    </a:solidFill>
                    <a:latin typeface="Noto Sans SC"/>
                    <a:ea typeface="Noto Sans SC"/>
                    <a:cs typeface="Noto Sans SC"/>
                  </a:rPr>
                  <a:t>误差估计</a:t>
                </a:r>
              </a:p>
            </p:txBody>
          </p:sp>
          <p:sp>
            <p:nvSpPr>
              <p:cNvPr id="17" name="roundRect_16">
                <a:extLst>
                  <a:ext uri="{FF2B5EF4-FFF2-40B4-BE49-F238E27FC236}">
                    <a16:creationId xmlns:a16="http://schemas.microsoft.com/office/drawing/2014/main" id="{AD41F9A8-6B28-414B-BC77-18E0F67E80E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358757" y="4445794"/>
                <a:ext cx="1518275" cy="710109"/>
              </a:xfrm>
              <a:prstGeom prst="roundRect">
                <a:avLst>
                  <a:gd name="adj" fmla="val 13413"/>
                </a:avLst>
              </a:prstGeom>
              <a:solidFill>
                <a:srgbClr val="EEF0F7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132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132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2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rPr>
                  <a:t>候选 m₃</a:t>
                </a:r>
              </a:p>
              <a:p>
                <a:pPr algn="ctr">
                  <a:defRPr sz="132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978" b="0">
                    <a:solidFill>
                      <a:srgbClr val="6C7182"/>
                    </a:solidFill>
                    <a:latin typeface="Noto Sans SC"/>
                    <a:ea typeface="Noto Sans SC"/>
                    <a:cs typeface="Noto Sans SC"/>
                  </a:rPr>
                  <a:t>误差估计</a:t>
                </a:r>
              </a:p>
            </p:txBody>
          </p:sp>
          <p:sp>
            <p:nvSpPr>
              <p:cNvPr id="19" name="textbox_18">
                <a:extLst>
                  <a:ext uri="{FF2B5EF4-FFF2-40B4-BE49-F238E27FC236}">
                    <a16:creationId xmlns:a16="http://schemas.microsoft.com/office/drawing/2014/main" id="{B4B60B18-AC17-48B4-97F3-1949C343D76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421922" y="4938693"/>
                <a:ext cx="5226225" cy="37594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262" b="1">
                    <a:solidFill>
                      <a:srgbClr val="9C5875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262" b="1">
                    <a:solidFill>
                      <a:srgbClr val="9C5875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262" b="1">
                    <a:solidFill>
                      <a:srgbClr val="9C5875"/>
                    </a:solidFill>
                    <a:latin typeface="Noto Sans SC"/>
                    <a:ea typeface="Noto Sans SC"/>
                    <a:cs typeface="Noto Sans SC"/>
                  </a:rPr>
                  <a:t>输入 (z, m, c)，学习候选表现而非未来值</a:t>
                </a:r>
              </a:p>
            </p:txBody>
          </p:sp>
          <p:sp>
            <p:nvSpPr>
              <p:cNvPr id="20" name="rect_19">
                <a:extLst>
                  <a:ext uri="{FF2B5EF4-FFF2-40B4-BE49-F238E27FC236}">
                    <a16:creationId xmlns:a16="http://schemas.microsoft.com/office/drawing/2014/main" id="{FEFE4D34-1E6E-4227-AB93-293215C5383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210550" y="1466850"/>
                <a:ext cx="2847975" cy="1809750"/>
              </a:xfrm>
              <a:prstGeom prst="rect">
                <a:avLst/>
              </a:prstGeom>
              <a:solidFill>
                <a:srgbClr val="FAFBFC"/>
              </a:solidFill>
              <a:ln w="9525">
                <a:solidFill>
                  <a:srgbClr val="D8D9E3"/>
                </a:solidFill>
                <a:prstDash val="solid"/>
              </a:ln>
            </p:spPr>
          </p:sp>
          <p:sp>
            <p:nvSpPr>
              <p:cNvPr id="21" name="rect_20">
                <a:extLst>
                  <a:ext uri="{FF2B5EF4-FFF2-40B4-BE49-F238E27FC236}">
                    <a16:creationId xmlns:a16="http://schemas.microsoft.com/office/drawing/2014/main" id="{D978DE7C-F48E-4214-9F51-BAD74B14277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210550" y="1466850"/>
                <a:ext cx="2847975" cy="295275"/>
              </a:xfrm>
              <a:prstGeom prst="rect">
                <a:avLst/>
              </a:prstGeom>
              <a:solidFill>
                <a:srgbClr val="38385B"/>
              </a:solidFill>
              <a:ln w="0">
                <a:noFill/>
                <a:prstDash val="solid"/>
              </a:ln>
            </p:spPr>
          </p:sp>
          <p:sp>
            <p:nvSpPr>
              <p:cNvPr id="22" name="textbox_21">
                <a:extLst>
                  <a:ext uri="{FF2B5EF4-FFF2-40B4-BE49-F238E27FC236}">
                    <a16:creationId xmlns:a16="http://schemas.microsoft.com/office/drawing/2014/main" id="{2AB6F32A-6BDA-46C1-BCC1-353D6BC01E7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24850" y="1524000"/>
                <a:ext cx="882968" cy="27432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35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35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5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输入与输出</a:t>
                </a:r>
              </a:p>
            </p:txBody>
          </p:sp>
          <p:sp>
            <p:nvSpPr>
              <p:cNvPr id="23" name="textbox_22">
                <a:extLst>
                  <a:ext uri="{FF2B5EF4-FFF2-40B4-BE49-F238E27FC236}">
                    <a16:creationId xmlns:a16="http://schemas.microsoft.com/office/drawing/2014/main" id="{FB9E95B6-46BB-4539-85D1-68C3F8B08C0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53425" y="1905000"/>
                <a:ext cx="2472309" cy="27432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输入：任务特征 z、模型身份</a:t>
                </a:r>
              </a:p>
            </p:txBody>
          </p:sp>
          <p:sp>
            <p:nvSpPr>
              <p:cNvPr id="24" name="textbox_23">
                <a:extLst>
                  <a:ext uri="{FF2B5EF4-FFF2-40B4-BE49-F238E27FC236}">
                    <a16:creationId xmlns:a16="http://schemas.microsoft.com/office/drawing/2014/main" id="{F1C3E2C0-40D0-467B-98AB-92DC0BA7B20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53425" y="2187893"/>
                <a:ext cx="1412748" cy="27432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m、超参数 c。</a:t>
                </a:r>
              </a:p>
            </p:txBody>
          </p:sp>
          <p:sp>
            <p:nvSpPr>
              <p:cNvPr id="25" name="textbox_24">
                <a:extLst>
                  <a:ext uri="{FF2B5EF4-FFF2-40B4-BE49-F238E27FC236}">
                    <a16:creationId xmlns:a16="http://schemas.microsoft.com/office/drawing/2014/main" id="{317B338A-108C-40E3-941C-90F68F92962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53425" y="2470785"/>
                <a:ext cx="2119122" cy="27432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输出：预计验证误差 ê。</a:t>
                </a:r>
              </a:p>
            </p:txBody>
          </p:sp>
          <p:sp>
            <p:nvSpPr>
              <p:cNvPr id="26" name="textbox_25">
                <a:extLst>
                  <a:ext uri="{FF2B5EF4-FFF2-40B4-BE49-F238E27FC236}">
                    <a16:creationId xmlns:a16="http://schemas.microsoft.com/office/drawing/2014/main" id="{0E5FDE80-1609-44A0-B3A1-092539E3E54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53425" y="2753677"/>
                <a:ext cx="1942529" cy="27432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按预计表现对候选排序。</a:t>
                </a:r>
              </a:p>
            </p:txBody>
          </p:sp>
          <p:sp>
            <p:nvSpPr>
              <p:cNvPr id="27" name="rect_26">
                <a:extLst>
                  <a:ext uri="{FF2B5EF4-FFF2-40B4-BE49-F238E27FC236}">
                    <a16:creationId xmlns:a16="http://schemas.microsoft.com/office/drawing/2014/main" id="{0C826E27-8150-422E-96CC-7A6BF5316C5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210550" y="3448050"/>
                <a:ext cx="2847975" cy="2009775"/>
              </a:xfrm>
              <a:prstGeom prst="rect">
                <a:avLst/>
              </a:prstGeom>
              <a:solidFill>
                <a:srgbClr val="FAFBFC"/>
              </a:solidFill>
              <a:ln w="9525">
                <a:solidFill>
                  <a:srgbClr val="D8D9E3"/>
                </a:solidFill>
                <a:prstDash val="solid"/>
              </a:ln>
            </p:spPr>
          </p:sp>
          <p:sp>
            <p:nvSpPr>
              <p:cNvPr id="28" name="rect_27">
                <a:extLst>
                  <a:ext uri="{FF2B5EF4-FFF2-40B4-BE49-F238E27FC236}">
                    <a16:creationId xmlns:a16="http://schemas.microsoft.com/office/drawing/2014/main" id="{597AA27A-8FE7-4823-863B-0E2C824109C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210550" y="3448050"/>
                <a:ext cx="2847975" cy="295275"/>
              </a:xfrm>
              <a:prstGeom prst="rect">
                <a:avLst/>
              </a:prstGeom>
              <a:solidFill>
                <a:srgbClr val="38385B"/>
              </a:solidFill>
              <a:ln w="0">
                <a:noFill/>
                <a:prstDash val="solid"/>
              </a:ln>
            </p:spPr>
          </p:sp>
          <p:sp>
            <p:nvSpPr>
              <p:cNvPr id="29" name="textbox_28">
                <a:extLst>
                  <a:ext uri="{FF2B5EF4-FFF2-40B4-BE49-F238E27FC236}">
                    <a16:creationId xmlns:a16="http://schemas.microsoft.com/office/drawing/2014/main" id="{DE39FD56-8D13-4EC7-BDAF-B6491A6C95C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24850" y="3505200"/>
                <a:ext cx="1412748" cy="27432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35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35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5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与预测模型的区别</a:t>
                </a:r>
              </a:p>
            </p:txBody>
          </p:sp>
          <p:sp>
            <p:nvSpPr>
              <p:cNvPr id="30" name="textbox_29">
                <a:extLst>
                  <a:ext uri="{FF2B5EF4-FFF2-40B4-BE49-F238E27FC236}">
                    <a16:creationId xmlns:a16="http://schemas.microsoft.com/office/drawing/2014/main" id="{0072DE0D-481C-410A-8557-FF1065ACCAC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53425" y="3886200"/>
                <a:ext cx="2733675" cy="27432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DLinear 等输出未来观测值。</a:t>
                </a:r>
              </a:p>
            </p:txBody>
          </p:sp>
          <p:sp>
            <p:nvSpPr>
              <p:cNvPr id="31" name="textbox_30">
                <a:extLst>
                  <a:ext uri="{FF2B5EF4-FFF2-40B4-BE49-F238E27FC236}">
                    <a16:creationId xmlns:a16="http://schemas.microsoft.com/office/drawing/2014/main" id="{4F67DFDA-EFFB-422E-B348-898FD77575F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53425" y="4169093"/>
                <a:ext cx="2119122" cy="27432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元模型输出候选表现估计。</a:t>
                </a:r>
              </a:p>
            </p:txBody>
          </p:sp>
          <p:sp>
            <p:nvSpPr>
              <p:cNvPr id="32" name="textbox_31">
                <a:extLst>
                  <a:ext uri="{FF2B5EF4-FFF2-40B4-BE49-F238E27FC236}">
                    <a16:creationId xmlns:a16="http://schemas.microsoft.com/office/drawing/2014/main" id="{359BB310-40E2-4045-8424-CB8DE2EFE90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53425" y="4451985"/>
                <a:ext cx="2472309" cy="27432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需要积累多任务实验，才能检验</a:t>
                </a:r>
              </a:p>
            </p:txBody>
          </p:sp>
          <p:sp>
            <p:nvSpPr>
              <p:cNvPr id="33" name="textbox_32">
                <a:extLst>
                  <a:ext uri="{FF2B5EF4-FFF2-40B4-BE49-F238E27FC236}">
                    <a16:creationId xmlns:a16="http://schemas.microsoft.com/office/drawing/2014/main" id="{1B502A3F-5143-46F1-BA91-C50730B6529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53425" y="4734878"/>
                <a:ext cx="1236155" cy="27432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陌生任务泛化。</a:t>
                </a:r>
              </a:p>
            </p:txBody>
          </p:sp>
        </p:grpSp>
      </p:grpSp>
      <p:sp>
        <p:nvSpPr>
          <p:cNvPr id="34" name="line_33">
            <a:extLst>
              <a:ext uri="{FF2B5EF4-FFF2-40B4-BE49-F238E27FC236}">
                <a16:creationId xmlns:a16="http://schemas.microsoft.com/office/drawing/2014/main" id="{7E676DC7-CD84-4243-9A51-54E0D97A9E27}"/>
              </a:ext>
            </a:extLst>
          </p:cNvPr>
          <p:cNvSpPr>
            <a:spLocks/>
          </p:cNvSpPr>
          <p:nvPr/>
        </p:nvSpPr>
        <p:spPr>
          <a:xfrm>
            <a:off x="371475" y="5800725"/>
            <a:ext cx="10687050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35" name="rect_34">
            <a:extLst>
              <a:ext uri="{FF2B5EF4-FFF2-40B4-BE49-F238E27FC236}">
                <a16:creationId xmlns:a16="http://schemas.microsoft.com/office/drawing/2014/main" id="{09A4B0A8-A938-4CCC-87A3-DADFACAD06E9}"/>
              </a:ext>
            </a:extLst>
          </p:cNvPr>
          <p:cNvSpPr>
            <a:spLocks/>
          </p:cNvSpPr>
          <p:nvPr/>
        </p:nvSpPr>
        <p:spPr>
          <a:xfrm>
            <a:off x="371475" y="5886450"/>
            <a:ext cx="38100" cy="20002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36" name="textbox_35">
            <a:extLst>
              <a:ext uri="{FF2B5EF4-FFF2-40B4-BE49-F238E27FC236}">
                <a16:creationId xmlns:a16="http://schemas.microsoft.com/office/drawing/2014/main" id="{30F51ADA-19E6-4609-B729-D57D21C091BF}"/>
              </a:ext>
            </a:extLst>
          </p:cNvPr>
          <p:cNvSpPr>
            <a:spLocks/>
          </p:cNvSpPr>
          <p:nvPr/>
        </p:nvSpPr>
        <p:spPr>
          <a:xfrm>
            <a:off x="495300" y="5848350"/>
            <a:ext cx="1043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未来值预测器解决一次任务；元模型从历史任务中学习选择经验。</a:t>
            </a:r>
          </a:p>
        </p:txBody>
      </p:sp>
      <p:sp>
        <p:nvSpPr>
          <p:cNvPr id="37" name="textbox_36">
            <a:extLst>
              <a:ext uri="{FF2B5EF4-FFF2-40B4-BE49-F238E27FC236}">
                <a16:creationId xmlns:a16="http://schemas.microsoft.com/office/drawing/2014/main" id="{D91E4AEC-94D1-4692-A01D-173B19CF00C8}"/>
              </a:ext>
            </a:extLst>
          </p:cNvPr>
          <p:cNvSpPr>
            <a:spLocks/>
          </p:cNvSpPr>
          <p:nvPr/>
        </p:nvSpPr>
        <p:spPr>
          <a:xfrm>
            <a:off x="371475" y="6219825"/>
            <a:ext cx="10287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路线 V1.0 · 视觉测试稿 · 研究设计待验证</a:t>
            </a:r>
          </a:p>
        </p:txBody>
      </p:sp>
      <p:sp>
        <p:nvSpPr>
          <p:cNvPr id="38" name="textbox_37">
            <a:extLst>
              <a:ext uri="{FF2B5EF4-FFF2-40B4-BE49-F238E27FC236}">
                <a16:creationId xmlns:a16="http://schemas.microsoft.com/office/drawing/2014/main" id="{3C83BFDD-BA51-4FEE-9033-FBC50BB03354}"/>
              </a:ext>
            </a:extLst>
          </p:cNvPr>
          <p:cNvSpPr>
            <a:spLocks/>
          </p:cNvSpPr>
          <p:nvPr/>
        </p:nvSpPr>
        <p:spPr>
          <a:xfrm>
            <a:off x="10620375" y="619125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04450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_1">
            <a:extLst>
              <a:ext uri="{FF2B5EF4-FFF2-40B4-BE49-F238E27FC236}">
                <a16:creationId xmlns:a16="http://schemas.microsoft.com/office/drawing/2014/main" id="{D41D45BD-F04A-4B98-8581-E1CF77274467}"/>
              </a:ext>
            </a:extLst>
          </p:cNvPr>
          <p:cNvSpPr>
            <a:spLocks/>
          </p:cNvSpPr>
          <p:nvPr/>
        </p:nvSpPr>
        <p:spPr>
          <a:xfrm>
            <a:off x="3714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01  研究问题</a:t>
            </a:r>
          </a:p>
        </p:txBody>
      </p:sp>
      <p:sp>
        <p:nvSpPr>
          <p:cNvPr id="2" name="textbox_2">
            <a:extLst>
              <a:ext uri="{FF2B5EF4-FFF2-40B4-BE49-F238E27FC236}">
                <a16:creationId xmlns:a16="http://schemas.microsoft.com/office/drawing/2014/main" id="{75F20A5F-65FE-4EEE-846A-10F84BBE5B1A}"/>
              </a:ext>
            </a:extLst>
          </p:cNvPr>
          <p:cNvSpPr>
            <a:spLocks/>
          </p:cNvSpPr>
          <p:nvPr/>
        </p:nvSpPr>
        <p:spPr>
          <a:xfrm>
            <a:off x="251460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02  对象与基础</a:t>
            </a:r>
          </a:p>
        </p:txBody>
      </p:sp>
      <p:sp>
        <p:nvSpPr>
          <p:cNvPr id="3" name="textbox_3">
            <a:extLst>
              <a:ext uri="{FF2B5EF4-FFF2-40B4-BE49-F238E27FC236}">
                <a16:creationId xmlns:a16="http://schemas.microsoft.com/office/drawing/2014/main" id="{EAEB6F5F-22B0-4041-B4B9-8B34C6869D09}"/>
              </a:ext>
            </a:extLst>
          </p:cNvPr>
          <p:cNvSpPr>
            <a:spLocks/>
          </p:cNvSpPr>
          <p:nvPr/>
        </p:nvSpPr>
        <p:spPr>
          <a:xfrm>
            <a:off x="465772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03  方法与机制</a:t>
            </a:r>
          </a:p>
        </p:txBody>
      </p:sp>
      <p:sp>
        <p:nvSpPr>
          <p:cNvPr id="4" name="textbox_4">
            <a:extLst>
              <a:ext uri="{FF2B5EF4-FFF2-40B4-BE49-F238E27FC236}">
                <a16:creationId xmlns:a16="http://schemas.microsoft.com/office/drawing/2014/main" id="{CF285A84-06E0-48B3-B8C5-774C15B364F2}"/>
              </a:ext>
            </a:extLst>
          </p:cNvPr>
          <p:cNvSpPr>
            <a:spLocks/>
          </p:cNvSpPr>
          <p:nvPr/>
        </p:nvSpPr>
        <p:spPr>
          <a:xfrm>
            <a:off x="680085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04  实验与证据</a:t>
            </a:r>
          </a:p>
        </p:txBody>
      </p:sp>
      <p:sp>
        <p:nvSpPr>
          <p:cNvPr id="5" name="rect_5">
            <a:extLst>
              <a:ext uri="{FF2B5EF4-FFF2-40B4-BE49-F238E27FC236}">
                <a16:creationId xmlns:a16="http://schemas.microsoft.com/office/drawing/2014/main" id="{DC2290CC-94AB-4C1F-99C9-D642B1544D3F}"/>
              </a:ext>
            </a:extLst>
          </p:cNvPr>
          <p:cNvSpPr>
            <a:spLocks/>
          </p:cNvSpPr>
          <p:nvPr/>
        </p:nvSpPr>
        <p:spPr>
          <a:xfrm>
            <a:off x="6800850" y="447675"/>
            <a:ext cx="1238250" cy="2857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6" name="textbox_6">
            <a:extLst>
              <a:ext uri="{FF2B5EF4-FFF2-40B4-BE49-F238E27FC236}">
                <a16:creationId xmlns:a16="http://schemas.microsoft.com/office/drawing/2014/main" id="{E04432C2-1AB4-4E50-8206-40EFAD3581D9}"/>
              </a:ext>
            </a:extLst>
          </p:cNvPr>
          <p:cNvSpPr>
            <a:spLocks/>
          </p:cNvSpPr>
          <p:nvPr/>
        </p:nvSpPr>
        <p:spPr>
          <a:xfrm>
            <a:off x="89439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05  实施与产出</a:t>
            </a:r>
          </a:p>
        </p:txBody>
      </p:sp>
      <p:sp>
        <p:nvSpPr>
          <p:cNvPr id="7" name="line_7">
            <a:extLst>
              <a:ext uri="{FF2B5EF4-FFF2-40B4-BE49-F238E27FC236}">
                <a16:creationId xmlns:a16="http://schemas.microsoft.com/office/drawing/2014/main" id="{D9659816-284E-4B7C-96F1-437AC0B78C62}"/>
              </a:ext>
            </a:extLst>
          </p:cNvPr>
          <p:cNvSpPr>
            <a:spLocks/>
          </p:cNvSpPr>
          <p:nvPr/>
        </p:nvSpPr>
        <p:spPr>
          <a:xfrm>
            <a:off x="371475" y="476250"/>
            <a:ext cx="10677525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8" name="slide_title">
            <a:extLst>
              <a:ext uri="{FF2B5EF4-FFF2-40B4-BE49-F238E27FC236}">
                <a16:creationId xmlns:a16="http://schemas.microsoft.com/office/drawing/2014/main" id="{1C50B5C9-9893-4258-8D5D-889A333B35CE}"/>
              </a:ext>
            </a:extLst>
          </p:cNvPr>
          <p:cNvSpPr>
            <a:spLocks/>
          </p:cNvSpPr>
          <p:nvPr/>
        </p:nvSpPr>
        <p:spPr>
          <a:xfrm>
            <a:off x="361950" y="685800"/>
            <a:ext cx="10706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defPPr>
          </a:lstStyle>
          <a:p>
            <a: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pP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09</a:t>
            </a:r>
            <a:r>
              <a:rPr sz="2175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  </a:t>
            </a: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元学习评估：以数据来源隔离陌生任务</a:t>
            </a:r>
          </a:p>
        </p:txBody>
      </p:sp>
      <p:sp>
        <p:nvSpPr>
          <p:cNvPr id="9" name="textbox_8">
            <a:extLst>
              <a:ext uri="{FF2B5EF4-FFF2-40B4-BE49-F238E27FC236}">
                <a16:creationId xmlns:a16="http://schemas.microsoft.com/office/drawing/2014/main" id="{2A2CA1BB-0EDE-4468-ADB2-FD399E1B55B2}"/>
              </a:ext>
            </a:extLst>
          </p:cNvPr>
          <p:cNvSpPr>
            <a:spLocks/>
          </p:cNvSpPr>
          <p:nvPr/>
        </p:nvSpPr>
        <p:spPr>
          <a:xfrm>
            <a:off x="381000" y="1133475"/>
            <a:ext cx="10668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同源切片、近邻时间段和随机种子不能当成彼此独立的新任务。</a:t>
            </a:r>
          </a:p>
        </p:txBody>
      </p:sp>
      <p:grpSp>
        <p:nvGrpSpPr>
          <p:cNvPr id="38" name="page_10_stage_1">
            <a:extLst>
              <a:ext uri="{FF2B5EF4-FFF2-40B4-BE49-F238E27FC236}">
                <a16:creationId xmlns:a16="http://schemas.microsoft.com/office/drawing/2014/main" id="{646431CF-B762-E02C-3C0B-B9A4F0272120}"/>
              </a:ext>
            </a:extLst>
          </p:cNvPr>
          <p:cNvGrpSpPr/>
          <p:nvPr/>
        </p:nvGrpSpPr>
        <p:grpSpPr>
          <a:xfrm>
            <a:off x="457200" y="1495425"/>
            <a:ext cx="10401300" cy="3971925"/>
            <a:chOff x="457200" y="1495425"/>
            <a:chExt cx="10401300" cy="3971925"/>
          </a:xfrm>
        </p:grpSpPr>
        <p:sp>
          <p:nvSpPr>
            <p:cNvPr id="10" name="textbox_9">
              <a:extLst>
                <a:ext uri="{FF2B5EF4-FFF2-40B4-BE49-F238E27FC236}">
                  <a16:creationId xmlns:a16="http://schemas.microsoft.com/office/drawing/2014/main" id="{C135E232-C2BF-4EC1-8C1F-65B93932067E}"/>
                </a:ext>
              </a:extLst>
            </p:cNvPr>
            <p:cNvSpPr>
              <a:spLocks/>
            </p:cNvSpPr>
            <p:nvPr/>
          </p:nvSpPr>
          <p:spPr>
            <a:xfrm>
              <a:off x="457200" y="1495425"/>
              <a:ext cx="8001000" cy="3333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9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9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9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按数据来源分组，而不是按实验行随机打散</a:t>
              </a:r>
            </a:p>
          </p:txBody>
        </p:sp>
        <p:sp>
          <p:nvSpPr>
            <p:cNvPr id="11" name="rect_10">
              <a:extLst>
                <a:ext uri="{FF2B5EF4-FFF2-40B4-BE49-F238E27FC236}">
                  <a16:creationId xmlns:a16="http://schemas.microsoft.com/office/drawing/2014/main" id="{184982C3-208A-4152-80B5-39E2DFA70BA5}"/>
                </a:ext>
              </a:extLst>
            </p:cNvPr>
            <p:cNvSpPr>
              <a:spLocks/>
            </p:cNvSpPr>
            <p:nvPr/>
          </p:nvSpPr>
          <p:spPr>
            <a:xfrm>
              <a:off x="571500" y="2162175"/>
              <a:ext cx="3028950" cy="2238375"/>
            </a:xfrm>
            <a:prstGeom prst="rect">
              <a:avLst/>
            </a:prstGeom>
            <a:solidFill>
              <a:srgbClr val="F5F8FA"/>
            </a:solidFill>
            <a:ln w="9525">
              <a:solidFill>
                <a:srgbClr val="D8D9E3"/>
              </a:solidFill>
              <a:prstDash val="solid"/>
            </a:ln>
          </p:spPr>
        </p:sp>
        <p:sp>
          <p:nvSpPr>
            <p:cNvPr id="12" name="textbox_11">
              <a:extLst>
                <a:ext uri="{FF2B5EF4-FFF2-40B4-BE49-F238E27FC236}">
                  <a16:creationId xmlns:a16="http://schemas.microsoft.com/office/drawing/2014/main" id="{5F023CB0-87EF-4460-A7E4-9473AA32ED03}"/>
                </a:ext>
              </a:extLst>
            </p:cNvPr>
            <p:cNvSpPr>
              <a:spLocks/>
            </p:cNvSpPr>
            <p:nvPr/>
          </p:nvSpPr>
          <p:spPr>
            <a:xfrm>
              <a:off x="733425" y="2333625"/>
              <a:ext cx="2705100" cy="3238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8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8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8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元训练来源</a:t>
              </a:r>
            </a:p>
          </p:txBody>
        </p:sp>
        <p:sp>
          <p:nvSpPr>
            <p:cNvPr id="13" name="flowChartDocument_12">
              <a:extLst>
                <a:ext uri="{FF2B5EF4-FFF2-40B4-BE49-F238E27FC236}">
                  <a16:creationId xmlns:a16="http://schemas.microsoft.com/office/drawing/2014/main" id="{DEAA1318-FB32-43C0-8636-7A44B79AB119}"/>
                </a:ext>
              </a:extLst>
            </p:cNvPr>
            <p:cNvSpPr>
              <a:spLocks/>
            </p:cNvSpPr>
            <p:nvPr/>
          </p:nvSpPr>
          <p:spPr>
            <a:xfrm>
              <a:off x="762000" y="3019425"/>
              <a:ext cx="762000" cy="685800"/>
            </a:xfrm>
            <a:prstGeom prst="flowChartDocument">
              <a:avLst/>
            </a:prstGeom>
            <a:solidFill>
              <a:srgbClr val="EEF0F7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2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2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切片</a:t>
              </a:r>
            </a:p>
          </p:txBody>
        </p:sp>
        <p:sp>
          <p:nvSpPr>
            <p:cNvPr id="14" name="flowChartDocument_13">
              <a:extLst>
                <a:ext uri="{FF2B5EF4-FFF2-40B4-BE49-F238E27FC236}">
                  <a16:creationId xmlns:a16="http://schemas.microsoft.com/office/drawing/2014/main" id="{A5D4BD6B-1EC8-433F-8E50-035B72D59CD3}"/>
                </a:ext>
              </a:extLst>
            </p:cNvPr>
            <p:cNvSpPr>
              <a:spLocks/>
            </p:cNvSpPr>
            <p:nvPr/>
          </p:nvSpPr>
          <p:spPr>
            <a:xfrm>
              <a:off x="1657350" y="3019425"/>
              <a:ext cx="762000" cy="685800"/>
            </a:xfrm>
            <a:prstGeom prst="flowChartDocument">
              <a:avLst/>
            </a:prstGeom>
            <a:solidFill>
              <a:srgbClr val="EEF0F7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2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2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配置</a:t>
              </a:r>
            </a:p>
          </p:txBody>
        </p:sp>
        <p:sp>
          <p:nvSpPr>
            <p:cNvPr id="15" name="flowChartDocument_14">
              <a:extLst>
                <a:ext uri="{FF2B5EF4-FFF2-40B4-BE49-F238E27FC236}">
                  <a16:creationId xmlns:a16="http://schemas.microsoft.com/office/drawing/2014/main" id="{339FCD45-55F5-4F50-818C-2B48F9826EEF}"/>
                </a:ext>
              </a:extLst>
            </p:cNvPr>
            <p:cNvSpPr>
              <a:spLocks/>
            </p:cNvSpPr>
            <p:nvPr/>
          </p:nvSpPr>
          <p:spPr>
            <a:xfrm>
              <a:off x="2552700" y="3019425"/>
              <a:ext cx="762000" cy="685800"/>
            </a:xfrm>
            <a:prstGeom prst="flowChartDocument">
              <a:avLst/>
            </a:prstGeom>
            <a:solidFill>
              <a:srgbClr val="EEF0F7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2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2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种子</a:t>
              </a:r>
            </a:p>
          </p:txBody>
        </p:sp>
        <p:sp>
          <p:nvSpPr>
            <p:cNvPr id="16" name="textbox_15">
              <a:extLst>
                <a:ext uri="{FF2B5EF4-FFF2-40B4-BE49-F238E27FC236}">
                  <a16:creationId xmlns:a16="http://schemas.microsoft.com/office/drawing/2014/main" id="{20DD873F-DA26-4A4F-87AF-9FFE32B9A83D}"/>
                </a:ext>
              </a:extLst>
            </p:cNvPr>
            <p:cNvSpPr>
              <a:spLocks/>
            </p:cNvSpPr>
            <p:nvPr/>
          </p:nvSpPr>
          <p:spPr>
            <a:xfrm>
              <a:off x="742950" y="3990975"/>
              <a:ext cx="270510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42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42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425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学习历史表现规律</a:t>
              </a:r>
            </a:p>
          </p:txBody>
        </p:sp>
        <p:sp>
          <p:nvSpPr>
            <p:cNvPr id="17" name="rect_16">
              <a:extLst>
                <a:ext uri="{FF2B5EF4-FFF2-40B4-BE49-F238E27FC236}">
                  <a16:creationId xmlns:a16="http://schemas.microsoft.com/office/drawing/2014/main" id="{A1284322-F241-42E1-8E42-25644DEFB9F3}"/>
                </a:ext>
              </a:extLst>
            </p:cNvPr>
            <p:cNvSpPr>
              <a:spLocks/>
            </p:cNvSpPr>
            <p:nvPr/>
          </p:nvSpPr>
          <p:spPr>
            <a:xfrm>
              <a:off x="4200525" y="2162175"/>
              <a:ext cx="3028950" cy="2238375"/>
            </a:xfrm>
            <a:prstGeom prst="rect">
              <a:avLst/>
            </a:prstGeom>
            <a:solidFill>
              <a:srgbClr val="F5F8FA"/>
            </a:solidFill>
            <a:ln w="9525">
              <a:solidFill>
                <a:srgbClr val="D8D9E3"/>
              </a:solidFill>
              <a:prstDash val="solid"/>
            </a:ln>
          </p:spPr>
        </p:sp>
        <p:sp>
          <p:nvSpPr>
            <p:cNvPr id="18" name="textbox_17">
              <a:extLst>
                <a:ext uri="{FF2B5EF4-FFF2-40B4-BE49-F238E27FC236}">
                  <a16:creationId xmlns:a16="http://schemas.microsoft.com/office/drawing/2014/main" id="{130583F9-0D8B-40CB-A155-5C2186387E6F}"/>
                </a:ext>
              </a:extLst>
            </p:cNvPr>
            <p:cNvSpPr>
              <a:spLocks/>
            </p:cNvSpPr>
            <p:nvPr/>
          </p:nvSpPr>
          <p:spPr>
            <a:xfrm>
              <a:off x="4362450" y="2333625"/>
              <a:ext cx="2705100" cy="3238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80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80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80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rPr>
                <a:t>开发来源</a:t>
              </a:r>
            </a:p>
          </p:txBody>
        </p:sp>
        <p:sp>
          <p:nvSpPr>
            <p:cNvPr id="19" name="flowChartDocument_18">
              <a:extLst>
                <a:ext uri="{FF2B5EF4-FFF2-40B4-BE49-F238E27FC236}">
                  <a16:creationId xmlns:a16="http://schemas.microsoft.com/office/drawing/2014/main" id="{598E9F08-048B-415C-8479-12BAECC52C64}"/>
                </a:ext>
              </a:extLst>
            </p:cNvPr>
            <p:cNvSpPr>
              <a:spLocks/>
            </p:cNvSpPr>
            <p:nvPr/>
          </p:nvSpPr>
          <p:spPr>
            <a:xfrm>
              <a:off x="4391025" y="3019425"/>
              <a:ext cx="762000" cy="685800"/>
            </a:xfrm>
            <a:prstGeom prst="flowChartDocument">
              <a:avLst/>
            </a:prstGeom>
            <a:solidFill>
              <a:srgbClr val="EEF0F7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2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2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切片</a:t>
              </a:r>
            </a:p>
          </p:txBody>
        </p:sp>
        <p:sp>
          <p:nvSpPr>
            <p:cNvPr id="20" name="flowChartDocument_19">
              <a:extLst>
                <a:ext uri="{FF2B5EF4-FFF2-40B4-BE49-F238E27FC236}">
                  <a16:creationId xmlns:a16="http://schemas.microsoft.com/office/drawing/2014/main" id="{54DACC71-91A2-4C06-97A2-FD7A9E4FE41B}"/>
                </a:ext>
              </a:extLst>
            </p:cNvPr>
            <p:cNvSpPr>
              <a:spLocks/>
            </p:cNvSpPr>
            <p:nvPr/>
          </p:nvSpPr>
          <p:spPr>
            <a:xfrm>
              <a:off x="5286375" y="3019425"/>
              <a:ext cx="762000" cy="685800"/>
            </a:xfrm>
            <a:prstGeom prst="flowChartDocument">
              <a:avLst/>
            </a:prstGeom>
            <a:solidFill>
              <a:srgbClr val="EEF0F7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2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2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配置</a:t>
              </a:r>
            </a:p>
          </p:txBody>
        </p:sp>
        <p:sp>
          <p:nvSpPr>
            <p:cNvPr id="21" name="flowChartDocument_20">
              <a:extLst>
                <a:ext uri="{FF2B5EF4-FFF2-40B4-BE49-F238E27FC236}">
                  <a16:creationId xmlns:a16="http://schemas.microsoft.com/office/drawing/2014/main" id="{903FDA4C-B451-40BC-A653-F214342DD7DB}"/>
                </a:ext>
              </a:extLst>
            </p:cNvPr>
            <p:cNvSpPr>
              <a:spLocks/>
            </p:cNvSpPr>
            <p:nvPr/>
          </p:nvSpPr>
          <p:spPr>
            <a:xfrm>
              <a:off x="6181725" y="3019425"/>
              <a:ext cx="762000" cy="685800"/>
            </a:xfrm>
            <a:prstGeom prst="flowChartDocument">
              <a:avLst/>
            </a:prstGeom>
            <a:solidFill>
              <a:srgbClr val="EEF0F7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2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2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种子</a:t>
              </a:r>
            </a:p>
          </p:txBody>
        </p:sp>
        <p:sp>
          <p:nvSpPr>
            <p:cNvPr id="22" name="textbox_21">
              <a:extLst>
                <a:ext uri="{FF2B5EF4-FFF2-40B4-BE49-F238E27FC236}">
                  <a16:creationId xmlns:a16="http://schemas.microsoft.com/office/drawing/2014/main" id="{07B6C73A-126C-4D5B-8BED-6CC7EDF21AAE}"/>
                </a:ext>
              </a:extLst>
            </p:cNvPr>
            <p:cNvSpPr>
              <a:spLocks/>
            </p:cNvSpPr>
            <p:nvPr/>
          </p:nvSpPr>
          <p:spPr>
            <a:xfrm>
              <a:off x="4371975" y="3990975"/>
              <a:ext cx="270510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425" b="0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425" b="0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425" b="0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rPr>
                <a:t>选择特征和策略参数</a:t>
              </a:r>
            </a:p>
          </p:txBody>
        </p:sp>
        <p:sp>
          <p:nvSpPr>
            <p:cNvPr id="23" name="rect_22">
              <a:extLst>
                <a:ext uri="{FF2B5EF4-FFF2-40B4-BE49-F238E27FC236}">
                  <a16:creationId xmlns:a16="http://schemas.microsoft.com/office/drawing/2014/main" id="{38F4B7AC-173E-48C5-946A-36BB9B6547F0}"/>
                </a:ext>
              </a:extLst>
            </p:cNvPr>
            <p:cNvSpPr>
              <a:spLocks/>
            </p:cNvSpPr>
            <p:nvPr/>
          </p:nvSpPr>
          <p:spPr>
            <a:xfrm>
              <a:off x="7829550" y="2162175"/>
              <a:ext cx="3028950" cy="2238375"/>
            </a:xfrm>
            <a:prstGeom prst="rect">
              <a:avLst/>
            </a:prstGeom>
            <a:solidFill>
              <a:srgbClr val="F5F8FA"/>
            </a:solidFill>
            <a:ln w="9525">
              <a:solidFill>
                <a:srgbClr val="D8D9E3"/>
              </a:solidFill>
              <a:prstDash val="solid"/>
            </a:ln>
          </p:spPr>
        </p:sp>
        <p:sp>
          <p:nvSpPr>
            <p:cNvPr id="24" name="textbox_23">
              <a:extLst>
                <a:ext uri="{FF2B5EF4-FFF2-40B4-BE49-F238E27FC236}">
                  <a16:creationId xmlns:a16="http://schemas.microsoft.com/office/drawing/2014/main" id="{F9AE733D-07A6-42B7-A463-EB444CC70741}"/>
                </a:ext>
              </a:extLst>
            </p:cNvPr>
            <p:cNvSpPr>
              <a:spLocks/>
            </p:cNvSpPr>
            <p:nvPr/>
          </p:nvSpPr>
          <p:spPr>
            <a:xfrm>
              <a:off x="7991475" y="2333625"/>
              <a:ext cx="2705100" cy="3238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800" b="1">
                  <a:solidFill>
                    <a:srgbClr val="9A754A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800" b="1">
                  <a:solidFill>
                    <a:srgbClr val="9A754A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800" b="1">
                  <a:solidFill>
                    <a:srgbClr val="9A754A"/>
                  </a:solidFill>
                  <a:latin typeface="Noto Sans SC"/>
                  <a:ea typeface="Noto Sans SC"/>
                  <a:cs typeface="Noto Sans SC"/>
                </a:rPr>
                <a:t>保留评价来源</a:t>
              </a:r>
            </a:p>
          </p:txBody>
        </p:sp>
        <p:sp>
          <p:nvSpPr>
            <p:cNvPr id="25" name="flowChartDocument_24">
              <a:extLst>
                <a:ext uri="{FF2B5EF4-FFF2-40B4-BE49-F238E27FC236}">
                  <a16:creationId xmlns:a16="http://schemas.microsoft.com/office/drawing/2014/main" id="{F5527A20-36FC-4501-84E5-3FE6730B83D4}"/>
                </a:ext>
              </a:extLst>
            </p:cNvPr>
            <p:cNvSpPr>
              <a:spLocks/>
            </p:cNvSpPr>
            <p:nvPr/>
          </p:nvSpPr>
          <p:spPr>
            <a:xfrm>
              <a:off x="8020050" y="3019425"/>
              <a:ext cx="762000" cy="685800"/>
            </a:xfrm>
            <a:prstGeom prst="flowChartDocument">
              <a:avLst/>
            </a:prstGeom>
            <a:solidFill>
              <a:srgbClr val="EEF0F7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2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2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切片</a:t>
              </a:r>
            </a:p>
          </p:txBody>
        </p:sp>
        <p:sp>
          <p:nvSpPr>
            <p:cNvPr id="26" name="flowChartDocument_25">
              <a:extLst>
                <a:ext uri="{FF2B5EF4-FFF2-40B4-BE49-F238E27FC236}">
                  <a16:creationId xmlns:a16="http://schemas.microsoft.com/office/drawing/2014/main" id="{53D66752-004C-4749-A3D2-3E7BD540E6F7}"/>
                </a:ext>
              </a:extLst>
            </p:cNvPr>
            <p:cNvSpPr>
              <a:spLocks/>
            </p:cNvSpPr>
            <p:nvPr/>
          </p:nvSpPr>
          <p:spPr>
            <a:xfrm>
              <a:off x="8915400" y="3019425"/>
              <a:ext cx="762000" cy="685800"/>
            </a:xfrm>
            <a:prstGeom prst="flowChartDocument">
              <a:avLst/>
            </a:prstGeom>
            <a:solidFill>
              <a:srgbClr val="EEF0F7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2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2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配置</a:t>
              </a:r>
            </a:p>
          </p:txBody>
        </p:sp>
        <p:sp>
          <p:nvSpPr>
            <p:cNvPr id="27" name="flowChartDocument_26">
              <a:extLst>
                <a:ext uri="{FF2B5EF4-FFF2-40B4-BE49-F238E27FC236}">
                  <a16:creationId xmlns:a16="http://schemas.microsoft.com/office/drawing/2014/main" id="{0D352960-4CB9-413A-8855-0DD48697FE30}"/>
                </a:ext>
              </a:extLst>
            </p:cNvPr>
            <p:cNvSpPr>
              <a:spLocks/>
            </p:cNvSpPr>
            <p:nvPr/>
          </p:nvSpPr>
          <p:spPr>
            <a:xfrm>
              <a:off x="9810750" y="3019425"/>
              <a:ext cx="762000" cy="685800"/>
            </a:xfrm>
            <a:prstGeom prst="flowChartDocument">
              <a:avLst/>
            </a:prstGeom>
            <a:solidFill>
              <a:srgbClr val="EEF0F7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2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2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种子</a:t>
              </a:r>
            </a:p>
          </p:txBody>
        </p:sp>
        <p:sp>
          <p:nvSpPr>
            <p:cNvPr id="28" name="textbox_27">
              <a:extLst>
                <a:ext uri="{FF2B5EF4-FFF2-40B4-BE49-F238E27FC236}">
                  <a16:creationId xmlns:a16="http://schemas.microsoft.com/office/drawing/2014/main" id="{74D5C3A6-03CC-4B91-AD12-5371BFD6BD3A}"/>
                </a:ext>
              </a:extLst>
            </p:cNvPr>
            <p:cNvSpPr>
              <a:spLocks/>
            </p:cNvSpPr>
            <p:nvPr/>
          </p:nvSpPr>
          <p:spPr>
            <a:xfrm>
              <a:off x="8001000" y="3990975"/>
              <a:ext cx="270510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425" b="0">
                  <a:solidFill>
                    <a:srgbClr val="9A754A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425" b="0">
                  <a:solidFill>
                    <a:srgbClr val="9A754A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425" b="0">
                  <a:solidFill>
                    <a:srgbClr val="9A754A"/>
                  </a:solidFill>
                  <a:latin typeface="Noto Sans SC"/>
                  <a:ea typeface="Noto Sans SC"/>
                  <a:cs typeface="Noto Sans SC"/>
                </a:rPr>
                <a:t>只评价锁定后的方法</a:t>
              </a:r>
            </a:p>
          </p:txBody>
        </p:sp>
        <p:sp>
          <p:nvSpPr>
            <p:cNvPr id="29" name="rightArrow_28">
              <a:extLst>
                <a:ext uri="{FF2B5EF4-FFF2-40B4-BE49-F238E27FC236}">
                  <a16:creationId xmlns:a16="http://schemas.microsoft.com/office/drawing/2014/main" id="{75DF4C6D-5041-4E05-9789-F4F578D66A26}"/>
                </a:ext>
              </a:extLst>
            </p:cNvPr>
            <p:cNvSpPr>
              <a:spLocks/>
            </p:cNvSpPr>
            <p:nvPr/>
          </p:nvSpPr>
          <p:spPr>
            <a:xfrm>
              <a:off x="3438525" y="2847975"/>
              <a:ext cx="790575" cy="381000"/>
            </a:xfrm>
            <a:prstGeom prst="rightArrow">
              <a:avLst/>
            </a:prstGeom>
            <a:solidFill>
              <a:srgbClr val="B1C8D6"/>
            </a:solidFill>
            <a:ln w="0">
              <a:noFill/>
              <a:prstDash val="solid"/>
            </a:ln>
          </p:spPr>
        </p:sp>
        <p:sp>
          <p:nvSpPr>
            <p:cNvPr id="30" name="rightArrow_29">
              <a:extLst>
                <a:ext uri="{FF2B5EF4-FFF2-40B4-BE49-F238E27FC236}">
                  <a16:creationId xmlns:a16="http://schemas.microsoft.com/office/drawing/2014/main" id="{E8C4BDC9-D0F5-47CA-99B9-51DFD63C83A7}"/>
                </a:ext>
              </a:extLst>
            </p:cNvPr>
            <p:cNvSpPr>
              <a:spLocks/>
            </p:cNvSpPr>
            <p:nvPr/>
          </p:nvSpPr>
          <p:spPr>
            <a:xfrm>
              <a:off x="7077075" y="2847975"/>
              <a:ext cx="790575" cy="381000"/>
            </a:xfrm>
            <a:prstGeom prst="rightArrow">
              <a:avLst/>
            </a:prstGeom>
            <a:solidFill>
              <a:srgbClr val="B1C8D6"/>
            </a:solidFill>
            <a:ln w="0">
              <a:noFill/>
              <a:prstDash val="solid"/>
            </a:ln>
          </p:spPr>
        </p:sp>
        <p:sp>
          <p:nvSpPr>
            <p:cNvPr id="31" name="textbox_30">
              <a:extLst>
                <a:ext uri="{FF2B5EF4-FFF2-40B4-BE49-F238E27FC236}">
                  <a16:creationId xmlns:a16="http://schemas.microsoft.com/office/drawing/2014/main" id="{64B1CA75-1C9D-4F2B-8C09-2F33B16D243F}"/>
                </a:ext>
              </a:extLst>
            </p:cNvPr>
            <p:cNvSpPr>
              <a:spLocks/>
            </p:cNvSpPr>
            <p:nvPr/>
          </p:nvSpPr>
          <p:spPr>
            <a:xfrm>
              <a:off x="571500" y="4838700"/>
              <a:ext cx="1019175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6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6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同源切片与种子随来源一起隔离。跨任务聚合前处理误差量纲，种子只表示任务内重复。</a:t>
              </a:r>
            </a:p>
          </p:txBody>
        </p:sp>
      </p:grpSp>
      <p:sp>
        <p:nvSpPr>
          <p:cNvPr id="32" name="line_31">
            <a:extLst>
              <a:ext uri="{FF2B5EF4-FFF2-40B4-BE49-F238E27FC236}">
                <a16:creationId xmlns:a16="http://schemas.microsoft.com/office/drawing/2014/main" id="{5C32ED6F-A12F-4591-8023-FEE4E24B5A36}"/>
              </a:ext>
            </a:extLst>
          </p:cNvPr>
          <p:cNvSpPr>
            <a:spLocks/>
          </p:cNvSpPr>
          <p:nvPr/>
        </p:nvSpPr>
        <p:spPr>
          <a:xfrm>
            <a:off x="371475" y="5800725"/>
            <a:ext cx="10687050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33" name="rect_32">
            <a:extLst>
              <a:ext uri="{FF2B5EF4-FFF2-40B4-BE49-F238E27FC236}">
                <a16:creationId xmlns:a16="http://schemas.microsoft.com/office/drawing/2014/main" id="{CC21709E-F1B8-4931-8462-8E16B299E997}"/>
              </a:ext>
            </a:extLst>
          </p:cNvPr>
          <p:cNvSpPr>
            <a:spLocks/>
          </p:cNvSpPr>
          <p:nvPr/>
        </p:nvSpPr>
        <p:spPr>
          <a:xfrm>
            <a:off x="371475" y="5886450"/>
            <a:ext cx="38100" cy="20002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34" name="textbox_33">
            <a:extLst>
              <a:ext uri="{FF2B5EF4-FFF2-40B4-BE49-F238E27FC236}">
                <a16:creationId xmlns:a16="http://schemas.microsoft.com/office/drawing/2014/main" id="{391EE79B-8F47-40DC-9AED-4184D06A7CF1}"/>
              </a:ext>
            </a:extLst>
          </p:cNvPr>
          <p:cNvSpPr>
            <a:spLocks/>
          </p:cNvSpPr>
          <p:nvPr/>
        </p:nvSpPr>
        <p:spPr>
          <a:xfrm>
            <a:off x="495300" y="5848350"/>
            <a:ext cx="1043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真正的测试对象是未见来源上的决策能力。</a:t>
            </a:r>
          </a:p>
        </p:txBody>
      </p:sp>
      <p:sp>
        <p:nvSpPr>
          <p:cNvPr id="35" name="textbox_34">
            <a:extLst>
              <a:ext uri="{FF2B5EF4-FFF2-40B4-BE49-F238E27FC236}">
                <a16:creationId xmlns:a16="http://schemas.microsoft.com/office/drawing/2014/main" id="{2FA09886-0D5E-45D4-9E68-6B298C988006}"/>
              </a:ext>
            </a:extLst>
          </p:cNvPr>
          <p:cNvSpPr>
            <a:spLocks/>
          </p:cNvSpPr>
          <p:nvPr/>
        </p:nvSpPr>
        <p:spPr>
          <a:xfrm>
            <a:off x="371475" y="6219825"/>
            <a:ext cx="10287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路线 V1.0 · 视觉测试稿 · 研究设计待验证</a:t>
            </a:r>
          </a:p>
        </p:txBody>
      </p:sp>
      <p:sp>
        <p:nvSpPr>
          <p:cNvPr id="36" name="textbox_35">
            <a:extLst>
              <a:ext uri="{FF2B5EF4-FFF2-40B4-BE49-F238E27FC236}">
                <a16:creationId xmlns:a16="http://schemas.microsoft.com/office/drawing/2014/main" id="{04ACC2E0-0E48-4FD1-B834-47EC672B3403}"/>
              </a:ext>
            </a:extLst>
          </p:cNvPr>
          <p:cNvSpPr>
            <a:spLocks/>
          </p:cNvSpPr>
          <p:nvPr/>
        </p:nvSpPr>
        <p:spPr>
          <a:xfrm>
            <a:off x="10620375" y="619125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83860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_1">
            <a:extLst>
              <a:ext uri="{FF2B5EF4-FFF2-40B4-BE49-F238E27FC236}">
                <a16:creationId xmlns:a16="http://schemas.microsoft.com/office/drawing/2014/main" id="{7212031F-C5BB-4475-AEC7-00ED58CD5D4E}"/>
              </a:ext>
            </a:extLst>
          </p:cNvPr>
          <p:cNvSpPr>
            <a:spLocks/>
          </p:cNvSpPr>
          <p:nvPr/>
        </p:nvSpPr>
        <p:spPr>
          <a:xfrm>
            <a:off x="3714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01  研究问题</a:t>
            </a:r>
          </a:p>
        </p:txBody>
      </p:sp>
      <p:sp>
        <p:nvSpPr>
          <p:cNvPr id="2" name="textbox_2">
            <a:extLst>
              <a:ext uri="{FF2B5EF4-FFF2-40B4-BE49-F238E27FC236}">
                <a16:creationId xmlns:a16="http://schemas.microsoft.com/office/drawing/2014/main" id="{1ABF35AA-42AA-45FD-9A9E-5291601B8FD0}"/>
              </a:ext>
            </a:extLst>
          </p:cNvPr>
          <p:cNvSpPr>
            <a:spLocks/>
          </p:cNvSpPr>
          <p:nvPr/>
        </p:nvSpPr>
        <p:spPr>
          <a:xfrm>
            <a:off x="251460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02  对象与基础</a:t>
            </a:r>
          </a:p>
        </p:txBody>
      </p:sp>
      <p:sp>
        <p:nvSpPr>
          <p:cNvPr id="3" name="textbox_3">
            <a:extLst>
              <a:ext uri="{FF2B5EF4-FFF2-40B4-BE49-F238E27FC236}">
                <a16:creationId xmlns:a16="http://schemas.microsoft.com/office/drawing/2014/main" id="{5FC6D579-43C2-4C89-A574-4293B025932D}"/>
              </a:ext>
            </a:extLst>
          </p:cNvPr>
          <p:cNvSpPr>
            <a:spLocks/>
          </p:cNvSpPr>
          <p:nvPr/>
        </p:nvSpPr>
        <p:spPr>
          <a:xfrm>
            <a:off x="465772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03  方法与机制</a:t>
            </a:r>
          </a:p>
        </p:txBody>
      </p:sp>
      <p:sp>
        <p:nvSpPr>
          <p:cNvPr id="4" name="textbox_4">
            <a:extLst>
              <a:ext uri="{FF2B5EF4-FFF2-40B4-BE49-F238E27FC236}">
                <a16:creationId xmlns:a16="http://schemas.microsoft.com/office/drawing/2014/main" id="{B512374E-6477-4807-948B-6E97781FD0FC}"/>
              </a:ext>
            </a:extLst>
          </p:cNvPr>
          <p:cNvSpPr>
            <a:spLocks/>
          </p:cNvSpPr>
          <p:nvPr/>
        </p:nvSpPr>
        <p:spPr>
          <a:xfrm>
            <a:off x="680085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04  实验与证据</a:t>
            </a:r>
          </a:p>
        </p:txBody>
      </p:sp>
      <p:sp>
        <p:nvSpPr>
          <p:cNvPr id="5" name="rect_5">
            <a:extLst>
              <a:ext uri="{FF2B5EF4-FFF2-40B4-BE49-F238E27FC236}">
                <a16:creationId xmlns:a16="http://schemas.microsoft.com/office/drawing/2014/main" id="{CDEB7CC7-6FE1-4AF3-B580-D9D35ACE0AE2}"/>
              </a:ext>
            </a:extLst>
          </p:cNvPr>
          <p:cNvSpPr>
            <a:spLocks/>
          </p:cNvSpPr>
          <p:nvPr/>
        </p:nvSpPr>
        <p:spPr>
          <a:xfrm>
            <a:off x="6800850" y="447675"/>
            <a:ext cx="1238250" cy="2857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6" name="textbox_6">
            <a:extLst>
              <a:ext uri="{FF2B5EF4-FFF2-40B4-BE49-F238E27FC236}">
                <a16:creationId xmlns:a16="http://schemas.microsoft.com/office/drawing/2014/main" id="{9296C459-286B-42F1-BAE9-D7FE0107B3D1}"/>
              </a:ext>
            </a:extLst>
          </p:cNvPr>
          <p:cNvSpPr>
            <a:spLocks/>
          </p:cNvSpPr>
          <p:nvPr/>
        </p:nvSpPr>
        <p:spPr>
          <a:xfrm>
            <a:off x="89439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05  实施与产出</a:t>
            </a:r>
          </a:p>
        </p:txBody>
      </p:sp>
      <p:sp>
        <p:nvSpPr>
          <p:cNvPr id="7" name="line_7">
            <a:extLst>
              <a:ext uri="{FF2B5EF4-FFF2-40B4-BE49-F238E27FC236}">
                <a16:creationId xmlns:a16="http://schemas.microsoft.com/office/drawing/2014/main" id="{F7F8539D-D87D-4592-9B89-B130B30A73D2}"/>
              </a:ext>
            </a:extLst>
          </p:cNvPr>
          <p:cNvSpPr>
            <a:spLocks/>
          </p:cNvSpPr>
          <p:nvPr/>
        </p:nvSpPr>
        <p:spPr>
          <a:xfrm>
            <a:off x="371475" y="476250"/>
            <a:ext cx="10677525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8" name="slide_title">
            <a:extLst>
              <a:ext uri="{FF2B5EF4-FFF2-40B4-BE49-F238E27FC236}">
                <a16:creationId xmlns:a16="http://schemas.microsoft.com/office/drawing/2014/main" id="{D0B5A540-1E7D-4326-A533-B3D74FDA26EA}"/>
              </a:ext>
            </a:extLst>
          </p:cNvPr>
          <p:cNvSpPr>
            <a:spLocks/>
          </p:cNvSpPr>
          <p:nvPr/>
        </p:nvSpPr>
        <p:spPr>
          <a:xfrm>
            <a:off x="361950" y="685800"/>
            <a:ext cx="10706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defPPr>
          </a:lstStyle>
          <a:p>
            <a: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pP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10</a:t>
            </a:r>
            <a:r>
              <a:rPr sz="2175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  </a:t>
            </a: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主消融：在完全相同历史下比较</a:t>
            </a:r>
            <a:r>
              <a:rPr sz="2175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B</a:t>
            </a:r>
            <a:r>
              <a:rPr sz="2175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与</a:t>
            </a:r>
            <a:r>
              <a:rPr sz="2175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C</a:t>
            </a:r>
          </a:p>
        </p:txBody>
      </p:sp>
      <p:sp>
        <p:nvSpPr>
          <p:cNvPr id="9" name="textbox_8">
            <a:extLst>
              <a:ext uri="{FF2B5EF4-FFF2-40B4-BE49-F238E27FC236}">
                <a16:creationId xmlns:a16="http://schemas.microsoft.com/office/drawing/2014/main" id="{15C3A7E4-37C9-44C1-A69F-B361BB8534F7}"/>
              </a:ext>
            </a:extLst>
          </p:cNvPr>
          <p:cNvSpPr>
            <a:spLocks/>
          </p:cNvSpPr>
          <p:nvPr/>
        </p:nvSpPr>
        <p:spPr>
          <a:xfrm>
            <a:off x="381000" y="1133475"/>
            <a:ext cx="10668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受控信息实验与自由搜索实验分开，分别回答“信息有用吗”和“策略有用吗”。</a:t>
            </a:r>
          </a:p>
        </p:txBody>
      </p:sp>
      <p:sp>
        <p:nvSpPr>
          <p:cNvPr id="10" name="roundRect_9">
            <a:extLst>
              <a:ext uri="{FF2B5EF4-FFF2-40B4-BE49-F238E27FC236}">
                <a16:creationId xmlns:a16="http://schemas.microsoft.com/office/drawing/2014/main" id="{13C3C5FE-0996-4AA0-B1A6-CFB1666D72ED}"/>
              </a:ext>
            </a:extLst>
          </p:cNvPr>
          <p:cNvSpPr>
            <a:spLocks/>
          </p:cNvSpPr>
          <p:nvPr/>
        </p:nvSpPr>
        <p:spPr>
          <a:xfrm>
            <a:off x="400050" y="1533525"/>
            <a:ext cx="10620375" cy="238125"/>
          </a:xfrm>
          <a:prstGeom prst="roundRect">
            <a:avLst>
              <a:gd name="adj" fmla="val 36000"/>
            </a:avLst>
          </a:prstGeom>
          <a:solidFill>
            <a:srgbClr val="EEF0F7"/>
          </a:solidFill>
          <a:ln w="9525">
            <a:solidFill>
              <a:srgbClr val="D8D9E3"/>
            </a:solidFill>
            <a:prstDash val="solid"/>
          </a:ln>
        </p:spPr>
      </p:sp>
      <p:sp>
        <p:nvSpPr>
          <p:cNvPr id="11" name="textbox_10">
            <a:extLst>
              <a:ext uri="{FF2B5EF4-FFF2-40B4-BE49-F238E27FC236}">
                <a16:creationId xmlns:a16="http://schemas.microsoft.com/office/drawing/2014/main" id="{A619DAE4-BCC5-4B81-BE3A-DB0AE34D637F}"/>
              </a:ext>
            </a:extLst>
          </p:cNvPr>
          <p:cNvSpPr>
            <a:spLocks/>
          </p:cNvSpPr>
          <p:nvPr/>
        </p:nvSpPr>
        <p:spPr>
          <a:xfrm>
            <a:off x="476250" y="1562100"/>
            <a:ext cx="104679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9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固定：同一任务与来源  /  同一候选池  /  同一已执行历史  /  相同元模型容量</a:t>
            </a:r>
          </a:p>
        </p:txBody>
      </p:sp>
      <p:grpSp>
        <p:nvGrpSpPr>
          <p:cNvPr id="91" name="matched_shared">
            <a:extLst>
              <a:ext uri="{FF2B5EF4-FFF2-40B4-BE49-F238E27FC236}">
                <a16:creationId xmlns:a16="http://schemas.microsoft.com/office/drawing/2014/main" id="{71703C43-0EC8-C765-36AC-ADDF63D86D77}"/>
              </a:ext>
            </a:extLst>
          </p:cNvPr>
          <p:cNvGrpSpPr/>
          <p:nvPr/>
        </p:nvGrpSpPr>
        <p:grpSpPr>
          <a:xfrm>
            <a:off x="400050" y="2209800"/>
            <a:ext cx="2066925" cy="3133725"/>
            <a:chOff x="400050" y="2209800"/>
            <a:chExt cx="2066925" cy="3133725"/>
          </a:xfrm>
        </p:grpSpPr>
        <p:sp>
          <p:nvSpPr>
            <p:cNvPr id="12" name="roundRect_11">
              <a:extLst>
                <a:ext uri="{FF2B5EF4-FFF2-40B4-BE49-F238E27FC236}">
                  <a16:creationId xmlns:a16="http://schemas.microsoft.com/office/drawing/2014/main" id="{F495DF9C-A250-4830-90B6-61CB39F66F67}"/>
                </a:ext>
              </a:extLst>
            </p:cNvPr>
            <p:cNvSpPr>
              <a:spLocks/>
            </p:cNvSpPr>
            <p:nvPr/>
          </p:nvSpPr>
          <p:spPr>
            <a:xfrm>
              <a:off x="495300" y="2305050"/>
              <a:ext cx="1971675" cy="3038475"/>
            </a:xfrm>
            <a:prstGeom prst="roundRect">
              <a:avLst>
                <a:gd name="adj" fmla="val 4348"/>
              </a:avLst>
            </a:prstGeom>
            <a:solidFill>
              <a:srgbClr val="EEF0F7"/>
            </a:solidFill>
            <a:ln w="9525">
              <a:solidFill>
                <a:srgbClr val="A7ADCA"/>
              </a:solidFill>
              <a:prstDash val="solid"/>
            </a:ln>
          </p:spPr>
        </p:sp>
        <p:sp>
          <p:nvSpPr>
            <p:cNvPr id="13" name="roundRect_12">
              <a:extLst>
                <a:ext uri="{FF2B5EF4-FFF2-40B4-BE49-F238E27FC236}">
                  <a16:creationId xmlns:a16="http://schemas.microsoft.com/office/drawing/2014/main" id="{7848EFAE-2C63-4C88-8798-B84BC8BFA611}"/>
                </a:ext>
              </a:extLst>
            </p:cNvPr>
            <p:cNvSpPr>
              <a:spLocks/>
            </p:cNvSpPr>
            <p:nvPr/>
          </p:nvSpPr>
          <p:spPr>
            <a:xfrm>
              <a:off x="447675" y="2257425"/>
              <a:ext cx="1971675" cy="3038475"/>
            </a:xfrm>
            <a:prstGeom prst="roundRect">
              <a:avLst>
                <a:gd name="adj" fmla="val 4348"/>
              </a:avLst>
            </a:prstGeom>
            <a:solidFill>
              <a:srgbClr val="EEF0F7"/>
            </a:solidFill>
            <a:ln w="9525">
              <a:solidFill>
                <a:srgbClr val="A7ADCA"/>
              </a:solidFill>
              <a:prstDash val="solid"/>
            </a:ln>
          </p:spPr>
        </p:sp>
        <p:sp>
          <p:nvSpPr>
            <p:cNvPr id="14" name="roundRect_13">
              <a:extLst>
                <a:ext uri="{FF2B5EF4-FFF2-40B4-BE49-F238E27FC236}">
                  <a16:creationId xmlns:a16="http://schemas.microsoft.com/office/drawing/2014/main" id="{EABB1A64-0456-4575-8D22-81E5B031F492}"/>
                </a:ext>
              </a:extLst>
            </p:cNvPr>
            <p:cNvSpPr>
              <a:spLocks/>
            </p:cNvSpPr>
            <p:nvPr/>
          </p:nvSpPr>
          <p:spPr>
            <a:xfrm>
              <a:off x="400050" y="2209800"/>
              <a:ext cx="1971675" cy="3038475"/>
            </a:xfrm>
            <a:prstGeom prst="roundRect">
              <a:avLst>
                <a:gd name="adj" fmla="val 4348"/>
              </a:avLst>
            </a:prstGeom>
            <a:solidFill>
              <a:srgbClr val="FFFFFF"/>
            </a:solidFill>
            <a:ln w="9525">
              <a:solidFill>
                <a:srgbClr val="A7ADCA"/>
              </a:solidFill>
              <a:prstDash val="solid"/>
            </a:ln>
          </p:spPr>
        </p:sp>
        <p:sp>
          <p:nvSpPr>
            <p:cNvPr id="15" name="textbox_14">
              <a:extLst>
                <a:ext uri="{FF2B5EF4-FFF2-40B4-BE49-F238E27FC236}">
                  <a16:creationId xmlns:a16="http://schemas.microsoft.com/office/drawing/2014/main" id="{E92C0EF9-10FC-4003-B949-B130151D42F9}"/>
                </a:ext>
              </a:extLst>
            </p:cNvPr>
            <p:cNvSpPr>
              <a:spLocks/>
            </p:cNvSpPr>
            <p:nvPr/>
          </p:nvSpPr>
          <p:spPr>
            <a:xfrm>
              <a:off x="542925" y="2333625"/>
              <a:ext cx="1685925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5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5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共享实验历史 H</a:t>
              </a:r>
            </a:p>
          </p:txBody>
        </p:sp>
        <p:sp>
          <p:nvSpPr>
            <p:cNvPr id="16" name="roundRect_15">
              <a:extLst>
                <a:ext uri="{FF2B5EF4-FFF2-40B4-BE49-F238E27FC236}">
                  <a16:creationId xmlns:a16="http://schemas.microsoft.com/office/drawing/2014/main" id="{EABFF89E-62CA-4966-83DB-BBB8A2A8E32C}"/>
                </a:ext>
              </a:extLst>
            </p:cNvPr>
            <p:cNvSpPr>
              <a:spLocks/>
            </p:cNvSpPr>
            <p:nvPr/>
          </p:nvSpPr>
          <p:spPr>
            <a:xfrm>
              <a:off x="542925" y="2771775"/>
              <a:ext cx="1676400" cy="238125"/>
            </a:xfrm>
            <a:prstGeom prst="roundRect">
              <a:avLst>
                <a:gd name="adj" fmla="val 36000"/>
              </a:avLst>
            </a:prstGeom>
            <a:solidFill>
              <a:srgbClr val="EEF0F7"/>
            </a:solidFill>
            <a:ln w="9525">
              <a:solidFill>
                <a:srgbClr val="D8D9E3"/>
              </a:solidFill>
              <a:prstDash val="solid"/>
            </a:ln>
          </p:spPr>
        </p:sp>
        <p:sp>
          <p:nvSpPr>
            <p:cNvPr id="17" name="textbox_16">
              <a:extLst>
                <a:ext uri="{FF2B5EF4-FFF2-40B4-BE49-F238E27FC236}">
                  <a16:creationId xmlns:a16="http://schemas.microsoft.com/office/drawing/2014/main" id="{6AA8216D-AB41-4B7D-B52A-22A052D7D51C}"/>
                </a:ext>
              </a:extLst>
            </p:cNvPr>
            <p:cNvSpPr>
              <a:spLocks/>
            </p:cNvSpPr>
            <p:nvPr/>
          </p:nvSpPr>
          <p:spPr>
            <a:xfrm>
              <a:off x="619125" y="2800350"/>
              <a:ext cx="1524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任务与时间切分</a:t>
              </a:r>
            </a:p>
          </p:txBody>
        </p:sp>
        <p:sp>
          <p:nvSpPr>
            <p:cNvPr id="18" name="roundRect_17">
              <a:extLst>
                <a:ext uri="{FF2B5EF4-FFF2-40B4-BE49-F238E27FC236}">
                  <a16:creationId xmlns:a16="http://schemas.microsoft.com/office/drawing/2014/main" id="{D26FC608-0C94-46ED-9A8C-1E8F37368CA2}"/>
                </a:ext>
              </a:extLst>
            </p:cNvPr>
            <p:cNvSpPr>
              <a:spLocks/>
            </p:cNvSpPr>
            <p:nvPr/>
          </p:nvSpPr>
          <p:spPr>
            <a:xfrm>
              <a:off x="542925" y="3152775"/>
              <a:ext cx="1676400" cy="238125"/>
            </a:xfrm>
            <a:prstGeom prst="roundRect">
              <a:avLst>
                <a:gd name="adj" fmla="val 36000"/>
              </a:avLst>
            </a:prstGeom>
            <a:solidFill>
              <a:srgbClr val="EEF0F7"/>
            </a:solidFill>
            <a:ln w="9525">
              <a:solidFill>
                <a:srgbClr val="D8D9E3"/>
              </a:solidFill>
              <a:prstDash val="solid"/>
            </a:ln>
          </p:spPr>
        </p:sp>
        <p:sp>
          <p:nvSpPr>
            <p:cNvPr id="19" name="textbox_18">
              <a:extLst>
                <a:ext uri="{FF2B5EF4-FFF2-40B4-BE49-F238E27FC236}">
                  <a16:creationId xmlns:a16="http://schemas.microsoft.com/office/drawing/2014/main" id="{4A99BC7D-BB06-42D7-A925-3102D0F88BAD}"/>
                </a:ext>
              </a:extLst>
            </p:cNvPr>
            <p:cNvSpPr>
              <a:spLocks/>
            </p:cNvSpPr>
            <p:nvPr/>
          </p:nvSpPr>
          <p:spPr>
            <a:xfrm>
              <a:off x="619125" y="3181350"/>
              <a:ext cx="1524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已执行模型身份</a:t>
              </a:r>
            </a:p>
          </p:txBody>
        </p:sp>
        <p:sp>
          <p:nvSpPr>
            <p:cNvPr id="20" name="roundRect_19">
              <a:extLst>
                <a:ext uri="{FF2B5EF4-FFF2-40B4-BE49-F238E27FC236}">
                  <a16:creationId xmlns:a16="http://schemas.microsoft.com/office/drawing/2014/main" id="{B0605F0F-D2CB-4DEF-9B1A-BEF1DF168519}"/>
                </a:ext>
              </a:extLst>
            </p:cNvPr>
            <p:cNvSpPr>
              <a:spLocks/>
            </p:cNvSpPr>
            <p:nvPr/>
          </p:nvSpPr>
          <p:spPr>
            <a:xfrm>
              <a:off x="542925" y="3533775"/>
              <a:ext cx="1676400" cy="238125"/>
            </a:xfrm>
            <a:prstGeom prst="roundRect">
              <a:avLst>
                <a:gd name="adj" fmla="val 36000"/>
              </a:avLst>
            </a:prstGeom>
            <a:solidFill>
              <a:srgbClr val="EEF0F7"/>
            </a:solidFill>
            <a:ln w="9525">
              <a:solidFill>
                <a:srgbClr val="D8D9E3"/>
              </a:solidFill>
              <a:prstDash val="solid"/>
            </a:ln>
          </p:spPr>
        </p:sp>
        <p:sp>
          <p:nvSpPr>
            <p:cNvPr id="21" name="textbox_20">
              <a:extLst>
                <a:ext uri="{FF2B5EF4-FFF2-40B4-BE49-F238E27FC236}">
                  <a16:creationId xmlns:a16="http://schemas.microsoft.com/office/drawing/2014/main" id="{9B6E78CF-6E2E-4F97-A644-B0B17827AB37}"/>
                </a:ext>
              </a:extLst>
            </p:cNvPr>
            <p:cNvSpPr>
              <a:spLocks/>
            </p:cNvSpPr>
            <p:nvPr/>
          </p:nvSpPr>
          <p:spPr>
            <a:xfrm>
              <a:off x="619125" y="3562350"/>
              <a:ext cx="1524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配置与随机种子</a:t>
              </a:r>
            </a:p>
          </p:txBody>
        </p:sp>
        <p:sp>
          <p:nvSpPr>
            <p:cNvPr id="22" name="roundRect_21">
              <a:extLst>
                <a:ext uri="{FF2B5EF4-FFF2-40B4-BE49-F238E27FC236}">
                  <a16:creationId xmlns:a16="http://schemas.microsoft.com/office/drawing/2014/main" id="{211EAB38-5CB2-4838-9060-198C6BEC69A6}"/>
                </a:ext>
              </a:extLst>
            </p:cNvPr>
            <p:cNvSpPr>
              <a:spLocks/>
            </p:cNvSpPr>
            <p:nvPr/>
          </p:nvSpPr>
          <p:spPr>
            <a:xfrm>
              <a:off x="542925" y="3914775"/>
              <a:ext cx="1676400" cy="238125"/>
            </a:xfrm>
            <a:prstGeom prst="roundRect">
              <a:avLst>
                <a:gd name="adj" fmla="val 36000"/>
              </a:avLst>
            </a:prstGeom>
            <a:solidFill>
              <a:srgbClr val="EEF0F7"/>
            </a:solidFill>
            <a:ln w="9525">
              <a:solidFill>
                <a:srgbClr val="D8D9E3"/>
              </a:solidFill>
              <a:prstDash val="solid"/>
            </a:ln>
          </p:spPr>
        </p:sp>
        <p:sp>
          <p:nvSpPr>
            <p:cNvPr id="23" name="textbox_22">
              <a:extLst>
                <a:ext uri="{FF2B5EF4-FFF2-40B4-BE49-F238E27FC236}">
                  <a16:creationId xmlns:a16="http://schemas.microsoft.com/office/drawing/2014/main" id="{7A230BA3-27C7-4711-B78E-448EFE3EE78A}"/>
                </a:ext>
              </a:extLst>
            </p:cNvPr>
            <p:cNvSpPr>
              <a:spLocks/>
            </p:cNvSpPr>
            <p:nvPr/>
          </p:nvSpPr>
          <p:spPr>
            <a:xfrm>
              <a:off x="619125" y="3943350"/>
              <a:ext cx="15240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观测验证 MAE</a:t>
              </a:r>
            </a:p>
          </p:txBody>
        </p:sp>
        <p:sp>
          <p:nvSpPr>
            <p:cNvPr id="24" name="textbox_23">
              <a:extLst>
                <a:ext uri="{FF2B5EF4-FFF2-40B4-BE49-F238E27FC236}">
                  <a16:creationId xmlns:a16="http://schemas.microsoft.com/office/drawing/2014/main" id="{14B9A606-5299-4095-811F-8062578E655D}"/>
                </a:ext>
              </a:extLst>
            </p:cNvPr>
            <p:cNvSpPr>
              <a:spLocks/>
            </p:cNvSpPr>
            <p:nvPr/>
          </p:nvSpPr>
          <p:spPr>
            <a:xfrm>
              <a:off x="542925" y="4429125"/>
              <a:ext cx="1695450" cy="666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05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05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05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B 与 C 读取同一份记录</a:t>
              </a:r>
            </a:p>
            <a:p>
              <a:pPr algn="l">
                <a:defRPr sz="105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05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C 不多训练候选</a:t>
              </a:r>
            </a:p>
            <a:p>
              <a:pPr algn="l">
                <a:defRPr sz="105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05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只增加残差摘要</a:t>
              </a:r>
            </a:p>
          </p:txBody>
        </p:sp>
      </p:grpSp>
      <p:grpSp>
        <p:nvGrpSpPr>
          <p:cNvPr id="92" name="matched_B">
            <a:extLst>
              <a:ext uri="{FF2B5EF4-FFF2-40B4-BE49-F238E27FC236}">
                <a16:creationId xmlns:a16="http://schemas.microsoft.com/office/drawing/2014/main" id="{22F40DE9-F6A7-796B-32C0-E129D9BAA8D0}"/>
              </a:ext>
            </a:extLst>
          </p:cNvPr>
          <p:cNvGrpSpPr/>
          <p:nvPr/>
        </p:nvGrpSpPr>
        <p:grpSpPr>
          <a:xfrm>
            <a:off x="2466975" y="2200275"/>
            <a:ext cx="6210300" cy="1257300"/>
            <a:chOff x="2466975" y="2200275"/>
            <a:chExt cx="6210300" cy="1257300"/>
          </a:xfrm>
        </p:grpSpPr>
        <p:sp>
          <p:nvSpPr>
            <p:cNvPr id="25" name="native_curve_24">
              <a:extLst>
                <a:ext uri="{FF2B5EF4-FFF2-40B4-BE49-F238E27FC236}">
                  <a16:creationId xmlns:a16="http://schemas.microsoft.com/office/drawing/2014/main" id="{8A1528E8-4C58-445B-A621-9F15AD52AE76}"/>
                </a:ext>
              </a:extLst>
            </p:cNvPr>
            <p:cNvSpPr>
              <a:spLocks/>
            </p:cNvSpPr>
            <p:nvPr/>
          </p:nvSpPr>
          <p:spPr>
            <a:xfrm>
              <a:off x="2466975" y="2809875"/>
              <a:ext cx="590550" cy="514350"/>
            </a:xfrm>
            <a:custGeom>
              <a:avLst/>
              <a:gdLst/>
              <a:ahLst/>
              <a:cxnLst/>
              <a:rect l="0" t="0" r="0" b="0"/>
              <a:pathLst>
                <a:path w="590550" h="514350">
                  <a:moveTo>
                    <a:pt x="0" y="514350"/>
                  </a:moveTo>
                  <a:lnTo>
                    <a:pt x="179546" y="514350"/>
                  </a:lnTo>
                  <a:cubicBezTo>
                    <a:pt x="243999" y="514350"/>
                    <a:pt x="276225" y="482124"/>
                    <a:pt x="276225" y="417671"/>
                  </a:cubicBezTo>
                  <a:lnTo>
                    <a:pt x="276225" y="110014"/>
                  </a:lnTo>
                  <a:cubicBezTo>
                    <a:pt x="276225" y="36671"/>
                    <a:pt x="312896" y="0"/>
                    <a:pt x="386239" y="0"/>
                  </a:cubicBezTo>
                  <a:lnTo>
                    <a:pt x="590550" y="0"/>
                  </a:lnTo>
                </a:path>
              </a:pathLst>
            </a:custGeom>
            <a:noFill/>
            <a:ln w="20955">
              <a:solidFill>
                <a:srgbClr val="38385B"/>
              </a:solidFill>
              <a:prstDash val="solid"/>
            </a:ln>
          </p:spPr>
        </p:sp>
        <p:sp>
          <p:nvSpPr>
            <p:cNvPr id="26" name="arrow_tip_25">
              <a:extLst>
                <a:ext uri="{FF2B5EF4-FFF2-40B4-BE49-F238E27FC236}">
                  <a16:creationId xmlns:a16="http://schemas.microsoft.com/office/drawing/2014/main" id="{2F1F7954-B9EF-42F1-B715-BC1865B001C8}"/>
                </a:ext>
              </a:extLst>
            </p:cNvPr>
            <p:cNvSpPr>
              <a:spLocks/>
            </p:cNvSpPr>
            <p:nvPr/>
          </p:nvSpPr>
          <p:spPr>
            <a:xfrm>
              <a:off x="2990850" y="2775585"/>
              <a:ext cx="66675" cy="68580"/>
            </a:xfrm>
            <a:custGeom>
              <a:avLst/>
              <a:gdLst/>
              <a:ahLst/>
              <a:cxnLst/>
              <a:rect l="0" t="0" r="0" b="0"/>
              <a:pathLst>
                <a:path w="66675" h="68580">
                  <a:moveTo>
                    <a:pt x="66675" y="34290"/>
                  </a:moveTo>
                  <a:lnTo>
                    <a:pt x="0" y="68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385B"/>
            </a:solidFill>
            <a:ln w="0">
              <a:noFill/>
            </a:ln>
          </p:spPr>
        </p:sp>
        <p:sp>
          <p:nvSpPr>
            <p:cNvPr id="27" name="roundRect_26">
              <a:extLst>
                <a:ext uri="{FF2B5EF4-FFF2-40B4-BE49-F238E27FC236}">
                  <a16:creationId xmlns:a16="http://schemas.microsoft.com/office/drawing/2014/main" id="{0CAB7220-389B-4F25-9177-4131C809CDD7}"/>
                </a:ext>
              </a:extLst>
            </p:cNvPr>
            <p:cNvSpPr>
              <a:spLocks/>
            </p:cNvSpPr>
            <p:nvPr/>
          </p:nvSpPr>
          <p:spPr>
            <a:xfrm>
              <a:off x="3057525" y="2200275"/>
              <a:ext cx="5619750" cy="1257300"/>
            </a:xfrm>
            <a:prstGeom prst="roundRect">
              <a:avLst>
                <a:gd name="adj" fmla="val 6818"/>
              </a:avLst>
            </a:prstGeom>
            <a:solidFill>
              <a:srgbClr val="EEF0F7"/>
            </a:solidFill>
            <a:ln w="9525">
              <a:solidFill>
                <a:srgbClr val="A9B1CD"/>
              </a:solidFill>
              <a:prstDash val="solid"/>
            </a:ln>
          </p:spPr>
        </p:sp>
        <p:sp>
          <p:nvSpPr>
            <p:cNvPr id="28" name="textbox_27">
              <a:extLst>
                <a:ext uri="{FF2B5EF4-FFF2-40B4-BE49-F238E27FC236}">
                  <a16:creationId xmlns:a16="http://schemas.microsoft.com/office/drawing/2014/main" id="{8A7D85B9-740D-4C92-AAAC-766729C7A166}"/>
                </a:ext>
              </a:extLst>
            </p:cNvPr>
            <p:cNvSpPr>
              <a:spLocks/>
            </p:cNvSpPr>
            <p:nvPr/>
          </p:nvSpPr>
          <p:spPr>
            <a:xfrm>
              <a:off x="3209925" y="2295525"/>
              <a:ext cx="5248275" cy="2762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5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5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B  已知整体误差时的推荐</a:t>
              </a:r>
            </a:p>
          </p:txBody>
        </p:sp>
        <p:sp>
          <p:nvSpPr>
            <p:cNvPr id="29" name="roundRect_28">
              <a:extLst>
                <a:ext uri="{FF2B5EF4-FFF2-40B4-BE49-F238E27FC236}">
                  <a16:creationId xmlns:a16="http://schemas.microsoft.com/office/drawing/2014/main" id="{09EB3321-DA83-4B2A-A22F-43AA02F73486}"/>
                </a:ext>
              </a:extLst>
            </p:cNvPr>
            <p:cNvSpPr>
              <a:spLocks/>
            </p:cNvSpPr>
            <p:nvPr/>
          </p:nvSpPr>
          <p:spPr>
            <a:xfrm>
              <a:off x="3219450" y="2733675"/>
              <a:ext cx="1790700" cy="238125"/>
            </a:xfrm>
            <a:prstGeom prst="roundRect">
              <a:avLst>
                <a:gd name="adj" fmla="val 36000"/>
              </a:avLst>
            </a:prstGeom>
            <a:solidFill>
              <a:srgbClr val="EEF0F7"/>
            </a:solidFill>
            <a:ln w="9525">
              <a:solidFill>
                <a:srgbClr val="D8D9E3"/>
              </a:solidFill>
              <a:prstDash val="solid"/>
            </a:ln>
          </p:spPr>
        </p:sp>
        <p:sp>
          <p:nvSpPr>
            <p:cNvPr id="30" name="textbox_29">
              <a:extLst>
                <a:ext uri="{FF2B5EF4-FFF2-40B4-BE49-F238E27FC236}">
                  <a16:creationId xmlns:a16="http://schemas.microsoft.com/office/drawing/2014/main" id="{81B827E3-2BC2-429F-867D-52295F3519A8}"/>
                </a:ext>
              </a:extLst>
            </p:cNvPr>
            <p:cNvSpPr>
              <a:spLocks/>
            </p:cNvSpPr>
            <p:nvPr/>
          </p:nvSpPr>
          <p:spPr>
            <a:xfrm>
              <a:off x="3295650" y="2762250"/>
              <a:ext cx="16383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z + 身份 + 配置 + MAE</a:t>
              </a:r>
            </a:p>
          </p:txBody>
        </p:sp>
        <p:sp>
          <p:nvSpPr>
            <p:cNvPr id="31" name="native_curve_30">
              <a:extLst>
                <a:ext uri="{FF2B5EF4-FFF2-40B4-BE49-F238E27FC236}">
                  <a16:creationId xmlns:a16="http://schemas.microsoft.com/office/drawing/2014/main" id="{4C3CA5D0-C6B4-4500-8D67-BF12A81A57E5}"/>
                </a:ext>
              </a:extLst>
            </p:cNvPr>
            <p:cNvSpPr>
              <a:spLocks/>
            </p:cNvSpPr>
            <p:nvPr/>
          </p:nvSpPr>
          <p:spPr>
            <a:xfrm>
              <a:off x="5010150" y="2857500"/>
              <a:ext cx="438150" cy="953"/>
            </a:xfrm>
            <a:custGeom>
              <a:avLst/>
              <a:gdLst/>
              <a:ahLst/>
              <a:cxnLst/>
              <a:rect l="0" t="0" r="0" b="0"/>
              <a:pathLst>
                <a:path w="438150" h="953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5240">
              <a:solidFill>
                <a:srgbClr val="8498C4"/>
              </a:solidFill>
              <a:prstDash val="solid"/>
            </a:ln>
          </p:spPr>
        </p:sp>
        <p:sp>
          <p:nvSpPr>
            <p:cNvPr id="32" name="arrow_tip_31">
              <a:extLst>
                <a:ext uri="{FF2B5EF4-FFF2-40B4-BE49-F238E27FC236}">
                  <a16:creationId xmlns:a16="http://schemas.microsoft.com/office/drawing/2014/main" id="{FDA3B560-13E0-4915-BCEC-F217DA357EB9}"/>
                </a:ext>
              </a:extLst>
            </p:cNvPr>
            <p:cNvSpPr>
              <a:spLocks/>
            </p:cNvSpPr>
            <p:nvPr/>
          </p:nvSpPr>
          <p:spPr>
            <a:xfrm>
              <a:off x="5381625" y="2823210"/>
              <a:ext cx="66675" cy="68580"/>
            </a:xfrm>
            <a:custGeom>
              <a:avLst/>
              <a:gdLst/>
              <a:ahLst/>
              <a:cxnLst/>
              <a:rect l="0" t="0" r="0" b="0"/>
              <a:pathLst>
                <a:path w="66675" h="68580">
                  <a:moveTo>
                    <a:pt x="66675" y="34290"/>
                  </a:moveTo>
                  <a:lnTo>
                    <a:pt x="0" y="68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98C4"/>
            </a:solidFill>
            <a:ln w="0">
              <a:noFill/>
            </a:ln>
          </p:spPr>
        </p:sp>
        <p:sp>
          <p:nvSpPr>
            <p:cNvPr id="33" name="roundRect_32">
              <a:extLst>
                <a:ext uri="{FF2B5EF4-FFF2-40B4-BE49-F238E27FC236}">
                  <a16:creationId xmlns:a16="http://schemas.microsoft.com/office/drawing/2014/main" id="{C460E822-2E23-48E7-8F92-90464AE14064}"/>
                </a:ext>
              </a:extLst>
            </p:cNvPr>
            <p:cNvSpPr>
              <a:spLocks/>
            </p:cNvSpPr>
            <p:nvPr/>
          </p:nvSpPr>
          <p:spPr>
            <a:xfrm>
              <a:off x="5448300" y="2676525"/>
              <a:ext cx="1400175" cy="5715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9525">
              <a:solidFill>
                <a:srgbClr val="D8D9E3"/>
              </a:solidFill>
              <a:prstDash val="solid"/>
            </a:ln>
          </p:spPr>
        </p:sp>
        <p:sp>
          <p:nvSpPr>
            <p:cNvPr id="34" name="textbox_33">
              <a:extLst>
                <a:ext uri="{FF2B5EF4-FFF2-40B4-BE49-F238E27FC236}">
                  <a16:creationId xmlns:a16="http://schemas.microsoft.com/office/drawing/2014/main" id="{B51D8E56-3ABE-4C84-BC0A-2D7878B56812}"/>
                </a:ext>
              </a:extLst>
            </p:cNvPr>
            <p:cNvSpPr>
              <a:spLocks/>
            </p:cNvSpPr>
            <p:nvPr/>
          </p:nvSpPr>
          <p:spPr>
            <a:xfrm>
              <a:off x="5562600" y="2838450"/>
              <a:ext cx="1171575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2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2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2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候选排序器</a:t>
              </a:r>
            </a:p>
          </p:txBody>
        </p:sp>
        <p:sp>
          <p:nvSpPr>
            <p:cNvPr id="35" name="native_curve_34">
              <a:extLst>
                <a:ext uri="{FF2B5EF4-FFF2-40B4-BE49-F238E27FC236}">
                  <a16:creationId xmlns:a16="http://schemas.microsoft.com/office/drawing/2014/main" id="{9A7DC3C2-C76A-4B3C-B520-42467CD15E11}"/>
                </a:ext>
              </a:extLst>
            </p:cNvPr>
            <p:cNvSpPr>
              <a:spLocks/>
            </p:cNvSpPr>
            <p:nvPr/>
          </p:nvSpPr>
          <p:spPr>
            <a:xfrm>
              <a:off x="6848475" y="2952750"/>
              <a:ext cx="352425" cy="953"/>
            </a:xfrm>
            <a:custGeom>
              <a:avLst/>
              <a:gdLst/>
              <a:ahLst/>
              <a:cxnLst/>
              <a:rect l="0" t="0" r="0" b="0"/>
              <a:pathLst>
                <a:path w="352425" h="953">
                  <a:moveTo>
                    <a:pt x="0" y="0"/>
                  </a:moveTo>
                  <a:lnTo>
                    <a:pt x="352425" y="0"/>
                  </a:lnTo>
                </a:path>
              </a:pathLst>
            </a:custGeom>
            <a:noFill/>
            <a:ln w="15240">
              <a:solidFill>
                <a:srgbClr val="8498C4"/>
              </a:solidFill>
              <a:prstDash val="solid"/>
            </a:ln>
          </p:spPr>
        </p:sp>
        <p:sp>
          <p:nvSpPr>
            <p:cNvPr id="36" name="arrow_tip_35">
              <a:extLst>
                <a:ext uri="{FF2B5EF4-FFF2-40B4-BE49-F238E27FC236}">
                  <a16:creationId xmlns:a16="http://schemas.microsoft.com/office/drawing/2014/main" id="{95D8653D-9121-423F-9422-B27DFD4C4F81}"/>
                </a:ext>
              </a:extLst>
            </p:cNvPr>
            <p:cNvSpPr>
              <a:spLocks/>
            </p:cNvSpPr>
            <p:nvPr/>
          </p:nvSpPr>
          <p:spPr>
            <a:xfrm>
              <a:off x="7134225" y="2918460"/>
              <a:ext cx="66675" cy="68580"/>
            </a:xfrm>
            <a:custGeom>
              <a:avLst/>
              <a:gdLst/>
              <a:ahLst/>
              <a:cxnLst/>
              <a:rect l="0" t="0" r="0" b="0"/>
              <a:pathLst>
                <a:path w="66675" h="68580">
                  <a:moveTo>
                    <a:pt x="66675" y="34290"/>
                  </a:moveTo>
                  <a:lnTo>
                    <a:pt x="0" y="68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98C4"/>
            </a:solidFill>
            <a:ln w="0">
              <a:noFill/>
            </a:ln>
          </p:spPr>
        </p:sp>
        <p:sp>
          <p:nvSpPr>
            <p:cNvPr id="37" name="textbox_36">
              <a:extLst>
                <a:ext uri="{FF2B5EF4-FFF2-40B4-BE49-F238E27FC236}">
                  <a16:creationId xmlns:a16="http://schemas.microsoft.com/office/drawing/2014/main" id="{CB54CEC4-720C-430B-8699-43641826A21A}"/>
                </a:ext>
              </a:extLst>
            </p:cNvPr>
            <p:cNvSpPr>
              <a:spLocks/>
            </p:cNvSpPr>
            <p:nvPr/>
          </p:nvSpPr>
          <p:spPr>
            <a:xfrm>
              <a:off x="7343775" y="2695575"/>
              <a:ext cx="17145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1</a:t>
              </a:r>
            </a:p>
          </p:txBody>
        </p:sp>
        <p:sp>
          <p:nvSpPr>
            <p:cNvPr id="38" name="roundRect_37">
              <a:extLst>
                <a:ext uri="{FF2B5EF4-FFF2-40B4-BE49-F238E27FC236}">
                  <a16:creationId xmlns:a16="http://schemas.microsoft.com/office/drawing/2014/main" id="{3EFDBED6-78F7-47F3-85F6-F3B0AFC68917}"/>
                </a:ext>
              </a:extLst>
            </p:cNvPr>
            <p:cNvSpPr>
              <a:spLocks/>
            </p:cNvSpPr>
            <p:nvPr/>
          </p:nvSpPr>
          <p:spPr>
            <a:xfrm>
              <a:off x="7572375" y="2733675"/>
              <a:ext cx="697802" cy="66675"/>
            </a:xfrm>
            <a:prstGeom prst="roundRect">
              <a:avLst>
                <a:gd name="adj" fmla="val 50000"/>
              </a:avLst>
            </a:prstGeom>
            <a:solidFill>
              <a:srgbClr val="38385B"/>
            </a:solidFill>
            <a:ln w="0">
              <a:noFill/>
              <a:prstDash val="solid"/>
            </a:ln>
          </p:spPr>
        </p:sp>
        <p:sp>
          <p:nvSpPr>
            <p:cNvPr id="39" name="textbox_38">
              <a:extLst>
                <a:ext uri="{FF2B5EF4-FFF2-40B4-BE49-F238E27FC236}">
                  <a16:creationId xmlns:a16="http://schemas.microsoft.com/office/drawing/2014/main" id="{0359DE63-D2CA-417B-BD1E-3BA37F11668A}"/>
                </a:ext>
              </a:extLst>
            </p:cNvPr>
            <p:cNvSpPr>
              <a:spLocks/>
            </p:cNvSpPr>
            <p:nvPr/>
          </p:nvSpPr>
          <p:spPr>
            <a:xfrm>
              <a:off x="7343775" y="2886075"/>
              <a:ext cx="17145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2</a:t>
              </a:r>
            </a:p>
          </p:txBody>
        </p:sp>
        <p:sp>
          <p:nvSpPr>
            <p:cNvPr id="40" name="roundRect_39">
              <a:extLst>
                <a:ext uri="{FF2B5EF4-FFF2-40B4-BE49-F238E27FC236}">
                  <a16:creationId xmlns:a16="http://schemas.microsoft.com/office/drawing/2014/main" id="{56CF374B-5368-4ED4-B374-4DEC53604D41}"/>
                </a:ext>
              </a:extLst>
            </p:cNvPr>
            <p:cNvSpPr>
              <a:spLocks/>
            </p:cNvSpPr>
            <p:nvPr/>
          </p:nvSpPr>
          <p:spPr>
            <a:xfrm>
              <a:off x="7572375" y="2924175"/>
              <a:ext cx="549783" cy="66675"/>
            </a:xfrm>
            <a:prstGeom prst="roundRect">
              <a:avLst>
                <a:gd name="adj" fmla="val 50000"/>
              </a:avLst>
            </a:prstGeom>
            <a:solidFill>
              <a:srgbClr val="B7C1DD"/>
            </a:solidFill>
            <a:ln w="0">
              <a:noFill/>
              <a:prstDash val="solid"/>
            </a:ln>
          </p:spPr>
        </p:sp>
        <p:sp>
          <p:nvSpPr>
            <p:cNvPr id="41" name="textbox_40">
              <a:extLst>
                <a:ext uri="{FF2B5EF4-FFF2-40B4-BE49-F238E27FC236}">
                  <a16:creationId xmlns:a16="http://schemas.microsoft.com/office/drawing/2014/main" id="{5567451A-6C22-4A2B-B549-BAB236D98BA5}"/>
                </a:ext>
              </a:extLst>
            </p:cNvPr>
            <p:cNvSpPr>
              <a:spLocks/>
            </p:cNvSpPr>
            <p:nvPr/>
          </p:nvSpPr>
          <p:spPr>
            <a:xfrm>
              <a:off x="7343775" y="3076575"/>
              <a:ext cx="17145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3</a:t>
              </a:r>
            </a:p>
          </p:txBody>
        </p:sp>
        <p:sp>
          <p:nvSpPr>
            <p:cNvPr id="42" name="roundRect_41">
              <a:extLst>
                <a:ext uri="{FF2B5EF4-FFF2-40B4-BE49-F238E27FC236}">
                  <a16:creationId xmlns:a16="http://schemas.microsoft.com/office/drawing/2014/main" id="{95B386A4-186D-4082-902F-535C7474D686}"/>
                </a:ext>
              </a:extLst>
            </p:cNvPr>
            <p:cNvSpPr>
              <a:spLocks/>
            </p:cNvSpPr>
            <p:nvPr/>
          </p:nvSpPr>
          <p:spPr>
            <a:xfrm>
              <a:off x="7572375" y="3114675"/>
              <a:ext cx="401765" cy="66675"/>
            </a:xfrm>
            <a:prstGeom prst="roundRect">
              <a:avLst>
                <a:gd name="adj" fmla="val 50000"/>
              </a:avLst>
            </a:prstGeom>
            <a:solidFill>
              <a:srgbClr val="B7C1DD"/>
            </a:solidFill>
            <a:ln w="0">
              <a:noFill/>
              <a:prstDash val="solid"/>
            </a:ln>
          </p:spPr>
        </p:sp>
      </p:grpSp>
      <p:grpSp>
        <p:nvGrpSpPr>
          <p:cNvPr id="93" name="matched_C">
            <a:extLst>
              <a:ext uri="{FF2B5EF4-FFF2-40B4-BE49-F238E27FC236}">
                <a16:creationId xmlns:a16="http://schemas.microsoft.com/office/drawing/2014/main" id="{4C1834C6-DAFD-F0C1-F5E0-293D0E9F474F}"/>
              </a:ext>
            </a:extLst>
          </p:cNvPr>
          <p:cNvGrpSpPr/>
          <p:nvPr/>
        </p:nvGrpSpPr>
        <p:grpSpPr>
          <a:xfrm>
            <a:off x="2466975" y="3886200"/>
            <a:ext cx="6210300" cy="1676400"/>
            <a:chOff x="2466975" y="3886200"/>
            <a:chExt cx="6210300" cy="1676400"/>
          </a:xfrm>
        </p:grpSpPr>
        <p:sp>
          <p:nvSpPr>
            <p:cNvPr id="43" name="native_curve_42">
              <a:extLst>
                <a:ext uri="{FF2B5EF4-FFF2-40B4-BE49-F238E27FC236}">
                  <a16:creationId xmlns:a16="http://schemas.microsoft.com/office/drawing/2014/main" id="{85C436C4-ECB6-4803-A404-948D6FE389DE}"/>
                </a:ext>
              </a:extLst>
            </p:cNvPr>
            <p:cNvSpPr>
              <a:spLocks/>
            </p:cNvSpPr>
            <p:nvPr/>
          </p:nvSpPr>
          <p:spPr>
            <a:xfrm>
              <a:off x="2466975" y="4229100"/>
              <a:ext cx="590550" cy="457200"/>
            </a:xfrm>
            <a:custGeom>
              <a:avLst/>
              <a:gdLst/>
              <a:ahLst/>
              <a:cxnLst/>
              <a:rect l="0" t="0" r="0" b="0"/>
              <a:pathLst>
                <a:path w="590550" h="457200">
                  <a:moveTo>
                    <a:pt x="0" y="0"/>
                  </a:moveTo>
                  <a:lnTo>
                    <a:pt x="179546" y="0"/>
                  </a:lnTo>
                  <a:cubicBezTo>
                    <a:pt x="243999" y="0"/>
                    <a:pt x="276225" y="32226"/>
                    <a:pt x="276225" y="96679"/>
                  </a:cubicBezTo>
                  <a:lnTo>
                    <a:pt x="276225" y="347186"/>
                  </a:lnTo>
                  <a:cubicBezTo>
                    <a:pt x="276225" y="420529"/>
                    <a:pt x="312896" y="457200"/>
                    <a:pt x="386239" y="457200"/>
                  </a:cubicBezTo>
                  <a:lnTo>
                    <a:pt x="590550" y="457200"/>
                  </a:lnTo>
                </a:path>
              </a:pathLst>
            </a:custGeom>
            <a:noFill/>
            <a:ln w="20955">
              <a:solidFill>
                <a:srgbClr val="9C5875"/>
              </a:solidFill>
              <a:prstDash val="solid"/>
            </a:ln>
          </p:spPr>
        </p:sp>
        <p:sp>
          <p:nvSpPr>
            <p:cNvPr id="44" name="arrow_tip_43">
              <a:extLst>
                <a:ext uri="{FF2B5EF4-FFF2-40B4-BE49-F238E27FC236}">
                  <a16:creationId xmlns:a16="http://schemas.microsoft.com/office/drawing/2014/main" id="{90DB4538-95CC-4E54-B0DF-B4032854EFD1}"/>
                </a:ext>
              </a:extLst>
            </p:cNvPr>
            <p:cNvSpPr>
              <a:spLocks/>
            </p:cNvSpPr>
            <p:nvPr/>
          </p:nvSpPr>
          <p:spPr>
            <a:xfrm>
              <a:off x="2990850" y="4652010"/>
              <a:ext cx="66675" cy="68580"/>
            </a:xfrm>
            <a:custGeom>
              <a:avLst/>
              <a:gdLst/>
              <a:ahLst/>
              <a:cxnLst/>
              <a:rect l="0" t="0" r="0" b="0"/>
              <a:pathLst>
                <a:path w="66675" h="68580">
                  <a:moveTo>
                    <a:pt x="66675" y="34290"/>
                  </a:moveTo>
                  <a:lnTo>
                    <a:pt x="0" y="68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5875"/>
            </a:solidFill>
            <a:ln w="0">
              <a:noFill/>
            </a:ln>
          </p:spPr>
        </p:sp>
        <p:sp>
          <p:nvSpPr>
            <p:cNvPr id="45" name="roundRect_44">
              <a:extLst>
                <a:ext uri="{FF2B5EF4-FFF2-40B4-BE49-F238E27FC236}">
                  <a16:creationId xmlns:a16="http://schemas.microsoft.com/office/drawing/2014/main" id="{03592C9D-C109-49B1-A683-7C2588B77F02}"/>
                </a:ext>
              </a:extLst>
            </p:cNvPr>
            <p:cNvSpPr>
              <a:spLocks/>
            </p:cNvSpPr>
            <p:nvPr/>
          </p:nvSpPr>
          <p:spPr>
            <a:xfrm>
              <a:off x="3057525" y="3886200"/>
              <a:ext cx="5619750" cy="1676400"/>
            </a:xfrm>
            <a:prstGeom prst="roundRect">
              <a:avLst>
                <a:gd name="adj" fmla="val 5114"/>
              </a:avLst>
            </a:prstGeom>
            <a:solidFill>
              <a:srgbClr val="F3E5EB"/>
            </a:solidFill>
            <a:ln w="9525">
              <a:solidFill>
                <a:srgbClr val="C695AA"/>
              </a:solidFill>
              <a:prstDash val="solid"/>
            </a:ln>
          </p:spPr>
        </p:sp>
        <p:sp>
          <p:nvSpPr>
            <p:cNvPr id="46" name="textbox_45">
              <a:extLst>
                <a:ext uri="{FF2B5EF4-FFF2-40B4-BE49-F238E27FC236}">
                  <a16:creationId xmlns:a16="http://schemas.microsoft.com/office/drawing/2014/main" id="{5D5AD130-9FD2-40E6-BDF7-97BD32D2CE63}"/>
                </a:ext>
              </a:extLst>
            </p:cNvPr>
            <p:cNvSpPr>
              <a:spLocks/>
            </p:cNvSpPr>
            <p:nvPr/>
          </p:nvSpPr>
          <p:spPr>
            <a:xfrm>
              <a:off x="3209925" y="3981450"/>
              <a:ext cx="5248275" cy="2762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575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575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75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rPr>
                <a:t>C  相同历史 + 残差结构</a:t>
              </a:r>
            </a:p>
          </p:txBody>
        </p:sp>
        <p:sp>
          <p:nvSpPr>
            <p:cNvPr id="47" name="roundRect_46">
              <a:extLst>
                <a:ext uri="{FF2B5EF4-FFF2-40B4-BE49-F238E27FC236}">
                  <a16:creationId xmlns:a16="http://schemas.microsoft.com/office/drawing/2014/main" id="{A83D6914-4B9E-49DB-B828-AFF93BA6187F}"/>
                </a:ext>
              </a:extLst>
            </p:cNvPr>
            <p:cNvSpPr>
              <a:spLocks/>
            </p:cNvSpPr>
            <p:nvPr/>
          </p:nvSpPr>
          <p:spPr>
            <a:xfrm>
              <a:off x="3219450" y="4467225"/>
              <a:ext cx="1323975" cy="238125"/>
            </a:xfrm>
            <a:prstGeom prst="roundRect">
              <a:avLst>
                <a:gd name="adj" fmla="val 36000"/>
              </a:avLst>
            </a:prstGeom>
            <a:solidFill>
              <a:srgbClr val="EEF0F7"/>
            </a:solidFill>
            <a:ln w="9525">
              <a:solidFill>
                <a:srgbClr val="D8D9E3"/>
              </a:solidFill>
              <a:prstDash val="solid"/>
            </a:ln>
          </p:spPr>
        </p:sp>
        <p:sp>
          <p:nvSpPr>
            <p:cNvPr id="48" name="textbox_47">
              <a:extLst>
                <a:ext uri="{FF2B5EF4-FFF2-40B4-BE49-F238E27FC236}">
                  <a16:creationId xmlns:a16="http://schemas.microsoft.com/office/drawing/2014/main" id="{B80E49A1-EFA1-420B-9D18-EEFCDCAF7FE6}"/>
                </a:ext>
              </a:extLst>
            </p:cNvPr>
            <p:cNvSpPr>
              <a:spLocks/>
            </p:cNvSpPr>
            <p:nvPr/>
          </p:nvSpPr>
          <p:spPr>
            <a:xfrm>
              <a:off x="3295650" y="4495800"/>
              <a:ext cx="11715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与 B 相同的输入</a:t>
              </a:r>
            </a:p>
          </p:txBody>
        </p:sp>
        <p:sp>
          <p:nvSpPr>
            <p:cNvPr id="49" name="textbox_48">
              <a:extLst>
                <a:ext uri="{FF2B5EF4-FFF2-40B4-BE49-F238E27FC236}">
                  <a16:creationId xmlns:a16="http://schemas.microsoft.com/office/drawing/2014/main" id="{534E7E97-E9E9-485B-B0F4-65818B0390D6}"/>
                </a:ext>
              </a:extLst>
            </p:cNvPr>
            <p:cNvSpPr>
              <a:spLocks/>
            </p:cNvSpPr>
            <p:nvPr/>
          </p:nvSpPr>
          <p:spPr>
            <a:xfrm>
              <a:off x="4619625" y="4572000"/>
              <a:ext cx="238125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80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80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80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rPr>
                <a:t>+</a:t>
              </a:r>
            </a:p>
          </p:txBody>
        </p:sp>
        <p:sp>
          <p:nvSpPr>
            <p:cNvPr id="50" name="roundRect_49">
              <a:extLst>
                <a:ext uri="{FF2B5EF4-FFF2-40B4-BE49-F238E27FC236}">
                  <a16:creationId xmlns:a16="http://schemas.microsoft.com/office/drawing/2014/main" id="{89050252-EA63-4C52-8DE3-AC997A6FFC23}"/>
                </a:ext>
              </a:extLst>
            </p:cNvPr>
            <p:cNvSpPr>
              <a:spLocks/>
            </p:cNvSpPr>
            <p:nvPr/>
          </p:nvSpPr>
          <p:spPr>
            <a:xfrm>
              <a:off x="4962525" y="4381500"/>
              <a:ext cx="2238375" cy="971550"/>
            </a:xfrm>
            <a:prstGeom prst="roundRect">
              <a:avLst>
                <a:gd name="adj" fmla="val 8824"/>
              </a:avLst>
            </a:prstGeom>
            <a:solidFill>
              <a:srgbClr val="FFFFFF"/>
            </a:solidFill>
            <a:ln w="9525">
              <a:solidFill>
                <a:srgbClr val="DDB7C8"/>
              </a:solidFill>
              <a:prstDash val="solid"/>
            </a:ln>
          </p:spPr>
        </p:sp>
        <p:sp>
          <p:nvSpPr>
            <p:cNvPr id="51" name="textbox_50">
              <a:extLst>
                <a:ext uri="{FF2B5EF4-FFF2-40B4-BE49-F238E27FC236}">
                  <a16:creationId xmlns:a16="http://schemas.microsoft.com/office/drawing/2014/main" id="{1A092731-7286-4C9F-B50B-5E6872D42B3A}"/>
                </a:ext>
              </a:extLst>
            </p:cNvPr>
            <p:cNvSpPr>
              <a:spLocks/>
            </p:cNvSpPr>
            <p:nvPr/>
          </p:nvSpPr>
          <p:spPr>
            <a:xfrm>
              <a:off x="5076825" y="4457700"/>
              <a:ext cx="201930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75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75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75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rPr>
                <a:t>新增：同一批预测的残差摘要</a:t>
              </a:r>
            </a:p>
          </p:txBody>
        </p:sp>
        <p:sp>
          <p:nvSpPr>
            <p:cNvPr id="52" name="trace_51">
              <a:extLst>
                <a:ext uri="{FF2B5EF4-FFF2-40B4-BE49-F238E27FC236}">
                  <a16:creationId xmlns:a16="http://schemas.microsoft.com/office/drawing/2014/main" id="{5368A0B2-04FB-411E-80A8-21CCE3A514AE}"/>
                </a:ext>
              </a:extLst>
            </p:cNvPr>
            <p:cNvSpPr>
              <a:spLocks/>
            </p:cNvSpPr>
            <p:nvPr/>
          </p:nvSpPr>
          <p:spPr>
            <a:xfrm>
              <a:off x="5076825" y="4843885"/>
              <a:ext cx="571500" cy="166403"/>
            </a:xfrm>
            <a:custGeom>
              <a:avLst/>
              <a:gdLst/>
              <a:ahLst/>
              <a:cxnLst/>
              <a:rect l="0" t="0" r="0" b="0"/>
              <a:pathLst>
                <a:path w="571500" h="166403">
                  <a:moveTo>
                    <a:pt x="0" y="110258"/>
                  </a:moveTo>
                  <a:lnTo>
                    <a:pt x="13939" y="89998"/>
                  </a:lnTo>
                  <a:lnTo>
                    <a:pt x="27878" y="149641"/>
                  </a:lnTo>
                  <a:lnTo>
                    <a:pt x="41817" y="134400"/>
                  </a:lnTo>
                  <a:lnTo>
                    <a:pt x="55756" y="91256"/>
                  </a:lnTo>
                  <a:lnTo>
                    <a:pt x="69695" y="98522"/>
                  </a:lnTo>
                  <a:lnTo>
                    <a:pt x="83634" y="9411"/>
                  </a:lnTo>
                  <a:lnTo>
                    <a:pt x="97573" y="47489"/>
                  </a:lnTo>
                  <a:lnTo>
                    <a:pt x="111512" y="21499"/>
                  </a:lnTo>
                  <a:lnTo>
                    <a:pt x="125451" y="56582"/>
                  </a:lnTo>
                  <a:lnTo>
                    <a:pt x="139390" y="117510"/>
                  </a:lnTo>
                  <a:lnTo>
                    <a:pt x="153329" y="99587"/>
                  </a:lnTo>
                  <a:lnTo>
                    <a:pt x="167268" y="166403"/>
                  </a:lnTo>
                  <a:lnTo>
                    <a:pt x="181207" y="101544"/>
                  </a:lnTo>
                  <a:lnTo>
                    <a:pt x="195146" y="98980"/>
                  </a:lnTo>
                  <a:lnTo>
                    <a:pt x="209085" y="62403"/>
                  </a:lnTo>
                  <a:lnTo>
                    <a:pt x="223024" y="7344"/>
                  </a:lnTo>
                  <a:lnTo>
                    <a:pt x="236963" y="54026"/>
                  </a:lnTo>
                  <a:lnTo>
                    <a:pt x="250902" y="16270"/>
                  </a:lnTo>
                  <a:lnTo>
                    <a:pt x="264841" y="98304"/>
                  </a:lnTo>
                  <a:lnTo>
                    <a:pt x="278780" y="109420"/>
                  </a:lnTo>
                  <a:lnTo>
                    <a:pt x="292720" y="124361"/>
                  </a:lnTo>
                  <a:lnTo>
                    <a:pt x="306659" y="157010"/>
                  </a:lnTo>
                  <a:lnTo>
                    <a:pt x="320598" y="79696"/>
                  </a:lnTo>
                  <a:lnTo>
                    <a:pt x="334537" y="100031"/>
                  </a:lnTo>
                  <a:lnTo>
                    <a:pt x="348476" y="23282"/>
                  </a:lnTo>
                  <a:lnTo>
                    <a:pt x="362415" y="25638"/>
                  </a:lnTo>
                  <a:lnTo>
                    <a:pt x="376354" y="45598"/>
                  </a:lnTo>
                  <a:lnTo>
                    <a:pt x="390293" y="34528"/>
                  </a:lnTo>
                  <a:lnTo>
                    <a:pt x="404232" y="126570"/>
                  </a:lnTo>
                  <a:lnTo>
                    <a:pt x="418171" y="101394"/>
                  </a:lnTo>
                  <a:lnTo>
                    <a:pt x="432110" y="151425"/>
                  </a:lnTo>
                  <a:lnTo>
                    <a:pt x="446049" y="125669"/>
                  </a:lnTo>
                  <a:lnTo>
                    <a:pt x="459988" y="75850"/>
                  </a:lnTo>
                  <a:lnTo>
                    <a:pt x="473927" y="82769"/>
                  </a:lnTo>
                  <a:lnTo>
                    <a:pt x="487866" y="0"/>
                  </a:lnTo>
                  <a:lnTo>
                    <a:pt x="501805" y="48392"/>
                  </a:lnTo>
                  <a:lnTo>
                    <a:pt x="515744" y="32231"/>
                  </a:lnTo>
                  <a:lnTo>
                    <a:pt x="529683" y="72798"/>
                  </a:lnTo>
                  <a:lnTo>
                    <a:pt x="543622" y="132227"/>
                  </a:lnTo>
                  <a:lnTo>
                    <a:pt x="557561" y="106757"/>
                  </a:lnTo>
                  <a:lnTo>
                    <a:pt x="571500" y="162958"/>
                  </a:lnTo>
                </a:path>
              </a:pathLst>
            </a:custGeom>
            <a:noFill/>
            <a:ln w="13335">
              <a:solidFill>
                <a:srgbClr val="9C5875"/>
              </a:solidFill>
            </a:ln>
          </p:spPr>
        </p:sp>
        <p:sp>
          <p:nvSpPr>
            <p:cNvPr id="53" name="line_52">
              <a:extLst>
                <a:ext uri="{FF2B5EF4-FFF2-40B4-BE49-F238E27FC236}">
                  <a16:creationId xmlns:a16="http://schemas.microsoft.com/office/drawing/2014/main" id="{3C2B32EB-1B39-4C83-919C-E7B44B81EA5B}"/>
                </a:ext>
              </a:extLst>
            </p:cNvPr>
            <p:cNvSpPr>
              <a:spLocks/>
            </p:cNvSpPr>
            <p:nvPr/>
          </p:nvSpPr>
          <p:spPr>
            <a:xfrm>
              <a:off x="5810250" y="5057775"/>
              <a:ext cx="476250" cy="953"/>
            </a:xfrm>
            <a:prstGeom prst="line">
              <a:avLst/>
            </a:prstGeom>
            <a:noFill/>
            <a:ln w="5715">
              <a:solidFill>
                <a:srgbClr val="D8D9E3"/>
              </a:solidFill>
              <a:prstDash val="solid"/>
            </a:ln>
          </p:spPr>
        </p:sp>
        <p:sp>
          <p:nvSpPr>
            <p:cNvPr id="54" name="rect_53">
              <a:extLst>
                <a:ext uri="{FF2B5EF4-FFF2-40B4-BE49-F238E27FC236}">
                  <a16:creationId xmlns:a16="http://schemas.microsoft.com/office/drawing/2014/main" id="{60ABBFB0-3B9A-401C-B091-F8A6A7921691}"/>
                </a:ext>
              </a:extLst>
            </p:cNvPr>
            <p:cNvSpPr>
              <a:spLocks/>
            </p:cNvSpPr>
            <p:nvPr/>
          </p:nvSpPr>
          <p:spPr>
            <a:xfrm>
              <a:off x="5810250" y="4866727"/>
              <a:ext cx="80963" cy="191048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55" name="rect_54">
              <a:extLst>
                <a:ext uri="{FF2B5EF4-FFF2-40B4-BE49-F238E27FC236}">
                  <a16:creationId xmlns:a16="http://schemas.microsoft.com/office/drawing/2014/main" id="{6D32511C-E665-4037-993A-4A932C9CFC05}"/>
                </a:ext>
              </a:extLst>
            </p:cNvPr>
            <p:cNvSpPr>
              <a:spLocks/>
            </p:cNvSpPr>
            <p:nvPr/>
          </p:nvSpPr>
          <p:spPr>
            <a:xfrm>
              <a:off x="5929313" y="4793476"/>
              <a:ext cx="80963" cy="264299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56" name="rect_55">
              <a:extLst>
                <a:ext uri="{FF2B5EF4-FFF2-40B4-BE49-F238E27FC236}">
                  <a16:creationId xmlns:a16="http://schemas.microsoft.com/office/drawing/2014/main" id="{EAD7BA34-4D26-4982-AF13-BBA78D1203BD}"/>
                </a:ext>
              </a:extLst>
            </p:cNvPr>
            <p:cNvSpPr>
              <a:spLocks/>
            </p:cNvSpPr>
            <p:nvPr/>
          </p:nvSpPr>
          <p:spPr>
            <a:xfrm>
              <a:off x="6048375" y="4963894"/>
              <a:ext cx="80963" cy="93881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57" name="rect_56">
              <a:extLst>
                <a:ext uri="{FF2B5EF4-FFF2-40B4-BE49-F238E27FC236}">
                  <a16:creationId xmlns:a16="http://schemas.microsoft.com/office/drawing/2014/main" id="{CADA47EF-45E5-40B7-941B-8215190831AB}"/>
                </a:ext>
              </a:extLst>
            </p:cNvPr>
            <p:cNvSpPr>
              <a:spLocks/>
            </p:cNvSpPr>
            <p:nvPr/>
          </p:nvSpPr>
          <p:spPr>
            <a:xfrm>
              <a:off x="6167438" y="4787482"/>
              <a:ext cx="80963" cy="270293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58" name="line_57">
              <a:extLst>
                <a:ext uri="{FF2B5EF4-FFF2-40B4-BE49-F238E27FC236}">
                  <a16:creationId xmlns:a16="http://schemas.microsoft.com/office/drawing/2014/main" id="{A58CE800-D734-4211-BF80-F4EC9AA6E8B0}"/>
                </a:ext>
              </a:extLst>
            </p:cNvPr>
            <p:cNvSpPr>
              <a:spLocks/>
            </p:cNvSpPr>
            <p:nvPr/>
          </p:nvSpPr>
          <p:spPr>
            <a:xfrm>
              <a:off x="6486525" y="5057775"/>
              <a:ext cx="571500" cy="953"/>
            </a:xfrm>
            <a:prstGeom prst="line">
              <a:avLst/>
            </a:prstGeom>
            <a:noFill/>
            <a:ln w="5715">
              <a:solidFill>
                <a:srgbClr val="D8D9E3"/>
              </a:solidFill>
              <a:prstDash val="solid"/>
            </a:ln>
          </p:spPr>
        </p:sp>
        <p:sp>
          <p:nvSpPr>
            <p:cNvPr id="59" name="rect_58">
              <a:extLst>
                <a:ext uri="{FF2B5EF4-FFF2-40B4-BE49-F238E27FC236}">
                  <a16:creationId xmlns:a16="http://schemas.microsoft.com/office/drawing/2014/main" id="{2653D8D4-AAB6-4005-A602-1DCA90CB2C65}"/>
                </a:ext>
              </a:extLst>
            </p:cNvPr>
            <p:cNvSpPr>
              <a:spLocks/>
            </p:cNvSpPr>
            <p:nvPr/>
          </p:nvSpPr>
          <p:spPr>
            <a:xfrm>
              <a:off x="6486525" y="4866727"/>
              <a:ext cx="76200" cy="191048"/>
            </a:xfrm>
            <a:prstGeom prst="rect">
              <a:avLst/>
            </a:prstGeom>
            <a:solidFill>
              <a:srgbClr val="C18BA2"/>
            </a:solidFill>
            <a:ln w="0">
              <a:noFill/>
              <a:prstDash val="solid"/>
            </a:ln>
          </p:spPr>
        </p:sp>
        <p:sp>
          <p:nvSpPr>
            <p:cNvPr id="60" name="rect_59">
              <a:extLst>
                <a:ext uri="{FF2B5EF4-FFF2-40B4-BE49-F238E27FC236}">
                  <a16:creationId xmlns:a16="http://schemas.microsoft.com/office/drawing/2014/main" id="{BEE0A713-6AAD-4287-813E-71D25CDE2339}"/>
                </a:ext>
              </a:extLst>
            </p:cNvPr>
            <p:cNvSpPr>
              <a:spLocks/>
            </p:cNvSpPr>
            <p:nvPr/>
          </p:nvSpPr>
          <p:spPr>
            <a:xfrm>
              <a:off x="6600825" y="4793476"/>
              <a:ext cx="76200" cy="264299"/>
            </a:xfrm>
            <a:prstGeom prst="rect">
              <a:avLst/>
            </a:prstGeom>
            <a:solidFill>
              <a:srgbClr val="C18BA2"/>
            </a:solidFill>
            <a:ln w="0">
              <a:noFill/>
              <a:prstDash val="solid"/>
            </a:ln>
          </p:spPr>
        </p:sp>
        <p:sp>
          <p:nvSpPr>
            <p:cNvPr id="61" name="rect_60">
              <a:extLst>
                <a:ext uri="{FF2B5EF4-FFF2-40B4-BE49-F238E27FC236}">
                  <a16:creationId xmlns:a16="http://schemas.microsoft.com/office/drawing/2014/main" id="{C6BD527A-03D9-4B29-9507-7FC34EB76FA7}"/>
                </a:ext>
              </a:extLst>
            </p:cNvPr>
            <p:cNvSpPr>
              <a:spLocks/>
            </p:cNvSpPr>
            <p:nvPr/>
          </p:nvSpPr>
          <p:spPr>
            <a:xfrm>
              <a:off x="6715125" y="4963894"/>
              <a:ext cx="76200" cy="93881"/>
            </a:xfrm>
            <a:prstGeom prst="rect">
              <a:avLst/>
            </a:prstGeom>
            <a:solidFill>
              <a:srgbClr val="C18BA2"/>
            </a:solidFill>
            <a:ln w="0">
              <a:noFill/>
              <a:prstDash val="solid"/>
            </a:ln>
          </p:spPr>
        </p:sp>
        <p:sp>
          <p:nvSpPr>
            <p:cNvPr id="62" name="rect_61">
              <a:extLst>
                <a:ext uri="{FF2B5EF4-FFF2-40B4-BE49-F238E27FC236}">
                  <a16:creationId xmlns:a16="http://schemas.microsoft.com/office/drawing/2014/main" id="{A0C8CB5A-D1C2-47C2-93BC-A549D4143019}"/>
                </a:ext>
              </a:extLst>
            </p:cNvPr>
            <p:cNvSpPr>
              <a:spLocks/>
            </p:cNvSpPr>
            <p:nvPr/>
          </p:nvSpPr>
          <p:spPr>
            <a:xfrm>
              <a:off x="6829425" y="4787482"/>
              <a:ext cx="76200" cy="270293"/>
            </a:xfrm>
            <a:prstGeom prst="rect">
              <a:avLst/>
            </a:prstGeom>
            <a:solidFill>
              <a:srgbClr val="C18BA2"/>
            </a:solidFill>
            <a:ln w="0">
              <a:noFill/>
              <a:prstDash val="solid"/>
            </a:ln>
          </p:spPr>
        </p:sp>
        <p:sp>
          <p:nvSpPr>
            <p:cNvPr id="63" name="rect_62">
              <a:extLst>
                <a:ext uri="{FF2B5EF4-FFF2-40B4-BE49-F238E27FC236}">
                  <a16:creationId xmlns:a16="http://schemas.microsoft.com/office/drawing/2014/main" id="{36AD25F6-6844-4405-9782-90D051B06C9C}"/>
                </a:ext>
              </a:extLst>
            </p:cNvPr>
            <p:cNvSpPr>
              <a:spLocks/>
            </p:cNvSpPr>
            <p:nvPr/>
          </p:nvSpPr>
          <p:spPr>
            <a:xfrm>
              <a:off x="6943725" y="4885927"/>
              <a:ext cx="76200" cy="171848"/>
            </a:xfrm>
            <a:prstGeom prst="rect">
              <a:avLst/>
            </a:prstGeom>
            <a:solidFill>
              <a:srgbClr val="C18BA2"/>
            </a:solidFill>
            <a:ln w="0">
              <a:noFill/>
              <a:prstDash val="solid"/>
            </a:ln>
          </p:spPr>
        </p:sp>
        <p:sp>
          <p:nvSpPr>
            <p:cNvPr id="64" name="textbox_63">
              <a:extLst>
                <a:ext uri="{FF2B5EF4-FFF2-40B4-BE49-F238E27FC236}">
                  <a16:creationId xmlns:a16="http://schemas.microsoft.com/office/drawing/2014/main" id="{A13D6489-7BA8-47A7-BA7D-936EE740F5F2}"/>
                </a:ext>
              </a:extLst>
            </p:cNvPr>
            <p:cNvSpPr>
              <a:spLocks/>
            </p:cNvSpPr>
            <p:nvPr/>
          </p:nvSpPr>
          <p:spPr>
            <a:xfrm>
              <a:off x="5086350" y="5124450"/>
              <a:ext cx="66675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偏差</a:t>
              </a:r>
            </a:p>
          </p:txBody>
        </p:sp>
        <p:sp>
          <p:nvSpPr>
            <p:cNvPr id="65" name="textbox_64">
              <a:extLst>
                <a:ext uri="{FF2B5EF4-FFF2-40B4-BE49-F238E27FC236}">
                  <a16:creationId xmlns:a16="http://schemas.microsoft.com/office/drawing/2014/main" id="{790CFB8E-00DC-48FD-8782-D6BC9044BFFD}"/>
                </a:ext>
              </a:extLst>
            </p:cNvPr>
            <p:cNvSpPr>
              <a:spLocks/>
            </p:cNvSpPr>
            <p:nvPr/>
          </p:nvSpPr>
          <p:spPr>
            <a:xfrm>
              <a:off x="5781675" y="5124450"/>
              <a:ext cx="66675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分步长</a:t>
              </a:r>
            </a:p>
          </p:txBody>
        </p:sp>
        <p:sp>
          <p:nvSpPr>
            <p:cNvPr id="66" name="textbox_65">
              <a:extLst>
                <a:ext uri="{FF2B5EF4-FFF2-40B4-BE49-F238E27FC236}">
                  <a16:creationId xmlns:a16="http://schemas.microsoft.com/office/drawing/2014/main" id="{786D502B-C43E-42EB-B59A-B866000A10E6}"/>
                </a:ext>
              </a:extLst>
            </p:cNvPr>
            <p:cNvSpPr>
              <a:spLocks/>
            </p:cNvSpPr>
            <p:nvPr/>
          </p:nvSpPr>
          <p:spPr>
            <a:xfrm>
              <a:off x="6477000" y="5124450"/>
              <a:ext cx="66675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ACF</a:t>
              </a:r>
            </a:p>
          </p:txBody>
        </p:sp>
        <p:sp>
          <p:nvSpPr>
            <p:cNvPr id="67" name="native_curve_66">
              <a:extLst>
                <a:ext uri="{FF2B5EF4-FFF2-40B4-BE49-F238E27FC236}">
                  <a16:creationId xmlns:a16="http://schemas.microsoft.com/office/drawing/2014/main" id="{D6F6EC2D-1F07-44F1-83A3-44B5B20D0F38}"/>
                </a:ext>
              </a:extLst>
            </p:cNvPr>
            <p:cNvSpPr>
              <a:spLocks/>
            </p:cNvSpPr>
            <p:nvPr/>
          </p:nvSpPr>
          <p:spPr>
            <a:xfrm>
              <a:off x="7200900" y="4867275"/>
              <a:ext cx="304800" cy="953"/>
            </a:xfrm>
            <a:custGeom>
              <a:avLst/>
              <a:gdLst/>
              <a:ahLst/>
              <a:cxnLst/>
              <a:rect l="0" t="0" r="0" b="0"/>
              <a:pathLst>
                <a:path w="304800" h="953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5240">
              <a:solidFill>
                <a:srgbClr val="9C5875"/>
              </a:solidFill>
              <a:prstDash val="solid"/>
            </a:ln>
          </p:spPr>
        </p:sp>
        <p:sp>
          <p:nvSpPr>
            <p:cNvPr id="68" name="arrow_tip_67">
              <a:extLst>
                <a:ext uri="{FF2B5EF4-FFF2-40B4-BE49-F238E27FC236}">
                  <a16:creationId xmlns:a16="http://schemas.microsoft.com/office/drawing/2014/main" id="{9A44B119-6431-4208-954C-4618CD779A2F}"/>
                </a:ext>
              </a:extLst>
            </p:cNvPr>
            <p:cNvSpPr>
              <a:spLocks/>
            </p:cNvSpPr>
            <p:nvPr/>
          </p:nvSpPr>
          <p:spPr>
            <a:xfrm>
              <a:off x="7439025" y="4832985"/>
              <a:ext cx="66675" cy="68580"/>
            </a:xfrm>
            <a:custGeom>
              <a:avLst/>
              <a:gdLst/>
              <a:ahLst/>
              <a:cxnLst/>
              <a:rect l="0" t="0" r="0" b="0"/>
              <a:pathLst>
                <a:path w="66675" h="68580">
                  <a:moveTo>
                    <a:pt x="66675" y="34290"/>
                  </a:moveTo>
                  <a:lnTo>
                    <a:pt x="0" y="68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5875"/>
            </a:solidFill>
            <a:ln w="0">
              <a:noFill/>
            </a:ln>
          </p:spPr>
        </p:sp>
        <p:sp>
          <p:nvSpPr>
            <p:cNvPr id="69" name="textbox_68">
              <a:extLst>
                <a:ext uri="{FF2B5EF4-FFF2-40B4-BE49-F238E27FC236}">
                  <a16:creationId xmlns:a16="http://schemas.microsoft.com/office/drawing/2014/main" id="{6108DEB0-0B3E-4C8D-B0B7-9A5071BE534C}"/>
                </a:ext>
              </a:extLst>
            </p:cNvPr>
            <p:cNvSpPr>
              <a:spLocks/>
            </p:cNvSpPr>
            <p:nvPr/>
          </p:nvSpPr>
          <p:spPr>
            <a:xfrm>
              <a:off x="7629525" y="4600575"/>
              <a:ext cx="17145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0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0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rPr>
                <a:t>1</a:t>
              </a:r>
            </a:p>
          </p:txBody>
        </p:sp>
        <p:sp>
          <p:nvSpPr>
            <p:cNvPr id="70" name="roundRect_69">
              <a:extLst>
                <a:ext uri="{FF2B5EF4-FFF2-40B4-BE49-F238E27FC236}">
                  <a16:creationId xmlns:a16="http://schemas.microsoft.com/office/drawing/2014/main" id="{A72F1AA7-A7E2-4D61-B431-4A311171E5C1}"/>
                </a:ext>
              </a:extLst>
            </p:cNvPr>
            <p:cNvSpPr>
              <a:spLocks/>
            </p:cNvSpPr>
            <p:nvPr/>
          </p:nvSpPr>
          <p:spPr>
            <a:xfrm>
              <a:off x="7858125" y="4638675"/>
              <a:ext cx="559499" cy="66675"/>
            </a:xfrm>
            <a:prstGeom prst="roundRect">
              <a:avLst>
                <a:gd name="adj" fmla="val 50000"/>
              </a:avLst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71" name="textbox_70">
              <a:extLst>
                <a:ext uri="{FF2B5EF4-FFF2-40B4-BE49-F238E27FC236}">
                  <a16:creationId xmlns:a16="http://schemas.microsoft.com/office/drawing/2014/main" id="{996B7C31-9D8C-4D04-935C-25829855853F}"/>
                </a:ext>
              </a:extLst>
            </p:cNvPr>
            <p:cNvSpPr>
              <a:spLocks/>
            </p:cNvSpPr>
            <p:nvPr/>
          </p:nvSpPr>
          <p:spPr>
            <a:xfrm>
              <a:off x="7629525" y="4791075"/>
              <a:ext cx="17145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0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0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rPr>
                <a:t>2</a:t>
              </a:r>
            </a:p>
          </p:txBody>
        </p:sp>
        <p:sp>
          <p:nvSpPr>
            <p:cNvPr id="72" name="roundRect_71">
              <a:extLst>
                <a:ext uri="{FF2B5EF4-FFF2-40B4-BE49-F238E27FC236}">
                  <a16:creationId xmlns:a16="http://schemas.microsoft.com/office/drawing/2014/main" id="{9BFB541F-2F52-4846-AE8A-6DDA9A79E7E8}"/>
                </a:ext>
              </a:extLst>
            </p:cNvPr>
            <p:cNvSpPr>
              <a:spLocks/>
            </p:cNvSpPr>
            <p:nvPr/>
          </p:nvSpPr>
          <p:spPr>
            <a:xfrm>
              <a:off x="7858125" y="4829175"/>
              <a:ext cx="440817" cy="66675"/>
            </a:xfrm>
            <a:prstGeom prst="roundRect">
              <a:avLst>
                <a:gd name="adj" fmla="val 50000"/>
              </a:avLst>
            </a:prstGeom>
            <a:solidFill>
              <a:srgbClr val="B7C1DD"/>
            </a:solidFill>
            <a:ln w="0">
              <a:noFill/>
              <a:prstDash val="solid"/>
            </a:ln>
          </p:spPr>
        </p:sp>
        <p:sp>
          <p:nvSpPr>
            <p:cNvPr id="73" name="textbox_72">
              <a:extLst>
                <a:ext uri="{FF2B5EF4-FFF2-40B4-BE49-F238E27FC236}">
                  <a16:creationId xmlns:a16="http://schemas.microsoft.com/office/drawing/2014/main" id="{217809F3-1F79-4F96-9CEA-759099BBC79B}"/>
                </a:ext>
              </a:extLst>
            </p:cNvPr>
            <p:cNvSpPr>
              <a:spLocks/>
            </p:cNvSpPr>
            <p:nvPr/>
          </p:nvSpPr>
          <p:spPr>
            <a:xfrm>
              <a:off x="7629525" y="4981575"/>
              <a:ext cx="17145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0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0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rPr>
                <a:t>3</a:t>
              </a:r>
            </a:p>
          </p:txBody>
        </p:sp>
        <p:sp>
          <p:nvSpPr>
            <p:cNvPr id="74" name="roundRect_73">
              <a:extLst>
                <a:ext uri="{FF2B5EF4-FFF2-40B4-BE49-F238E27FC236}">
                  <a16:creationId xmlns:a16="http://schemas.microsoft.com/office/drawing/2014/main" id="{9938C8EF-3CB1-496E-AB7B-EA4395D345AA}"/>
                </a:ext>
              </a:extLst>
            </p:cNvPr>
            <p:cNvSpPr>
              <a:spLocks/>
            </p:cNvSpPr>
            <p:nvPr/>
          </p:nvSpPr>
          <p:spPr>
            <a:xfrm>
              <a:off x="7858125" y="5019675"/>
              <a:ext cx="322136" cy="66675"/>
            </a:xfrm>
            <a:prstGeom prst="roundRect">
              <a:avLst>
                <a:gd name="adj" fmla="val 50000"/>
              </a:avLst>
            </a:prstGeom>
            <a:solidFill>
              <a:srgbClr val="B7C1DD"/>
            </a:solidFill>
            <a:ln w="0">
              <a:noFill/>
              <a:prstDash val="solid"/>
            </a:ln>
          </p:spPr>
        </p:sp>
      </p:grpSp>
      <p:grpSp>
        <p:nvGrpSpPr>
          <p:cNvPr id="94" name="matched_eval">
            <a:extLst>
              <a:ext uri="{FF2B5EF4-FFF2-40B4-BE49-F238E27FC236}">
                <a16:creationId xmlns:a16="http://schemas.microsoft.com/office/drawing/2014/main" id="{5335D859-F090-2106-5177-E6FCCCE6A1F0}"/>
              </a:ext>
            </a:extLst>
          </p:cNvPr>
          <p:cNvGrpSpPr/>
          <p:nvPr/>
        </p:nvGrpSpPr>
        <p:grpSpPr>
          <a:xfrm>
            <a:off x="8677275" y="2571750"/>
            <a:ext cx="2324100" cy="2628900"/>
            <a:chOff x="8677275" y="2571750"/>
            <a:chExt cx="2324100" cy="2628900"/>
          </a:xfrm>
        </p:grpSpPr>
        <p:sp>
          <p:nvSpPr>
            <p:cNvPr id="75" name="native_curve_74">
              <a:extLst>
                <a:ext uri="{FF2B5EF4-FFF2-40B4-BE49-F238E27FC236}">
                  <a16:creationId xmlns:a16="http://schemas.microsoft.com/office/drawing/2014/main" id="{90AEB07B-0C1C-4C84-B7D5-E7B845190EA0}"/>
                </a:ext>
              </a:extLst>
            </p:cNvPr>
            <p:cNvSpPr>
              <a:spLocks/>
            </p:cNvSpPr>
            <p:nvPr/>
          </p:nvSpPr>
          <p:spPr>
            <a:xfrm>
              <a:off x="8677275" y="2819400"/>
              <a:ext cx="571500" cy="371475"/>
            </a:xfrm>
            <a:custGeom>
              <a:avLst/>
              <a:gdLst/>
              <a:ahLst/>
              <a:cxnLst/>
              <a:rect l="0" t="0" r="0" b="0"/>
              <a:pathLst>
                <a:path w="571500" h="371475">
                  <a:moveTo>
                    <a:pt x="0" y="0"/>
                  </a:moveTo>
                  <a:lnTo>
                    <a:pt x="179546" y="0"/>
                  </a:lnTo>
                  <a:cubicBezTo>
                    <a:pt x="243999" y="0"/>
                    <a:pt x="276225" y="32226"/>
                    <a:pt x="276225" y="96679"/>
                  </a:cubicBezTo>
                  <a:lnTo>
                    <a:pt x="276225" y="268129"/>
                  </a:lnTo>
                  <a:cubicBezTo>
                    <a:pt x="276225" y="337026"/>
                    <a:pt x="310674" y="371475"/>
                    <a:pt x="379571" y="371475"/>
                  </a:cubicBezTo>
                  <a:lnTo>
                    <a:pt x="571500" y="371475"/>
                  </a:lnTo>
                </a:path>
              </a:pathLst>
            </a:custGeom>
            <a:noFill/>
            <a:ln w="20955">
              <a:solidFill>
                <a:srgbClr val="38385B"/>
              </a:solidFill>
              <a:prstDash val="solid"/>
            </a:ln>
          </p:spPr>
        </p:sp>
        <p:sp>
          <p:nvSpPr>
            <p:cNvPr id="76" name="arrow_tip_75">
              <a:extLst>
                <a:ext uri="{FF2B5EF4-FFF2-40B4-BE49-F238E27FC236}">
                  <a16:creationId xmlns:a16="http://schemas.microsoft.com/office/drawing/2014/main" id="{2ED762FB-BAE9-4B4A-A626-011F22187033}"/>
                </a:ext>
              </a:extLst>
            </p:cNvPr>
            <p:cNvSpPr>
              <a:spLocks/>
            </p:cNvSpPr>
            <p:nvPr/>
          </p:nvSpPr>
          <p:spPr>
            <a:xfrm>
              <a:off x="9182100" y="3156585"/>
              <a:ext cx="66675" cy="68580"/>
            </a:xfrm>
            <a:custGeom>
              <a:avLst/>
              <a:gdLst/>
              <a:ahLst/>
              <a:cxnLst/>
              <a:rect l="0" t="0" r="0" b="0"/>
              <a:pathLst>
                <a:path w="66675" h="68580">
                  <a:moveTo>
                    <a:pt x="66675" y="34290"/>
                  </a:moveTo>
                  <a:lnTo>
                    <a:pt x="0" y="68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385B"/>
            </a:solidFill>
            <a:ln w="0">
              <a:noFill/>
            </a:ln>
          </p:spPr>
        </p:sp>
        <p:sp>
          <p:nvSpPr>
            <p:cNvPr id="77" name="native_curve_76">
              <a:extLst>
                <a:ext uri="{FF2B5EF4-FFF2-40B4-BE49-F238E27FC236}">
                  <a16:creationId xmlns:a16="http://schemas.microsoft.com/office/drawing/2014/main" id="{A45DA847-01AB-4FAF-B707-37057E23C041}"/>
                </a:ext>
              </a:extLst>
            </p:cNvPr>
            <p:cNvSpPr>
              <a:spLocks/>
            </p:cNvSpPr>
            <p:nvPr/>
          </p:nvSpPr>
          <p:spPr>
            <a:xfrm>
              <a:off x="8677275" y="4391025"/>
              <a:ext cx="571500" cy="342900"/>
            </a:xfrm>
            <a:custGeom>
              <a:avLst/>
              <a:gdLst/>
              <a:ahLst/>
              <a:cxnLst/>
              <a:rect l="0" t="0" r="0" b="0"/>
              <a:pathLst>
                <a:path w="571500" h="342900">
                  <a:moveTo>
                    <a:pt x="0" y="342900"/>
                  </a:moveTo>
                  <a:lnTo>
                    <a:pt x="179546" y="342900"/>
                  </a:lnTo>
                  <a:cubicBezTo>
                    <a:pt x="243999" y="342900"/>
                    <a:pt x="276225" y="310674"/>
                    <a:pt x="276225" y="246221"/>
                  </a:cubicBezTo>
                  <a:lnTo>
                    <a:pt x="276225" y="103346"/>
                  </a:lnTo>
                  <a:cubicBezTo>
                    <a:pt x="276225" y="34449"/>
                    <a:pt x="310674" y="0"/>
                    <a:pt x="379571" y="0"/>
                  </a:cubicBezTo>
                  <a:lnTo>
                    <a:pt x="571500" y="0"/>
                  </a:lnTo>
                </a:path>
              </a:pathLst>
            </a:custGeom>
            <a:noFill/>
            <a:ln w="20955">
              <a:solidFill>
                <a:srgbClr val="9C5875"/>
              </a:solidFill>
              <a:prstDash val="solid"/>
            </a:ln>
          </p:spPr>
        </p:sp>
        <p:sp>
          <p:nvSpPr>
            <p:cNvPr id="78" name="arrow_tip_77">
              <a:extLst>
                <a:ext uri="{FF2B5EF4-FFF2-40B4-BE49-F238E27FC236}">
                  <a16:creationId xmlns:a16="http://schemas.microsoft.com/office/drawing/2014/main" id="{D4F6A948-B8EA-4D1F-811C-3D3F2C6C73E6}"/>
                </a:ext>
              </a:extLst>
            </p:cNvPr>
            <p:cNvSpPr>
              <a:spLocks/>
            </p:cNvSpPr>
            <p:nvPr/>
          </p:nvSpPr>
          <p:spPr>
            <a:xfrm>
              <a:off x="9182100" y="4356735"/>
              <a:ext cx="66675" cy="68580"/>
            </a:xfrm>
            <a:custGeom>
              <a:avLst/>
              <a:gdLst/>
              <a:ahLst/>
              <a:cxnLst/>
              <a:rect l="0" t="0" r="0" b="0"/>
              <a:pathLst>
                <a:path w="66675" h="68580">
                  <a:moveTo>
                    <a:pt x="66675" y="34290"/>
                  </a:moveTo>
                  <a:lnTo>
                    <a:pt x="0" y="68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5875"/>
            </a:solidFill>
            <a:ln w="0">
              <a:noFill/>
            </a:ln>
          </p:spPr>
        </p:sp>
        <p:sp>
          <p:nvSpPr>
            <p:cNvPr id="79" name="roundRect_78">
              <a:extLst>
                <a:ext uri="{FF2B5EF4-FFF2-40B4-BE49-F238E27FC236}">
                  <a16:creationId xmlns:a16="http://schemas.microsoft.com/office/drawing/2014/main" id="{737A3047-DE03-4B54-B08A-814C8C10C59B}"/>
                </a:ext>
              </a:extLst>
            </p:cNvPr>
            <p:cNvSpPr>
              <a:spLocks/>
            </p:cNvSpPr>
            <p:nvPr/>
          </p:nvSpPr>
          <p:spPr>
            <a:xfrm>
              <a:off x="9248775" y="2571750"/>
              <a:ext cx="1752600" cy="2628900"/>
            </a:xfrm>
            <a:prstGeom prst="roundRect">
              <a:avLst>
                <a:gd name="adj" fmla="val 4891"/>
              </a:avLst>
            </a:prstGeom>
            <a:solidFill>
              <a:srgbClr val="F7F7FA"/>
            </a:solidFill>
            <a:ln w="9525">
              <a:solidFill>
                <a:srgbClr val="A9B1CD"/>
              </a:solidFill>
              <a:prstDash val="solid"/>
            </a:ln>
          </p:spPr>
        </p:sp>
        <p:sp>
          <p:nvSpPr>
            <p:cNvPr id="80" name="textbox_79">
              <a:extLst>
                <a:ext uri="{FF2B5EF4-FFF2-40B4-BE49-F238E27FC236}">
                  <a16:creationId xmlns:a16="http://schemas.microsoft.com/office/drawing/2014/main" id="{017AF5A4-2542-40BC-9F59-16976E6700F7}"/>
                </a:ext>
              </a:extLst>
            </p:cNvPr>
            <p:cNvSpPr>
              <a:spLocks/>
            </p:cNvSpPr>
            <p:nvPr/>
          </p:nvSpPr>
          <p:spPr>
            <a:xfrm>
              <a:off x="9401175" y="2733675"/>
              <a:ext cx="1457325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6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6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配对评价</a:t>
              </a:r>
            </a:p>
          </p:txBody>
        </p:sp>
        <p:sp>
          <p:nvSpPr>
            <p:cNvPr id="81" name="line_80">
              <a:extLst>
                <a:ext uri="{FF2B5EF4-FFF2-40B4-BE49-F238E27FC236}">
                  <a16:creationId xmlns:a16="http://schemas.microsoft.com/office/drawing/2014/main" id="{44405D2B-784D-47F6-B198-461588CFB49C}"/>
                </a:ext>
              </a:extLst>
            </p:cNvPr>
            <p:cNvSpPr>
              <a:spLocks/>
            </p:cNvSpPr>
            <p:nvPr/>
          </p:nvSpPr>
          <p:spPr>
            <a:xfrm>
              <a:off x="9401175" y="3105150"/>
              <a:ext cx="1438275" cy="953"/>
            </a:xfrm>
            <a:prstGeom prst="line">
              <a:avLst/>
            </a:prstGeom>
            <a:noFill/>
            <a:ln w="9525">
              <a:solidFill>
                <a:srgbClr val="D8D9E3"/>
              </a:solidFill>
              <a:prstDash val="solid"/>
            </a:ln>
          </p:spPr>
        </p:sp>
        <p:sp>
          <p:nvSpPr>
            <p:cNvPr id="82" name="textbox_81">
              <a:extLst>
                <a:ext uri="{FF2B5EF4-FFF2-40B4-BE49-F238E27FC236}">
                  <a16:creationId xmlns:a16="http://schemas.microsoft.com/office/drawing/2014/main" id="{8804A4B8-E46A-4E15-B6A7-F01667ABEEB9}"/>
                </a:ext>
              </a:extLst>
            </p:cNvPr>
            <p:cNvSpPr>
              <a:spLocks/>
            </p:cNvSpPr>
            <p:nvPr/>
          </p:nvSpPr>
          <p:spPr>
            <a:xfrm>
              <a:off x="9401175" y="3295650"/>
              <a:ext cx="1457325" cy="6858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3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3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未执行候选</a:t>
              </a:r>
            </a:p>
            <a:p>
              <a:pPr algn="l">
                <a:defRPr sz="13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3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排序质量</a:t>
              </a:r>
            </a:p>
          </p:txBody>
        </p:sp>
        <p:sp>
          <p:nvSpPr>
            <p:cNvPr id="83" name="textbox_82">
              <a:extLst>
                <a:ext uri="{FF2B5EF4-FFF2-40B4-BE49-F238E27FC236}">
                  <a16:creationId xmlns:a16="http://schemas.microsoft.com/office/drawing/2014/main" id="{45A2F1D4-7254-4CAF-932B-62A34B5D8622}"/>
                </a:ext>
              </a:extLst>
            </p:cNvPr>
            <p:cNvSpPr>
              <a:spLocks/>
            </p:cNvSpPr>
            <p:nvPr/>
          </p:nvSpPr>
          <p:spPr>
            <a:xfrm>
              <a:off x="9401175" y="4057650"/>
              <a:ext cx="1457325" cy="666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5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35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35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rPr>
                <a:t>选中候选</a:t>
              </a:r>
            </a:p>
            <a:p>
              <a:pPr algn="l">
                <a:defRPr sz="135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35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rPr>
                <a:t>regret 差</a:t>
              </a:r>
            </a:p>
          </p:txBody>
        </p:sp>
        <p:sp>
          <p:nvSpPr>
            <p:cNvPr id="84" name="textbox_83">
              <a:extLst>
                <a:ext uri="{FF2B5EF4-FFF2-40B4-BE49-F238E27FC236}">
                  <a16:creationId xmlns:a16="http://schemas.microsoft.com/office/drawing/2014/main" id="{2570DE5B-D3E8-4699-AB1A-89732E024FC3}"/>
                </a:ext>
              </a:extLst>
            </p:cNvPr>
            <p:cNvSpPr>
              <a:spLocks/>
            </p:cNvSpPr>
            <p:nvPr/>
          </p:nvSpPr>
          <p:spPr>
            <a:xfrm>
              <a:off x="9401175" y="4857750"/>
              <a:ext cx="1457325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8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8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8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增量方向由实验决定</a:t>
              </a:r>
            </a:p>
          </p:txBody>
        </p:sp>
      </p:grpSp>
      <p:sp>
        <p:nvSpPr>
          <p:cNvPr id="85" name="line_84">
            <a:extLst>
              <a:ext uri="{FF2B5EF4-FFF2-40B4-BE49-F238E27FC236}">
                <a16:creationId xmlns:a16="http://schemas.microsoft.com/office/drawing/2014/main" id="{D7D40701-9A63-4918-A0C7-80D7E3E23155}"/>
              </a:ext>
            </a:extLst>
          </p:cNvPr>
          <p:cNvSpPr>
            <a:spLocks/>
          </p:cNvSpPr>
          <p:nvPr/>
        </p:nvSpPr>
        <p:spPr>
          <a:xfrm>
            <a:off x="371475" y="5800725"/>
            <a:ext cx="10687050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86" name="rect_85">
            <a:extLst>
              <a:ext uri="{FF2B5EF4-FFF2-40B4-BE49-F238E27FC236}">
                <a16:creationId xmlns:a16="http://schemas.microsoft.com/office/drawing/2014/main" id="{33E1F3C7-DA01-4E2D-808D-1CE8B40A742E}"/>
              </a:ext>
            </a:extLst>
          </p:cNvPr>
          <p:cNvSpPr>
            <a:spLocks/>
          </p:cNvSpPr>
          <p:nvPr/>
        </p:nvSpPr>
        <p:spPr>
          <a:xfrm>
            <a:off x="371475" y="5886450"/>
            <a:ext cx="38100" cy="20002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87" name="textbox_86">
            <a:extLst>
              <a:ext uri="{FF2B5EF4-FFF2-40B4-BE49-F238E27FC236}">
                <a16:creationId xmlns:a16="http://schemas.microsoft.com/office/drawing/2014/main" id="{F5FCD2E2-7587-4063-9D1D-554B9CA3B467}"/>
              </a:ext>
            </a:extLst>
          </p:cNvPr>
          <p:cNvSpPr>
            <a:spLocks/>
          </p:cNvSpPr>
          <p:nvPr/>
        </p:nvSpPr>
        <p:spPr>
          <a:xfrm>
            <a:off x="495300" y="5848350"/>
            <a:ext cx="1043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B/C 的差异应来自残差信息，而不是 C 多跑了一些候选。</a:t>
            </a:r>
          </a:p>
        </p:txBody>
      </p:sp>
      <p:sp>
        <p:nvSpPr>
          <p:cNvPr id="88" name="textbox_87">
            <a:extLst>
              <a:ext uri="{FF2B5EF4-FFF2-40B4-BE49-F238E27FC236}">
                <a16:creationId xmlns:a16="http://schemas.microsoft.com/office/drawing/2014/main" id="{D4561222-146E-4E15-9861-BBFCCD6979A4}"/>
              </a:ext>
            </a:extLst>
          </p:cNvPr>
          <p:cNvSpPr>
            <a:spLocks/>
          </p:cNvSpPr>
          <p:nvPr/>
        </p:nvSpPr>
        <p:spPr>
          <a:xfrm>
            <a:off x="371475" y="6219825"/>
            <a:ext cx="10287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路线 V1.0 · 视觉测试稿 · 研究设计待验证</a:t>
            </a:r>
          </a:p>
        </p:txBody>
      </p:sp>
      <p:sp>
        <p:nvSpPr>
          <p:cNvPr id="89" name="textbox_88">
            <a:extLst>
              <a:ext uri="{FF2B5EF4-FFF2-40B4-BE49-F238E27FC236}">
                <a16:creationId xmlns:a16="http://schemas.microsoft.com/office/drawing/2014/main" id="{01A3EC53-F3C3-4C6B-A289-B8191FB4B058}"/>
              </a:ext>
            </a:extLst>
          </p:cNvPr>
          <p:cNvSpPr>
            <a:spLocks/>
          </p:cNvSpPr>
          <p:nvPr/>
        </p:nvSpPr>
        <p:spPr>
          <a:xfrm>
            <a:off x="10620375" y="619125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92778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_1">
            <a:extLst>
              <a:ext uri="{FF2B5EF4-FFF2-40B4-BE49-F238E27FC236}">
                <a16:creationId xmlns:a16="http://schemas.microsoft.com/office/drawing/2014/main" id="{2DF02629-9A1C-4FD9-A1B2-450016D2CC70}"/>
              </a:ext>
            </a:extLst>
          </p:cNvPr>
          <p:cNvSpPr>
            <a:spLocks/>
          </p:cNvSpPr>
          <p:nvPr/>
        </p:nvSpPr>
        <p:spPr>
          <a:xfrm>
            <a:off x="3714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01  研究问题</a:t>
            </a:r>
          </a:p>
        </p:txBody>
      </p:sp>
      <p:sp>
        <p:nvSpPr>
          <p:cNvPr id="2" name="textbox_2">
            <a:extLst>
              <a:ext uri="{FF2B5EF4-FFF2-40B4-BE49-F238E27FC236}">
                <a16:creationId xmlns:a16="http://schemas.microsoft.com/office/drawing/2014/main" id="{128E27CC-DD74-4D84-9E09-AE90AA117509}"/>
              </a:ext>
            </a:extLst>
          </p:cNvPr>
          <p:cNvSpPr>
            <a:spLocks/>
          </p:cNvSpPr>
          <p:nvPr/>
        </p:nvSpPr>
        <p:spPr>
          <a:xfrm>
            <a:off x="251460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02  对象与基础</a:t>
            </a:r>
          </a:p>
        </p:txBody>
      </p:sp>
      <p:sp>
        <p:nvSpPr>
          <p:cNvPr id="3" name="textbox_3">
            <a:extLst>
              <a:ext uri="{FF2B5EF4-FFF2-40B4-BE49-F238E27FC236}">
                <a16:creationId xmlns:a16="http://schemas.microsoft.com/office/drawing/2014/main" id="{EA6B55DC-09E2-415C-9AE7-813904385239}"/>
              </a:ext>
            </a:extLst>
          </p:cNvPr>
          <p:cNvSpPr>
            <a:spLocks/>
          </p:cNvSpPr>
          <p:nvPr/>
        </p:nvSpPr>
        <p:spPr>
          <a:xfrm>
            <a:off x="465772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03  方法与机制</a:t>
            </a:r>
          </a:p>
        </p:txBody>
      </p:sp>
      <p:sp>
        <p:nvSpPr>
          <p:cNvPr id="4" name="rect_4">
            <a:extLst>
              <a:ext uri="{FF2B5EF4-FFF2-40B4-BE49-F238E27FC236}">
                <a16:creationId xmlns:a16="http://schemas.microsoft.com/office/drawing/2014/main" id="{D764D153-BA45-42A7-AEA4-E3C2A320F35E}"/>
              </a:ext>
            </a:extLst>
          </p:cNvPr>
          <p:cNvSpPr>
            <a:spLocks/>
          </p:cNvSpPr>
          <p:nvPr/>
        </p:nvSpPr>
        <p:spPr>
          <a:xfrm>
            <a:off x="4657725" y="447675"/>
            <a:ext cx="1238250" cy="2857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5" name="textbox_5">
            <a:extLst>
              <a:ext uri="{FF2B5EF4-FFF2-40B4-BE49-F238E27FC236}">
                <a16:creationId xmlns:a16="http://schemas.microsoft.com/office/drawing/2014/main" id="{FD6CD669-58A7-4450-AEA8-CA18FBD6ABDC}"/>
              </a:ext>
            </a:extLst>
          </p:cNvPr>
          <p:cNvSpPr>
            <a:spLocks/>
          </p:cNvSpPr>
          <p:nvPr/>
        </p:nvSpPr>
        <p:spPr>
          <a:xfrm>
            <a:off x="680085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04  实验与证据</a:t>
            </a:r>
          </a:p>
        </p:txBody>
      </p:sp>
      <p:sp>
        <p:nvSpPr>
          <p:cNvPr id="6" name="textbox_6">
            <a:extLst>
              <a:ext uri="{FF2B5EF4-FFF2-40B4-BE49-F238E27FC236}">
                <a16:creationId xmlns:a16="http://schemas.microsoft.com/office/drawing/2014/main" id="{66F197F7-F04A-4D3E-AD6B-DEF34E44342E}"/>
              </a:ext>
            </a:extLst>
          </p:cNvPr>
          <p:cNvSpPr>
            <a:spLocks/>
          </p:cNvSpPr>
          <p:nvPr/>
        </p:nvSpPr>
        <p:spPr>
          <a:xfrm>
            <a:off x="89439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05  实施与产出</a:t>
            </a:r>
          </a:p>
        </p:txBody>
      </p:sp>
      <p:sp>
        <p:nvSpPr>
          <p:cNvPr id="7" name="line_7">
            <a:extLst>
              <a:ext uri="{FF2B5EF4-FFF2-40B4-BE49-F238E27FC236}">
                <a16:creationId xmlns:a16="http://schemas.microsoft.com/office/drawing/2014/main" id="{D04CB31F-BB17-4D74-9B93-0D614CE79FE2}"/>
              </a:ext>
            </a:extLst>
          </p:cNvPr>
          <p:cNvSpPr>
            <a:spLocks/>
          </p:cNvSpPr>
          <p:nvPr/>
        </p:nvSpPr>
        <p:spPr>
          <a:xfrm>
            <a:off x="371475" y="476250"/>
            <a:ext cx="10677525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8" name="slide_title">
            <a:extLst>
              <a:ext uri="{FF2B5EF4-FFF2-40B4-BE49-F238E27FC236}">
                <a16:creationId xmlns:a16="http://schemas.microsoft.com/office/drawing/2014/main" id="{EECDA4A3-2FAB-49EF-B5D8-DDC7E7D220A6}"/>
              </a:ext>
            </a:extLst>
          </p:cNvPr>
          <p:cNvSpPr>
            <a:spLocks/>
          </p:cNvSpPr>
          <p:nvPr/>
        </p:nvSpPr>
        <p:spPr>
          <a:xfrm>
            <a:off x="361950" y="685800"/>
            <a:ext cx="10706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defPPr>
          </a:lstStyle>
          <a:p>
            <a: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pP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11</a:t>
            </a:r>
            <a:r>
              <a:rPr sz="2175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  </a:t>
            </a: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从静态排序到序贯决策：状态随实验更新</a:t>
            </a:r>
          </a:p>
        </p:txBody>
      </p:sp>
      <p:sp>
        <p:nvSpPr>
          <p:cNvPr id="9" name="textbox_8">
            <a:extLst>
              <a:ext uri="{FF2B5EF4-FFF2-40B4-BE49-F238E27FC236}">
                <a16:creationId xmlns:a16="http://schemas.microsoft.com/office/drawing/2014/main" id="{FB6808CA-7737-415F-98C6-788E206F5792}"/>
              </a:ext>
            </a:extLst>
          </p:cNvPr>
          <p:cNvSpPr>
            <a:spLocks/>
          </p:cNvSpPr>
          <p:nvPr/>
        </p:nvSpPr>
        <p:spPr>
          <a:xfrm>
            <a:off x="381000" y="1133475"/>
            <a:ext cx="10668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拟议策略状态 sₜ = (任务特征 z，执行历史 Hₜ，残差摘要 rₜ，剩余预算 Bₜ)。</a:t>
            </a:r>
          </a:p>
        </p:txBody>
      </p:sp>
      <p:grpSp>
        <p:nvGrpSpPr>
          <p:cNvPr id="94" name="sequence_task">
            <a:extLst>
              <a:ext uri="{FF2B5EF4-FFF2-40B4-BE49-F238E27FC236}">
                <a16:creationId xmlns:a16="http://schemas.microsoft.com/office/drawing/2014/main" id="{7660A5C7-2932-6523-AF5B-F10989DCCACA}"/>
              </a:ext>
            </a:extLst>
          </p:cNvPr>
          <p:cNvGrpSpPr/>
          <p:nvPr/>
        </p:nvGrpSpPr>
        <p:grpSpPr>
          <a:xfrm>
            <a:off x="400050" y="1685925"/>
            <a:ext cx="10610850" cy="4029075"/>
            <a:chOff x="400050" y="1685925"/>
            <a:chExt cx="10610850" cy="4029075"/>
          </a:xfrm>
        </p:grpSpPr>
        <p:sp>
          <p:nvSpPr>
            <p:cNvPr id="10" name="roundRect_9">
              <a:extLst>
                <a:ext uri="{FF2B5EF4-FFF2-40B4-BE49-F238E27FC236}">
                  <a16:creationId xmlns:a16="http://schemas.microsoft.com/office/drawing/2014/main" id="{B709DC69-8CA6-4456-AD64-8958E26A9270}"/>
                </a:ext>
              </a:extLst>
            </p:cNvPr>
            <p:cNvSpPr>
              <a:spLocks/>
            </p:cNvSpPr>
            <p:nvPr/>
          </p:nvSpPr>
          <p:spPr>
            <a:xfrm>
              <a:off x="400050" y="1685925"/>
              <a:ext cx="1857375" cy="1581150"/>
            </a:xfrm>
            <a:prstGeom prst="roundRect">
              <a:avLst>
                <a:gd name="adj" fmla="val 5422"/>
              </a:avLst>
            </a:prstGeom>
            <a:solidFill>
              <a:srgbClr val="EEF0F7"/>
            </a:solidFill>
            <a:ln w="9525">
              <a:solidFill>
                <a:srgbClr val="D8D9E3"/>
              </a:solidFill>
              <a:prstDash val="solid"/>
            </a:ln>
          </p:spPr>
        </p:sp>
        <p:sp>
          <p:nvSpPr>
            <p:cNvPr id="11" name="textbox_10">
              <a:extLst>
                <a:ext uri="{FF2B5EF4-FFF2-40B4-BE49-F238E27FC236}">
                  <a16:creationId xmlns:a16="http://schemas.microsoft.com/office/drawing/2014/main" id="{95AB2B63-5E95-4D18-98E4-CD755D443E7D}"/>
                </a:ext>
              </a:extLst>
            </p:cNvPr>
            <p:cNvSpPr>
              <a:spLocks/>
            </p:cNvSpPr>
            <p:nvPr/>
          </p:nvSpPr>
          <p:spPr>
            <a:xfrm>
              <a:off x="552450" y="1809750"/>
              <a:ext cx="1552575" cy="2762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5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5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当前预测任务</a:t>
              </a:r>
            </a:p>
          </p:txBody>
        </p:sp>
        <p:sp>
          <p:nvSpPr>
            <p:cNvPr id="12" name="trace_11">
              <a:extLst>
                <a:ext uri="{FF2B5EF4-FFF2-40B4-BE49-F238E27FC236}">
                  <a16:creationId xmlns:a16="http://schemas.microsoft.com/office/drawing/2014/main" id="{F2A815E8-6A14-472B-B2BF-BD5A8CEF0808}"/>
                </a:ext>
              </a:extLst>
            </p:cNvPr>
            <p:cNvSpPr>
              <a:spLocks/>
            </p:cNvSpPr>
            <p:nvPr/>
          </p:nvSpPr>
          <p:spPr>
            <a:xfrm>
              <a:off x="561975" y="2304967"/>
              <a:ext cx="1524000" cy="256005"/>
            </a:xfrm>
            <a:custGeom>
              <a:avLst/>
              <a:gdLst/>
              <a:ahLst/>
              <a:cxnLst/>
              <a:rect l="0" t="0" r="0" b="0"/>
              <a:pathLst>
                <a:path w="1524000" h="256005">
                  <a:moveTo>
                    <a:pt x="0" y="169628"/>
                  </a:moveTo>
                  <a:lnTo>
                    <a:pt x="37171" y="138458"/>
                  </a:lnTo>
                  <a:lnTo>
                    <a:pt x="74341" y="230217"/>
                  </a:lnTo>
                  <a:lnTo>
                    <a:pt x="111512" y="206770"/>
                  </a:lnTo>
                  <a:lnTo>
                    <a:pt x="148683" y="140394"/>
                  </a:lnTo>
                  <a:lnTo>
                    <a:pt x="185854" y="151573"/>
                  </a:lnTo>
                  <a:lnTo>
                    <a:pt x="223024" y="14479"/>
                  </a:lnTo>
                  <a:lnTo>
                    <a:pt x="260195" y="73061"/>
                  </a:lnTo>
                  <a:lnTo>
                    <a:pt x="297366" y="33076"/>
                  </a:lnTo>
                  <a:lnTo>
                    <a:pt x="334537" y="87049"/>
                  </a:lnTo>
                  <a:lnTo>
                    <a:pt x="371707" y="180785"/>
                  </a:lnTo>
                  <a:lnTo>
                    <a:pt x="408878" y="153212"/>
                  </a:lnTo>
                  <a:lnTo>
                    <a:pt x="446049" y="256005"/>
                  </a:lnTo>
                  <a:lnTo>
                    <a:pt x="483220" y="156222"/>
                  </a:lnTo>
                  <a:lnTo>
                    <a:pt x="520390" y="152277"/>
                  </a:lnTo>
                  <a:lnTo>
                    <a:pt x="557561" y="96005"/>
                  </a:lnTo>
                  <a:lnTo>
                    <a:pt x="594732" y="11298"/>
                  </a:lnTo>
                  <a:lnTo>
                    <a:pt x="631902" y="83116"/>
                  </a:lnTo>
                  <a:lnTo>
                    <a:pt x="669073" y="25031"/>
                  </a:lnTo>
                  <a:lnTo>
                    <a:pt x="706244" y="151236"/>
                  </a:lnTo>
                  <a:lnTo>
                    <a:pt x="743415" y="168339"/>
                  </a:lnTo>
                  <a:lnTo>
                    <a:pt x="780585" y="191325"/>
                  </a:lnTo>
                  <a:lnTo>
                    <a:pt x="817756" y="241554"/>
                  </a:lnTo>
                  <a:lnTo>
                    <a:pt x="854927" y="122609"/>
                  </a:lnTo>
                  <a:lnTo>
                    <a:pt x="892098" y="153893"/>
                  </a:lnTo>
                  <a:lnTo>
                    <a:pt x="929268" y="35819"/>
                  </a:lnTo>
                  <a:lnTo>
                    <a:pt x="966439" y="39443"/>
                  </a:lnTo>
                  <a:lnTo>
                    <a:pt x="1003610" y="70151"/>
                  </a:lnTo>
                  <a:lnTo>
                    <a:pt x="1040780" y="53121"/>
                  </a:lnTo>
                  <a:lnTo>
                    <a:pt x="1077951" y="194723"/>
                  </a:lnTo>
                  <a:lnTo>
                    <a:pt x="1115122" y="155991"/>
                  </a:lnTo>
                  <a:lnTo>
                    <a:pt x="1152293" y="232961"/>
                  </a:lnTo>
                  <a:lnTo>
                    <a:pt x="1189463" y="193336"/>
                  </a:lnTo>
                  <a:lnTo>
                    <a:pt x="1226634" y="116693"/>
                  </a:lnTo>
                  <a:lnTo>
                    <a:pt x="1263805" y="127337"/>
                  </a:lnTo>
                  <a:lnTo>
                    <a:pt x="1300976" y="0"/>
                  </a:lnTo>
                  <a:lnTo>
                    <a:pt x="1338146" y="74449"/>
                  </a:lnTo>
                  <a:lnTo>
                    <a:pt x="1375317" y="49587"/>
                  </a:lnTo>
                  <a:lnTo>
                    <a:pt x="1412488" y="111997"/>
                  </a:lnTo>
                  <a:lnTo>
                    <a:pt x="1449659" y="203426"/>
                  </a:lnTo>
                  <a:lnTo>
                    <a:pt x="1486829" y="164241"/>
                  </a:lnTo>
                  <a:lnTo>
                    <a:pt x="1524000" y="250705"/>
                  </a:lnTo>
                </a:path>
              </a:pathLst>
            </a:custGeom>
            <a:noFill/>
            <a:ln w="13335">
              <a:solidFill>
                <a:srgbClr val="7884B4"/>
              </a:solidFill>
            </a:ln>
          </p:spPr>
        </p:sp>
        <p:sp>
          <p:nvSpPr>
            <p:cNvPr id="13" name="textbox_12">
              <a:extLst>
                <a:ext uri="{FF2B5EF4-FFF2-40B4-BE49-F238E27FC236}">
                  <a16:creationId xmlns:a16="http://schemas.microsoft.com/office/drawing/2014/main" id="{FBD7D5E9-C36B-4103-B0E4-F143A7DF8101}"/>
                </a:ext>
              </a:extLst>
            </p:cNvPr>
            <p:cNvSpPr>
              <a:spLocks/>
            </p:cNvSpPr>
            <p:nvPr/>
          </p:nvSpPr>
          <p:spPr>
            <a:xfrm>
              <a:off x="552450" y="2790825"/>
              <a:ext cx="154305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05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05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05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固定训练特征 z</a:t>
              </a:r>
            </a:p>
            <a:p>
              <a:pPr algn="l">
                <a:defRPr sz="105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05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输入长 / 预测跨度</a:t>
              </a:r>
            </a:p>
          </p:txBody>
        </p:sp>
        <p:sp>
          <p:nvSpPr>
            <p:cNvPr id="14" name="roundRect_13">
              <a:extLst>
                <a:ext uri="{FF2B5EF4-FFF2-40B4-BE49-F238E27FC236}">
                  <a16:creationId xmlns:a16="http://schemas.microsoft.com/office/drawing/2014/main" id="{16F7B2E4-A451-411B-A950-6171FF53A2CC}"/>
                </a:ext>
              </a:extLst>
            </p:cNvPr>
            <p:cNvSpPr>
              <a:spLocks/>
            </p:cNvSpPr>
            <p:nvPr/>
          </p:nvSpPr>
          <p:spPr>
            <a:xfrm>
              <a:off x="400050" y="5476875"/>
              <a:ext cx="10610850" cy="238125"/>
            </a:xfrm>
            <a:prstGeom prst="roundRect">
              <a:avLst>
                <a:gd name="adj" fmla="val 36000"/>
              </a:avLst>
            </a:prstGeom>
            <a:solidFill>
              <a:srgbClr val="EEF0F7"/>
            </a:solidFill>
            <a:ln w="9525">
              <a:solidFill>
                <a:srgbClr val="D8D9E3"/>
              </a:solidFill>
              <a:prstDash val="solid"/>
            </a:ln>
          </p:spPr>
        </p:sp>
        <p:sp>
          <p:nvSpPr>
            <p:cNvPr id="15" name="textbox_14">
              <a:extLst>
                <a:ext uri="{FF2B5EF4-FFF2-40B4-BE49-F238E27FC236}">
                  <a16:creationId xmlns:a16="http://schemas.microsoft.com/office/drawing/2014/main" id="{62A2AECD-6D6E-414D-B656-4628817CFD41}"/>
                </a:ext>
              </a:extLst>
            </p:cNvPr>
            <p:cNvSpPr>
              <a:spLocks/>
            </p:cNvSpPr>
            <p:nvPr/>
          </p:nvSpPr>
          <p:spPr>
            <a:xfrm>
              <a:off x="476250" y="5505450"/>
              <a:ext cx="1045845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当前可见状态：任务 z  |  已执行历史 Hₜ  |  残差摘要 rₜ  |  剩余预算 Bₜ</a:t>
              </a:r>
            </a:p>
          </p:txBody>
        </p:sp>
      </p:grpSp>
      <p:grpSp>
        <p:nvGrpSpPr>
          <p:cNvPr id="95" name="sequence_rank">
            <a:extLst>
              <a:ext uri="{FF2B5EF4-FFF2-40B4-BE49-F238E27FC236}">
                <a16:creationId xmlns:a16="http://schemas.microsoft.com/office/drawing/2014/main" id="{C5A3ECC2-094C-977F-EF83-52CF3FC2EE5B}"/>
              </a:ext>
            </a:extLst>
          </p:cNvPr>
          <p:cNvGrpSpPr/>
          <p:nvPr/>
        </p:nvGrpSpPr>
        <p:grpSpPr>
          <a:xfrm>
            <a:off x="2257425" y="1685925"/>
            <a:ext cx="3981450" cy="1581150"/>
            <a:chOff x="2257425" y="1685925"/>
            <a:chExt cx="3981450" cy="1581150"/>
          </a:xfrm>
        </p:grpSpPr>
        <p:sp>
          <p:nvSpPr>
            <p:cNvPr id="16" name="native_curve_15">
              <a:extLst>
                <a:ext uri="{FF2B5EF4-FFF2-40B4-BE49-F238E27FC236}">
                  <a16:creationId xmlns:a16="http://schemas.microsoft.com/office/drawing/2014/main" id="{824C72DD-77AE-4600-BAAB-95C836EB6660}"/>
                </a:ext>
              </a:extLst>
            </p:cNvPr>
            <p:cNvSpPr>
              <a:spLocks/>
            </p:cNvSpPr>
            <p:nvPr/>
          </p:nvSpPr>
          <p:spPr>
            <a:xfrm>
              <a:off x="2257425" y="2466975"/>
              <a:ext cx="742950" cy="953"/>
            </a:xfrm>
            <a:custGeom>
              <a:avLst/>
              <a:gdLst/>
              <a:ahLst/>
              <a:cxnLst/>
              <a:rect l="0" t="0" r="0" b="0"/>
              <a:pathLst>
                <a:path w="742950" h="953">
                  <a:moveTo>
                    <a:pt x="0" y="0"/>
                  </a:moveTo>
                  <a:lnTo>
                    <a:pt x="742950" y="0"/>
                  </a:lnTo>
                </a:path>
              </a:pathLst>
            </a:custGeom>
            <a:noFill/>
            <a:ln w="20955">
              <a:solidFill>
                <a:srgbClr val="38385B"/>
              </a:solidFill>
              <a:prstDash val="solid"/>
            </a:ln>
          </p:spPr>
        </p:sp>
        <p:sp>
          <p:nvSpPr>
            <p:cNvPr id="17" name="arrow_tip_16">
              <a:extLst>
                <a:ext uri="{FF2B5EF4-FFF2-40B4-BE49-F238E27FC236}">
                  <a16:creationId xmlns:a16="http://schemas.microsoft.com/office/drawing/2014/main" id="{23F6EA1C-A498-4EA0-9F23-6F3DF188C1DD}"/>
                </a:ext>
              </a:extLst>
            </p:cNvPr>
            <p:cNvSpPr>
              <a:spLocks/>
            </p:cNvSpPr>
            <p:nvPr/>
          </p:nvSpPr>
          <p:spPr>
            <a:xfrm>
              <a:off x="2933700" y="2432685"/>
              <a:ext cx="66675" cy="68580"/>
            </a:xfrm>
            <a:custGeom>
              <a:avLst/>
              <a:gdLst/>
              <a:ahLst/>
              <a:cxnLst/>
              <a:rect l="0" t="0" r="0" b="0"/>
              <a:pathLst>
                <a:path w="66675" h="68580">
                  <a:moveTo>
                    <a:pt x="66675" y="34290"/>
                  </a:moveTo>
                  <a:lnTo>
                    <a:pt x="0" y="68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385B"/>
            </a:solidFill>
            <a:ln w="0">
              <a:noFill/>
            </a:ln>
          </p:spPr>
        </p:sp>
        <p:sp>
          <p:nvSpPr>
            <p:cNvPr id="18" name="roundRect_17">
              <a:extLst>
                <a:ext uri="{FF2B5EF4-FFF2-40B4-BE49-F238E27FC236}">
                  <a16:creationId xmlns:a16="http://schemas.microsoft.com/office/drawing/2014/main" id="{CBB8E234-01FE-4E88-B558-6ED609056543}"/>
                </a:ext>
              </a:extLst>
            </p:cNvPr>
            <p:cNvSpPr>
              <a:spLocks/>
            </p:cNvSpPr>
            <p:nvPr/>
          </p:nvSpPr>
          <p:spPr>
            <a:xfrm>
              <a:off x="3000375" y="1685925"/>
              <a:ext cx="3238500" cy="1581150"/>
            </a:xfrm>
            <a:prstGeom prst="roundRect">
              <a:avLst>
                <a:gd name="adj" fmla="val 5422"/>
              </a:avLst>
            </a:prstGeom>
            <a:solidFill>
              <a:srgbClr val="ECECF5"/>
            </a:solidFill>
            <a:ln w="9525">
              <a:solidFill>
                <a:srgbClr val="A9B1CD"/>
              </a:solidFill>
              <a:prstDash val="solid"/>
            </a:ln>
          </p:spPr>
        </p:sp>
        <p:sp>
          <p:nvSpPr>
            <p:cNvPr id="19" name="textbox_18">
              <a:extLst>
                <a:ext uri="{FF2B5EF4-FFF2-40B4-BE49-F238E27FC236}">
                  <a16:creationId xmlns:a16="http://schemas.microsoft.com/office/drawing/2014/main" id="{64C1EEA8-6B18-434E-ABDF-C635E4828A6B}"/>
                </a:ext>
              </a:extLst>
            </p:cNvPr>
            <p:cNvSpPr>
              <a:spLocks/>
            </p:cNvSpPr>
            <p:nvPr/>
          </p:nvSpPr>
          <p:spPr>
            <a:xfrm>
              <a:off x="3152775" y="1809750"/>
              <a:ext cx="2924175" cy="2762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6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6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01  估计并排序</a:t>
              </a:r>
            </a:p>
          </p:txBody>
        </p:sp>
        <p:sp>
          <p:nvSpPr>
            <p:cNvPr id="20" name="textbox_19">
              <a:extLst>
                <a:ext uri="{FF2B5EF4-FFF2-40B4-BE49-F238E27FC236}">
                  <a16:creationId xmlns:a16="http://schemas.microsoft.com/office/drawing/2014/main" id="{FB9B249D-37BB-4B6B-9F4E-C905E197BB08}"/>
                </a:ext>
              </a:extLst>
            </p:cNvPr>
            <p:cNvSpPr>
              <a:spLocks/>
            </p:cNvSpPr>
            <p:nvPr/>
          </p:nvSpPr>
          <p:spPr>
            <a:xfrm>
              <a:off x="3200400" y="2257425"/>
              <a:ext cx="17145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1</a:t>
              </a:r>
            </a:p>
          </p:txBody>
        </p:sp>
        <p:sp>
          <p:nvSpPr>
            <p:cNvPr id="21" name="roundRect_20">
              <a:extLst>
                <a:ext uri="{FF2B5EF4-FFF2-40B4-BE49-F238E27FC236}">
                  <a16:creationId xmlns:a16="http://schemas.microsoft.com/office/drawing/2014/main" id="{F8EE5CAD-7F66-4004-BE2B-C9DA12A3D346}"/>
                </a:ext>
              </a:extLst>
            </p:cNvPr>
            <p:cNvSpPr>
              <a:spLocks/>
            </p:cNvSpPr>
            <p:nvPr/>
          </p:nvSpPr>
          <p:spPr>
            <a:xfrm>
              <a:off x="3429000" y="2295525"/>
              <a:ext cx="785813" cy="66675"/>
            </a:xfrm>
            <a:prstGeom prst="roundRect">
              <a:avLst>
                <a:gd name="adj" fmla="val 50000"/>
              </a:avLst>
            </a:prstGeom>
            <a:solidFill>
              <a:srgbClr val="38385B"/>
            </a:solidFill>
            <a:ln w="0">
              <a:noFill/>
              <a:prstDash val="solid"/>
            </a:ln>
          </p:spPr>
        </p:sp>
        <p:sp>
          <p:nvSpPr>
            <p:cNvPr id="22" name="textbox_21">
              <a:extLst>
                <a:ext uri="{FF2B5EF4-FFF2-40B4-BE49-F238E27FC236}">
                  <a16:creationId xmlns:a16="http://schemas.microsoft.com/office/drawing/2014/main" id="{92F56E49-A218-482A-B7DE-D277DE079B46}"/>
                </a:ext>
              </a:extLst>
            </p:cNvPr>
            <p:cNvSpPr>
              <a:spLocks/>
            </p:cNvSpPr>
            <p:nvPr/>
          </p:nvSpPr>
          <p:spPr>
            <a:xfrm>
              <a:off x="3200400" y="2492375"/>
              <a:ext cx="17145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2</a:t>
              </a:r>
            </a:p>
          </p:txBody>
        </p:sp>
        <p:sp>
          <p:nvSpPr>
            <p:cNvPr id="23" name="roundRect_22">
              <a:extLst>
                <a:ext uri="{FF2B5EF4-FFF2-40B4-BE49-F238E27FC236}">
                  <a16:creationId xmlns:a16="http://schemas.microsoft.com/office/drawing/2014/main" id="{6FDCB0FD-36B9-4E32-8038-5450B50C4D74}"/>
                </a:ext>
              </a:extLst>
            </p:cNvPr>
            <p:cNvSpPr>
              <a:spLocks/>
            </p:cNvSpPr>
            <p:nvPr/>
          </p:nvSpPr>
          <p:spPr>
            <a:xfrm>
              <a:off x="3429000" y="2530475"/>
              <a:ext cx="619125" cy="66675"/>
            </a:xfrm>
            <a:prstGeom prst="roundRect">
              <a:avLst>
                <a:gd name="adj" fmla="val 50000"/>
              </a:avLst>
            </a:prstGeom>
            <a:solidFill>
              <a:srgbClr val="B7C1DD"/>
            </a:solidFill>
            <a:ln w="0">
              <a:noFill/>
              <a:prstDash val="solid"/>
            </a:ln>
          </p:spPr>
        </p:sp>
        <p:sp>
          <p:nvSpPr>
            <p:cNvPr id="24" name="textbox_23">
              <a:extLst>
                <a:ext uri="{FF2B5EF4-FFF2-40B4-BE49-F238E27FC236}">
                  <a16:creationId xmlns:a16="http://schemas.microsoft.com/office/drawing/2014/main" id="{21BA27B2-7736-4166-AB08-10349B2FCAF1}"/>
                </a:ext>
              </a:extLst>
            </p:cNvPr>
            <p:cNvSpPr>
              <a:spLocks/>
            </p:cNvSpPr>
            <p:nvPr/>
          </p:nvSpPr>
          <p:spPr>
            <a:xfrm>
              <a:off x="3200400" y="2727325"/>
              <a:ext cx="171450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3</a:t>
              </a:r>
            </a:p>
          </p:txBody>
        </p:sp>
        <p:sp>
          <p:nvSpPr>
            <p:cNvPr id="25" name="roundRect_24">
              <a:extLst>
                <a:ext uri="{FF2B5EF4-FFF2-40B4-BE49-F238E27FC236}">
                  <a16:creationId xmlns:a16="http://schemas.microsoft.com/office/drawing/2014/main" id="{B89D93DF-F12E-4C4F-A3F1-79EEF281019E}"/>
                </a:ext>
              </a:extLst>
            </p:cNvPr>
            <p:cNvSpPr>
              <a:spLocks/>
            </p:cNvSpPr>
            <p:nvPr/>
          </p:nvSpPr>
          <p:spPr>
            <a:xfrm>
              <a:off x="3429000" y="2765425"/>
              <a:ext cx="452438" cy="66675"/>
            </a:xfrm>
            <a:prstGeom prst="roundRect">
              <a:avLst>
                <a:gd name="adj" fmla="val 50000"/>
              </a:avLst>
            </a:prstGeom>
            <a:solidFill>
              <a:srgbClr val="B7C1DD"/>
            </a:solidFill>
            <a:ln w="0">
              <a:noFill/>
              <a:prstDash val="solid"/>
            </a:ln>
          </p:spPr>
        </p:sp>
        <p:sp>
          <p:nvSpPr>
            <p:cNvPr id="26" name="textbox_25">
              <a:extLst>
                <a:ext uri="{FF2B5EF4-FFF2-40B4-BE49-F238E27FC236}">
                  <a16:creationId xmlns:a16="http://schemas.microsoft.com/office/drawing/2014/main" id="{EA78240B-1152-4E32-9CA6-7AA4A1037380}"/>
                </a:ext>
              </a:extLst>
            </p:cNvPr>
            <p:cNvSpPr>
              <a:spLocks/>
            </p:cNvSpPr>
            <p:nvPr/>
          </p:nvSpPr>
          <p:spPr>
            <a:xfrm>
              <a:off x="4667250" y="2247900"/>
              <a:ext cx="1419225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未执行候选</a:t>
              </a:r>
            </a:p>
            <a:p>
              <a:pPr algn="l">
                <a:def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模型 + 配置</a:t>
              </a:r>
            </a:p>
            <a:p>
              <a:pPr algn="l">
                <a:def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预期表现与成本</a:t>
              </a:r>
            </a:p>
          </p:txBody>
        </p:sp>
        <p:sp>
          <p:nvSpPr>
            <p:cNvPr id="27" name="textbox_26">
              <a:extLst>
                <a:ext uri="{FF2B5EF4-FFF2-40B4-BE49-F238E27FC236}">
                  <a16:creationId xmlns:a16="http://schemas.microsoft.com/office/drawing/2014/main" id="{0B8D649A-333D-4107-898E-6F753A4C6244}"/>
                </a:ext>
              </a:extLst>
            </p:cNvPr>
            <p:cNvSpPr>
              <a:spLocks/>
            </p:cNvSpPr>
            <p:nvPr/>
          </p:nvSpPr>
          <p:spPr>
            <a:xfrm>
              <a:off x="3152775" y="3028950"/>
              <a:ext cx="2924175" cy="190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8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8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8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排序图示不表示实际实验结果</a:t>
              </a:r>
            </a:p>
          </p:txBody>
        </p:sp>
      </p:grpSp>
      <p:grpSp>
        <p:nvGrpSpPr>
          <p:cNvPr id="96" name="sequence_run">
            <a:extLst>
              <a:ext uri="{FF2B5EF4-FFF2-40B4-BE49-F238E27FC236}">
                <a16:creationId xmlns:a16="http://schemas.microsoft.com/office/drawing/2014/main" id="{0738931F-61CF-1971-E182-904C70419A91}"/>
              </a:ext>
            </a:extLst>
          </p:cNvPr>
          <p:cNvGrpSpPr/>
          <p:nvPr/>
        </p:nvGrpSpPr>
        <p:grpSpPr>
          <a:xfrm>
            <a:off x="6238875" y="1685925"/>
            <a:ext cx="4772025" cy="1581150"/>
            <a:chOff x="6238875" y="1685925"/>
            <a:chExt cx="4772025" cy="1581150"/>
          </a:xfrm>
        </p:grpSpPr>
        <p:sp>
          <p:nvSpPr>
            <p:cNvPr id="28" name="native_curve_27">
              <a:extLst>
                <a:ext uri="{FF2B5EF4-FFF2-40B4-BE49-F238E27FC236}">
                  <a16:creationId xmlns:a16="http://schemas.microsoft.com/office/drawing/2014/main" id="{03647C69-F48C-4E10-A256-D17BAAB37C0F}"/>
                </a:ext>
              </a:extLst>
            </p:cNvPr>
            <p:cNvSpPr>
              <a:spLocks/>
            </p:cNvSpPr>
            <p:nvPr/>
          </p:nvSpPr>
          <p:spPr>
            <a:xfrm>
              <a:off x="6238875" y="2466975"/>
              <a:ext cx="914400" cy="953"/>
            </a:xfrm>
            <a:custGeom>
              <a:avLst/>
              <a:gdLst/>
              <a:ahLst/>
              <a:cxnLst/>
              <a:rect l="0" t="0" r="0" b="0"/>
              <a:pathLst>
                <a:path w="914400" h="953">
                  <a:moveTo>
                    <a:pt x="0" y="0"/>
                  </a:moveTo>
                  <a:lnTo>
                    <a:pt x="914400" y="0"/>
                  </a:lnTo>
                </a:path>
              </a:pathLst>
            </a:custGeom>
            <a:noFill/>
            <a:ln w="20955">
              <a:solidFill>
                <a:srgbClr val="38385B"/>
              </a:solidFill>
              <a:prstDash val="solid"/>
            </a:ln>
          </p:spPr>
        </p:sp>
        <p:sp>
          <p:nvSpPr>
            <p:cNvPr id="29" name="arrow_tip_28">
              <a:extLst>
                <a:ext uri="{FF2B5EF4-FFF2-40B4-BE49-F238E27FC236}">
                  <a16:creationId xmlns:a16="http://schemas.microsoft.com/office/drawing/2014/main" id="{56C4733C-858C-48D0-A25B-822130443ACF}"/>
                </a:ext>
              </a:extLst>
            </p:cNvPr>
            <p:cNvSpPr>
              <a:spLocks/>
            </p:cNvSpPr>
            <p:nvPr/>
          </p:nvSpPr>
          <p:spPr>
            <a:xfrm>
              <a:off x="7086600" y="2432685"/>
              <a:ext cx="66675" cy="68580"/>
            </a:xfrm>
            <a:custGeom>
              <a:avLst/>
              <a:gdLst/>
              <a:ahLst/>
              <a:cxnLst/>
              <a:rect l="0" t="0" r="0" b="0"/>
              <a:pathLst>
                <a:path w="66675" h="68580">
                  <a:moveTo>
                    <a:pt x="66675" y="34290"/>
                  </a:moveTo>
                  <a:lnTo>
                    <a:pt x="0" y="68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385B"/>
            </a:solidFill>
            <a:ln w="0">
              <a:noFill/>
            </a:ln>
          </p:spPr>
        </p:sp>
        <p:sp>
          <p:nvSpPr>
            <p:cNvPr id="30" name="roundRect_29">
              <a:extLst>
                <a:ext uri="{FF2B5EF4-FFF2-40B4-BE49-F238E27FC236}">
                  <a16:creationId xmlns:a16="http://schemas.microsoft.com/office/drawing/2014/main" id="{2456435A-4764-4024-A83F-0E645DDDD003}"/>
                </a:ext>
              </a:extLst>
            </p:cNvPr>
            <p:cNvSpPr>
              <a:spLocks/>
            </p:cNvSpPr>
            <p:nvPr/>
          </p:nvSpPr>
          <p:spPr>
            <a:xfrm>
              <a:off x="7153275" y="1685925"/>
              <a:ext cx="3857625" cy="1581150"/>
            </a:xfrm>
            <a:prstGeom prst="roundRect">
              <a:avLst>
                <a:gd name="adj" fmla="val 5422"/>
              </a:avLst>
            </a:prstGeom>
            <a:solidFill>
              <a:srgbClr val="EEF0F7"/>
            </a:solidFill>
            <a:ln w="9525">
              <a:solidFill>
                <a:srgbClr val="A9B1CD"/>
              </a:solidFill>
              <a:prstDash val="solid"/>
            </a:ln>
          </p:spPr>
        </p:sp>
        <p:sp>
          <p:nvSpPr>
            <p:cNvPr id="31" name="textbox_30">
              <a:extLst>
                <a:ext uri="{FF2B5EF4-FFF2-40B4-BE49-F238E27FC236}">
                  <a16:creationId xmlns:a16="http://schemas.microsoft.com/office/drawing/2014/main" id="{43E1F61E-1089-49FD-A9E3-D96C162153F9}"/>
                </a:ext>
              </a:extLst>
            </p:cNvPr>
            <p:cNvSpPr>
              <a:spLocks/>
            </p:cNvSpPr>
            <p:nvPr/>
          </p:nvSpPr>
          <p:spPr>
            <a:xfrm>
              <a:off x="7315200" y="1809750"/>
              <a:ext cx="3533775" cy="2762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6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6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02  执行一个候选</a:t>
              </a:r>
            </a:p>
          </p:txBody>
        </p:sp>
        <p:sp>
          <p:nvSpPr>
            <p:cNvPr id="32" name="roundRect_31">
              <a:extLst>
                <a:ext uri="{FF2B5EF4-FFF2-40B4-BE49-F238E27FC236}">
                  <a16:creationId xmlns:a16="http://schemas.microsoft.com/office/drawing/2014/main" id="{3DA7F421-708E-4E68-86EC-9B2422717D29}"/>
                </a:ext>
              </a:extLst>
            </p:cNvPr>
            <p:cNvSpPr>
              <a:spLocks/>
            </p:cNvSpPr>
            <p:nvPr/>
          </p:nvSpPr>
          <p:spPr>
            <a:xfrm>
              <a:off x="7324725" y="2276475"/>
              <a:ext cx="666750" cy="238125"/>
            </a:xfrm>
            <a:prstGeom prst="roundRect">
              <a:avLst>
                <a:gd name="adj" fmla="val 36000"/>
              </a:avLst>
            </a:prstGeom>
            <a:solidFill>
              <a:srgbClr val="EEF0F7"/>
            </a:solidFill>
            <a:ln w="9525">
              <a:solidFill>
                <a:srgbClr val="D8D9E3"/>
              </a:solidFill>
              <a:prstDash val="solid"/>
            </a:ln>
          </p:spPr>
        </p:sp>
        <p:sp>
          <p:nvSpPr>
            <p:cNvPr id="33" name="textbox_32">
              <a:extLst>
                <a:ext uri="{FF2B5EF4-FFF2-40B4-BE49-F238E27FC236}">
                  <a16:creationId xmlns:a16="http://schemas.microsoft.com/office/drawing/2014/main" id="{33FA5116-002A-4B4E-BD58-572ED67CBB29}"/>
                </a:ext>
              </a:extLst>
            </p:cNvPr>
            <p:cNvSpPr>
              <a:spLocks/>
            </p:cNvSpPr>
            <p:nvPr/>
          </p:nvSpPr>
          <p:spPr>
            <a:xfrm>
              <a:off x="7400925" y="2305050"/>
              <a:ext cx="51435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训练</a:t>
              </a:r>
            </a:p>
          </p:txBody>
        </p:sp>
        <p:sp>
          <p:nvSpPr>
            <p:cNvPr id="34" name="native_curve_33">
              <a:extLst>
                <a:ext uri="{FF2B5EF4-FFF2-40B4-BE49-F238E27FC236}">
                  <a16:creationId xmlns:a16="http://schemas.microsoft.com/office/drawing/2014/main" id="{7FE998DE-5174-4FD6-BBB2-ADFFDC0C145E}"/>
                </a:ext>
              </a:extLst>
            </p:cNvPr>
            <p:cNvSpPr>
              <a:spLocks/>
            </p:cNvSpPr>
            <p:nvPr/>
          </p:nvSpPr>
          <p:spPr>
            <a:xfrm>
              <a:off x="7991475" y="2390775"/>
              <a:ext cx="85725" cy="953"/>
            </a:xfrm>
            <a:custGeom>
              <a:avLst/>
              <a:gdLst/>
              <a:ahLst/>
              <a:cxnLst/>
              <a:rect l="0" t="0" r="0" b="0"/>
              <a:pathLst>
                <a:path w="85725" h="953">
                  <a:moveTo>
                    <a:pt x="0" y="0"/>
                  </a:moveTo>
                  <a:lnTo>
                    <a:pt x="85725" y="0"/>
                  </a:lnTo>
                </a:path>
              </a:pathLst>
            </a:custGeom>
            <a:noFill/>
            <a:ln w="11430">
              <a:solidFill>
                <a:srgbClr val="8498C4"/>
              </a:solidFill>
              <a:prstDash val="solid"/>
            </a:ln>
          </p:spPr>
        </p:sp>
        <p:sp>
          <p:nvSpPr>
            <p:cNvPr id="35" name="arrow_tip_34">
              <a:extLst>
                <a:ext uri="{FF2B5EF4-FFF2-40B4-BE49-F238E27FC236}">
                  <a16:creationId xmlns:a16="http://schemas.microsoft.com/office/drawing/2014/main" id="{EDB32788-DE74-4AFD-BA78-E7569FB26CB6}"/>
                </a:ext>
              </a:extLst>
            </p:cNvPr>
            <p:cNvSpPr>
              <a:spLocks/>
            </p:cNvSpPr>
            <p:nvPr/>
          </p:nvSpPr>
          <p:spPr>
            <a:xfrm>
              <a:off x="8010525" y="2356485"/>
              <a:ext cx="66675" cy="68580"/>
            </a:xfrm>
            <a:custGeom>
              <a:avLst/>
              <a:gdLst/>
              <a:ahLst/>
              <a:cxnLst/>
              <a:rect l="0" t="0" r="0" b="0"/>
              <a:pathLst>
                <a:path w="66675" h="68580">
                  <a:moveTo>
                    <a:pt x="66675" y="34290"/>
                  </a:moveTo>
                  <a:lnTo>
                    <a:pt x="0" y="68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98C4"/>
            </a:solidFill>
            <a:ln w="0">
              <a:noFill/>
            </a:ln>
          </p:spPr>
        </p:sp>
        <p:sp>
          <p:nvSpPr>
            <p:cNvPr id="36" name="roundRect_35">
              <a:extLst>
                <a:ext uri="{FF2B5EF4-FFF2-40B4-BE49-F238E27FC236}">
                  <a16:creationId xmlns:a16="http://schemas.microsoft.com/office/drawing/2014/main" id="{4079E3AA-362D-46A0-8CBE-D4095BD84A91}"/>
                </a:ext>
              </a:extLst>
            </p:cNvPr>
            <p:cNvSpPr>
              <a:spLocks/>
            </p:cNvSpPr>
            <p:nvPr/>
          </p:nvSpPr>
          <p:spPr>
            <a:xfrm>
              <a:off x="8086725" y="2276475"/>
              <a:ext cx="666750" cy="238125"/>
            </a:xfrm>
            <a:prstGeom prst="roundRect">
              <a:avLst>
                <a:gd name="adj" fmla="val 36000"/>
              </a:avLst>
            </a:prstGeom>
            <a:solidFill>
              <a:srgbClr val="EEF0F7"/>
            </a:solidFill>
            <a:ln w="9525">
              <a:solidFill>
                <a:srgbClr val="D8D9E3"/>
              </a:solidFill>
              <a:prstDash val="solid"/>
            </a:ln>
          </p:spPr>
        </p:sp>
        <p:sp>
          <p:nvSpPr>
            <p:cNvPr id="37" name="textbox_36">
              <a:extLst>
                <a:ext uri="{FF2B5EF4-FFF2-40B4-BE49-F238E27FC236}">
                  <a16:creationId xmlns:a16="http://schemas.microsoft.com/office/drawing/2014/main" id="{9FC0CB81-A97B-42C6-AC84-16CE4B0A4E51}"/>
                </a:ext>
              </a:extLst>
            </p:cNvPr>
            <p:cNvSpPr>
              <a:spLocks/>
            </p:cNvSpPr>
            <p:nvPr/>
          </p:nvSpPr>
          <p:spPr>
            <a:xfrm>
              <a:off x="8162925" y="2305050"/>
              <a:ext cx="51435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验证</a:t>
              </a:r>
            </a:p>
          </p:txBody>
        </p:sp>
        <p:sp>
          <p:nvSpPr>
            <p:cNvPr id="38" name="native_curve_37">
              <a:extLst>
                <a:ext uri="{FF2B5EF4-FFF2-40B4-BE49-F238E27FC236}">
                  <a16:creationId xmlns:a16="http://schemas.microsoft.com/office/drawing/2014/main" id="{CD7D75BB-45DB-42C8-9699-1B1CAE825415}"/>
                </a:ext>
              </a:extLst>
            </p:cNvPr>
            <p:cNvSpPr>
              <a:spLocks/>
            </p:cNvSpPr>
            <p:nvPr/>
          </p:nvSpPr>
          <p:spPr>
            <a:xfrm>
              <a:off x="8753475" y="2390775"/>
              <a:ext cx="85725" cy="953"/>
            </a:xfrm>
            <a:custGeom>
              <a:avLst/>
              <a:gdLst/>
              <a:ahLst/>
              <a:cxnLst/>
              <a:rect l="0" t="0" r="0" b="0"/>
              <a:pathLst>
                <a:path w="85725" h="953">
                  <a:moveTo>
                    <a:pt x="0" y="0"/>
                  </a:moveTo>
                  <a:lnTo>
                    <a:pt x="85725" y="0"/>
                  </a:lnTo>
                </a:path>
              </a:pathLst>
            </a:custGeom>
            <a:noFill/>
            <a:ln w="11430">
              <a:solidFill>
                <a:srgbClr val="8498C4"/>
              </a:solidFill>
              <a:prstDash val="solid"/>
            </a:ln>
          </p:spPr>
        </p:sp>
        <p:sp>
          <p:nvSpPr>
            <p:cNvPr id="39" name="arrow_tip_38">
              <a:extLst>
                <a:ext uri="{FF2B5EF4-FFF2-40B4-BE49-F238E27FC236}">
                  <a16:creationId xmlns:a16="http://schemas.microsoft.com/office/drawing/2014/main" id="{8EC872F1-7511-4283-AEC0-C88F07982B0B}"/>
                </a:ext>
              </a:extLst>
            </p:cNvPr>
            <p:cNvSpPr>
              <a:spLocks/>
            </p:cNvSpPr>
            <p:nvPr/>
          </p:nvSpPr>
          <p:spPr>
            <a:xfrm>
              <a:off x="8772525" y="2356485"/>
              <a:ext cx="66675" cy="68580"/>
            </a:xfrm>
            <a:custGeom>
              <a:avLst/>
              <a:gdLst/>
              <a:ahLst/>
              <a:cxnLst/>
              <a:rect l="0" t="0" r="0" b="0"/>
              <a:pathLst>
                <a:path w="66675" h="68580">
                  <a:moveTo>
                    <a:pt x="66675" y="34290"/>
                  </a:moveTo>
                  <a:lnTo>
                    <a:pt x="0" y="68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98C4"/>
            </a:solidFill>
            <a:ln w="0">
              <a:noFill/>
            </a:ln>
          </p:spPr>
        </p:sp>
        <p:sp>
          <p:nvSpPr>
            <p:cNvPr id="40" name="roundRect_39">
              <a:extLst>
                <a:ext uri="{FF2B5EF4-FFF2-40B4-BE49-F238E27FC236}">
                  <a16:creationId xmlns:a16="http://schemas.microsoft.com/office/drawing/2014/main" id="{4D70AB5B-469F-4935-B836-3BCEC89F1D71}"/>
                </a:ext>
              </a:extLst>
            </p:cNvPr>
            <p:cNvSpPr>
              <a:spLocks/>
            </p:cNvSpPr>
            <p:nvPr/>
          </p:nvSpPr>
          <p:spPr>
            <a:xfrm>
              <a:off x="8848725" y="2276475"/>
              <a:ext cx="666750" cy="238125"/>
            </a:xfrm>
            <a:prstGeom prst="roundRect">
              <a:avLst>
                <a:gd name="adj" fmla="val 36000"/>
              </a:avLst>
            </a:prstGeom>
            <a:solidFill>
              <a:srgbClr val="EEF0F7"/>
            </a:solidFill>
            <a:ln w="9525">
              <a:solidFill>
                <a:srgbClr val="D8D9E3"/>
              </a:solidFill>
              <a:prstDash val="solid"/>
            </a:ln>
          </p:spPr>
        </p:sp>
        <p:sp>
          <p:nvSpPr>
            <p:cNvPr id="41" name="textbox_40">
              <a:extLst>
                <a:ext uri="{FF2B5EF4-FFF2-40B4-BE49-F238E27FC236}">
                  <a16:creationId xmlns:a16="http://schemas.microsoft.com/office/drawing/2014/main" id="{60DE6625-D03E-424A-8EE7-EE1B1BC7DD0D}"/>
                </a:ext>
              </a:extLst>
            </p:cNvPr>
            <p:cNvSpPr>
              <a:spLocks/>
            </p:cNvSpPr>
            <p:nvPr/>
          </p:nvSpPr>
          <p:spPr>
            <a:xfrm>
              <a:off x="8924925" y="2305050"/>
              <a:ext cx="514350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75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导出</a:t>
              </a:r>
            </a:p>
          </p:txBody>
        </p:sp>
        <p:sp>
          <p:nvSpPr>
            <p:cNvPr id="42" name="textbox_41">
              <a:extLst>
                <a:ext uri="{FF2B5EF4-FFF2-40B4-BE49-F238E27FC236}">
                  <a16:creationId xmlns:a16="http://schemas.microsoft.com/office/drawing/2014/main" id="{74744595-429D-4F71-A39D-C6066454B86D}"/>
                </a:ext>
              </a:extLst>
            </p:cNvPr>
            <p:cNvSpPr>
              <a:spLocks/>
            </p:cNvSpPr>
            <p:nvPr/>
          </p:nvSpPr>
          <p:spPr>
            <a:xfrm>
              <a:off x="7324725" y="2667000"/>
              <a:ext cx="3495675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记录配置、最佳轮次、执行状态与耗时</a:t>
              </a:r>
            </a:p>
            <a:p>
              <a:pPr algn="l">
                <a:def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每个反馈都对应一条真实运行记录</a:t>
              </a:r>
            </a:p>
          </p:txBody>
        </p:sp>
      </p:grpSp>
      <p:grpSp>
        <p:nvGrpSpPr>
          <p:cNvPr id="97" name="sequence_validate">
            <a:extLst>
              <a:ext uri="{FF2B5EF4-FFF2-40B4-BE49-F238E27FC236}">
                <a16:creationId xmlns:a16="http://schemas.microsoft.com/office/drawing/2014/main" id="{59D9EA93-9F56-EB98-E410-2CCE4AE7F2CF}"/>
              </a:ext>
            </a:extLst>
          </p:cNvPr>
          <p:cNvGrpSpPr/>
          <p:nvPr/>
        </p:nvGrpSpPr>
        <p:grpSpPr>
          <a:xfrm>
            <a:off x="7153275" y="3267075"/>
            <a:ext cx="3857625" cy="2124075"/>
            <a:chOff x="7153275" y="3267075"/>
            <a:chExt cx="3857625" cy="2124075"/>
          </a:xfrm>
        </p:grpSpPr>
        <p:sp>
          <p:nvSpPr>
            <p:cNvPr id="43" name="native_curve_42">
              <a:extLst>
                <a:ext uri="{FF2B5EF4-FFF2-40B4-BE49-F238E27FC236}">
                  <a16:creationId xmlns:a16="http://schemas.microsoft.com/office/drawing/2014/main" id="{D098B762-81BE-4D59-8332-EC6DE37FA95E}"/>
                </a:ext>
              </a:extLst>
            </p:cNvPr>
            <p:cNvSpPr>
              <a:spLocks/>
            </p:cNvSpPr>
            <p:nvPr/>
          </p:nvSpPr>
          <p:spPr>
            <a:xfrm>
              <a:off x="9096375" y="3267075"/>
              <a:ext cx="953" cy="542925"/>
            </a:xfrm>
            <a:custGeom>
              <a:avLst/>
              <a:gdLst/>
              <a:ahLst/>
              <a:cxnLst/>
              <a:rect l="0" t="0" r="0" b="0"/>
              <a:pathLst>
                <a:path w="953" h="542925">
                  <a:moveTo>
                    <a:pt x="0" y="0"/>
                  </a:moveTo>
                  <a:lnTo>
                    <a:pt x="0" y="542925"/>
                  </a:lnTo>
                </a:path>
              </a:pathLst>
            </a:custGeom>
            <a:noFill/>
            <a:ln w="20955">
              <a:solidFill>
                <a:srgbClr val="9C5875"/>
              </a:solidFill>
              <a:prstDash val="solid"/>
            </a:ln>
          </p:spPr>
        </p:sp>
        <p:sp>
          <p:nvSpPr>
            <p:cNvPr id="44" name="arrow_tip_43">
              <a:extLst>
                <a:ext uri="{FF2B5EF4-FFF2-40B4-BE49-F238E27FC236}">
                  <a16:creationId xmlns:a16="http://schemas.microsoft.com/office/drawing/2014/main" id="{C1C4D29E-2BB8-45A1-BF4E-A570EFCEE860}"/>
                </a:ext>
              </a:extLst>
            </p:cNvPr>
            <p:cNvSpPr>
              <a:spLocks/>
            </p:cNvSpPr>
            <p:nvPr/>
          </p:nvSpPr>
          <p:spPr>
            <a:xfrm>
              <a:off x="9062085" y="3743325"/>
              <a:ext cx="68580" cy="66675"/>
            </a:xfrm>
            <a:custGeom>
              <a:avLst/>
              <a:gdLst/>
              <a:ahLst/>
              <a:cxnLst/>
              <a:rect l="0" t="0" r="0" b="0"/>
              <a:pathLst>
                <a:path w="68580" h="66675">
                  <a:moveTo>
                    <a:pt x="34290" y="66675"/>
                  </a:moveTo>
                  <a:lnTo>
                    <a:pt x="0" y="0"/>
                  </a:lnTo>
                  <a:lnTo>
                    <a:pt x="68580" y="0"/>
                  </a:lnTo>
                  <a:close/>
                </a:path>
              </a:pathLst>
            </a:custGeom>
            <a:solidFill>
              <a:srgbClr val="9C5875"/>
            </a:solidFill>
            <a:ln w="0">
              <a:noFill/>
            </a:ln>
          </p:spPr>
        </p:sp>
        <p:sp>
          <p:nvSpPr>
            <p:cNvPr id="45" name="roundRect_44">
              <a:extLst>
                <a:ext uri="{FF2B5EF4-FFF2-40B4-BE49-F238E27FC236}">
                  <a16:creationId xmlns:a16="http://schemas.microsoft.com/office/drawing/2014/main" id="{B9A94DEC-A562-4DF8-9000-604063162233}"/>
                </a:ext>
              </a:extLst>
            </p:cNvPr>
            <p:cNvSpPr>
              <a:spLocks/>
            </p:cNvSpPr>
            <p:nvPr/>
          </p:nvSpPr>
          <p:spPr>
            <a:xfrm>
              <a:off x="7153275" y="3810000"/>
              <a:ext cx="3857625" cy="1581150"/>
            </a:xfrm>
            <a:prstGeom prst="roundRect">
              <a:avLst>
                <a:gd name="adj" fmla="val 5422"/>
              </a:avLst>
            </a:prstGeom>
            <a:solidFill>
              <a:srgbClr val="F3E5EB"/>
            </a:solidFill>
            <a:ln w="9525">
              <a:solidFill>
                <a:srgbClr val="C695AA"/>
              </a:solidFill>
              <a:prstDash val="solid"/>
            </a:ln>
          </p:spPr>
        </p:sp>
        <p:sp>
          <p:nvSpPr>
            <p:cNvPr id="46" name="textbox_45">
              <a:extLst>
                <a:ext uri="{FF2B5EF4-FFF2-40B4-BE49-F238E27FC236}">
                  <a16:creationId xmlns:a16="http://schemas.microsoft.com/office/drawing/2014/main" id="{45E5DB68-B12A-46CB-B6E3-D692BFC5AD88}"/>
                </a:ext>
              </a:extLst>
            </p:cNvPr>
            <p:cNvSpPr>
              <a:spLocks/>
            </p:cNvSpPr>
            <p:nvPr/>
          </p:nvSpPr>
          <p:spPr>
            <a:xfrm>
              <a:off x="7315200" y="3924300"/>
              <a:ext cx="3533775" cy="27622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575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575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75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rPr>
                <a:t>03  核对结果并提取反馈</a:t>
              </a:r>
            </a:p>
          </p:txBody>
        </p:sp>
        <p:sp>
          <p:nvSpPr>
            <p:cNvPr id="47" name="trace_46">
              <a:extLst>
                <a:ext uri="{FF2B5EF4-FFF2-40B4-BE49-F238E27FC236}">
                  <a16:creationId xmlns:a16="http://schemas.microsoft.com/office/drawing/2014/main" id="{B99EC874-048C-4C22-810D-2226CE2A2673}"/>
                </a:ext>
              </a:extLst>
            </p:cNvPr>
            <p:cNvSpPr>
              <a:spLocks/>
            </p:cNvSpPr>
            <p:nvPr/>
          </p:nvSpPr>
          <p:spPr>
            <a:xfrm>
              <a:off x="7334250" y="4486192"/>
              <a:ext cx="1381125" cy="256005"/>
            </a:xfrm>
            <a:custGeom>
              <a:avLst/>
              <a:gdLst/>
              <a:ahLst/>
              <a:cxnLst/>
              <a:rect l="0" t="0" r="0" b="0"/>
              <a:pathLst>
                <a:path w="1381125" h="256005">
                  <a:moveTo>
                    <a:pt x="0" y="169628"/>
                  </a:moveTo>
                  <a:lnTo>
                    <a:pt x="33686" y="138458"/>
                  </a:lnTo>
                  <a:lnTo>
                    <a:pt x="67372" y="230217"/>
                  </a:lnTo>
                  <a:lnTo>
                    <a:pt x="101058" y="206770"/>
                  </a:lnTo>
                  <a:lnTo>
                    <a:pt x="134744" y="140394"/>
                  </a:lnTo>
                  <a:lnTo>
                    <a:pt x="168430" y="151573"/>
                  </a:lnTo>
                  <a:lnTo>
                    <a:pt x="202116" y="14479"/>
                  </a:lnTo>
                  <a:lnTo>
                    <a:pt x="235802" y="73061"/>
                  </a:lnTo>
                  <a:lnTo>
                    <a:pt x="269488" y="33076"/>
                  </a:lnTo>
                  <a:lnTo>
                    <a:pt x="303174" y="87049"/>
                  </a:lnTo>
                  <a:lnTo>
                    <a:pt x="336860" y="180785"/>
                  </a:lnTo>
                  <a:lnTo>
                    <a:pt x="370546" y="153212"/>
                  </a:lnTo>
                  <a:lnTo>
                    <a:pt x="404232" y="256005"/>
                  </a:lnTo>
                  <a:lnTo>
                    <a:pt x="437918" y="156222"/>
                  </a:lnTo>
                  <a:lnTo>
                    <a:pt x="471604" y="152277"/>
                  </a:lnTo>
                  <a:lnTo>
                    <a:pt x="505290" y="96005"/>
                  </a:lnTo>
                  <a:lnTo>
                    <a:pt x="538976" y="11298"/>
                  </a:lnTo>
                  <a:lnTo>
                    <a:pt x="572662" y="83116"/>
                  </a:lnTo>
                  <a:lnTo>
                    <a:pt x="606348" y="25031"/>
                  </a:lnTo>
                  <a:lnTo>
                    <a:pt x="640034" y="151236"/>
                  </a:lnTo>
                  <a:lnTo>
                    <a:pt x="673720" y="168339"/>
                  </a:lnTo>
                  <a:lnTo>
                    <a:pt x="707405" y="191325"/>
                  </a:lnTo>
                  <a:lnTo>
                    <a:pt x="741091" y="241554"/>
                  </a:lnTo>
                  <a:lnTo>
                    <a:pt x="774777" y="122609"/>
                  </a:lnTo>
                  <a:lnTo>
                    <a:pt x="808463" y="153893"/>
                  </a:lnTo>
                  <a:lnTo>
                    <a:pt x="842149" y="35819"/>
                  </a:lnTo>
                  <a:lnTo>
                    <a:pt x="875835" y="39443"/>
                  </a:lnTo>
                  <a:lnTo>
                    <a:pt x="909521" y="70151"/>
                  </a:lnTo>
                  <a:lnTo>
                    <a:pt x="943207" y="53121"/>
                  </a:lnTo>
                  <a:lnTo>
                    <a:pt x="976893" y="194723"/>
                  </a:lnTo>
                  <a:lnTo>
                    <a:pt x="1010579" y="155991"/>
                  </a:lnTo>
                  <a:lnTo>
                    <a:pt x="1044265" y="232961"/>
                  </a:lnTo>
                  <a:lnTo>
                    <a:pt x="1077951" y="193336"/>
                  </a:lnTo>
                  <a:lnTo>
                    <a:pt x="1111637" y="116693"/>
                  </a:lnTo>
                  <a:lnTo>
                    <a:pt x="1145323" y="127337"/>
                  </a:lnTo>
                  <a:lnTo>
                    <a:pt x="1179009" y="0"/>
                  </a:lnTo>
                  <a:lnTo>
                    <a:pt x="1212695" y="74449"/>
                  </a:lnTo>
                  <a:lnTo>
                    <a:pt x="1246381" y="49587"/>
                  </a:lnTo>
                  <a:lnTo>
                    <a:pt x="1280067" y="111997"/>
                  </a:lnTo>
                  <a:lnTo>
                    <a:pt x="1313753" y="203426"/>
                  </a:lnTo>
                  <a:lnTo>
                    <a:pt x="1347439" y="164241"/>
                  </a:lnTo>
                  <a:lnTo>
                    <a:pt x="1381125" y="250705"/>
                  </a:lnTo>
                </a:path>
              </a:pathLst>
            </a:custGeom>
            <a:noFill/>
            <a:ln w="13335">
              <a:solidFill>
                <a:srgbClr val="38385B"/>
              </a:solidFill>
            </a:ln>
          </p:spPr>
        </p:sp>
        <p:sp>
          <p:nvSpPr>
            <p:cNvPr id="48" name="prediction_trace_47">
              <a:extLst>
                <a:ext uri="{FF2B5EF4-FFF2-40B4-BE49-F238E27FC236}">
                  <a16:creationId xmlns:a16="http://schemas.microsoft.com/office/drawing/2014/main" id="{BCD9865D-ADAF-4FD6-8B64-B5FF9A35DE93}"/>
                </a:ext>
              </a:extLst>
            </p:cNvPr>
            <p:cNvSpPr>
              <a:spLocks/>
            </p:cNvSpPr>
            <p:nvPr/>
          </p:nvSpPr>
          <p:spPr>
            <a:xfrm>
              <a:off x="7334250" y="4495862"/>
              <a:ext cx="1381125" cy="229804"/>
            </a:xfrm>
            <a:custGeom>
              <a:avLst/>
              <a:gdLst/>
              <a:ahLst/>
              <a:cxnLst/>
              <a:rect l="0" t="0" r="0" b="0"/>
              <a:pathLst>
                <a:path w="1381125" h="229804">
                  <a:moveTo>
                    <a:pt x="0" y="164960"/>
                  </a:moveTo>
                  <a:lnTo>
                    <a:pt x="33686" y="136823"/>
                  </a:lnTo>
                  <a:lnTo>
                    <a:pt x="67372" y="221047"/>
                  </a:lnTo>
                  <a:lnTo>
                    <a:pt x="101058" y="171478"/>
                  </a:lnTo>
                  <a:lnTo>
                    <a:pt x="134744" y="128429"/>
                  </a:lnTo>
                  <a:lnTo>
                    <a:pt x="168430" y="115974"/>
                  </a:lnTo>
                  <a:lnTo>
                    <a:pt x="202116" y="9581"/>
                  </a:lnTo>
                  <a:lnTo>
                    <a:pt x="235802" y="70330"/>
                  </a:lnTo>
                  <a:lnTo>
                    <a:pt x="269488" y="31618"/>
                  </a:lnTo>
                  <a:lnTo>
                    <a:pt x="303174" y="106482"/>
                  </a:lnTo>
                  <a:lnTo>
                    <a:pt x="336860" y="167333"/>
                  </a:lnTo>
                  <a:lnTo>
                    <a:pt x="370546" y="156606"/>
                  </a:lnTo>
                  <a:lnTo>
                    <a:pt x="404232" y="229804"/>
                  </a:lnTo>
                  <a:lnTo>
                    <a:pt x="437918" y="129413"/>
                  </a:lnTo>
                  <a:lnTo>
                    <a:pt x="471604" y="135234"/>
                  </a:lnTo>
                  <a:lnTo>
                    <a:pt x="505290" y="64338"/>
                  </a:lnTo>
                  <a:lnTo>
                    <a:pt x="538976" y="18177"/>
                  </a:lnTo>
                  <a:lnTo>
                    <a:pt x="572662" y="73789"/>
                  </a:lnTo>
                  <a:lnTo>
                    <a:pt x="606348" y="37343"/>
                  </a:lnTo>
                  <a:lnTo>
                    <a:pt x="640034" y="158650"/>
                  </a:lnTo>
                  <a:lnTo>
                    <a:pt x="673720" y="155346"/>
                  </a:lnTo>
                  <a:lnTo>
                    <a:pt x="707405" y="190906"/>
                  </a:lnTo>
                  <a:lnTo>
                    <a:pt x="741091" y="204027"/>
                  </a:lnTo>
                  <a:lnTo>
                    <a:pt x="774777" y="106573"/>
                  </a:lnTo>
                  <a:lnTo>
                    <a:pt x="808463" y="127444"/>
                  </a:lnTo>
                  <a:lnTo>
                    <a:pt x="842149" y="18365"/>
                  </a:lnTo>
                  <a:lnTo>
                    <a:pt x="875835" y="47648"/>
                  </a:lnTo>
                  <a:lnTo>
                    <a:pt x="909521" y="61191"/>
                  </a:lnTo>
                  <a:lnTo>
                    <a:pt x="943207" y="73827"/>
                  </a:lnTo>
                  <a:lnTo>
                    <a:pt x="976893" y="186883"/>
                  </a:lnTo>
                  <a:lnTo>
                    <a:pt x="1010579" y="149605"/>
                  </a:lnTo>
                  <a:lnTo>
                    <a:pt x="1044265" y="219373"/>
                  </a:lnTo>
                  <a:lnTo>
                    <a:pt x="1077951" y="155893"/>
                  </a:lnTo>
                  <a:lnTo>
                    <a:pt x="1111637" y="105696"/>
                  </a:lnTo>
                  <a:lnTo>
                    <a:pt x="1145323" y="95428"/>
                  </a:lnTo>
                  <a:lnTo>
                    <a:pt x="1179009" y="0"/>
                  </a:lnTo>
                  <a:lnTo>
                    <a:pt x="1212695" y="75697"/>
                  </a:lnTo>
                  <a:lnTo>
                    <a:pt x="1246381" y="49602"/>
                  </a:lnTo>
                  <a:lnTo>
                    <a:pt x="1280067" y="129702"/>
                  </a:lnTo>
                  <a:lnTo>
                    <a:pt x="1313753" y="185817"/>
                  </a:lnTo>
                  <a:lnTo>
                    <a:pt x="1347439" y="162795"/>
                  </a:lnTo>
                  <a:lnTo>
                    <a:pt x="1381125" y="220968"/>
                  </a:lnTo>
                </a:path>
              </a:pathLst>
            </a:custGeom>
            <a:noFill/>
            <a:ln w="11430">
              <a:solidFill>
                <a:srgbClr val="9C5875"/>
              </a:solidFill>
            </a:ln>
          </p:spPr>
        </p:sp>
        <p:sp>
          <p:nvSpPr>
            <p:cNvPr id="49" name="rect_48">
              <a:extLst>
                <a:ext uri="{FF2B5EF4-FFF2-40B4-BE49-F238E27FC236}">
                  <a16:creationId xmlns:a16="http://schemas.microsoft.com/office/drawing/2014/main" id="{AA7E3B77-B802-4AB1-9BED-2620CA3DAC1E}"/>
                </a:ext>
              </a:extLst>
            </p:cNvPr>
            <p:cNvSpPr>
              <a:spLocks/>
            </p:cNvSpPr>
            <p:nvPr/>
          </p:nvSpPr>
          <p:spPr>
            <a:xfrm>
              <a:off x="8934450" y="4410075"/>
              <a:ext cx="95250" cy="95250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50" name="rect_49">
              <a:extLst>
                <a:ext uri="{FF2B5EF4-FFF2-40B4-BE49-F238E27FC236}">
                  <a16:creationId xmlns:a16="http://schemas.microsoft.com/office/drawing/2014/main" id="{23668596-705C-4C2D-ABF9-A4B89DBAE5AA}"/>
                </a:ext>
              </a:extLst>
            </p:cNvPr>
            <p:cNvSpPr>
              <a:spLocks/>
            </p:cNvSpPr>
            <p:nvPr/>
          </p:nvSpPr>
          <p:spPr>
            <a:xfrm>
              <a:off x="9058275" y="4410075"/>
              <a:ext cx="95250" cy="95250"/>
            </a:xfrm>
            <a:prstGeom prst="rect">
              <a:avLst/>
            </a:prstGeom>
            <a:solidFill>
              <a:srgbClr val="BEC6DF"/>
            </a:solidFill>
            <a:ln w="0">
              <a:noFill/>
              <a:prstDash val="solid"/>
            </a:ln>
          </p:spPr>
        </p:sp>
        <p:sp>
          <p:nvSpPr>
            <p:cNvPr id="51" name="rect_50">
              <a:extLst>
                <a:ext uri="{FF2B5EF4-FFF2-40B4-BE49-F238E27FC236}">
                  <a16:creationId xmlns:a16="http://schemas.microsoft.com/office/drawing/2014/main" id="{C63E45AE-BA39-4825-9868-A1037072D518}"/>
                </a:ext>
              </a:extLst>
            </p:cNvPr>
            <p:cNvSpPr>
              <a:spLocks/>
            </p:cNvSpPr>
            <p:nvPr/>
          </p:nvSpPr>
          <p:spPr>
            <a:xfrm>
              <a:off x="9182100" y="4410075"/>
              <a:ext cx="95250" cy="95250"/>
            </a:xfrm>
            <a:prstGeom prst="rect">
              <a:avLst/>
            </a:prstGeom>
            <a:solidFill>
              <a:srgbClr val="E8EAF3"/>
            </a:solidFill>
            <a:ln w="0">
              <a:noFill/>
              <a:prstDash val="solid"/>
            </a:ln>
          </p:spPr>
        </p:sp>
        <p:sp>
          <p:nvSpPr>
            <p:cNvPr id="52" name="rect_51">
              <a:extLst>
                <a:ext uri="{FF2B5EF4-FFF2-40B4-BE49-F238E27FC236}">
                  <a16:creationId xmlns:a16="http://schemas.microsoft.com/office/drawing/2014/main" id="{46F5A52C-E09A-478B-AB3F-BDBB31731315}"/>
                </a:ext>
              </a:extLst>
            </p:cNvPr>
            <p:cNvSpPr>
              <a:spLocks/>
            </p:cNvSpPr>
            <p:nvPr/>
          </p:nvSpPr>
          <p:spPr>
            <a:xfrm>
              <a:off x="9305925" y="4410075"/>
              <a:ext cx="95250" cy="95250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53" name="rect_52">
              <a:extLst>
                <a:ext uri="{FF2B5EF4-FFF2-40B4-BE49-F238E27FC236}">
                  <a16:creationId xmlns:a16="http://schemas.microsoft.com/office/drawing/2014/main" id="{D864E374-9496-44F1-B1BF-AF4FB1EEF5D5}"/>
                </a:ext>
              </a:extLst>
            </p:cNvPr>
            <p:cNvSpPr>
              <a:spLocks/>
            </p:cNvSpPr>
            <p:nvPr/>
          </p:nvSpPr>
          <p:spPr>
            <a:xfrm>
              <a:off x="9429750" y="4410075"/>
              <a:ext cx="95250" cy="95250"/>
            </a:xfrm>
            <a:prstGeom prst="rect">
              <a:avLst/>
            </a:prstGeom>
            <a:solidFill>
              <a:srgbClr val="BEC6DF"/>
            </a:solidFill>
            <a:ln w="0">
              <a:noFill/>
              <a:prstDash val="solid"/>
            </a:ln>
          </p:spPr>
        </p:sp>
        <p:sp>
          <p:nvSpPr>
            <p:cNvPr id="54" name="rect_53">
              <a:extLst>
                <a:ext uri="{FF2B5EF4-FFF2-40B4-BE49-F238E27FC236}">
                  <a16:creationId xmlns:a16="http://schemas.microsoft.com/office/drawing/2014/main" id="{21F1E0A9-03AA-49F3-8B6F-959BC79C4B34}"/>
                </a:ext>
              </a:extLst>
            </p:cNvPr>
            <p:cNvSpPr>
              <a:spLocks/>
            </p:cNvSpPr>
            <p:nvPr/>
          </p:nvSpPr>
          <p:spPr>
            <a:xfrm>
              <a:off x="9553575" y="4410075"/>
              <a:ext cx="95250" cy="95250"/>
            </a:xfrm>
            <a:prstGeom prst="rect">
              <a:avLst/>
            </a:prstGeom>
            <a:solidFill>
              <a:srgbClr val="E8EAF3"/>
            </a:solidFill>
            <a:ln w="0">
              <a:noFill/>
              <a:prstDash val="solid"/>
            </a:ln>
          </p:spPr>
        </p:sp>
        <p:sp>
          <p:nvSpPr>
            <p:cNvPr id="55" name="rect_54">
              <a:extLst>
                <a:ext uri="{FF2B5EF4-FFF2-40B4-BE49-F238E27FC236}">
                  <a16:creationId xmlns:a16="http://schemas.microsoft.com/office/drawing/2014/main" id="{48CF2EE2-024B-4848-A5AB-88D9FA21E9DD}"/>
                </a:ext>
              </a:extLst>
            </p:cNvPr>
            <p:cNvSpPr>
              <a:spLocks/>
            </p:cNvSpPr>
            <p:nvPr/>
          </p:nvSpPr>
          <p:spPr>
            <a:xfrm>
              <a:off x="8934450" y="4533900"/>
              <a:ext cx="95250" cy="95250"/>
            </a:xfrm>
            <a:prstGeom prst="rect">
              <a:avLst/>
            </a:prstGeom>
            <a:solidFill>
              <a:srgbClr val="BEC6DF"/>
            </a:solidFill>
            <a:ln w="0">
              <a:noFill/>
              <a:prstDash val="solid"/>
            </a:ln>
          </p:spPr>
        </p:sp>
        <p:sp>
          <p:nvSpPr>
            <p:cNvPr id="56" name="rect_55">
              <a:extLst>
                <a:ext uri="{FF2B5EF4-FFF2-40B4-BE49-F238E27FC236}">
                  <a16:creationId xmlns:a16="http://schemas.microsoft.com/office/drawing/2014/main" id="{03E97FE5-4245-4EC4-B599-1D668D65747B}"/>
                </a:ext>
              </a:extLst>
            </p:cNvPr>
            <p:cNvSpPr>
              <a:spLocks/>
            </p:cNvSpPr>
            <p:nvPr/>
          </p:nvSpPr>
          <p:spPr>
            <a:xfrm>
              <a:off x="9058275" y="4533900"/>
              <a:ext cx="95250" cy="95250"/>
            </a:xfrm>
            <a:prstGeom prst="rect">
              <a:avLst/>
            </a:prstGeom>
            <a:solidFill>
              <a:srgbClr val="E8EAF3"/>
            </a:solidFill>
            <a:ln w="0">
              <a:noFill/>
              <a:prstDash val="solid"/>
            </a:ln>
          </p:spPr>
        </p:sp>
        <p:sp>
          <p:nvSpPr>
            <p:cNvPr id="57" name="rect_56">
              <a:extLst>
                <a:ext uri="{FF2B5EF4-FFF2-40B4-BE49-F238E27FC236}">
                  <a16:creationId xmlns:a16="http://schemas.microsoft.com/office/drawing/2014/main" id="{BBF11F80-553C-4FC1-B460-70521BD3FF31}"/>
                </a:ext>
              </a:extLst>
            </p:cNvPr>
            <p:cNvSpPr>
              <a:spLocks/>
            </p:cNvSpPr>
            <p:nvPr/>
          </p:nvSpPr>
          <p:spPr>
            <a:xfrm>
              <a:off x="9182100" y="4533900"/>
              <a:ext cx="95250" cy="95250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58" name="rect_57">
              <a:extLst>
                <a:ext uri="{FF2B5EF4-FFF2-40B4-BE49-F238E27FC236}">
                  <a16:creationId xmlns:a16="http://schemas.microsoft.com/office/drawing/2014/main" id="{AFD5D0FA-475F-4B0D-8FDA-B40B8C7E570F}"/>
                </a:ext>
              </a:extLst>
            </p:cNvPr>
            <p:cNvSpPr>
              <a:spLocks/>
            </p:cNvSpPr>
            <p:nvPr/>
          </p:nvSpPr>
          <p:spPr>
            <a:xfrm>
              <a:off x="9305925" y="4533900"/>
              <a:ext cx="95250" cy="95250"/>
            </a:xfrm>
            <a:prstGeom prst="rect">
              <a:avLst/>
            </a:prstGeom>
            <a:solidFill>
              <a:srgbClr val="BEC6DF"/>
            </a:solidFill>
            <a:ln w="0">
              <a:noFill/>
              <a:prstDash val="solid"/>
            </a:ln>
          </p:spPr>
        </p:sp>
        <p:sp>
          <p:nvSpPr>
            <p:cNvPr id="59" name="rect_58">
              <a:extLst>
                <a:ext uri="{FF2B5EF4-FFF2-40B4-BE49-F238E27FC236}">
                  <a16:creationId xmlns:a16="http://schemas.microsoft.com/office/drawing/2014/main" id="{A9D14381-ABE6-4DD6-B8AB-CD465E27AF4B}"/>
                </a:ext>
              </a:extLst>
            </p:cNvPr>
            <p:cNvSpPr>
              <a:spLocks/>
            </p:cNvSpPr>
            <p:nvPr/>
          </p:nvSpPr>
          <p:spPr>
            <a:xfrm>
              <a:off x="9429750" y="4533900"/>
              <a:ext cx="95250" cy="95250"/>
            </a:xfrm>
            <a:prstGeom prst="rect">
              <a:avLst/>
            </a:prstGeom>
            <a:solidFill>
              <a:srgbClr val="E8EAF3"/>
            </a:solidFill>
            <a:ln w="0">
              <a:noFill/>
              <a:prstDash val="solid"/>
            </a:ln>
          </p:spPr>
        </p:sp>
        <p:sp>
          <p:nvSpPr>
            <p:cNvPr id="60" name="rect_59">
              <a:extLst>
                <a:ext uri="{FF2B5EF4-FFF2-40B4-BE49-F238E27FC236}">
                  <a16:creationId xmlns:a16="http://schemas.microsoft.com/office/drawing/2014/main" id="{BFDE0CB2-5BF2-4AFC-9D6F-729B584DFB7B}"/>
                </a:ext>
              </a:extLst>
            </p:cNvPr>
            <p:cNvSpPr>
              <a:spLocks/>
            </p:cNvSpPr>
            <p:nvPr/>
          </p:nvSpPr>
          <p:spPr>
            <a:xfrm>
              <a:off x="9553575" y="4533900"/>
              <a:ext cx="95250" cy="95250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61" name="rect_60">
              <a:extLst>
                <a:ext uri="{FF2B5EF4-FFF2-40B4-BE49-F238E27FC236}">
                  <a16:creationId xmlns:a16="http://schemas.microsoft.com/office/drawing/2014/main" id="{26AD8A0C-34AE-463E-8A79-2EF7FEBB62A0}"/>
                </a:ext>
              </a:extLst>
            </p:cNvPr>
            <p:cNvSpPr>
              <a:spLocks/>
            </p:cNvSpPr>
            <p:nvPr/>
          </p:nvSpPr>
          <p:spPr>
            <a:xfrm>
              <a:off x="8934450" y="4657725"/>
              <a:ext cx="95250" cy="95250"/>
            </a:xfrm>
            <a:prstGeom prst="rect">
              <a:avLst/>
            </a:prstGeom>
            <a:solidFill>
              <a:srgbClr val="E8EAF3"/>
            </a:solidFill>
            <a:ln w="0">
              <a:noFill/>
              <a:prstDash val="solid"/>
            </a:ln>
          </p:spPr>
        </p:sp>
        <p:sp>
          <p:nvSpPr>
            <p:cNvPr id="62" name="rect_61">
              <a:extLst>
                <a:ext uri="{FF2B5EF4-FFF2-40B4-BE49-F238E27FC236}">
                  <a16:creationId xmlns:a16="http://schemas.microsoft.com/office/drawing/2014/main" id="{C6ACEDFD-5674-4CE6-B330-D4C494618DC5}"/>
                </a:ext>
              </a:extLst>
            </p:cNvPr>
            <p:cNvSpPr>
              <a:spLocks/>
            </p:cNvSpPr>
            <p:nvPr/>
          </p:nvSpPr>
          <p:spPr>
            <a:xfrm>
              <a:off x="9058275" y="4657725"/>
              <a:ext cx="95250" cy="95250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63" name="rect_62">
              <a:extLst>
                <a:ext uri="{FF2B5EF4-FFF2-40B4-BE49-F238E27FC236}">
                  <a16:creationId xmlns:a16="http://schemas.microsoft.com/office/drawing/2014/main" id="{68EF857E-F980-4E43-B634-D6EC195FD9C5}"/>
                </a:ext>
              </a:extLst>
            </p:cNvPr>
            <p:cNvSpPr>
              <a:spLocks/>
            </p:cNvSpPr>
            <p:nvPr/>
          </p:nvSpPr>
          <p:spPr>
            <a:xfrm>
              <a:off x="9182100" y="4657725"/>
              <a:ext cx="95250" cy="95250"/>
            </a:xfrm>
            <a:prstGeom prst="rect">
              <a:avLst/>
            </a:prstGeom>
            <a:solidFill>
              <a:srgbClr val="BEC6DF"/>
            </a:solidFill>
            <a:ln w="0">
              <a:noFill/>
              <a:prstDash val="solid"/>
            </a:ln>
          </p:spPr>
        </p:sp>
        <p:sp>
          <p:nvSpPr>
            <p:cNvPr id="64" name="rect_63">
              <a:extLst>
                <a:ext uri="{FF2B5EF4-FFF2-40B4-BE49-F238E27FC236}">
                  <a16:creationId xmlns:a16="http://schemas.microsoft.com/office/drawing/2014/main" id="{02C58C31-C8F5-4683-965B-895013344847}"/>
                </a:ext>
              </a:extLst>
            </p:cNvPr>
            <p:cNvSpPr>
              <a:spLocks/>
            </p:cNvSpPr>
            <p:nvPr/>
          </p:nvSpPr>
          <p:spPr>
            <a:xfrm>
              <a:off x="9305925" y="4657725"/>
              <a:ext cx="95250" cy="95250"/>
            </a:xfrm>
            <a:prstGeom prst="rect">
              <a:avLst/>
            </a:prstGeom>
            <a:solidFill>
              <a:srgbClr val="E8EAF3"/>
            </a:solidFill>
            <a:ln w="0">
              <a:noFill/>
              <a:prstDash val="solid"/>
            </a:ln>
          </p:spPr>
        </p:sp>
        <p:sp>
          <p:nvSpPr>
            <p:cNvPr id="65" name="rect_64">
              <a:extLst>
                <a:ext uri="{FF2B5EF4-FFF2-40B4-BE49-F238E27FC236}">
                  <a16:creationId xmlns:a16="http://schemas.microsoft.com/office/drawing/2014/main" id="{BCBC995B-36FF-4456-BC65-6635E0E56ECB}"/>
                </a:ext>
              </a:extLst>
            </p:cNvPr>
            <p:cNvSpPr>
              <a:spLocks/>
            </p:cNvSpPr>
            <p:nvPr/>
          </p:nvSpPr>
          <p:spPr>
            <a:xfrm>
              <a:off x="9429750" y="4657725"/>
              <a:ext cx="95250" cy="95250"/>
            </a:xfrm>
            <a:prstGeom prst="rect">
              <a:avLst/>
            </a:prstGeom>
            <a:solidFill>
              <a:srgbClr val="9C5875"/>
            </a:solidFill>
            <a:ln w="0">
              <a:noFill/>
              <a:prstDash val="solid"/>
            </a:ln>
          </p:spPr>
        </p:sp>
        <p:sp>
          <p:nvSpPr>
            <p:cNvPr id="66" name="rect_65">
              <a:extLst>
                <a:ext uri="{FF2B5EF4-FFF2-40B4-BE49-F238E27FC236}">
                  <a16:creationId xmlns:a16="http://schemas.microsoft.com/office/drawing/2014/main" id="{AB4124A6-FABD-4D70-8268-3B0DCCE8E288}"/>
                </a:ext>
              </a:extLst>
            </p:cNvPr>
            <p:cNvSpPr>
              <a:spLocks/>
            </p:cNvSpPr>
            <p:nvPr/>
          </p:nvSpPr>
          <p:spPr>
            <a:xfrm>
              <a:off x="9553575" y="4657725"/>
              <a:ext cx="95250" cy="95250"/>
            </a:xfrm>
            <a:prstGeom prst="rect">
              <a:avLst/>
            </a:prstGeom>
            <a:solidFill>
              <a:srgbClr val="BEC6DF"/>
            </a:solidFill>
            <a:ln w="0">
              <a:noFill/>
              <a:prstDash val="solid"/>
            </a:ln>
          </p:spPr>
        </p:sp>
        <p:sp>
          <p:nvSpPr>
            <p:cNvPr id="67" name="textbox_66">
              <a:extLst>
                <a:ext uri="{FF2B5EF4-FFF2-40B4-BE49-F238E27FC236}">
                  <a16:creationId xmlns:a16="http://schemas.microsoft.com/office/drawing/2014/main" id="{B62D8D40-6B62-4D55-8488-264343C60AE0}"/>
                </a:ext>
              </a:extLst>
            </p:cNvPr>
            <p:cNvSpPr>
              <a:spLocks/>
            </p:cNvSpPr>
            <p:nvPr/>
          </p:nvSpPr>
          <p:spPr>
            <a:xfrm>
              <a:off x="9915525" y="4381500"/>
              <a:ext cx="952500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05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05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05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rPr>
                <a:t>误差</a:t>
              </a:r>
            </a:p>
            <a:p>
              <a:pPr algn="l">
                <a:defRPr sz="105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05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rPr>
                <a:t>残差 / 耗时</a:t>
              </a:r>
            </a:p>
          </p:txBody>
        </p:sp>
        <p:sp>
          <p:nvSpPr>
            <p:cNvPr id="68" name="textbox_67">
              <a:extLst>
                <a:ext uri="{FF2B5EF4-FFF2-40B4-BE49-F238E27FC236}">
                  <a16:creationId xmlns:a16="http://schemas.microsoft.com/office/drawing/2014/main" id="{FBEFB9A7-44CE-456B-A1A4-C0DE559B0BF8}"/>
                </a:ext>
              </a:extLst>
            </p:cNvPr>
            <p:cNvSpPr>
              <a:spLocks/>
            </p:cNvSpPr>
            <p:nvPr/>
          </p:nvSpPr>
          <p:spPr>
            <a:xfrm>
              <a:off x="7334250" y="5048250"/>
              <a:ext cx="349567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7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7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7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检查窗口索引、产物与可用成本</a:t>
              </a:r>
            </a:p>
          </p:txBody>
        </p:sp>
      </p:grpSp>
      <p:grpSp>
        <p:nvGrpSpPr>
          <p:cNvPr id="98" name="sequence_update">
            <a:extLst>
              <a:ext uri="{FF2B5EF4-FFF2-40B4-BE49-F238E27FC236}">
                <a16:creationId xmlns:a16="http://schemas.microsoft.com/office/drawing/2014/main" id="{1DF513F5-CBDA-5F5B-C504-8010CBDB30DE}"/>
              </a:ext>
            </a:extLst>
          </p:cNvPr>
          <p:cNvGrpSpPr/>
          <p:nvPr/>
        </p:nvGrpSpPr>
        <p:grpSpPr>
          <a:xfrm>
            <a:off x="2409825" y="3990975"/>
            <a:ext cx="4743450" cy="1343025"/>
            <a:chOff x="2409825" y="3990975"/>
            <a:chExt cx="4743450" cy="1343025"/>
          </a:xfrm>
        </p:grpSpPr>
        <p:sp>
          <p:nvSpPr>
            <p:cNvPr id="69" name="native_curve_68">
              <a:extLst>
                <a:ext uri="{FF2B5EF4-FFF2-40B4-BE49-F238E27FC236}">
                  <a16:creationId xmlns:a16="http://schemas.microsoft.com/office/drawing/2014/main" id="{A11575F8-0E92-4178-854E-B956E17992EC}"/>
                </a:ext>
              </a:extLst>
            </p:cNvPr>
            <p:cNvSpPr>
              <a:spLocks/>
            </p:cNvSpPr>
            <p:nvPr/>
          </p:nvSpPr>
          <p:spPr>
            <a:xfrm>
              <a:off x="6343650" y="4610100"/>
              <a:ext cx="809625" cy="953"/>
            </a:xfrm>
            <a:custGeom>
              <a:avLst/>
              <a:gdLst/>
              <a:ahLst/>
              <a:cxnLst/>
              <a:rect l="0" t="0" r="0" b="0"/>
              <a:pathLst>
                <a:path w="809625" h="953">
                  <a:moveTo>
                    <a:pt x="809625" y="0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9C5875"/>
              </a:solidFill>
              <a:prstDash val="solid"/>
            </a:ln>
          </p:spPr>
        </p:sp>
        <p:sp>
          <p:nvSpPr>
            <p:cNvPr id="70" name="arrow_tip_69">
              <a:extLst>
                <a:ext uri="{FF2B5EF4-FFF2-40B4-BE49-F238E27FC236}">
                  <a16:creationId xmlns:a16="http://schemas.microsoft.com/office/drawing/2014/main" id="{47EF09ED-BB1E-4458-89FC-F1C2CAAA62CB}"/>
                </a:ext>
              </a:extLst>
            </p:cNvPr>
            <p:cNvSpPr>
              <a:spLocks/>
            </p:cNvSpPr>
            <p:nvPr/>
          </p:nvSpPr>
          <p:spPr>
            <a:xfrm>
              <a:off x="6343650" y="4575810"/>
              <a:ext cx="66675" cy="68580"/>
            </a:xfrm>
            <a:custGeom>
              <a:avLst/>
              <a:gdLst/>
              <a:ahLst/>
              <a:cxnLst/>
              <a:rect l="0" t="0" r="0" b="0"/>
              <a:pathLst>
                <a:path w="66675" h="68580">
                  <a:moveTo>
                    <a:pt x="0" y="34290"/>
                  </a:moveTo>
                  <a:lnTo>
                    <a:pt x="66675" y="0"/>
                  </a:lnTo>
                  <a:lnTo>
                    <a:pt x="66675" y="68580"/>
                  </a:lnTo>
                  <a:close/>
                </a:path>
              </a:pathLst>
            </a:custGeom>
            <a:solidFill>
              <a:srgbClr val="9C5875"/>
            </a:solidFill>
            <a:ln w="0">
              <a:noFill/>
            </a:ln>
          </p:spPr>
        </p:sp>
        <p:sp>
          <p:nvSpPr>
            <p:cNvPr id="71" name="roundRect_70">
              <a:extLst>
                <a:ext uri="{FF2B5EF4-FFF2-40B4-BE49-F238E27FC236}">
                  <a16:creationId xmlns:a16="http://schemas.microsoft.com/office/drawing/2014/main" id="{DA5BCC75-84BA-455E-9807-52534C8894BB}"/>
                </a:ext>
              </a:extLst>
            </p:cNvPr>
            <p:cNvSpPr>
              <a:spLocks/>
            </p:cNvSpPr>
            <p:nvPr/>
          </p:nvSpPr>
          <p:spPr>
            <a:xfrm>
              <a:off x="4095750" y="4000500"/>
              <a:ext cx="2247900" cy="1333500"/>
            </a:xfrm>
            <a:prstGeom prst="roundRect">
              <a:avLst>
                <a:gd name="adj" fmla="val 6429"/>
              </a:avLst>
            </a:prstGeom>
            <a:solidFill>
              <a:srgbClr val="FCF5F8"/>
            </a:solidFill>
            <a:ln w="9525">
              <a:solidFill>
                <a:srgbClr val="C695AA"/>
              </a:solidFill>
              <a:prstDash val="solid"/>
            </a:ln>
          </p:spPr>
        </p:sp>
        <p:sp>
          <p:nvSpPr>
            <p:cNvPr id="72" name="textbox_71">
              <a:extLst>
                <a:ext uri="{FF2B5EF4-FFF2-40B4-BE49-F238E27FC236}">
                  <a16:creationId xmlns:a16="http://schemas.microsoft.com/office/drawing/2014/main" id="{19B20083-7A84-4CE7-B01B-2A1B3F73A752}"/>
                </a:ext>
              </a:extLst>
            </p:cNvPr>
            <p:cNvSpPr>
              <a:spLocks/>
            </p:cNvSpPr>
            <p:nvPr/>
          </p:nvSpPr>
          <p:spPr>
            <a:xfrm>
              <a:off x="4238625" y="4114800"/>
              <a:ext cx="1971675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575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575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75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rPr>
                <a:t>04  更新状态</a:t>
              </a:r>
            </a:p>
          </p:txBody>
        </p:sp>
        <p:sp>
          <p:nvSpPr>
            <p:cNvPr id="73" name="textbox_72">
              <a:extLst>
                <a:ext uri="{FF2B5EF4-FFF2-40B4-BE49-F238E27FC236}">
                  <a16:creationId xmlns:a16="http://schemas.microsoft.com/office/drawing/2014/main" id="{8E02DA8F-A855-4A26-9370-41C784A51FA6}"/>
                </a:ext>
              </a:extLst>
            </p:cNvPr>
            <p:cNvSpPr>
              <a:spLocks/>
            </p:cNvSpPr>
            <p:nvPr/>
          </p:nvSpPr>
          <p:spPr>
            <a:xfrm>
              <a:off x="4238625" y="4533900"/>
              <a:ext cx="1971675" cy="5715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追加历史与残差摘要</a:t>
              </a:r>
            </a:p>
            <a:p>
              <a:pPr algn="l">
                <a:def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扣减探测及运行成本</a:t>
              </a:r>
            </a:p>
            <a:p>
              <a:pPr algn="l">
                <a:def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12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标记该候选已执行</a:t>
              </a:r>
            </a:p>
          </p:txBody>
        </p:sp>
        <p:sp>
          <p:nvSpPr>
            <p:cNvPr id="74" name="native_curve_73">
              <a:extLst>
                <a:ext uri="{FF2B5EF4-FFF2-40B4-BE49-F238E27FC236}">
                  <a16:creationId xmlns:a16="http://schemas.microsoft.com/office/drawing/2014/main" id="{3BA13AE1-5F14-42A2-98A6-67C9B5D619AB}"/>
                </a:ext>
              </a:extLst>
            </p:cNvPr>
            <p:cNvSpPr>
              <a:spLocks/>
            </p:cNvSpPr>
            <p:nvPr/>
          </p:nvSpPr>
          <p:spPr>
            <a:xfrm>
              <a:off x="3790950" y="4657725"/>
              <a:ext cx="304800" cy="953"/>
            </a:xfrm>
            <a:custGeom>
              <a:avLst/>
              <a:gdLst/>
              <a:ahLst/>
              <a:cxnLst/>
              <a:rect l="0" t="0" r="0" b="0"/>
              <a:pathLst>
                <a:path w="304800" h="953">
                  <a:moveTo>
                    <a:pt x="304800" y="0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9C5875"/>
              </a:solidFill>
              <a:prstDash val="solid"/>
            </a:ln>
          </p:spPr>
        </p:sp>
        <p:sp>
          <p:nvSpPr>
            <p:cNvPr id="75" name="arrow_tip_74">
              <a:extLst>
                <a:ext uri="{FF2B5EF4-FFF2-40B4-BE49-F238E27FC236}">
                  <a16:creationId xmlns:a16="http://schemas.microsoft.com/office/drawing/2014/main" id="{73F275A7-7DB8-429E-9B11-9B014A38D5C8}"/>
                </a:ext>
              </a:extLst>
            </p:cNvPr>
            <p:cNvSpPr>
              <a:spLocks/>
            </p:cNvSpPr>
            <p:nvPr/>
          </p:nvSpPr>
          <p:spPr>
            <a:xfrm>
              <a:off x="3790950" y="4623435"/>
              <a:ext cx="66675" cy="68580"/>
            </a:xfrm>
            <a:custGeom>
              <a:avLst/>
              <a:gdLst/>
              <a:ahLst/>
              <a:cxnLst/>
              <a:rect l="0" t="0" r="0" b="0"/>
              <a:pathLst>
                <a:path w="66675" h="68580">
                  <a:moveTo>
                    <a:pt x="0" y="34290"/>
                  </a:moveTo>
                  <a:lnTo>
                    <a:pt x="66675" y="0"/>
                  </a:lnTo>
                  <a:lnTo>
                    <a:pt x="66675" y="68580"/>
                  </a:lnTo>
                  <a:close/>
                </a:path>
              </a:pathLst>
            </a:custGeom>
            <a:solidFill>
              <a:srgbClr val="9C5875"/>
            </a:solidFill>
            <a:ln w="0">
              <a:noFill/>
            </a:ln>
          </p:spPr>
        </p:sp>
        <p:sp>
          <p:nvSpPr>
            <p:cNvPr id="76" name="diamond_75">
              <a:extLst>
                <a:ext uri="{FF2B5EF4-FFF2-40B4-BE49-F238E27FC236}">
                  <a16:creationId xmlns:a16="http://schemas.microsoft.com/office/drawing/2014/main" id="{17A168BA-1FB6-4997-9475-6650B5B184EF}"/>
                </a:ext>
              </a:extLst>
            </p:cNvPr>
            <p:cNvSpPr>
              <a:spLocks/>
            </p:cNvSpPr>
            <p:nvPr/>
          </p:nvSpPr>
          <p:spPr>
            <a:xfrm>
              <a:off x="2409825" y="3990975"/>
              <a:ext cx="1381125" cy="1333500"/>
            </a:xfrm>
            <a:prstGeom prst="diamond">
              <a:avLst/>
            </a:prstGeom>
            <a:solidFill>
              <a:srgbClr val="EEF0F7"/>
            </a:solidFill>
            <a:ln w="9525">
              <a:solidFill>
                <a:srgbClr val="D8D9E3"/>
              </a:solidFill>
              <a:prstDash val="solid"/>
            </a:ln>
          </p:spPr>
        </p:sp>
        <p:sp>
          <p:nvSpPr>
            <p:cNvPr id="77" name="textbox_76">
              <a:extLst>
                <a:ext uri="{FF2B5EF4-FFF2-40B4-BE49-F238E27FC236}">
                  <a16:creationId xmlns:a16="http://schemas.microsoft.com/office/drawing/2014/main" id="{B6FBA2B7-81BB-4E11-B25C-A153EB38DE96}"/>
                </a:ext>
              </a:extLst>
            </p:cNvPr>
            <p:cNvSpPr>
              <a:spLocks/>
            </p:cNvSpPr>
            <p:nvPr/>
          </p:nvSpPr>
          <p:spPr>
            <a:xfrm>
              <a:off x="2762250" y="4391025"/>
              <a:ext cx="666750" cy="2667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ctr">
                <a:defRPr sz="15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5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继续？</a:t>
              </a:r>
            </a:p>
          </p:txBody>
        </p:sp>
        <p:sp>
          <p:nvSpPr>
            <p:cNvPr id="78" name="textbox_77">
              <a:extLst>
                <a:ext uri="{FF2B5EF4-FFF2-40B4-BE49-F238E27FC236}">
                  <a16:creationId xmlns:a16="http://schemas.microsoft.com/office/drawing/2014/main" id="{382A75E7-6BC0-457F-9C65-3F08D6CEA4C1}"/>
                </a:ext>
              </a:extLst>
            </p:cNvPr>
            <p:cNvSpPr>
              <a:spLocks/>
            </p:cNvSpPr>
            <p:nvPr/>
          </p:nvSpPr>
          <p:spPr>
            <a:xfrm>
              <a:off x="2762250" y="4705350"/>
              <a:ext cx="666750" cy="3429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ctr">
                <a:def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预算与</a:t>
              </a:r>
            </a:p>
            <a:p>
              <a:pPr algn="ctr">
                <a:def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候选</a:t>
              </a:r>
            </a:p>
          </p:txBody>
        </p:sp>
      </p:grpSp>
      <p:grpSp>
        <p:nvGrpSpPr>
          <p:cNvPr id="99" name="sequence_branch">
            <a:extLst>
              <a:ext uri="{FF2B5EF4-FFF2-40B4-BE49-F238E27FC236}">
                <a16:creationId xmlns:a16="http://schemas.microsoft.com/office/drawing/2014/main" id="{386265CA-2B03-7C7B-68DF-B0259A9F1DD3}"/>
              </a:ext>
            </a:extLst>
          </p:cNvPr>
          <p:cNvGrpSpPr/>
          <p:nvPr/>
        </p:nvGrpSpPr>
        <p:grpSpPr>
          <a:xfrm>
            <a:off x="400050" y="3267075"/>
            <a:ext cx="4263390" cy="1914525"/>
            <a:chOff x="400050" y="3267075"/>
            <a:chExt cx="4263390" cy="1914525"/>
          </a:xfrm>
        </p:grpSpPr>
        <p:sp>
          <p:nvSpPr>
            <p:cNvPr id="79" name="native_curve_78">
              <a:extLst>
                <a:ext uri="{FF2B5EF4-FFF2-40B4-BE49-F238E27FC236}">
                  <a16:creationId xmlns:a16="http://schemas.microsoft.com/office/drawing/2014/main" id="{50D2D0F8-622E-4305-9F02-165A9DF9DFE6}"/>
                </a:ext>
              </a:extLst>
            </p:cNvPr>
            <p:cNvSpPr>
              <a:spLocks/>
            </p:cNvSpPr>
            <p:nvPr/>
          </p:nvSpPr>
          <p:spPr>
            <a:xfrm>
              <a:off x="3095625" y="3267075"/>
              <a:ext cx="1533525" cy="723900"/>
            </a:xfrm>
            <a:custGeom>
              <a:avLst/>
              <a:gdLst/>
              <a:ahLst/>
              <a:cxnLst/>
              <a:rect l="0" t="0" r="0" b="0"/>
              <a:pathLst>
                <a:path w="1533525" h="723900">
                  <a:moveTo>
                    <a:pt x="0" y="723900"/>
                  </a:moveTo>
                  <a:lnTo>
                    <a:pt x="0" y="470059"/>
                  </a:lnTo>
                  <a:cubicBezTo>
                    <a:pt x="0" y="378936"/>
                    <a:pt x="45561" y="333375"/>
                    <a:pt x="136684" y="333375"/>
                  </a:cubicBezTo>
                  <a:lnTo>
                    <a:pt x="1416844" y="333375"/>
                  </a:lnTo>
                  <a:cubicBezTo>
                    <a:pt x="1494631" y="333375"/>
                    <a:pt x="1533525" y="294481"/>
                    <a:pt x="1533525" y="216694"/>
                  </a:cubicBezTo>
                  <a:lnTo>
                    <a:pt x="1533525" y="0"/>
                  </a:lnTo>
                </a:path>
              </a:pathLst>
            </a:custGeom>
            <a:noFill/>
            <a:ln w="20955">
              <a:solidFill>
                <a:srgbClr val="9C5875"/>
              </a:solidFill>
              <a:prstDash val="solid"/>
            </a:ln>
          </p:spPr>
        </p:sp>
        <p:sp>
          <p:nvSpPr>
            <p:cNvPr id="80" name="arrow_tip_79">
              <a:extLst>
                <a:ext uri="{FF2B5EF4-FFF2-40B4-BE49-F238E27FC236}">
                  <a16:creationId xmlns:a16="http://schemas.microsoft.com/office/drawing/2014/main" id="{5E3D13FD-4085-41C0-BCCF-F1A794FEE0C1}"/>
                </a:ext>
              </a:extLst>
            </p:cNvPr>
            <p:cNvSpPr>
              <a:spLocks/>
            </p:cNvSpPr>
            <p:nvPr/>
          </p:nvSpPr>
          <p:spPr>
            <a:xfrm>
              <a:off x="4594860" y="3267075"/>
              <a:ext cx="68580" cy="66675"/>
            </a:xfrm>
            <a:custGeom>
              <a:avLst/>
              <a:gdLst/>
              <a:ahLst/>
              <a:cxnLst/>
              <a:rect l="0" t="0" r="0" b="0"/>
              <a:pathLst>
                <a:path w="68580" h="66675">
                  <a:moveTo>
                    <a:pt x="34290" y="0"/>
                  </a:moveTo>
                  <a:lnTo>
                    <a:pt x="68580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9C5875"/>
            </a:solidFill>
            <a:ln w="0">
              <a:noFill/>
            </a:ln>
          </p:spPr>
        </p:sp>
        <p:sp>
          <p:nvSpPr>
            <p:cNvPr id="81" name="textbox_80">
              <a:extLst>
                <a:ext uri="{FF2B5EF4-FFF2-40B4-BE49-F238E27FC236}">
                  <a16:creationId xmlns:a16="http://schemas.microsoft.com/office/drawing/2014/main" id="{1CC21323-C791-4389-8095-09A1F183CDA5}"/>
                </a:ext>
              </a:extLst>
            </p:cNvPr>
            <p:cNvSpPr>
              <a:spLocks/>
            </p:cNvSpPr>
            <p:nvPr/>
          </p:nvSpPr>
          <p:spPr>
            <a:xfrm>
              <a:off x="3381375" y="3371850"/>
              <a:ext cx="952500" cy="2286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05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05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05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rPr>
                <a:t>继续选择</a:t>
              </a:r>
            </a:p>
          </p:txBody>
        </p:sp>
        <p:sp>
          <p:nvSpPr>
            <p:cNvPr id="82" name="native_curve_81">
              <a:extLst>
                <a:ext uri="{FF2B5EF4-FFF2-40B4-BE49-F238E27FC236}">
                  <a16:creationId xmlns:a16="http://schemas.microsoft.com/office/drawing/2014/main" id="{97CB9E4E-75DB-4E56-8DA7-55E6E0107173}"/>
                </a:ext>
              </a:extLst>
            </p:cNvPr>
            <p:cNvSpPr>
              <a:spLocks/>
            </p:cNvSpPr>
            <p:nvPr/>
          </p:nvSpPr>
          <p:spPr>
            <a:xfrm>
              <a:off x="2000250" y="4657725"/>
              <a:ext cx="409575" cy="953"/>
            </a:xfrm>
            <a:custGeom>
              <a:avLst/>
              <a:gdLst/>
              <a:ahLst/>
              <a:cxnLst/>
              <a:rect l="0" t="0" r="0" b="0"/>
              <a:pathLst>
                <a:path w="409575" h="953">
                  <a:moveTo>
                    <a:pt x="409575" y="0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9A754A"/>
              </a:solidFill>
              <a:prstDash val="solid"/>
            </a:ln>
          </p:spPr>
        </p:sp>
        <p:sp>
          <p:nvSpPr>
            <p:cNvPr id="83" name="arrow_tip_82">
              <a:extLst>
                <a:ext uri="{FF2B5EF4-FFF2-40B4-BE49-F238E27FC236}">
                  <a16:creationId xmlns:a16="http://schemas.microsoft.com/office/drawing/2014/main" id="{297C6695-E6C2-4C01-A675-86AD4E8C4C22}"/>
                </a:ext>
              </a:extLst>
            </p:cNvPr>
            <p:cNvSpPr>
              <a:spLocks/>
            </p:cNvSpPr>
            <p:nvPr/>
          </p:nvSpPr>
          <p:spPr>
            <a:xfrm>
              <a:off x="2000250" y="4623435"/>
              <a:ext cx="66675" cy="68580"/>
            </a:xfrm>
            <a:custGeom>
              <a:avLst/>
              <a:gdLst/>
              <a:ahLst/>
              <a:cxnLst/>
              <a:rect l="0" t="0" r="0" b="0"/>
              <a:pathLst>
                <a:path w="66675" h="68580">
                  <a:moveTo>
                    <a:pt x="0" y="34290"/>
                  </a:moveTo>
                  <a:lnTo>
                    <a:pt x="66675" y="0"/>
                  </a:lnTo>
                  <a:lnTo>
                    <a:pt x="66675" y="68580"/>
                  </a:lnTo>
                  <a:close/>
                </a:path>
              </a:pathLst>
            </a:custGeom>
            <a:solidFill>
              <a:srgbClr val="9A754A"/>
            </a:solidFill>
            <a:ln w="0">
              <a:noFill/>
            </a:ln>
          </p:spPr>
        </p:sp>
        <p:sp>
          <p:nvSpPr>
            <p:cNvPr id="84" name="roundRect_83">
              <a:extLst>
                <a:ext uri="{FF2B5EF4-FFF2-40B4-BE49-F238E27FC236}">
                  <a16:creationId xmlns:a16="http://schemas.microsoft.com/office/drawing/2014/main" id="{8EC12E82-EDAE-485F-8F1E-37FCA68233C1}"/>
                </a:ext>
              </a:extLst>
            </p:cNvPr>
            <p:cNvSpPr>
              <a:spLocks/>
            </p:cNvSpPr>
            <p:nvPr/>
          </p:nvSpPr>
          <p:spPr>
            <a:xfrm>
              <a:off x="400050" y="4314825"/>
              <a:ext cx="1600200" cy="866775"/>
            </a:xfrm>
            <a:prstGeom prst="roundRect">
              <a:avLst>
                <a:gd name="adj" fmla="val 9890"/>
              </a:avLst>
            </a:prstGeom>
            <a:solidFill>
              <a:srgbClr val="F7F1E8"/>
            </a:solidFill>
            <a:ln w="9525">
              <a:solidFill>
                <a:srgbClr val="BA9B73"/>
              </a:solidFill>
              <a:prstDash val="solid"/>
            </a:ln>
          </p:spPr>
        </p:sp>
        <p:sp>
          <p:nvSpPr>
            <p:cNvPr id="85" name="textbox_84">
              <a:extLst>
                <a:ext uri="{FF2B5EF4-FFF2-40B4-BE49-F238E27FC236}">
                  <a16:creationId xmlns:a16="http://schemas.microsoft.com/office/drawing/2014/main" id="{B2E9EE56-8AE2-4807-B928-3E5B6935BA3F}"/>
                </a:ext>
              </a:extLst>
            </p:cNvPr>
            <p:cNvSpPr>
              <a:spLocks/>
            </p:cNvSpPr>
            <p:nvPr/>
          </p:nvSpPr>
          <p:spPr>
            <a:xfrm>
              <a:off x="542925" y="4419600"/>
              <a:ext cx="131445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425" b="1">
                  <a:solidFill>
                    <a:srgbClr val="9A754A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425" b="1">
                  <a:solidFill>
                    <a:srgbClr val="9A754A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425" b="1">
                  <a:solidFill>
                    <a:srgbClr val="9A754A"/>
                  </a:solidFill>
                  <a:latin typeface="Noto Sans SC"/>
                  <a:ea typeface="Noto Sans SC"/>
                  <a:cs typeface="Noto Sans SC"/>
                </a:rPr>
                <a:t>提交最佳候选</a:t>
              </a:r>
            </a:p>
          </p:txBody>
        </p:sp>
        <p:sp>
          <p:nvSpPr>
            <p:cNvPr id="86" name="textbox_85">
              <a:extLst>
                <a:ext uri="{FF2B5EF4-FFF2-40B4-BE49-F238E27FC236}">
                  <a16:creationId xmlns:a16="http://schemas.microsoft.com/office/drawing/2014/main" id="{3A2F7479-7C45-4B41-AE67-9DA1806AEB49}"/>
                </a:ext>
              </a:extLst>
            </p:cNvPr>
            <p:cNvSpPr>
              <a:spLocks/>
            </p:cNvSpPr>
            <p:nvPr/>
          </p:nvSpPr>
          <p:spPr>
            <a:xfrm>
              <a:off x="542925" y="4762500"/>
              <a:ext cx="1314450" cy="2857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00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保留产物与运行记录</a:t>
              </a:r>
            </a:p>
          </p:txBody>
        </p:sp>
        <p:sp>
          <p:nvSpPr>
            <p:cNvPr id="87" name="textbox_86">
              <a:extLst>
                <a:ext uri="{FF2B5EF4-FFF2-40B4-BE49-F238E27FC236}">
                  <a16:creationId xmlns:a16="http://schemas.microsoft.com/office/drawing/2014/main" id="{95345F9F-DF07-46A0-8A93-992FD6454478}"/>
                </a:ext>
              </a:extLst>
            </p:cNvPr>
            <p:cNvSpPr>
              <a:spLocks/>
            </p:cNvSpPr>
            <p:nvPr/>
          </p:nvSpPr>
          <p:spPr>
            <a:xfrm>
              <a:off x="2057400" y="4857750"/>
              <a:ext cx="352425" cy="2095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00" b="1">
                  <a:solidFill>
                    <a:srgbClr val="9A754A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00" b="1">
                  <a:solidFill>
                    <a:srgbClr val="9A754A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900" b="1">
                  <a:solidFill>
                    <a:srgbClr val="9A754A"/>
                  </a:solidFill>
                  <a:latin typeface="Noto Sans SC"/>
                  <a:ea typeface="Noto Sans SC"/>
                  <a:cs typeface="Noto Sans SC"/>
                </a:rPr>
                <a:t>停止</a:t>
              </a:r>
            </a:p>
          </p:txBody>
        </p:sp>
      </p:grpSp>
      <p:sp>
        <p:nvSpPr>
          <p:cNvPr id="88" name="line_87">
            <a:extLst>
              <a:ext uri="{FF2B5EF4-FFF2-40B4-BE49-F238E27FC236}">
                <a16:creationId xmlns:a16="http://schemas.microsoft.com/office/drawing/2014/main" id="{2A71014C-C78D-40B2-BFE5-7EB21E2EE731}"/>
              </a:ext>
            </a:extLst>
          </p:cNvPr>
          <p:cNvSpPr>
            <a:spLocks/>
          </p:cNvSpPr>
          <p:nvPr/>
        </p:nvSpPr>
        <p:spPr>
          <a:xfrm>
            <a:off x="371475" y="5800725"/>
            <a:ext cx="10687050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89" name="rect_88">
            <a:extLst>
              <a:ext uri="{FF2B5EF4-FFF2-40B4-BE49-F238E27FC236}">
                <a16:creationId xmlns:a16="http://schemas.microsoft.com/office/drawing/2014/main" id="{83265131-FBA4-44BB-8666-A32B9B2A435D}"/>
              </a:ext>
            </a:extLst>
          </p:cNvPr>
          <p:cNvSpPr>
            <a:spLocks/>
          </p:cNvSpPr>
          <p:nvPr/>
        </p:nvSpPr>
        <p:spPr>
          <a:xfrm>
            <a:off x="371475" y="5886450"/>
            <a:ext cx="38100" cy="20002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90" name="textbox_89">
            <a:extLst>
              <a:ext uri="{FF2B5EF4-FFF2-40B4-BE49-F238E27FC236}">
                <a16:creationId xmlns:a16="http://schemas.microsoft.com/office/drawing/2014/main" id="{A647EDF4-B5D8-4641-84C7-059265EC25F2}"/>
              </a:ext>
            </a:extLst>
          </p:cNvPr>
          <p:cNvSpPr>
            <a:spLocks/>
          </p:cNvSpPr>
          <p:nvPr/>
        </p:nvSpPr>
        <p:spPr>
          <a:xfrm>
            <a:off x="495300" y="5848350"/>
            <a:ext cx="1043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一次决策只能依赖当时可见的信息。</a:t>
            </a:r>
          </a:p>
        </p:txBody>
      </p:sp>
      <p:sp>
        <p:nvSpPr>
          <p:cNvPr id="91" name="textbox_90">
            <a:extLst>
              <a:ext uri="{FF2B5EF4-FFF2-40B4-BE49-F238E27FC236}">
                <a16:creationId xmlns:a16="http://schemas.microsoft.com/office/drawing/2014/main" id="{3E6BE98A-9EC5-453E-A6D2-0870BE00AEA6}"/>
              </a:ext>
            </a:extLst>
          </p:cNvPr>
          <p:cNvSpPr>
            <a:spLocks/>
          </p:cNvSpPr>
          <p:nvPr/>
        </p:nvSpPr>
        <p:spPr>
          <a:xfrm>
            <a:off x="371475" y="6219825"/>
            <a:ext cx="10287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路线 V1.0 · 视觉测试稿 · 研究设计待验证</a:t>
            </a:r>
          </a:p>
        </p:txBody>
      </p:sp>
      <p:sp>
        <p:nvSpPr>
          <p:cNvPr id="92" name="textbox_91">
            <a:extLst>
              <a:ext uri="{FF2B5EF4-FFF2-40B4-BE49-F238E27FC236}">
                <a16:creationId xmlns:a16="http://schemas.microsoft.com/office/drawing/2014/main" id="{C11E8221-BA3C-41E6-8C75-BF854D045613}"/>
              </a:ext>
            </a:extLst>
          </p:cNvPr>
          <p:cNvSpPr>
            <a:spLocks/>
          </p:cNvSpPr>
          <p:nvPr/>
        </p:nvSpPr>
        <p:spPr>
          <a:xfrm>
            <a:off x="10620375" y="619125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57131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_1">
            <a:extLst>
              <a:ext uri="{FF2B5EF4-FFF2-40B4-BE49-F238E27FC236}">
                <a16:creationId xmlns:a16="http://schemas.microsoft.com/office/drawing/2014/main" id="{3E5F0492-8FE3-43B6-B820-2F40E1ADAD32}"/>
              </a:ext>
            </a:extLst>
          </p:cNvPr>
          <p:cNvSpPr>
            <a:spLocks/>
          </p:cNvSpPr>
          <p:nvPr/>
        </p:nvSpPr>
        <p:spPr>
          <a:xfrm>
            <a:off x="3714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01  研究问题</a:t>
            </a:r>
          </a:p>
        </p:txBody>
      </p:sp>
      <p:sp>
        <p:nvSpPr>
          <p:cNvPr id="2" name="textbox_2">
            <a:extLst>
              <a:ext uri="{FF2B5EF4-FFF2-40B4-BE49-F238E27FC236}">
                <a16:creationId xmlns:a16="http://schemas.microsoft.com/office/drawing/2014/main" id="{F6191E08-1101-46C2-A55A-C8AA6257C03D}"/>
              </a:ext>
            </a:extLst>
          </p:cNvPr>
          <p:cNvSpPr>
            <a:spLocks/>
          </p:cNvSpPr>
          <p:nvPr/>
        </p:nvSpPr>
        <p:spPr>
          <a:xfrm>
            <a:off x="251460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02  对象与基础</a:t>
            </a:r>
          </a:p>
        </p:txBody>
      </p:sp>
      <p:sp>
        <p:nvSpPr>
          <p:cNvPr id="3" name="textbox_3">
            <a:extLst>
              <a:ext uri="{FF2B5EF4-FFF2-40B4-BE49-F238E27FC236}">
                <a16:creationId xmlns:a16="http://schemas.microsoft.com/office/drawing/2014/main" id="{31D36DAC-3B13-4B08-B02D-8BEEC173D7D8}"/>
              </a:ext>
            </a:extLst>
          </p:cNvPr>
          <p:cNvSpPr>
            <a:spLocks/>
          </p:cNvSpPr>
          <p:nvPr/>
        </p:nvSpPr>
        <p:spPr>
          <a:xfrm>
            <a:off x="465772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03  方法与机制</a:t>
            </a:r>
          </a:p>
        </p:txBody>
      </p:sp>
      <p:sp>
        <p:nvSpPr>
          <p:cNvPr id="4" name="textbox_4">
            <a:extLst>
              <a:ext uri="{FF2B5EF4-FFF2-40B4-BE49-F238E27FC236}">
                <a16:creationId xmlns:a16="http://schemas.microsoft.com/office/drawing/2014/main" id="{4D2E452A-13E3-4873-BDD3-BCD940A749CE}"/>
              </a:ext>
            </a:extLst>
          </p:cNvPr>
          <p:cNvSpPr>
            <a:spLocks/>
          </p:cNvSpPr>
          <p:nvPr/>
        </p:nvSpPr>
        <p:spPr>
          <a:xfrm>
            <a:off x="680085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04  实验与证据</a:t>
            </a:r>
          </a:p>
        </p:txBody>
      </p:sp>
      <p:sp>
        <p:nvSpPr>
          <p:cNvPr id="5" name="rect_5">
            <a:extLst>
              <a:ext uri="{FF2B5EF4-FFF2-40B4-BE49-F238E27FC236}">
                <a16:creationId xmlns:a16="http://schemas.microsoft.com/office/drawing/2014/main" id="{31DA9715-F1E7-4475-B259-A2655A90328A}"/>
              </a:ext>
            </a:extLst>
          </p:cNvPr>
          <p:cNvSpPr>
            <a:spLocks/>
          </p:cNvSpPr>
          <p:nvPr/>
        </p:nvSpPr>
        <p:spPr>
          <a:xfrm>
            <a:off x="6800850" y="447675"/>
            <a:ext cx="1238250" cy="2857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6" name="textbox_6">
            <a:extLst>
              <a:ext uri="{FF2B5EF4-FFF2-40B4-BE49-F238E27FC236}">
                <a16:creationId xmlns:a16="http://schemas.microsoft.com/office/drawing/2014/main" id="{1CCB49F2-7623-4DE2-9CDC-3E25CD721D9B}"/>
              </a:ext>
            </a:extLst>
          </p:cNvPr>
          <p:cNvSpPr>
            <a:spLocks/>
          </p:cNvSpPr>
          <p:nvPr/>
        </p:nvSpPr>
        <p:spPr>
          <a:xfrm>
            <a:off x="89439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05  实施与产出</a:t>
            </a:r>
          </a:p>
        </p:txBody>
      </p:sp>
      <p:sp>
        <p:nvSpPr>
          <p:cNvPr id="7" name="line_7">
            <a:extLst>
              <a:ext uri="{FF2B5EF4-FFF2-40B4-BE49-F238E27FC236}">
                <a16:creationId xmlns:a16="http://schemas.microsoft.com/office/drawing/2014/main" id="{97EF5670-B2F9-4B35-A7E2-DE07EDE2D6A1}"/>
              </a:ext>
            </a:extLst>
          </p:cNvPr>
          <p:cNvSpPr>
            <a:spLocks/>
          </p:cNvSpPr>
          <p:nvPr/>
        </p:nvSpPr>
        <p:spPr>
          <a:xfrm>
            <a:off x="371475" y="476250"/>
            <a:ext cx="10677525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8" name="slide_title">
            <a:extLst>
              <a:ext uri="{FF2B5EF4-FFF2-40B4-BE49-F238E27FC236}">
                <a16:creationId xmlns:a16="http://schemas.microsoft.com/office/drawing/2014/main" id="{44C36916-AC58-4FC7-AC09-5D4302097E07}"/>
              </a:ext>
            </a:extLst>
          </p:cNvPr>
          <p:cNvSpPr>
            <a:spLocks/>
          </p:cNvSpPr>
          <p:nvPr/>
        </p:nvSpPr>
        <p:spPr>
          <a:xfrm>
            <a:off x="361950" y="685800"/>
            <a:ext cx="10706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defPPr>
          </a:lstStyle>
          <a:p>
            <a: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pP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12</a:t>
            </a:r>
            <a:r>
              <a:rPr sz="2175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  </a:t>
            </a: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离线回放：用已有候选池比较不同搜索策略</a:t>
            </a:r>
          </a:p>
        </p:txBody>
      </p:sp>
      <p:sp>
        <p:nvSpPr>
          <p:cNvPr id="9" name="textbox_8">
            <a:extLst>
              <a:ext uri="{FF2B5EF4-FFF2-40B4-BE49-F238E27FC236}">
                <a16:creationId xmlns:a16="http://schemas.microsoft.com/office/drawing/2014/main" id="{87E5AF63-C0AF-43CA-8E79-B4912C88DFB9}"/>
              </a:ext>
            </a:extLst>
          </p:cNvPr>
          <p:cNvSpPr>
            <a:spLocks/>
          </p:cNvSpPr>
          <p:nvPr/>
        </p:nvSpPr>
        <p:spPr>
          <a:xfrm>
            <a:off x="381000" y="1133475"/>
            <a:ext cx="10668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候选池存完整实验结果，策略端只看到已查询记录。</a:t>
            </a:r>
          </a:p>
        </p:txBody>
      </p:sp>
      <p:grpSp>
        <p:nvGrpSpPr>
          <p:cNvPr id="40" name="complete_diagram_with_connectors">
            <a:extLst>
              <a:ext uri="{FF2B5EF4-FFF2-40B4-BE49-F238E27FC236}">
                <a16:creationId xmlns:a16="http://schemas.microsoft.com/office/drawing/2014/main" id="{5B07D822-0D61-CE46-A26A-07B35049B3CB}"/>
              </a:ext>
            </a:extLst>
          </p:cNvPr>
          <p:cNvGrpSpPr/>
          <p:nvPr/>
        </p:nvGrpSpPr>
        <p:grpSpPr>
          <a:xfrm>
            <a:off x="399336" y="1476375"/>
            <a:ext cx="10659189" cy="3952875"/>
            <a:chOff x="399336" y="1476375"/>
            <a:chExt cx="10659189" cy="3952875"/>
          </a:xfrm>
        </p:grpSpPr>
        <p:cxnSp>
          <p:nvCxnSpPr>
            <p:cNvPr id="15" name="connector_14">
              <a:extLst>
                <a:ext uri="{FF2B5EF4-FFF2-40B4-BE49-F238E27FC236}">
                  <a16:creationId xmlns:a16="http://schemas.microsoft.com/office/drawing/2014/main" id="{D9A0596D-D511-44D1-900A-932DF409F459}"/>
                </a:ext>
              </a:extLst>
            </p:cNvPr>
            <p:cNvCxnSpPr>
              <a:stCxn id="11" idx="3"/>
              <a:endCxn id="13" idx="5"/>
            </p:cNvCxnSpPr>
            <p:nvPr/>
          </p:nvCxnSpPr>
          <p:spPr>
            <a:xfrm>
              <a:off x="4074343" y="2825134"/>
              <a:ext cx="820045" cy="751107"/>
            </a:xfrm>
            <a:prstGeom prst="straightConnector1">
              <a:avLst/>
            </a:prstGeom>
            <a:ln w="20955">
              <a:solidFill>
                <a:srgbClr val="9C5875"/>
              </a:solidFill>
              <a:prstDash val="dash"/>
              <a:tailEnd type="triangle" w="med" len="med"/>
            </a:ln>
          </p:spPr>
        </p:cxnSp>
        <p:cxnSp>
          <p:nvCxnSpPr>
            <p:cNvPr id="16" name="connector_15">
              <a:extLst>
                <a:ext uri="{FF2B5EF4-FFF2-40B4-BE49-F238E27FC236}">
                  <a16:creationId xmlns:a16="http://schemas.microsoft.com/office/drawing/2014/main" id="{2BEF5C50-1490-4BCE-B2EB-D5D3A2578332}"/>
                </a:ext>
              </a:extLst>
            </p:cNvPr>
            <p:cNvCxnSpPr>
              <a:stCxn id="12" idx="3"/>
              <a:endCxn id="13" idx="3"/>
            </p:cNvCxnSpPr>
            <p:nvPr/>
          </p:nvCxnSpPr>
          <p:spPr>
            <a:xfrm flipV="1">
              <a:off x="2178891" y="4246583"/>
              <a:ext cx="889778" cy="16153"/>
            </a:xfrm>
            <a:prstGeom prst="straightConnector1">
              <a:avLst/>
            </a:prstGeom>
            <a:ln w="20955">
              <a:solidFill>
                <a:srgbClr val="9C5875"/>
              </a:solidFill>
              <a:prstDash val="solid"/>
              <a:tailEnd type="triangle" w="med" len="med"/>
            </a:ln>
          </p:spPr>
        </p:cxnSp>
        <p:cxnSp>
          <p:nvCxnSpPr>
            <p:cNvPr id="17" name="connector_16">
              <a:extLst>
                <a:ext uri="{FF2B5EF4-FFF2-40B4-BE49-F238E27FC236}">
                  <a16:creationId xmlns:a16="http://schemas.microsoft.com/office/drawing/2014/main" id="{B936F8F4-8B75-4CAB-BFC2-1464D62C0FC1}"/>
                </a:ext>
              </a:extLst>
            </p:cNvPr>
            <p:cNvCxnSpPr>
              <a:stCxn id="13" idx="0"/>
              <a:endCxn id="14" idx="1"/>
            </p:cNvCxnSpPr>
            <p:nvPr/>
          </p:nvCxnSpPr>
          <p:spPr>
            <a:xfrm>
              <a:off x="5229558" y="4246583"/>
              <a:ext cx="874824" cy="28267"/>
            </a:xfrm>
            <a:prstGeom prst="straightConnector1">
              <a:avLst/>
            </a:prstGeom>
            <a:ln w="20955">
              <a:solidFill>
                <a:srgbClr val="9C5875"/>
              </a:solidFill>
              <a:prstDash val="solid"/>
              <a:tailEnd type="triangle" w="med" len="med"/>
            </a:ln>
          </p:spPr>
        </p:cxnSp>
        <p:grpSp>
          <p:nvGrpSpPr>
            <p:cNvPr id="39" name="page_13_stage_1">
              <a:extLst>
                <a:ext uri="{FF2B5EF4-FFF2-40B4-BE49-F238E27FC236}">
                  <a16:creationId xmlns:a16="http://schemas.microsoft.com/office/drawing/2014/main" id="{FC94B5AC-8E45-F952-9787-A365067ED2CD}"/>
                </a:ext>
              </a:extLst>
            </p:cNvPr>
            <p:cNvGrpSpPr/>
            <p:nvPr/>
          </p:nvGrpSpPr>
          <p:grpSpPr>
            <a:xfrm>
              <a:off x="399336" y="1476375"/>
              <a:ext cx="10659189" cy="3952875"/>
              <a:chOff x="399336" y="1476375"/>
              <a:chExt cx="10659189" cy="3952875"/>
            </a:xfrm>
          </p:grpSpPr>
          <p:sp>
            <p:nvSpPr>
              <p:cNvPr id="10" name="textbox_9">
                <a:extLst>
                  <a:ext uri="{FF2B5EF4-FFF2-40B4-BE49-F238E27FC236}">
                    <a16:creationId xmlns:a16="http://schemas.microsoft.com/office/drawing/2014/main" id="{8F256D36-F079-421A-B340-4292FB9CA14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99336" y="1476375"/>
                <a:ext cx="7327583" cy="290751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413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413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413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rPr>
                  <a:t>候选池由模拟器保管，策略不能直接遍历结果</a:t>
                </a:r>
              </a:p>
            </p:txBody>
          </p:sp>
          <p:sp>
            <p:nvSpPr>
              <p:cNvPr id="11" name="flowChartMagneticDisk_10">
                <a:extLst>
                  <a:ext uri="{FF2B5EF4-FFF2-40B4-BE49-F238E27FC236}">
                    <a16:creationId xmlns:a16="http://schemas.microsoft.com/office/drawing/2014/main" id="{C584B1C4-322B-4B53-9B75-2D0A5E83584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41401" y="2001341"/>
                <a:ext cx="7065883" cy="823793"/>
              </a:xfrm>
              <a:prstGeom prst="flowChartMagneticDisk">
                <a:avLst/>
              </a:prstGeom>
              <a:solidFill>
                <a:srgbClr val="38385B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1531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1531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531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完整候选池</a:t>
                </a:r>
              </a:p>
              <a:p>
                <a:pPr algn="ctr">
                  <a:defRPr sz="1531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133" b="0">
                    <a:solidFill>
                      <a:srgbClr val="DAE8EE"/>
                    </a:solidFill>
                    <a:latin typeface="Noto Sans SC"/>
                    <a:ea typeface="Noto Sans SC"/>
                    <a:cs typeface="Noto Sans SC"/>
                  </a:rPr>
                  <a:t>候选 1 / 候选 2 / 候选 3 / 候选 4</a:t>
                </a:r>
              </a:p>
            </p:txBody>
          </p:sp>
          <p:sp>
            <p:nvSpPr>
              <p:cNvPr id="12" name="roundRect_11">
                <a:extLst>
                  <a:ext uri="{FF2B5EF4-FFF2-40B4-BE49-F238E27FC236}">
                    <a16:creationId xmlns:a16="http://schemas.microsoft.com/office/drawing/2014/main" id="{3370361A-9B70-4FF9-812A-FCBACAAA11F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36721" y="3842762"/>
                <a:ext cx="1742170" cy="839946"/>
              </a:xfrm>
              <a:prstGeom prst="roundRect">
                <a:avLst>
                  <a:gd name="adj" fmla="val 11340"/>
                </a:avLst>
              </a:prstGeom>
              <a:solidFill>
                <a:srgbClr val="EEF0F7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1413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1413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413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rPr>
                  <a:t>搜索策略</a:t>
                </a:r>
              </a:p>
              <a:p>
                <a:pPr algn="ctr">
                  <a:defRPr sz="1413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046" b="0">
                    <a:solidFill>
                      <a:srgbClr val="6C7182"/>
                    </a:solidFill>
                    <a:latin typeface="Noto Sans SC"/>
                    <a:ea typeface="Noto Sans SC"/>
                    <a:cs typeface="Noto Sans SC"/>
                  </a:rPr>
                  <a:t>只使用已揭示历史</a:t>
                </a:r>
              </a:p>
            </p:txBody>
          </p:sp>
          <p:sp>
            <p:nvSpPr>
              <p:cNvPr id="13" name="hexagon_12">
                <a:extLst>
                  <a:ext uri="{FF2B5EF4-FFF2-40B4-BE49-F238E27FC236}">
                    <a16:creationId xmlns:a16="http://schemas.microsoft.com/office/drawing/2014/main" id="{F178CEDE-D273-4F61-A118-62F4C7DFF41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068669" y="3576241"/>
                <a:ext cx="2160889" cy="1340683"/>
              </a:xfrm>
              <a:prstGeom prst="hexagon">
                <a:avLst/>
              </a:prstGeom>
              <a:solidFill>
                <a:srgbClr val="F3E5EB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147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147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47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rPr>
                  <a:t>顺序揭示接口</a:t>
                </a:r>
              </a:p>
              <a:p>
                <a:pPr algn="ctr">
                  <a:defRPr sz="1472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941" b="0">
                    <a:solidFill>
                      <a:srgbClr val="6C7182"/>
                    </a:solidFill>
                    <a:latin typeface="Noto Sans SC"/>
                    <a:ea typeface="Noto Sans SC"/>
                    <a:cs typeface="Noto Sans SC"/>
                  </a:rPr>
                  <a:t>request(id) → 当前结果</a:t>
                </a:r>
              </a:p>
            </p:txBody>
          </p:sp>
          <p:sp>
            <p:nvSpPr>
              <p:cNvPr id="14" name="flowChartDocument_13">
                <a:extLst>
                  <a:ext uri="{FF2B5EF4-FFF2-40B4-BE49-F238E27FC236}">
                    <a16:creationId xmlns:a16="http://schemas.microsoft.com/office/drawing/2014/main" id="{1FDEFBEA-4F0A-41E8-B7BD-0D4D55339B8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104382" y="3850838"/>
                <a:ext cx="1630013" cy="848023"/>
              </a:xfrm>
              <a:prstGeom prst="flowChartDocument">
                <a:avLst/>
              </a:prstGeom>
              <a:solidFill>
                <a:srgbClr val="EEF0F7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1413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1413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413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rPr>
                  <a:t>预算账本</a:t>
                </a:r>
              </a:p>
              <a:p>
                <a:pPr algn="ctr">
                  <a:defRPr sz="1413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046" b="0">
                    <a:solidFill>
                      <a:srgbClr val="6C7182"/>
                    </a:solidFill>
                    <a:latin typeface="Noto Sans SC"/>
                    <a:ea typeface="Noto Sans SC"/>
                    <a:cs typeface="Noto Sans SC"/>
                  </a:rPr>
                  <a:t>扣除真实成本</a:t>
                </a:r>
              </a:p>
            </p:txBody>
          </p:sp>
          <p:sp>
            <p:nvSpPr>
              <p:cNvPr id="18" name="textbox_17">
                <a:extLst>
                  <a:ext uri="{FF2B5EF4-FFF2-40B4-BE49-F238E27FC236}">
                    <a16:creationId xmlns:a16="http://schemas.microsoft.com/office/drawing/2014/main" id="{16C54873-14EE-4F7E-A7DB-4E75EAF8FDD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89061" y="5134987"/>
                <a:ext cx="7140654" cy="234216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178" b="1">
                    <a:solidFill>
                      <a:srgbClr val="9C5875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178" b="1">
                    <a:solidFill>
                      <a:srgbClr val="9C5875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178" b="1">
                    <a:solidFill>
                      <a:srgbClr val="9C5875"/>
                    </a:solidFill>
                    <a:latin typeface="Noto Sans SC"/>
                    <a:ea typeface="Noto Sans SC"/>
                    <a:cs typeface="Noto Sans SC"/>
                  </a:rPr>
                  <a:t>探测与失败尝试同样计费；在线实验复核回放结论</a:t>
                </a:r>
              </a:p>
            </p:txBody>
          </p:sp>
          <p:sp>
            <p:nvSpPr>
              <p:cNvPr id="19" name="rect_18">
                <a:extLst>
                  <a:ext uri="{FF2B5EF4-FFF2-40B4-BE49-F238E27FC236}">
                    <a16:creationId xmlns:a16="http://schemas.microsoft.com/office/drawing/2014/main" id="{56AAB474-DD80-4CF2-91FA-DD3C013578E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058150" y="1485900"/>
                <a:ext cx="3000375" cy="1647825"/>
              </a:xfrm>
              <a:prstGeom prst="rect">
                <a:avLst/>
              </a:prstGeom>
              <a:solidFill>
                <a:srgbClr val="FAFBFC"/>
              </a:solidFill>
              <a:ln w="9525">
                <a:solidFill>
                  <a:srgbClr val="D8D9E3"/>
                </a:solidFill>
                <a:prstDash val="solid"/>
              </a:ln>
            </p:spPr>
          </p:sp>
          <p:sp>
            <p:nvSpPr>
              <p:cNvPr id="20" name="rect_19">
                <a:extLst>
                  <a:ext uri="{FF2B5EF4-FFF2-40B4-BE49-F238E27FC236}">
                    <a16:creationId xmlns:a16="http://schemas.microsoft.com/office/drawing/2014/main" id="{F1C4492F-B1B2-4E32-8619-B71A39C2BC4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058150" y="1485900"/>
                <a:ext cx="3000375" cy="295275"/>
              </a:xfrm>
              <a:prstGeom prst="rect">
                <a:avLst/>
              </a:prstGeom>
              <a:solidFill>
                <a:srgbClr val="38385B"/>
              </a:solidFill>
              <a:ln w="0">
                <a:noFill/>
                <a:prstDash val="solid"/>
              </a:ln>
            </p:spPr>
          </p:sp>
          <p:sp>
            <p:nvSpPr>
              <p:cNvPr id="21" name="textbox_20">
                <a:extLst>
                  <a:ext uri="{FF2B5EF4-FFF2-40B4-BE49-F238E27FC236}">
                    <a16:creationId xmlns:a16="http://schemas.microsoft.com/office/drawing/2014/main" id="{5A9789BE-8A37-4973-845B-3109EF13684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172450" y="1543050"/>
                <a:ext cx="1236155" cy="27432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35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35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5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复用哪些工作？</a:t>
                </a:r>
              </a:p>
            </p:txBody>
          </p:sp>
          <p:sp>
            <p:nvSpPr>
              <p:cNvPr id="22" name="textbox_21">
                <a:extLst>
                  <a:ext uri="{FF2B5EF4-FFF2-40B4-BE49-F238E27FC236}">
                    <a16:creationId xmlns:a16="http://schemas.microsoft.com/office/drawing/2014/main" id="{85C1B333-8650-4130-B596-35B1746E1BA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201025" y="1924050"/>
                <a:ext cx="2648903" cy="27432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候选训练执行一次并存档；多种策</a:t>
                </a:r>
              </a:p>
            </p:txBody>
          </p:sp>
          <p:sp>
            <p:nvSpPr>
              <p:cNvPr id="23" name="textbox_22">
                <a:extLst>
                  <a:ext uri="{FF2B5EF4-FFF2-40B4-BE49-F238E27FC236}">
                    <a16:creationId xmlns:a16="http://schemas.microsoft.com/office/drawing/2014/main" id="{1AA075D8-4094-4EFE-B8B9-BC177FC8BD2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201025" y="2206943"/>
                <a:ext cx="2472309" cy="27432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略在同一池上回放，减少重复训</a:t>
                </a:r>
              </a:p>
            </p:txBody>
          </p:sp>
          <p:sp>
            <p:nvSpPr>
              <p:cNvPr id="24" name="textbox_23">
                <a:extLst>
                  <a:ext uri="{FF2B5EF4-FFF2-40B4-BE49-F238E27FC236}">
                    <a16:creationId xmlns:a16="http://schemas.microsoft.com/office/drawing/2014/main" id="{6C6E0AF1-3E89-4F02-BFD0-3174533C09D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201025" y="2489835"/>
                <a:ext cx="353187" cy="27432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练。</a:t>
                </a:r>
              </a:p>
            </p:txBody>
          </p:sp>
          <p:sp>
            <p:nvSpPr>
              <p:cNvPr id="25" name="rect_24">
                <a:extLst>
                  <a:ext uri="{FF2B5EF4-FFF2-40B4-BE49-F238E27FC236}">
                    <a16:creationId xmlns:a16="http://schemas.microsoft.com/office/drawing/2014/main" id="{11842471-C00B-4FDF-92D8-0562D69CB38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058150" y="3314700"/>
                <a:ext cx="3000375" cy="2114550"/>
              </a:xfrm>
              <a:prstGeom prst="rect">
                <a:avLst/>
              </a:prstGeom>
              <a:solidFill>
                <a:srgbClr val="FAFBFC"/>
              </a:solidFill>
              <a:ln w="9525">
                <a:solidFill>
                  <a:srgbClr val="D8D9E3"/>
                </a:solidFill>
                <a:prstDash val="solid"/>
              </a:ln>
            </p:spPr>
          </p:sp>
          <p:sp>
            <p:nvSpPr>
              <p:cNvPr id="26" name="rect_25">
                <a:extLst>
                  <a:ext uri="{FF2B5EF4-FFF2-40B4-BE49-F238E27FC236}">
                    <a16:creationId xmlns:a16="http://schemas.microsoft.com/office/drawing/2014/main" id="{30E6FC58-9487-48CE-B34D-8BC207916AB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058150" y="3314700"/>
                <a:ext cx="3000375" cy="295275"/>
              </a:xfrm>
              <a:prstGeom prst="rect">
                <a:avLst/>
              </a:prstGeom>
              <a:solidFill>
                <a:srgbClr val="38385B"/>
              </a:solidFill>
              <a:ln w="0">
                <a:noFill/>
                <a:prstDash val="solid"/>
              </a:ln>
            </p:spPr>
          </p:sp>
          <p:sp>
            <p:nvSpPr>
              <p:cNvPr id="27" name="textbox_26">
                <a:extLst>
                  <a:ext uri="{FF2B5EF4-FFF2-40B4-BE49-F238E27FC236}">
                    <a16:creationId xmlns:a16="http://schemas.microsoft.com/office/drawing/2014/main" id="{3FA52B20-21A7-4237-A524-4E442DE6B99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172450" y="3371850"/>
                <a:ext cx="1236155" cy="27432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35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35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5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回放的成立条件</a:t>
                </a:r>
              </a:p>
            </p:txBody>
          </p:sp>
          <p:sp>
            <p:nvSpPr>
              <p:cNvPr id="28" name="textbox_27">
                <a:extLst>
                  <a:ext uri="{FF2B5EF4-FFF2-40B4-BE49-F238E27FC236}">
                    <a16:creationId xmlns:a16="http://schemas.microsoft.com/office/drawing/2014/main" id="{94DE7541-DBA8-4E39-9D17-8BE9151C5F9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201025" y="3752850"/>
                <a:ext cx="2119122" cy="27432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逐次揭示；真实成本扣账。</a:t>
                </a:r>
              </a:p>
            </p:txBody>
          </p:sp>
          <p:sp>
            <p:nvSpPr>
              <p:cNvPr id="29" name="textbox_28">
                <a:extLst>
                  <a:ext uri="{FF2B5EF4-FFF2-40B4-BE49-F238E27FC236}">
                    <a16:creationId xmlns:a16="http://schemas.microsoft.com/office/drawing/2014/main" id="{F413E5C9-726A-41AA-B730-49A1BF93DB0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201025" y="4035743"/>
                <a:ext cx="2648903" cy="27432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探测、失败和超预算动作有一致规</a:t>
                </a:r>
              </a:p>
            </p:txBody>
          </p:sp>
          <p:sp>
            <p:nvSpPr>
              <p:cNvPr id="30" name="textbox_29">
                <a:extLst>
                  <a:ext uri="{FF2B5EF4-FFF2-40B4-BE49-F238E27FC236}">
                    <a16:creationId xmlns:a16="http://schemas.microsoft.com/office/drawing/2014/main" id="{816B1463-D9A4-46A5-9FCA-CB4F5B553A4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201025" y="4318635"/>
                <a:ext cx="353187" cy="27432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则。</a:t>
                </a:r>
              </a:p>
            </p:txBody>
          </p:sp>
          <p:sp>
            <p:nvSpPr>
              <p:cNvPr id="31" name="textbox_30">
                <a:extLst>
                  <a:ext uri="{FF2B5EF4-FFF2-40B4-BE49-F238E27FC236}">
                    <a16:creationId xmlns:a16="http://schemas.microsoft.com/office/drawing/2014/main" id="{436E38FF-3CB8-4727-820C-4898DA2812A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201025" y="4601528"/>
                <a:ext cx="2648903" cy="27432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最终结论限于明确的候选池；再做</a:t>
                </a:r>
              </a:p>
            </p:txBody>
          </p:sp>
          <p:sp>
            <p:nvSpPr>
              <p:cNvPr id="32" name="textbox_31">
                <a:extLst>
                  <a:ext uri="{FF2B5EF4-FFF2-40B4-BE49-F238E27FC236}">
                    <a16:creationId xmlns:a16="http://schemas.microsoft.com/office/drawing/2014/main" id="{FAAED225-39D9-43D0-A556-761B0ECFD31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201025" y="4884420"/>
                <a:ext cx="882968" cy="27432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在线验证。</a:t>
                </a:r>
              </a:p>
            </p:txBody>
          </p:sp>
        </p:grpSp>
      </p:grpSp>
      <p:sp>
        <p:nvSpPr>
          <p:cNvPr id="33" name="line_32">
            <a:extLst>
              <a:ext uri="{FF2B5EF4-FFF2-40B4-BE49-F238E27FC236}">
                <a16:creationId xmlns:a16="http://schemas.microsoft.com/office/drawing/2014/main" id="{B68258C5-E6B7-4D69-AEB4-768E28C24D88}"/>
              </a:ext>
            </a:extLst>
          </p:cNvPr>
          <p:cNvSpPr>
            <a:spLocks/>
          </p:cNvSpPr>
          <p:nvPr/>
        </p:nvSpPr>
        <p:spPr>
          <a:xfrm>
            <a:off x="371475" y="5800725"/>
            <a:ext cx="10687050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34" name="rect_33">
            <a:extLst>
              <a:ext uri="{FF2B5EF4-FFF2-40B4-BE49-F238E27FC236}">
                <a16:creationId xmlns:a16="http://schemas.microsoft.com/office/drawing/2014/main" id="{F920069C-D62C-4552-A592-FB1DA17C66C1}"/>
              </a:ext>
            </a:extLst>
          </p:cNvPr>
          <p:cNvSpPr>
            <a:spLocks/>
          </p:cNvSpPr>
          <p:nvPr/>
        </p:nvSpPr>
        <p:spPr>
          <a:xfrm>
            <a:off x="371475" y="5886450"/>
            <a:ext cx="38100" cy="20002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35" name="textbox_34">
            <a:extLst>
              <a:ext uri="{FF2B5EF4-FFF2-40B4-BE49-F238E27FC236}">
                <a16:creationId xmlns:a16="http://schemas.microsoft.com/office/drawing/2014/main" id="{DB71A186-80D1-425A-A5FC-D9B3730D3CB7}"/>
              </a:ext>
            </a:extLst>
          </p:cNvPr>
          <p:cNvSpPr>
            <a:spLocks/>
          </p:cNvSpPr>
          <p:nvPr/>
        </p:nvSpPr>
        <p:spPr>
          <a:xfrm>
            <a:off x="495300" y="5848350"/>
            <a:ext cx="1043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离线回放节省比较成本；它的接口必须保持真实决策时的信息边界。</a:t>
            </a:r>
          </a:p>
        </p:txBody>
      </p:sp>
      <p:sp>
        <p:nvSpPr>
          <p:cNvPr id="36" name="textbox_35">
            <a:extLst>
              <a:ext uri="{FF2B5EF4-FFF2-40B4-BE49-F238E27FC236}">
                <a16:creationId xmlns:a16="http://schemas.microsoft.com/office/drawing/2014/main" id="{C50F6AFA-CF5B-4505-A819-8CF9EE434194}"/>
              </a:ext>
            </a:extLst>
          </p:cNvPr>
          <p:cNvSpPr>
            <a:spLocks/>
          </p:cNvSpPr>
          <p:nvPr/>
        </p:nvSpPr>
        <p:spPr>
          <a:xfrm>
            <a:off x="371475" y="6219825"/>
            <a:ext cx="10287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路线 V1.0 · 视觉测试稿 · 研究设计待验证</a:t>
            </a:r>
          </a:p>
        </p:txBody>
      </p:sp>
      <p:sp>
        <p:nvSpPr>
          <p:cNvPr id="37" name="textbox_36">
            <a:extLst>
              <a:ext uri="{FF2B5EF4-FFF2-40B4-BE49-F238E27FC236}">
                <a16:creationId xmlns:a16="http://schemas.microsoft.com/office/drawing/2014/main" id="{DF543A84-DF3D-4F55-9817-E47A674ED000}"/>
              </a:ext>
            </a:extLst>
          </p:cNvPr>
          <p:cNvSpPr>
            <a:spLocks/>
          </p:cNvSpPr>
          <p:nvPr/>
        </p:nvSpPr>
        <p:spPr>
          <a:xfrm>
            <a:off x="10620375" y="619125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6255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_1">
            <a:extLst>
              <a:ext uri="{FF2B5EF4-FFF2-40B4-BE49-F238E27FC236}">
                <a16:creationId xmlns:a16="http://schemas.microsoft.com/office/drawing/2014/main" id="{0935A983-5B90-4E96-B239-25929871A8FD}"/>
              </a:ext>
            </a:extLst>
          </p:cNvPr>
          <p:cNvSpPr>
            <a:spLocks/>
          </p:cNvSpPr>
          <p:nvPr/>
        </p:nvSpPr>
        <p:spPr>
          <a:xfrm>
            <a:off x="3714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01  研究问题</a:t>
            </a:r>
          </a:p>
        </p:txBody>
      </p:sp>
      <p:sp>
        <p:nvSpPr>
          <p:cNvPr id="2" name="textbox_2">
            <a:extLst>
              <a:ext uri="{FF2B5EF4-FFF2-40B4-BE49-F238E27FC236}">
                <a16:creationId xmlns:a16="http://schemas.microsoft.com/office/drawing/2014/main" id="{5D8033F1-B6C4-4DDA-B4AC-FE6225B0F65A}"/>
              </a:ext>
            </a:extLst>
          </p:cNvPr>
          <p:cNvSpPr>
            <a:spLocks/>
          </p:cNvSpPr>
          <p:nvPr/>
        </p:nvSpPr>
        <p:spPr>
          <a:xfrm>
            <a:off x="251460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02  对象与基础</a:t>
            </a:r>
          </a:p>
        </p:txBody>
      </p:sp>
      <p:sp>
        <p:nvSpPr>
          <p:cNvPr id="3" name="textbox_3">
            <a:extLst>
              <a:ext uri="{FF2B5EF4-FFF2-40B4-BE49-F238E27FC236}">
                <a16:creationId xmlns:a16="http://schemas.microsoft.com/office/drawing/2014/main" id="{39EE6B66-FC15-4F0C-94EF-390AC2EBCD0A}"/>
              </a:ext>
            </a:extLst>
          </p:cNvPr>
          <p:cNvSpPr>
            <a:spLocks/>
          </p:cNvSpPr>
          <p:nvPr/>
        </p:nvSpPr>
        <p:spPr>
          <a:xfrm>
            <a:off x="465772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03  方法与机制</a:t>
            </a:r>
          </a:p>
        </p:txBody>
      </p:sp>
      <p:sp>
        <p:nvSpPr>
          <p:cNvPr id="4" name="textbox_4">
            <a:extLst>
              <a:ext uri="{FF2B5EF4-FFF2-40B4-BE49-F238E27FC236}">
                <a16:creationId xmlns:a16="http://schemas.microsoft.com/office/drawing/2014/main" id="{3F218C3E-6576-4A8B-85A4-5E7DEF0270AA}"/>
              </a:ext>
            </a:extLst>
          </p:cNvPr>
          <p:cNvSpPr>
            <a:spLocks/>
          </p:cNvSpPr>
          <p:nvPr/>
        </p:nvSpPr>
        <p:spPr>
          <a:xfrm>
            <a:off x="680085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04  实验与证据</a:t>
            </a:r>
          </a:p>
        </p:txBody>
      </p:sp>
      <p:sp>
        <p:nvSpPr>
          <p:cNvPr id="5" name="rect_5">
            <a:extLst>
              <a:ext uri="{FF2B5EF4-FFF2-40B4-BE49-F238E27FC236}">
                <a16:creationId xmlns:a16="http://schemas.microsoft.com/office/drawing/2014/main" id="{3ADAEE69-AC9E-46EA-9439-5F1018D4F8E4}"/>
              </a:ext>
            </a:extLst>
          </p:cNvPr>
          <p:cNvSpPr>
            <a:spLocks/>
          </p:cNvSpPr>
          <p:nvPr/>
        </p:nvSpPr>
        <p:spPr>
          <a:xfrm>
            <a:off x="6800850" y="447675"/>
            <a:ext cx="1238250" cy="2857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6" name="textbox_6">
            <a:extLst>
              <a:ext uri="{FF2B5EF4-FFF2-40B4-BE49-F238E27FC236}">
                <a16:creationId xmlns:a16="http://schemas.microsoft.com/office/drawing/2014/main" id="{A5BDC995-EEAE-4CEB-91B1-06365937DF99}"/>
              </a:ext>
            </a:extLst>
          </p:cNvPr>
          <p:cNvSpPr>
            <a:spLocks/>
          </p:cNvSpPr>
          <p:nvPr/>
        </p:nvSpPr>
        <p:spPr>
          <a:xfrm>
            <a:off x="89439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05  实施与产出</a:t>
            </a:r>
          </a:p>
        </p:txBody>
      </p:sp>
      <p:sp>
        <p:nvSpPr>
          <p:cNvPr id="7" name="line_7">
            <a:extLst>
              <a:ext uri="{FF2B5EF4-FFF2-40B4-BE49-F238E27FC236}">
                <a16:creationId xmlns:a16="http://schemas.microsoft.com/office/drawing/2014/main" id="{6E04C8AB-BB49-48BC-87A6-AFCBE124F8A0}"/>
              </a:ext>
            </a:extLst>
          </p:cNvPr>
          <p:cNvSpPr>
            <a:spLocks/>
          </p:cNvSpPr>
          <p:nvPr/>
        </p:nvSpPr>
        <p:spPr>
          <a:xfrm>
            <a:off x="371475" y="476250"/>
            <a:ext cx="10677525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8" name="slide_title">
            <a:extLst>
              <a:ext uri="{FF2B5EF4-FFF2-40B4-BE49-F238E27FC236}">
                <a16:creationId xmlns:a16="http://schemas.microsoft.com/office/drawing/2014/main" id="{09AB7733-336B-4F21-A86E-DB7F646D7D59}"/>
              </a:ext>
            </a:extLst>
          </p:cNvPr>
          <p:cNvSpPr>
            <a:spLocks/>
          </p:cNvSpPr>
          <p:nvPr/>
        </p:nvSpPr>
        <p:spPr>
          <a:xfrm>
            <a:off x="361950" y="685800"/>
            <a:ext cx="10706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defPPr>
          </a:lstStyle>
          <a:p>
            <a: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pP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13</a:t>
            </a:r>
            <a:r>
              <a:rPr sz="2175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  </a:t>
            </a: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实验矩阵：每一条主张都对应一个可推翻它的对照</a:t>
            </a:r>
          </a:p>
        </p:txBody>
      </p:sp>
      <p:sp>
        <p:nvSpPr>
          <p:cNvPr id="9" name="textbox_8">
            <a:extLst>
              <a:ext uri="{FF2B5EF4-FFF2-40B4-BE49-F238E27FC236}">
                <a16:creationId xmlns:a16="http://schemas.microsoft.com/office/drawing/2014/main" id="{4ED17EEF-7787-475E-A477-A9DD050CA111}"/>
              </a:ext>
            </a:extLst>
          </p:cNvPr>
          <p:cNvSpPr>
            <a:spLocks/>
          </p:cNvSpPr>
          <p:nvPr/>
        </p:nvSpPr>
        <p:spPr>
          <a:xfrm>
            <a:off x="381000" y="1133475"/>
            <a:ext cx="10668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“完整方法优于随机”只能提供有限证据，需要逐层定位收益来源。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1D80E082-9564-492C-8B5B-EECEA1AE6F76}"/>
              </a:ext>
            </a:extLst>
          </p:cNvPr>
          <p:cNvGraphicFramePr/>
          <p:nvPr/>
        </p:nvGraphicFramePr>
        <p:xfrm>
          <a:off x="371475" y="1495425"/>
          <a:ext cx="10687050" cy="2457450"/>
        </p:xfrm>
        <a:graphic>
          <a:graphicData uri="http://schemas.openxmlformats.org/drawingml/2006/table">
            <a:tbl>
              <a:tblPr/>
              <a:tblGrid>
                <a:gridCol w="1908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34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89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待支持的主张</a:t>
                      </a:r>
                    </a:p>
                  </a:txBody>
                  <a:tcPr anchor="ctr">
                    <a:lnL w="4763">
                      <a:solidFill>
                        <a:srgbClr val="FFFFFF"/>
                      </a:solidFill>
                    </a:lnL>
                    <a:lnR w="4763">
                      <a:solidFill>
                        <a:srgbClr val="FFFFFF"/>
                      </a:solidFill>
                    </a:lnR>
                    <a:lnT w="4763">
                      <a:solidFill>
                        <a:srgbClr val="FFFFFF"/>
                      </a:solidFill>
                    </a:lnT>
                    <a:lnB w="4763">
                      <a:solidFill>
                        <a:srgbClr val="FFFFFF"/>
                      </a:solidFill>
                    </a:lnB>
                    <a:solidFill>
                      <a:srgbClr val="3838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核心对照</a:t>
                      </a:r>
                    </a:p>
                  </a:txBody>
                  <a:tcPr anchor="ctr">
                    <a:lnL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FFFFFF"/>
                      </a:solidFill>
                    </a:lnR>
                    <a:lnT w="4763">
                      <a:solidFill>
                        <a:srgbClr val="FFFFFF"/>
                      </a:solidFill>
                    </a:lnT>
                    <a:lnB w="4763">
                      <a:solidFill>
                        <a:srgbClr val="FFFFFF"/>
                      </a:solidFill>
                    </a:lnB>
                    <a:solidFill>
                      <a:srgbClr val="3838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主要读数</a:t>
                      </a:r>
                    </a:p>
                  </a:txBody>
                  <a:tcPr anchor="ctr">
                    <a:lnL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FFFFFF"/>
                      </a:solidFill>
                    </a:lnR>
                    <a:lnT w="4763">
                      <a:solidFill>
                        <a:srgbClr val="FFFFFF"/>
                      </a:solidFill>
                    </a:lnT>
                    <a:lnB w="4763">
                      <a:solidFill>
                        <a:srgbClr val="FFFFFF"/>
                      </a:solidFill>
                    </a:lnB>
                    <a:solidFill>
                      <a:srgbClr val="3838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判定重点</a:t>
                      </a:r>
                    </a:p>
                  </a:txBody>
                  <a:tcPr anchor="ctr">
                    <a:lnL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FFFFFF"/>
                      </a:solidFill>
                    </a:lnR>
                    <a:lnT w="4763">
                      <a:solidFill>
                        <a:srgbClr val="FFFFFF"/>
                      </a:solidFill>
                    </a:lnT>
                    <a:lnB w="4763">
                      <a:solidFill>
                        <a:srgbClr val="FFFFFF"/>
                      </a:solidFill>
                    </a:lnB>
                    <a:solidFill>
                      <a:srgbClr val="3838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23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任务特征有用</a:t>
                      </a:r>
                    </a:p>
                  </a:txBody>
                  <a:tcPr anchor="ctr">
                    <a:lnL w="4763">
                      <a:solidFill>
                        <a:srgbClr val="FFFFFF"/>
                      </a:solidFill>
                    </a:lnL>
                    <a:lnR w="4763">
                      <a:solidFill>
                        <a:srgbClr val="FFFFFF"/>
                      </a:solidFill>
                    </a:lnR>
                    <a:lnT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FFFFFF"/>
                      </a:solidFill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23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随机 / 历史平均 / 静态 RF</a:t>
                      </a:r>
                    </a:p>
                  </a:txBody>
                  <a:tcPr anchor="ctr">
                    <a:lnL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FFFFFF"/>
                      </a:solidFill>
                    </a:lnR>
                    <a:lnT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FFFFFF"/>
                      </a:solidFill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23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排序相关、Top-1、regret</a:t>
                      </a:r>
                    </a:p>
                  </a:txBody>
                  <a:tcPr anchor="ctr">
                    <a:lnL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FFFFFF"/>
                      </a:solidFill>
                    </a:lnR>
                    <a:lnT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FFFFFF"/>
                      </a:solidFill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23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未见任务上有一致增量</a:t>
                      </a:r>
                    </a:p>
                  </a:txBody>
                  <a:tcPr anchor="ctr">
                    <a:lnL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FFFFFF"/>
                      </a:solidFill>
                    </a:lnR>
                    <a:lnT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FFFFFF"/>
                      </a:solidFill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23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残差结构有用</a:t>
                      </a:r>
                    </a:p>
                  </a:txBody>
                  <a:tcPr anchor="ctr">
                    <a:lnL w="4763">
                      <a:solidFill>
                        <a:srgbClr val="FFFFFF"/>
                      </a:solidFill>
                    </a:lnL>
                    <a:lnR w="4763">
                      <a:solidFill>
                        <a:srgbClr val="FFFFFF"/>
                      </a:solidFill>
                    </a:lnR>
                    <a:lnT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23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同历史 B / C</a:t>
                      </a:r>
                    </a:p>
                  </a:txBody>
                  <a:tcPr anchor="ctr">
                    <a:lnL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FFFFFF"/>
                      </a:solidFill>
                    </a:lnR>
                    <a:lnT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23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配对 regret 差、排序变化</a:t>
                      </a:r>
                    </a:p>
                  </a:txBody>
                  <a:tcPr anchor="ctr">
                    <a:lnL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FFFFFF"/>
                      </a:solidFill>
                    </a:lnR>
                    <a:lnT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23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已知整体误差后仍有收益</a:t>
                      </a:r>
                    </a:p>
                  </a:txBody>
                  <a:tcPr anchor="ctr">
                    <a:lnL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FFFFFF"/>
                      </a:solidFill>
                    </a:lnR>
                    <a:lnT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23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预算搜索有效</a:t>
                      </a:r>
                    </a:p>
                  </a:txBody>
                  <a:tcPr anchor="ctr">
                    <a:lnL w="4763">
                      <a:solidFill>
                        <a:srgbClr val="FFFFFF"/>
                      </a:solidFill>
                    </a:lnL>
                    <a:lnR w="4763">
                      <a:solidFill>
                        <a:srgbClr val="FFFFFF"/>
                      </a:solidFill>
                    </a:lnR>
                    <a:lnT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FFFFFF"/>
                      </a:solidFill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23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Random / BO 或 TPE / 迁移搜索</a:t>
                      </a:r>
                    </a:p>
                  </a:txBody>
                  <a:tcPr anchor="ctr">
                    <a:lnL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FFFFFF"/>
                      </a:solidFill>
                    </a:lnR>
                    <a:lnT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FFFFFF"/>
                      </a:solidFill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23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Best-so-far、成本曲线与 AUC</a:t>
                      </a:r>
                    </a:p>
                  </a:txBody>
                  <a:tcPr anchor="ctr">
                    <a:lnL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FFFFFF"/>
                      </a:solidFill>
                    </a:lnR>
                    <a:lnT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FFFFFF"/>
                      </a:solidFill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23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相同预算定义下比较</a:t>
                      </a:r>
                    </a:p>
                  </a:txBody>
                  <a:tcPr anchor="ctr">
                    <a:lnL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FFFFFF"/>
                      </a:solidFill>
                    </a:lnR>
                    <a:lnT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FFFFFF"/>
                      </a:solidFill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23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模块作用可信</a:t>
                      </a:r>
                    </a:p>
                  </a:txBody>
                  <a:tcPr anchor="ctr">
                    <a:lnL w="4763">
                      <a:solidFill>
                        <a:srgbClr val="FFFFFF"/>
                      </a:solidFill>
                    </a:lnL>
                    <a:lnR w="4763">
                      <a:solidFill>
                        <a:srgbClr val="FFFFFF"/>
                      </a:solidFill>
                    </a:lnR>
                    <a:lnT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23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去偏差 / 去 ACF / 去分步长信息</a:t>
                      </a:r>
                    </a:p>
                  </a:txBody>
                  <a:tcPr anchor="ctr">
                    <a:lnL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FFFFFF"/>
                      </a:solidFill>
                    </a:lnR>
                    <a:lnT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23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分任务与分预算性能变化</a:t>
                      </a:r>
                    </a:p>
                  </a:txBody>
                  <a:tcPr anchor="ctr">
                    <a:lnL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FFFFFF"/>
                      </a:solidFill>
                    </a:lnR>
                    <a:lnT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23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识别有用部分及失败边界</a:t>
                      </a:r>
                    </a:p>
                  </a:txBody>
                  <a:tcPr anchor="ctr">
                    <a:lnL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FFFFFF"/>
                      </a:solidFill>
                    </a:lnR>
                    <a:lnT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23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系统可以执行</a:t>
                      </a:r>
                    </a:p>
                  </a:txBody>
                  <a:tcPr anchor="ctr">
                    <a:lnL w="4763">
                      <a:solidFill>
                        <a:srgbClr val="FFFFFF"/>
                      </a:solidFill>
                    </a:lnL>
                    <a:lnR w="4763">
                      <a:solidFill>
                        <a:srgbClr val="FFFFFF"/>
                      </a:solidFill>
                    </a:lnR>
                    <a:lnT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FFFFFF"/>
                      </a:solidFill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23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工具链端到端案例与重跑</a:t>
                      </a:r>
                    </a:p>
                  </a:txBody>
                  <a:tcPr anchor="ctr">
                    <a:lnL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FFFFFF"/>
                      </a:solidFill>
                    </a:lnR>
                    <a:lnT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FFFFFF"/>
                      </a:solidFill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23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完成率、产物、成本账本</a:t>
                      </a:r>
                    </a:p>
                  </a:txBody>
                  <a:tcPr anchor="ctr">
                    <a:lnL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FFFFFF"/>
                      </a:solidFill>
                    </a:lnR>
                    <a:lnT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FFFFFF"/>
                      </a:solidFill>
                    </a:lnB>
                    <a:solidFill>
                      <a:srgbClr val="EE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0323E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执行证据支持最终报告</a:t>
                      </a:r>
                    </a:p>
                  </a:txBody>
                  <a:tcPr anchor="ctr">
                    <a:lnL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3">
                      <a:solidFill>
                        <a:srgbClr val="FFFFFF"/>
                      </a:solidFill>
                    </a:lnR>
                    <a:lnT w="476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3">
                      <a:solidFill>
                        <a:srgbClr val="FFFFFF"/>
                      </a:solidFill>
                    </a:lnB>
                    <a:solidFill>
                      <a:srgbClr val="EE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1" name="page_14_stage_1">
            <a:extLst>
              <a:ext uri="{FF2B5EF4-FFF2-40B4-BE49-F238E27FC236}">
                <a16:creationId xmlns:a16="http://schemas.microsoft.com/office/drawing/2014/main" id="{909A8E15-6627-7903-AD3A-4C6F77110411}"/>
              </a:ext>
            </a:extLst>
          </p:cNvPr>
          <p:cNvGrpSpPr/>
          <p:nvPr/>
        </p:nvGrpSpPr>
        <p:grpSpPr>
          <a:xfrm>
            <a:off x="381000" y="4743450"/>
            <a:ext cx="10668000" cy="809625"/>
            <a:chOff x="381000" y="4743450"/>
            <a:chExt cx="10668000" cy="809625"/>
          </a:xfrm>
        </p:grpSpPr>
        <p:sp>
          <p:nvSpPr>
            <p:cNvPr id="11" name="rect_9">
              <a:extLst>
                <a:ext uri="{FF2B5EF4-FFF2-40B4-BE49-F238E27FC236}">
                  <a16:creationId xmlns:a16="http://schemas.microsoft.com/office/drawing/2014/main" id="{F55C2AC1-D895-4781-B5D3-FAF76A575378}"/>
                </a:ext>
              </a:extLst>
            </p:cNvPr>
            <p:cNvSpPr>
              <a:spLocks/>
            </p:cNvSpPr>
            <p:nvPr/>
          </p:nvSpPr>
          <p:spPr>
            <a:xfrm>
              <a:off x="381000" y="4743450"/>
              <a:ext cx="10668000" cy="809625"/>
            </a:xfrm>
            <a:prstGeom prst="rect">
              <a:avLst/>
            </a:prstGeom>
            <a:solidFill>
              <a:srgbClr val="FAFBFC"/>
            </a:solidFill>
            <a:ln w="9525">
              <a:solidFill>
                <a:srgbClr val="D8D9E3"/>
              </a:solidFill>
              <a:prstDash val="solid"/>
            </a:ln>
          </p:spPr>
        </p:sp>
        <p:sp>
          <p:nvSpPr>
            <p:cNvPr id="12" name="rect_10">
              <a:extLst>
                <a:ext uri="{FF2B5EF4-FFF2-40B4-BE49-F238E27FC236}">
                  <a16:creationId xmlns:a16="http://schemas.microsoft.com/office/drawing/2014/main" id="{7293FCD9-B2E2-4BC9-B356-EF5F47065A91}"/>
                </a:ext>
              </a:extLst>
            </p:cNvPr>
            <p:cNvSpPr>
              <a:spLocks/>
            </p:cNvSpPr>
            <p:nvPr/>
          </p:nvSpPr>
          <p:spPr>
            <a:xfrm>
              <a:off x="381000" y="4743450"/>
              <a:ext cx="10668000" cy="295275"/>
            </a:xfrm>
            <a:prstGeom prst="rect">
              <a:avLst/>
            </a:prstGeom>
            <a:solidFill>
              <a:srgbClr val="38385B"/>
            </a:solidFill>
            <a:ln w="0">
              <a:noFill/>
              <a:prstDash val="solid"/>
            </a:ln>
          </p:spPr>
        </p:sp>
        <p:sp>
          <p:nvSpPr>
            <p:cNvPr id="13" name="textbox_11">
              <a:extLst>
                <a:ext uri="{FF2B5EF4-FFF2-40B4-BE49-F238E27FC236}">
                  <a16:creationId xmlns:a16="http://schemas.microsoft.com/office/drawing/2014/main" id="{99A24938-98F0-4573-B5C2-05E271689BC9}"/>
                </a:ext>
              </a:extLst>
            </p:cNvPr>
            <p:cNvSpPr>
              <a:spLocks/>
            </p:cNvSpPr>
            <p:nvPr/>
          </p:nvSpPr>
          <p:spPr>
            <a:xfrm>
              <a:off x="495300" y="4800600"/>
              <a:ext cx="2119122" cy="27432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3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3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首先取得的一张关键结果表</a:t>
              </a:r>
            </a:p>
          </p:txBody>
        </p:sp>
        <p:sp>
          <p:nvSpPr>
            <p:cNvPr id="14" name="textbox_12">
              <a:extLst>
                <a:ext uri="{FF2B5EF4-FFF2-40B4-BE49-F238E27FC236}">
                  <a16:creationId xmlns:a16="http://schemas.microsoft.com/office/drawing/2014/main" id="{6D2DA091-5420-44D5-AF91-5ECC2E72543B}"/>
                </a:ext>
              </a:extLst>
            </p:cNvPr>
            <p:cNvSpPr>
              <a:spLocks/>
            </p:cNvSpPr>
            <p:nvPr/>
          </p:nvSpPr>
          <p:spPr>
            <a:xfrm>
              <a:off x="523875" y="5181600"/>
              <a:ext cx="7240334" cy="27432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3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3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按任务配对报告 B/C 的选择误差与实际成本，保留 C 没有改善或发生退化的任务。</a:t>
              </a:r>
            </a:p>
          </p:txBody>
        </p:sp>
      </p:grpSp>
      <p:sp>
        <p:nvSpPr>
          <p:cNvPr id="15" name="line_13">
            <a:extLst>
              <a:ext uri="{FF2B5EF4-FFF2-40B4-BE49-F238E27FC236}">
                <a16:creationId xmlns:a16="http://schemas.microsoft.com/office/drawing/2014/main" id="{19CD358C-7547-4F13-80B5-8C674FF07988}"/>
              </a:ext>
            </a:extLst>
          </p:cNvPr>
          <p:cNvSpPr>
            <a:spLocks/>
          </p:cNvSpPr>
          <p:nvPr/>
        </p:nvSpPr>
        <p:spPr>
          <a:xfrm>
            <a:off x="371475" y="5800725"/>
            <a:ext cx="10687050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16" name="rect_14">
            <a:extLst>
              <a:ext uri="{FF2B5EF4-FFF2-40B4-BE49-F238E27FC236}">
                <a16:creationId xmlns:a16="http://schemas.microsoft.com/office/drawing/2014/main" id="{65441BB4-9964-4C0E-AEE1-D37AAA433D03}"/>
              </a:ext>
            </a:extLst>
          </p:cNvPr>
          <p:cNvSpPr>
            <a:spLocks/>
          </p:cNvSpPr>
          <p:nvPr/>
        </p:nvSpPr>
        <p:spPr>
          <a:xfrm>
            <a:off x="371475" y="5886450"/>
            <a:ext cx="38100" cy="20002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17" name="textbox_15">
            <a:extLst>
              <a:ext uri="{FF2B5EF4-FFF2-40B4-BE49-F238E27FC236}">
                <a16:creationId xmlns:a16="http://schemas.microsoft.com/office/drawing/2014/main" id="{FF643579-2495-4CD8-8259-45B69A52BA38}"/>
              </a:ext>
            </a:extLst>
          </p:cNvPr>
          <p:cNvSpPr>
            <a:spLocks/>
          </p:cNvSpPr>
          <p:nvPr/>
        </p:nvSpPr>
        <p:spPr>
          <a:xfrm>
            <a:off x="495300" y="5848350"/>
            <a:ext cx="1043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方法主张、实验对照和评价指标需要一一对应。</a:t>
            </a:r>
          </a:p>
        </p:txBody>
      </p:sp>
      <p:sp>
        <p:nvSpPr>
          <p:cNvPr id="18" name="textbox_16">
            <a:extLst>
              <a:ext uri="{FF2B5EF4-FFF2-40B4-BE49-F238E27FC236}">
                <a16:creationId xmlns:a16="http://schemas.microsoft.com/office/drawing/2014/main" id="{2FD25601-294A-4EA9-83F7-72126E0E6F5D}"/>
              </a:ext>
            </a:extLst>
          </p:cNvPr>
          <p:cNvSpPr>
            <a:spLocks/>
          </p:cNvSpPr>
          <p:nvPr/>
        </p:nvSpPr>
        <p:spPr>
          <a:xfrm>
            <a:off x="371475" y="6219825"/>
            <a:ext cx="10287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路线 V1.0 · 视觉测试稿 · 研究设计待验证</a:t>
            </a:r>
          </a:p>
        </p:txBody>
      </p:sp>
      <p:sp>
        <p:nvSpPr>
          <p:cNvPr id="19" name="textbox_17">
            <a:extLst>
              <a:ext uri="{FF2B5EF4-FFF2-40B4-BE49-F238E27FC236}">
                <a16:creationId xmlns:a16="http://schemas.microsoft.com/office/drawing/2014/main" id="{0813999B-B2FC-4B6F-8AA9-42AAB2C04B46}"/>
              </a:ext>
            </a:extLst>
          </p:cNvPr>
          <p:cNvSpPr>
            <a:spLocks/>
          </p:cNvSpPr>
          <p:nvPr/>
        </p:nvSpPr>
        <p:spPr>
          <a:xfrm>
            <a:off x="10620375" y="619125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40851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_1">
            <a:extLst>
              <a:ext uri="{FF2B5EF4-FFF2-40B4-BE49-F238E27FC236}">
                <a16:creationId xmlns:a16="http://schemas.microsoft.com/office/drawing/2014/main" id="{4DA5E56B-512D-4247-908B-7BF564A07EF7}"/>
              </a:ext>
            </a:extLst>
          </p:cNvPr>
          <p:cNvSpPr>
            <a:spLocks/>
          </p:cNvSpPr>
          <p:nvPr/>
        </p:nvSpPr>
        <p:spPr>
          <a:xfrm>
            <a:off x="3714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01  研究问题</a:t>
            </a:r>
          </a:p>
        </p:txBody>
      </p:sp>
      <p:sp>
        <p:nvSpPr>
          <p:cNvPr id="2" name="textbox_2">
            <a:extLst>
              <a:ext uri="{FF2B5EF4-FFF2-40B4-BE49-F238E27FC236}">
                <a16:creationId xmlns:a16="http://schemas.microsoft.com/office/drawing/2014/main" id="{5E5DF52A-506F-4FCC-9E22-53533DDDDBCC}"/>
              </a:ext>
            </a:extLst>
          </p:cNvPr>
          <p:cNvSpPr>
            <a:spLocks/>
          </p:cNvSpPr>
          <p:nvPr/>
        </p:nvSpPr>
        <p:spPr>
          <a:xfrm>
            <a:off x="251460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02  对象与基础</a:t>
            </a:r>
          </a:p>
        </p:txBody>
      </p:sp>
      <p:sp>
        <p:nvSpPr>
          <p:cNvPr id="3" name="textbox_3">
            <a:extLst>
              <a:ext uri="{FF2B5EF4-FFF2-40B4-BE49-F238E27FC236}">
                <a16:creationId xmlns:a16="http://schemas.microsoft.com/office/drawing/2014/main" id="{B3B7FE68-A266-49AD-BE4B-F668E4C68C9F}"/>
              </a:ext>
            </a:extLst>
          </p:cNvPr>
          <p:cNvSpPr>
            <a:spLocks/>
          </p:cNvSpPr>
          <p:nvPr/>
        </p:nvSpPr>
        <p:spPr>
          <a:xfrm>
            <a:off x="465772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03  方法与机制</a:t>
            </a:r>
          </a:p>
        </p:txBody>
      </p:sp>
      <p:sp>
        <p:nvSpPr>
          <p:cNvPr id="4" name="textbox_4">
            <a:extLst>
              <a:ext uri="{FF2B5EF4-FFF2-40B4-BE49-F238E27FC236}">
                <a16:creationId xmlns:a16="http://schemas.microsoft.com/office/drawing/2014/main" id="{D3D21CC4-F27A-410F-A79C-9CC6BC600EAC}"/>
              </a:ext>
            </a:extLst>
          </p:cNvPr>
          <p:cNvSpPr>
            <a:spLocks/>
          </p:cNvSpPr>
          <p:nvPr/>
        </p:nvSpPr>
        <p:spPr>
          <a:xfrm>
            <a:off x="680085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04  实验与证据</a:t>
            </a:r>
          </a:p>
        </p:txBody>
      </p:sp>
      <p:sp>
        <p:nvSpPr>
          <p:cNvPr id="5" name="rect_5">
            <a:extLst>
              <a:ext uri="{FF2B5EF4-FFF2-40B4-BE49-F238E27FC236}">
                <a16:creationId xmlns:a16="http://schemas.microsoft.com/office/drawing/2014/main" id="{FE8732DF-E3A8-4B69-BB7D-F2FA8A14DD53}"/>
              </a:ext>
            </a:extLst>
          </p:cNvPr>
          <p:cNvSpPr>
            <a:spLocks/>
          </p:cNvSpPr>
          <p:nvPr/>
        </p:nvSpPr>
        <p:spPr>
          <a:xfrm>
            <a:off x="6800850" y="447675"/>
            <a:ext cx="1238250" cy="2857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6" name="textbox_6">
            <a:extLst>
              <a:ext uri="{FF2B5EF4-FFF2-40B4-BE49-F238E27FC236}">
                <a16:creationId xmlns:a16="http://schemas.microsoft.com/office/drawing/2014/main" id="{230B125F-0AE8-4B95-8407-360E8F9464A6}"/>
              </a:ext>
            </a:extLst>
          </p:cNvPr>
          <p:cNvSpPr>
            <a:spLocks/>
          </p:cNvSpPr>
          <p:nvPr/>
        </p:nvSpPr>
        <p:spPr>
          <a:xfrm>
            <a:off x="89439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05  实施与产出</a:t>
            </a:r>
          </a:p>
        </p:txBody>
      </p:sp>
      <p:sp>
        <p:nvSpPr>
          <p:cNvPr id="7" name="line_7">
            <a:extLst>
              <a:ext uri="{FF2B5EF4-FFF2-40B4-BE49-F238E27FC236}">
                <a16:creationId xmlns:a16="http://schemas.microsoft.com/office/drawing/2014/main" id="{C368477A-E717-4FB0-BE19-2406E11EB5F5}"/>
              </a:ext>
            </a:extLst>
          </p:cNvPr>
          <p:cNvSpPr>
            <a:spLocks/>
          </p:cNvSpPr>
          <p:nvPr/>
        </p:nvSpPr>
        <p:spPr>
          <a:xfrm>
            <a:off x="371475" y="476250"/>
            <a:ext cx="10677525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8" name="slide_title">
            <a:extLst>
              <a:ext uri="{FF2B5EF4-FFF2-40B4-BE49-F238E27FC236}">
                <a16:creationId xmlns:a16="http://schemas.microsoft.com/office/drawing/2014/main" id="{BFA68AFA-42EC-4247-B815-FC07D2EC8315}"/>
              </a:ext>
            </a:extLst>
          </p:cNvPr>
          <p:cNvSpPr>
            <a:spLocks/>
          </p:cNvSpPr>
          <p:nvPr/>
        </p:nvSpPr>
        <p:spPr>
          <a:xfrm>
            <a:off x="361950" y="685800"/>
            <a:ext cx="10706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defPPr>
          </a:lstStyle>
          <a:p>
            <a: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pP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14</a:t>
            </a:r>
            <a:r>
              <a:rPr sz="2175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  </a:t>
            </a: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指标怎么读：把“更快找到好模型”变成可比较量</a:t>
            </a:r>
          </a:p>
        </p:txBody>
      </p:sp>
      <p:sp>
        <p:nvSpPr>
          <p:cNvPr id="9" name="textbox_8">
            <a:extLst>
              <a:ext uri="{FF2B5EF4-FFF2-40B4-BE49-F238E27FC236}">
                <a16:creationId xmlns:a16="http://schemas.microsoft.com/office/drawing/2014/main" id="{DC9E491F-17AD-4944-8F06-00C47E01C061}"/>
              </a:ext>
            </a:extLst>
          </p:cNvPr>
          <p:cNvSpPr>
            <a:spLocks/>
          </p:cNvSpPr>
          <p:nvPr/>
        </p:nvSpPr>
        <p:spPr>
          <a:xfrm>
            <a:off x="381000" y="1133475"/>
            <a:ext cx="10668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误差越低越好；成本横轴必须统一，不能把轮数和实际计算量混用。</a:t>
            </a:r>
          </a:p>
        </p:txBody>
      </p:sp>
      <p:grpSp>
        <p:nvGrpSpPr>
          <p:cNvPr id="30" name="page_15_stage_1">
            <a:extLst>
              <a:ext uri="{FF2B5EF4-FFF2-40B4-BE49-F238E27FC236}">
                <a16:creationId xmlns:a16="http://schemas.microsoft.com/office/drawing/2014/main" id="{C8B9066A-99DF-430F-43C0-E484B1DB1E98}"/>
              </a:ext>
            </a:extLst>
          </p:cNvPr>
          <p:cNvGrpSpPr/>
          <p:nvPr/>
        </p:nvGrpSpPr>
        <p:grpSpPr>
          <a:xfrm>
            <a:off x="485775" y="1590675"/>
            <a:ext cx="10344150" cy="1048703"/>
            <a:chOff x="485775" y="1590675"/>
            <a:chExt cx="10344150" cy="1048703"/>
          </a:xfrm>
        </p:grpSpPr>
        <p:sp>
          <p:nvSpPr>
            <p:cNvPr id="10" name="ellipse_9">
              <a:extLst>
                <a:ext uri="{FF2B5EF4-FFF2-40B4-BE49-F238E27FC236}">
                  <a16:creationId xmlns:a16="http://schemas.microsoft.com/office/drawing/2014/main" id="{8BD16C7B-971E-4604-A340-F0A66B413503}"/>
                </a:ext>
              </a:extLst>
            </p:cNvPr>
            <p:cNvSpPr>
              <a:spLocks/>
            </p:cNvSpPr>
            <p:nvPr/>
          </p:nvSpPr>
          <p:spPr>
            <a:xfrm>
              <a:off x="485775" y="1666875"/>
              <a:ext cx="457200" cy="457200"/>
            </a:xfrm>
            <a:prstGeom prst="ellipse">
              <a:avLst/>
            </a:prstGeom>
            <a:solidFill>
              <a:srgbClr val="38385B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1</a:t>
              </a:r>
            </a:p>
          </p:txBody>
        </p:sp>
        <p:sp>
          <p:nvSpPr>
            <p:cNvPr id="11" name="textbox_10">
              <a:extLst>
                <a:ext uri="{FF2B5EF4-FFF2-40B4-BE49-F238E27FC236}">
                  <a16:creationId xmlns:a16="http://schemas.microsoft.com/office/drawing/2014/main" id="{2199E13B-F1FD-4D5C-B052-ECA92465E6D2}"/>
                </a:ext>
              </a:extLst>
            </p:cNvPr>
            <p:cNvSpPr>
              <a:spLocks/>
            </p:cNvSpPr>
            <p:nvPr/>
          </p:nvSpPr>
          <p:spPr>
            <a:xfrm>
              <a:off x="1133475" y="1590675"/>
              <a:ext cx="2924175" cy="3714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21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21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21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Regret</a:t>
              </a:r>
            </a:p>
          </p:txBody>
        </p:sp>
        <p:sp>
          <p:nvSpPr>
            <p:cNvPr id="12" name="textbox_11">
              <a:extLst>
                <a:ext uri="{FF2B5EF4-FFF2-40B4-BE49-F238E27FC236}">
                  <a16:creationId xmlns:a16="http://schemas.microsoft.com/office/drawing/2014/main" id="{D2A1F2DD-E912-4EE5-9F8D-A8D96B62DCBC}"/>
                </a:ext>
              </a:extLst>
            </p:cNvPr>
            <p:cNvSpPr>
              <a:spLocks/>
            </p:cNvSpPr>
            <p:nvPr/>
          </p:nvSpPr>
          <p:spPr>
            <a:xfrm>
              <a:off x="4162425" y="1619250"/>
              <a:ext cx="666750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65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65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rPr>
                <a:t>已选误差 − 候选池参照最优误差</a:t>
              </a:r>
            </a:p>
          </p:txBody>
        </p:sp>
        <p:sp>
          <p:nvSpPr>
            <p:cNvPr id="13" name="textbox_12">
              <a:extLst>
                <a:ext uri="{FF2B5EF4-FFF2-40B4-BE49-F238E27FC236}">
                  <a16:creationId xmlns:a16="http://schemas.microsoft.com/office/drawing/2014/main" id="{D6AB2C99-417E-4A1F-82A1-A1208F50322E}"/>
                </a:ext>
              </a:extLst>
            </p:cNvPr>
            <p:cNvSpPr>
              <a:spLocks/>
            </p:cNvSpPr>
            <p:nvPr/>
          </p:nvSpPr>
          <p:spPr>
            <a:xfrm>
              <a:off x="4162425" y="2066925"/>
              <a:ext cx="657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50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50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衡量最终错过了多少。比较前固定候选池范围。</a:t>
              </a:r>
            </a:p>
          </p:txBody>
        </p:sp>
        <p:sp>
          <p:nvSpPr>
            <p:cNvPr id="14" name="line_13">
              <a:extLst>
                <a:ext uri="{FF2B5EF4-FFF2-40B4-BE49-F238E27FC236}">
                  <a16:creationId xmlns:a16="http://schemas.microsoft.com/office/drawing/2014/main" id="{39E44B7D-DAE5-4A84-BBB2-F2F9F2731DB2}"/>
                </a:ext>
              </a:extLst>
            </p:cNvPr>
            <p:cNvSpPr>
              <a:spLocks/>
            </p:cNvSpPr>
            <p:nvPr/>
          </p:nvSpPr>
          <p:spPr>
            <a:xfrm>
              <a:off x="1133475" y="2638425"/>
              <a:ext cx="9677400" cy="953"/>
            </a:xfrm>
            <a:prstGeom prst="line">
              <a:avLst/>
            </a:prstGeom>
            <a:noFill/>
            <a:ln w="9525">
              <a:solidFill>
                <a:srgbClr val="D8D9E3"/>
              </a:solidFill>
              <a:prstDash val="solid"/>
            </a:ln>
          </p:spPr>
        </p:sp>
      </p:grpSp>
      <p:grpSp>
        <p:nvGrpSpPr>
          <p:cNvPr id="31" name="page_15_stage_2">
            <a:extLst>
              <a:ext uri="{FF2B5EF4-FFF2-40B4-BE49-F238E27FC236}">
                <a16:creationId xmlns:a16="http://schemas.microsoft.com/office/drawing/2014/main" id="{33DB7D69-6C42-1C50-5FAB-46EEA1A8AD0A}"/>
              </a:ext>
            </a:extLst>
          </p:cNvPr>
          <p:cNvGrpSpPr/>
          <p:nvPr/>
        </p:nvGrpSpPr>
        <p:grpSpPr>
          <a:xfrm>
            <a:off x="485775" y="2828925"/>
            <a:ext cx="10344150" cy="1048703"/>
            <a:chOff x="485775" y="2828925"/>
            <a:chExt cx="10344150" cy="1048703"/>
          </a:xfrm>
        </p:grpSpPr>
        <p:sp>
          <p:nvSpPr>
            <p:cNvPr id="15" name="ellipse_14">
              <a:extLst>
                <a:ext uri="{FF2B5EF4-FFF2-40B4-BE49-F238E27FC236}">
                  <a16:creationId xmlns:a16="http://schemas.microsoft.com/office/drawing/2014/main" id="{EAE945D9-ED8F-46D0-9C61-1F6568125E58}"/>
                </a:ext>
              </a:extLst>
            </p:cNvPr>
            <p:cNvSpPr>
              <a:spLocks/>
            </p:cNvSpPr>
            <p:nvPr/>
          </p:nvSpPr>
          <p:spPr>
            <a:xfrm>
              <a:off x="485775" y="2905125"/>
              <a:ext cx="457200" cy="457200"/>
            </a:xfrm>
            <a:prstGeom prst="ellipse">
              <a:avLst/>
            </a:prstGeom>
            <a:solidFill>
              <a:srgbClr val="9C5875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2</a:t>
              </a:r>
            </a:p>
          </p:txBody>
        </p:sp>
        <p:sp>
          <p:nvSpPr>
            <p:cNvPr id="16" name="textbox_15">
              <a:extLst>
                <a:ext uri="{FF2B5EF4-FFF2-40B4-BE49-F238E27FC236}">
                  <a16:creationId xmlns:a16="http://schemas.microsoft.com/office/drawing/2014/main" id="{D494D751-6E51-4C03-A160-2F7946AC56DA}"/>
                </a:ext>
              </a:extLst>
            </p:cNvPr>
            <p:cNvSpPr>
              <a:spLocks/>
            </p:cNvSpPr>
            <p:nvPr/>
          </p:nvSpPr>
          <p:spPr>
            <a:xfrm>
              <a:off x="1133475" y="2828925"/>
              <a:ext cx="2924175" cy="3714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21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21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21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Best-so-far</a:t>
              </a:r>
            </a:p>
          </p:txBody>
        </p:sp>
        <p:sp>
          <p:nvSpPr>
            <p:cNvPr id="17" name="textbox_16">
              <a:extLst>
                <a:ext uri="{FF2B5EF4-FFF2-40B4-BE49-F238E27FC236}">
                  <a16:creationId xmlns:a16="http://schemas.microsoft.com/office/drawing/2014/main" id="{DA89CEA3-31C6-4596-8B25-C6CF4F8212FA}"/>
                </a:ext>
              </a:extLst>
            </p:cNvPr>
            <p:cNvSpPr>
              <a:spLocks/>
            </p:cNvSpPr>
            <p:nvPr/>
          </p:nvSpPr>
          <p:spPr>
            <a:xfrm>
              <a:off x="4162425" y="2857500"/>
              <a:ext cx="666750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65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65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rPr>
                <a:t>截至预算 b 已经完成的候选中最低误差</a:t>
              </a:r>
            </a:p>
          </p:txBody>
        </p:sp>
        <p:sp>
          <p:nvSpPr>
            <p:cNvPr id="18" name="textbox_17">
              <a:extLst>
                <a:ext uri="{FF2B5EF4-FFF2-40B4-BE49-F238E27FC236}">
                  <a16:creationId xmlns:a16="http://schemas.microsoft.com/office/drawing/2014/main" id="{9FE68C48-E2EE-4516-A92F-1F646143E352}"/>
                </a:ext>
              </a:extLst>
            </p:cNvPr>
            <p:cNvSpPr>
              <a:spLocks/>
            </p:cNvSpPr>
            <p:nvPr/>
          </p:nvSpPr>
          <p:spPr>
            <a:xfrm>
              <a:off x="4162425" y="3305175"/>
              <a:ext cx="657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50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50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每个下降点必须对应一条真实执行记录。</a:t>
              </a:r>
            </a:p>
          </p:txBody>
        </p:sp>
        <p:sp>
          <p:nvSpPr>
            <p:cNvPr id="19" name="line_18">
              <a:extLst>
                <a:ext uri="{FF2B5EF4-FFF2-40B4-BE49-F238E27FC236}">
                  <a16:creationId xmlns:a16="http://schemas.microsoft.com/office/drawing/2014/main" id="{D389DD1C-0275-4B40-B9DE-2C5EF4E27E86}"/>
                </a:ext>
              </a:extLst>
            </p:cNvPr>
            <p:cNvSpPr>
              <a:spLocks/>
            </p:cNvSpPr>
            <p:nvPr/>
          </p:nvSpPr>
          <p:spPr>
            <a:xfrm>
              <a:off x="1133475" y="3876675"/>
              <a:ext cx="9677400" cy="953"/>
            </a:xfrm>
            <a:prstGeom prst="line">
              <a:avLst/>
            </a:prstGeom>
            <a:noFill/>
            <a:ln w="9525">
              <a:solidFill>
                <a:srgbClr val="D8D9E3"/>
              </a:solidFill>
              <a:prstDash val="solid"/>
            </a:ln>
          </p:spPr>
        </p:sp>
      </p:grpSp>
      <p:grpSp>
        <p:nvGrpSpPr>
          <p:cNvPr id="32" name="page_15_stage_3">
            <a:extLst>
              <a:ext uri="{FF2B5EF4-FFF2-40B4-BE49-F238E27FC236}">
                <a16:creationId xmlns:a16="http://schemas.microsoft.com/office/drawing/2014/main" id="{C7BD67F4-EB68-C69F-C05B-4556B2307C7E}"/>
              </a:ext>
            </a:extLst>
          </p:cNvPr>
          <p:cNvGrpSpPr/>
          <p:nvPr/>
        </p:nvGrpSpPr>
        <p:grpSpPr>
          <a:xfrm>
            <a:off x="485775" y="4067175"/>
            <a:ext cx="10344150" cy="990600"/>
            <a:chOff x="485775" y="4067175"/>
            <a:chExt cx="10344150" cy="990600"/>
          </a:xfrm>
        </p:grpSpPr>
        <p:sp>
          <p:nvSpPr>
            <p:cNvPr id="20" name="ellipse_19">
              <a:extLst>
                <a:ext uri="{FF2B5EF4-FFF2-40B4-BE49-F238E27FC236}">
                  <a16:creationId xmlns:a16="http://schemas.microsoft.com/office/drawing/2014/main" id="{37CC7977-889F-4B72-BA6D-43F29F2F811A}"/>
                </a:ext>
              </a:extLst>
            </p:cNvPr>
            <p:cNvSpPr>
              <a:spLocks/>
            </p:cNvSpPr>
            <p:nvPr/>
          </p:nvSpPr>
          <p:spPr>
            <a:xfrm>
              <a:off x="485775" y="4143375"/>
              <a:ext cx="457200" cy="457200"/>
            </a:xfrm>
            <a:prstGeom prst="ellipse">
              <a:avLst/>
            </a:prstGeom>
            <a:solidFill>
              <a:srgbClr val="38385B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3</a:t>
              </a:r>
            </a:p>
          </p:txBody>
        </p:sp>
        <p:sp>
          <p:nvSpPr>
            <p:cNvPr id="21" name="textbox_20">
              <a:extLst>
                <a:ext uri="{FF2B5EF4-FFF2-40B4-BE49-F238E27FC236}">
                  <a16:creationId xmlns:a16="http://schemas.microsoft.com/office/drawing/2014/main" id="{4048774B-93B6-46D7-B2C6-4CBFE3F030F7}"/>
                </a:ext>
              </a:extLst>
            </p:cNvPr>
            <p:cNvSpPr>
              <a:spLocks/>
            </p:cNvSpPr>
            <p:nvPr/>
          </p:nvSpPr>
          <p:spPr>
            <a:xfrm>
              <a:off x="1133475" y="4067175"/>
              <a:ext cx="2924175" cy="3714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21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21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21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预算 AUC</a:t>
              </a:r>
            </a:p>
          </p:txBody>
        </p:sp>
        <p:sp>
          <p:nvSpPr>
            <p:cNvPr id="22" name="textbox_21">
              <a:extLst>
                <a:ext uri="{FF2B5EF4-FFF2-40B4-BE49-F238E27FC236}">
                  <a16:creationId xmlns:a16="http://schemas.microsoft.com/office/drawing/2014/main" id="{3AB59B93-C580-495F-85E2-F48644C5A7E1}"/>
                </a:ext>
              </a:extLst>
            </p:cNvPr>
            <p:cNvSpPr>
              <a:spLocks/>
            </p:cNvSpPr>
            <p:nvPr/>
          </p:nvSpPr>
          <p:spPr>
            <a:xfrm>
              <a:off x="4162425" y="4095750"/>
              <a:ext cx="6667500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65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65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1">
                  <a:solidFill>
                    <a:srgbClr val="9C5875"/>
                  </a:solidFill>
                  <a:latin typeface="Noto Sans SC"/>
                  <a:ea typeface="Noto Sans SC"/>
                  <a:cs typeface="Noto Sans SC"/>
                </a:rPr>
                <a:t>在统一预算区间内汇总搜索曲线面积</a:t>
              </a:r>
            </a:p>
          </p:txBody>
        </p:sp>
        <p:sp>
          <p:nvSpPr>
            <p:cNvPr id="23" name="textbox_22">
              <a:extLst>
                <a:ext uri="{FF2B5EF4-FFF2-40B4-BE49-F238E27FC236}">
                  <a16:creationId xmlns:a16="http://schemas.microsoft.com/office/drawing/2014/main" id="{6399221C-9F90-4A02-AE44-EA48FE0BE910}"/>
                </a:ext>
              </a:extLst>
            </p:cNvPr>
            <p:cNvSpPr>
              <a:spLocks/>
            </p:cNvSpPr>
            <p:nvPr/>
          </p:nvSpPr>
          <p:spPr>
            <a:xfrm>
              <a:off x="4162425" y="4543425"/>
              <a:ext cx="6572250" cy="5143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50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50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误差作为纵轴时，通常面积越小越好。</a:t>
              </a:r>
            </a:p>
          </p:txBody>
        </p:sp>
      </p:grpSp>
      <p:sp>
        <p:nvSpPr>
          <p:cNvPr id="24" name="line_23">
            <a:extLst>
              <a:ext uri="{FF2B5EF4-FFF2-40B4-BE49-F238E27FC236}">
                <a16:creationId xmlns:a16="http://schemas.microsoft.com/office/drawing/2014/main" id="{60E9EB54-AAD9-4F25-982A-39B4F7E8F973}"/>
              </a:ext>
            </a:extLst>
          </p:cNvPr>
          <p:cNvSpPr>
            <a:spLocks/>
          </p:cNvSpPr>
          <p:nvPr/>
        </p:nvSpPr>
        <p:spPr>
          <a:xfrm>
            <a:off x="371475" y="5800725"/>
            <a:ext cx="10687050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25" name="rect_24">
            <a:extLst>
              <a:ext uri="{FF2B5EF4-FFF2-40B4-BE49-F238E27FC236}">
                <a16:creationId xmlns:a16="http://schemas.microsoft.com/office/drawing/2014/main" id="{B9D2D4A1-8E82-4F64-95A8-B8376BC20934}"/>
              </a:ext>
            </a:extLst>
          </p:cNvPr>
          <p:cNvSpPr>
            <a:spLocks/>
          </p:cNvSpPr>
          <p:nvPr/>
        </p:nvSpPr>
        <p:spPr>
          <a:xfrm>
            <a:off x="371475" y="5886450"/>
            <a:ext cx="38100" cy="20002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26" name="textbox_25">
            <a:extLst>
              <a:ext uri="{FF2B5EF4-FFF2-40B4-BE49-F238E27FC236}">
                <a16:creationId xmlns:a16="http://schemas.microsoft.com/office/drawing/2014/main" id="{2D96F413-F48E-4646-92D5-4E42EC397AAE}"/>
              </a:ext>
            </a:extLst>
          </p:cNvPr>
          <p:cNvSpPr>
            <a:spLocks/>
          </p:cNvSpPr>
          <p:nvPr/>
        </p:nvSpPr>
        <p:spPr>
          <a:xfrm>
            <a:off x="495300" y="5848350"/>
            <a:ext cx="1043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既看终点，也看过程；既看平均收益，也看哪些任务会退化。</a:t>
            </a:r>
          </a:p>
        </p:txBody>
      </p:sp>
      <p:sp>
        <p:nvSpPr>
          <p:cNvPr id="27" name="textbox_26">
            <a:extLst>
              <a:ext uri="{FF2B5EF4-FFF2-40B4-BE49-F238E27FC236}">
                <a16:creationId xmlns:a16="http://schemas.microsoft.com/office/drawing/2014/main" id="{938A3157-CA5D-4787-9FE0-552A3D74A792}"/>
              </a:ext>
            </a:extLst>
          </p:cNvPr>
          <p:cNvSpPr>
            <a:spLocks/>
          </p:cNvSpPr>
          <p:nvPr/>
        </p:nvSpPr>
        <p:spPr>
          <a:xfrm>
            <a:off x="371475" y="6219825"/>
            <a:ext cx="10287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路线 V1.0 · 视觉测试稿 · 研究设计待验证</a:t>
            </a:r>
          </a:p>
        </p:txBody>
      </p:sp>
      <p:sp>
        <p:nvSpPr>
          <p:cNvPr id="28" name="textbox_27">
            <a:extLst>
              <a:ext uri="{FF2B5EF4-FFF2-40B4-BE49-F238E27FC236}">
                <a16:creationId xmlns:a16="http://schemas.microsoft.com/office/drawing/2014/main" id="{EF4FACD5-F7C3-421C-AAA0-0629EFB2B534}"/>
              </a:ext>
            </a:extLst>
          </p:cNvPr>
          <p:cNvSpPr>
            <a:spLocks/>
          </p:cNvSpPr>
          <p:nvPr/>
        </p:nvSpPr>
        <p:spPr>
          <a:xfrm>
            <a:off x="10620375" y="619125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83135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_1">
            <a:extLst>
              <a:ext uri="{FF2B5EF4-FFF2-40B4-BE49-F238E27FC236}">
                <a16:creationId xmlns:a16="http://schemas.microsoft.com/office/drawing/2014/main" id="{9A96F151-1547-47FD-BB86-FEB1D3630530}"/>
              </a:ext>
            </a:extLst>
          </p:cNvPr>
          <p:cNvSpPr>
            <a:spLocks/>
          </p:cNvSpPr>
          <p:nvPr/>
        </p:nvSpPr>
        <p:spPr>
          <a:xfrm>
            <a:off x="3714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01  研究问题</a:t>
            </a:r>
          </a:p>
        </p:txBody>
      </p:sp>
      <p:sp>
        <p:nvSpPr>
          <p:cNvPr id="2" name="textbox_2">
            <a:extLst>
              <a:ext uri="{FF2B5EF4-FFF2-40B4-BE49-F238E27FC236}">
                <a16:creationId xmlns:a16="http://schemas.microsoft.com/office/drawing/2014/main" id="{56A06AA3-767D-4C13-A1F9-FFB33D441F78}"/>
              </a:ext>
            </a:extLst>
          </p:cNvPr>
          <p:cNvSpPr>
            <a:spLocks/>
          </p:cNvSpPr>
          <p:nvPr/>
        </p:nvSpPr>
        <p:spPr>
          <a:xfrm>
            <a:off x="251460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02  对象与基础</a:t>
            </a:r>
          </a:p>
        </p:txBody>
      </p:sp>
      <p:sp>
        <p:nvSpPr>
          <p:cNvPr id="3" name="textbox_3">
            <a:extLst>
              <a:ext uri="{FF2B5EF4-FFF2-40B4-BE49-F238E27FC236}">
                <a16:creationId xmlns:a16="http://schemas.microsoft.com/office/drawing/2014/main" id="{9246FC53-EB2E-4919-931F-6ABBA6FA006F}"/>
              </a:ext>
            </a:extLst>
          </p:cNvPr>
          <p:cNvSpPr>
            <a:spLocks/>
          </p:cNvSpPr>
          <p:nvPr/>
        </p:nvSpPr>
        <p:spPr>
          <a:xfrm>
            <a:off x="465772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03  方法与机制</a:t>
            </a:r>
          </a:p>
        </p:txBody>
      </p:sp>
      <p:sp>
        <p:nvSpPr>
          <p:cNvPr id="4" name="textbox_4">
            <a:extLst>
              <a:ext uri="{FF2B5EF4-FFF2-40B4-BE49-F238E27FC236}">
                <a16:creationId xmlns:a16="http://schemas.microsoft.com/office/drawing/2014/main" id="{9CE4ED4B-AE02-4C3D-B820-806E2C86DB16}"/>
              </a:ext>
            </a:extLst>
          </p:cNvPr>
          <p:cNvSpPr>
            <a:spLocks/>
          </p:cNvSpPr>
          <p:nvPr/>
        </p:nvSpPr>
        <p:spPr>
          <a:xfrm>
            <a:off x="680085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04  实验与证据</a:t>
            </a:r>
          </a:p>
        </p:txBody>
      </p:sp>
      <p:sp>
        <p:nvSpPr>
          <p:cNvPr id="5" name="textbox_5">
            <a:extLst>
              <a:ext uri="{FF2B5EF4-FFF2-40B4-BE49-F238E27FC236}">
                <a16:creationId xmlns:a16="http://schemas.microsoft.com/office/drawing/2014/main" id="{2BAEF449-657B-4EE0-88B9-EEB0FE4D0F98}"/>
              </a:ext>
            </a:extLst>
          </p:cNvPr>
          <p:cNvSpPr>
            <a:spLocks/>
          </p:cNvSpPr>
          <p:nvPr/>
        </p:nvSpPr>
        <p:spPr>
          <a:xfrm>
            <a:off x="89439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05  实施与产出</a:t>
            </a:r>
          </a:p>
        </p:txBody>
      </p:sp>
      <p:sp>
        <p:nvSpPr>
          <p:cNvPr id="6" name="rect_6">
            <a:extLst>
              <a:ext uri="{FF2B5EF4-FFF2-40B4-BE49-F238E27FC236}">
                <a16:creationId xmlns:a16="http://schemas.microsoft.com/office/drawing/2014/main" id="{2CE8DF85-6071-46D4-9518-A1B87D984713}"/>
              </a:ext>
            </a:extLst>
          </p:cNvPr>
          <p:cNvSpPr>
            <a:spLocks/>
          </p:cNvSpPr>
          <p:nvPr/>
        </p:nvSpPr>
        <p:spPr>
          <a:xfrm>
            <a:off x="8943975" y="447675"/>
            <a:ext cx="1238250" cy="2857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7" name="line_7">
            <a:extLst>
              <a:ext uri="{FF2B5EF4-FFF2-40B4-BE49-F238E27FC236}">
                <a16:creationId xmlns:a16="http://schemas.microsoft.com/office/drawing/2014/main" id="{DD65CEF0-E1F8-40AA-BEBF-76372DFBF4DB}"/>
              </a:ext>
            </a:extLst>
          </p:cNvPr>
          <p:cNvSpPr>
            <a:spLocks/>
          </p:cNvSpPr>
          <p:nvPr/>
        </p:nvSpPr>
        <p:spPr>
          <a:xfrm>
            <a:off x="371475" y="476250"/>
            <a:ext cx="10677525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8" name="slide_title">
            <a:extLst>
              <a:ext uri="{FF2B5EF4-FFF2-40B4-BE49-F238E27FC236}">
                <a16:creationId xmlns:a16="http://schemas.microsoft.com/office/drawing/2014/main" id="{280B8142-1771-4268-BE57-C2FBB429ECD7}"/>
              </a:ext>
            </a:extLst>
          </p:cNvPr>
          <p:cNvSpPr>
            <a:spLocks/>
          </p:cNvSpPr>
          <p:nvPr/>
        </p:nvSpPr>
        <p:spPr>
          <a:xfrm>
            <a:off x="361950" y="685800"/>
            <a:ext cx="10706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defPPr>
          </a:lstStyle>
          <a:p>
            <a: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pP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15</a:t>
            </a:r>
            <a:r>
              <a:rPr sz="2175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  </a:t>
            </a: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Agent</a:t>
            </a:r>
            <a:r>
              <a:rPr sz="2175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集成：让已经验证的方法进入可执行工作流</a:t>
            </a:r>
          </a:p>
        </p:txBody>
      </p:sp>
      <p:sp>
        <p:nvSpPr>
          <p:cNvPr id="9" name="textbox_8">
            <a:extLst>
              <a:ext uri="{FF2B5EF4-FFF2-40B4-BE49-F238E27FC236}">
                <a16:creationId xmlns:a16="http://schemas.microsoft.com/office/drawing/2014/main" id="{0777C170-22F8-41AF-B7C6-128E66043041}"/>
              </a:ext>
            </a:extLst>
          </p:cNvPr>
          <p:cNvSpPr>
            <a:spLocks/>
          </p:cNvSpPr>
          <p:nvPr/>
        </p:nvSpPr>
        <p:spPr>
          <a:xfrm>
            <a:off x="381000" y="1133475"/>
            <a:ext cx="10668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一个主 Controller 调用专业工具，数值选择策略保留独立实现。</a:t>
            </a:r>
          </a:p>
        </p:txBody>
      </p:sp>
      <p:grpSp>
        <p:nvGrpSpPr>
          <p:cNvPr id="40" name="complete_diagram_with_connectors">
            <a:extLst>
              <a:ext uri="{FF2B5EF4-FFF2-40B4-BE49-F238E27FC236}">
                <a16:creationId xmlns:a16="http://schemas.microsoft.com/office/drawing/2014/main" id="{314F2EF9-0B2E-EEE0-8F45-F0F0CF0CA37A}"/>
              </a:ext>
            </a:extLst>
          </p:cNvPr>
          <p:cNvGrpSpPr/>
          <p:nvPr/>
        </p:nvGrpSpPr>
        <p:grpSpPr>
          <a:xfrm>
            <a:off x="541401" y="1485900"/>
            <a:ext cx="10517124" cy="3962400"/>
            <a:chOff x="541401" y="1485900"/>
            <a:chExt cx="10517124" cy="3962400"/>
          </a:xfrm>
        </p:grpSpPr>
        <p:cxnSp>
          <p:nvCxnSpPr>
            <p:cNvPr id="15" name="connector_14">
              <a:extLst>
                <a:ext uri="{FF2B5EF4-FFF2-40B4-BE49-F238E27FC236}">
                  <a16:creationId xmlns:a16="http://schemas.microsoft.com/office/drawing/2014/main" id="{C8FD889A-36E3-4BF6-9CBB-2D377763FE4E}"/>
                </a:ext>
              </a:extLst>
            </p:cNvPr>
            <p:cNvCxnSpPr>
              <a:stCxn id="11" idx="3"/>
              <a:endCxn id="10" idx="3"/>
            </p:cNvCxnSpPr>
            <p:nvPr/>
          </p:nvCxnSpPr>
          <p:spPr>
            <a:xfrm>
              <a:off x="2246186" y="2154437"/>
              <a:ext cx="994457" cy="1288315"/>
            </a:xfrm>
            <a:prstGeom prst="bentConnector3">
              <a:avLst>
                <a:gd name="adj1" fmla="val 22987"/>
              </a:avLst>
            </a:prstGeom>
            <a:ln w="20955">
              <a:solidFill>
                <a:srgbClr val="9C5875"/>
              </a:solidFill>
              <a:prstDash val="solid"/>
              <a:tailEnd type="triangle" w="med" len="med"/>
            </a:ln>
          </p:spPr>
        </p:cxnSp>
        <p:cxnSp>
          <p:nvCxnSpPr>
            <p:cNvPr id="16" name="connector_15">
              <a:extLst>
                <a:ext uri="{FF2B5EF4-FFF2-40B4-BE49-F238E27FC236}">
                  <a16:creationId xmlns:a16="http://schemas.microsoft.com/office/drawing/2014/main" id="{E077AB86-8005-4520-B885-909E21D497B1}"/>
                </a:ext>
              </a:extLst>
            </p:cNvPr>
            <p:cNvCxnSpPr>
              <a:stCxn id="10" idx="0"/>
              <a:endCxn id="12" idx="1"/>
            </p:cNvCxnSpPr>
            <p:nvPr/>
          </p:nvCxnSpPr>
          <p:spPr>
            <a:xfrm flipV="1">
              <a:off x="5027676" y="2154437"/>
              <a:ext cx="964549" cy="1288315"/>
            </a:xfrm>
            <a:prstGeom prst="bentConnector3">
              <a:avLst>
                <a:gd name="adj1" fmla="val 76300"/>
              </a:avLst>
            </a:prstGeom>
            <a:ln w="20955">
              <a:solidFill>
                <a:srgbClr val="9C5875"/>
              </a:solidFill>
              <a:prstDash val="solid"/>
              <a:tailEnd type="triangle" w="med" len="med"/>
            </a:ln>
          </p:spPr>
        </p:cxnSp>
        <p:cxnSp>
          <p:nvCxnSpPr>
            <p:cNvPr id="17" name="connector_16">
              <a:extLst>
                <a:ext uri="{FF2B5EF4-FFF2-40B4-BE49-F238E27FC236}">
                  <a16:creationId xmlns:a16="http://schemas.microsoft.com/office/drawing/2014/main" id="{BEE86436-4AE9-4723-8CDE-1692D46C3FB5}"/>
                </a:ext>
              </a:extLst>
            </p:cNvPr>
            <p:cNvCxnSpPr>
              <a:stCxn id="10" idx="3"/>
              <a:endCxn id="13" idx="3"/>
            </p:cNvCxnSpPr>
            <p:nvPr/>
          </p:nvCxnSpPr>
          <p:spPr>
            <a:xfrm flipH="1">
              <a:off x="2246186" y="3442752"/>
              <a:ext cx="994457" cy="1200567"/>
            </a:xfrm>
            <a:prstGeom prst="bentConnector3">
              <a:avLst>
                <a:gd name="adj1" fmla="val 50000"/>
              </a:avLst>
            </a:prstGeom>
            <a:ln w="20955">
              <a:solidFill>
                <a:srgbClr val="9C5875"/>
              </a:solidFill>
              <a:prstDash val="solid"/>
              <a:tailEnd type="triangle" w="med" len="med"/>
            </a:ln>
          </p:spPr>
        </p:cxnSp>
        <p:cxnSp>
          <p:nvCxnSpPr>
            <p:cNvPr id="18" name="connector_17">
              <a:extLst>
                <a:ext uri="{FF2B5EF4-FFF2-40B4-BE49-F238E27FC236}">
                  <a16:creationId xmlns:a16="http://schemas.microsoft.com/office/drawing/2014/main" id="{402B1DBA-7232-47D9-8D74-C7C88490C1A2}"/>
                </a:ext>
              </a:extLst>
            </p:cNvPr>
            <p:cNvCxnSpPr>
              <a:stCxn id="14" idx="1"/>
              <a:endCxn id="10" idx="0"/>
            </p:cNvCxnSpPr>
            <p:nvPr/>
          </p:nvCxnSpPr>
          <p:spPr>
            <a:xfrm flipH="1" flipV="1">
              <a:off x="5027676" y="3442752"/>
              <a:ext cx="964549" cy="1200567"/>
            </a:xfrm>
            <a:prstGeom prst="bentConnector3">
              <a:avLst>
                <a:gd name="adj1" fmla="val 50000"/>
              </a:avLst>
            </a:prstGeom>
            <a:ln w="20955">
              <a:solidFill>
                <a:srgbClr val="9C5875"/>
              </a:solidFill>
              <a:prstDash val="solid"/>
              <a:tailEnd type="triangle" w="med" len="med"/>
            </a:ln>
          </p:spPr>
        </p:cxnSp>
        <p:grpSp>
          <p:nvGrpSpPr>
            <p:cNvPr id="39" name="page_16_stage_1">
              <a:extLst>
                <a:ext uri="{FF2B5EF4-FFF2-40B4-BE49-F238E27FC236}">
                  <a16:creationId xmlns:a16="http://schemas.microsoft.com/office/drawing/2014/main" id="{27CB3433-ACEB-6B0A-78EF-F2559509638F}"/>
                </a:ext>
              </a:extLst>
            </p:cNvPr>
            <p:cNvGrpSpPr/>
            <p:nvPr/>
          </p:nvGrpSpPr>
          <p:grpSpPr>
            <a:xfrm>
              <a:off x="541401" y="1485900"/>
              <a:ext cx="10517124" cy="3962400"/>
              <a:chOff x="541401" y="1485900"/>
              <a:chExt cx="10517124" cy="3962400"/>
            </a:xfrm>
          </p:grpSpPr>
          <p:sp>
            <p:nvSpPr>
              <p:cNvPr id="10" name="hexagon_9">
                <a:extLst>
                  <a:ext uri="{FF2B5EF4-FFF2-40B4-BE49-F238E27FC236}">
                    <a16:creationId xmlns:a16="http://schemas.microsoft.com/office/drawing/2014/main" id="{E477B5FA-1964-40B9-B7A1-EF0E148A605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240643" y="2784634"/>
                <a:ext cx="1787033" cy="1316236"/>
              </a:xfrm>
              <a:prstGeom prst="hexagon">
                <a:avLst/>
              </a:prstGeom>
              <a:solidFill>
                <a:srgbClr val="38385B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159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159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59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Controller</a:t>
                </a:r>
              </a:p>
              <a:p>
                <a:pPr algn="ctr">
                  <a:defRPr sz="159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176" b="0">
                    <a:solidFill>
                      <a:srgbClr val="DAE8EE"/>
                    </a:solidFill>
                    <a:latin typeface="Noto Sans SC"/>
                    <a:ea typeface="Noto Sans SC"/>
                    <a:cs typeface="Noto Sans SC"/>
                  </a:rPr>
                  <a:t>调工具 / 查状态</a:t>
                </a:r>
              </a:p>
            </p:txBody>
          </p:sp>
          <p:sp>
            <p:nvSpPr>
              <p:cNvPr id="11" name="roundRect_10">
                <a:extLst>
                  <a:ext uri="{FF2B5EF4-FFF2-40B4-BE49-F238E27FC236}">
                    <a16:creationId xmlns:a16="http://schemas.microsoft.com/office/drawing/2014/main" id="{0E7C8601-4D13-4DBA-ACBB-4E96FC3F06F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41401" y="1715691"/>
                <a:ext cx="1704785" cy="877491"/>
              </a:xfrm>
              <a:prstGeom prst="roundRect">
                <a:avLst>
                  <a:gd name="adj" fmla="val 10855"/>
                </a:avLst>
              </a:prstGeom>
              <a:solidFill>
                <a:srgbClr val="EEF0F7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1354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1354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54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rPr>
                  <a:t>Data Tool</a:t>
                </a:r>
              </a:p>
              <a:p>
                <a:pPr algn="ctr">
                  <a:defRPr sz="1354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002" b="0">
                    <a:solidFill>
                      <a:srgbClr val="6C7182"/>
                    </a:solidFill>
                    <a:latin typeface="Noto Sans SC"/>
                    <a:ea typeface="Noto Sans SC"/>
                    <a:cs typeface="Noto Sans SC"/>
                  </a:rPr>
                  <a:t>检查与特征</a:t>
                </a:r>
              </a:p>
            </p:txBody>
          </p:sp>
          <p:sp>
            <p:nvSpPr>
              <p:cNvPr id="12" name="roundRect_11">
                <a:extLst>
                  <a:ext uri="{FF2B5EF4-FFF2-40B4-BE49-F238E27FC236}">
                    <a16:creationId xmlns:a16="http://schemas.microsoft.com/office/drawing/2014/main" id="{EE089144-309E-4445-9167-5B4604FF10E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992225" y="1715691"/>
                <a:ext cx="1704785" cy="877491"/>
              </a:xfrm>
              <a:prstGeom prst="roundRect">
                <a:avLst>
                  <a:gd name="adj" fmla="val 10855"/>
                </a:avLst>
              </a:prstGeom>
              <a:solidFill>
                <a:srgbClr val="EEF0F7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1354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1354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54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rPr>
                  <a:t>Meta-Model</a:t>
                </a:r>
              </a:p>
              <a:p>
                <a:pPr algn="ctr">
                  <a:defRPr sz="1354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002" b="0">
                    <a:solidFill>
                      <a:srgbClr val="6C7182"/>
                    </a:solidFill>
                    <a:latin typeface="Noto Sans SC"/>
                    <a:ea typeface="Noto Sans SC"/>
                    <a:cs typeface="Noto Sans SC"/>
                  </a:rPr>
                  <a:t>候选表现估计</a:t>
                </a:r>
              </a:p>
            </p:txBody>
          </p:sp>
          <p:sp>
            <p:nvSpPr>
              <p:cNvPr id="13" name="roundRect_12">
                <a:extLst>
                  <a:ext uri="{FF2B5EF4-FFF2-40B4-BE49-F238E27FC236}">
                    <a16:creationId xmlns:a16="http://schemas.microsoft.com/office/drawing/2014/main" id="{481F119F-586A-4DA4-882E-C87BD963176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41401" y="4204573"/>
                <a:ext cx="1704785" cy="877491"/>
              </a:xfrm>
              <a:prstGeom prst="roundRect">
                <a:avLst>
                  <a:gd name="adj" fmla="val 10855"/>
                </a:avLst>
              </a:prstGeom>
              <a:solidFill>
                <a:srgbClr val="EEF0F7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1354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1354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54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rPr>
                  <a:t>Model Tool</a:t>
                </a:r>
              </a:p>
              <a:p>
                <a:pPr algn="ctr">
                  <a:defRPr sz="1354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002" b="0">
                    <a:solidFill>
                      <a:srgbClr val="6C7182"/>
                    </a:solidFill>
                    <a:latin typeface="Noto Sans SC"/>
                    <a:ea typeface="Noto Sans SC"/>
                    <a:cs typeface="Noto Sans SC"/>
                  </a:rPr>
                  <a:t>真实训练</a:t>
                </a:r>
              </a:p>
            </p:txBody>
          </p:sp>
          <p:sp>
            <p:nvSpPr>
              <p:cNvPr id="14" name="roundRect_13">
                <a:extLst>
                  <a:ext uri="{FF2B5EF4-FFF2-40B4-BE49-F238E27FC236}">
                    <a16:creationId xmlns:a16="http://schemas.microsoft.com/office/drawing/2014/main" id="{F5B84CF3-CBF9-42D8-A7EA-C3CA00EE587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992225" y="4204573"/>
                <a:ext cx="1704785" cy="877491"/>
              </a:xfrm>
              <a:prstGeom prst="roundRect">
                <a:avLst>
                  <a:gd name="adj" fmla="val 10855"/>
                </a:avLst>
              </a:prstGeom>
              <a:solidFill>
                <a:srgbClr val="EEF0F7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1354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1354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54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rPr>
                  <a:t>Evaluation</a:t>
                </a:r>
              </a:p>
              <a:p>
                <a:pPr algn="ctr">
                  <a:defRPr sz="1354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002" b="0">
                    <a:solidFill>
                      <a:srgbClr val="6C7182"/>
                    </a:solidFill>
                    <a:latin typeface="Noto Sans SC"/>
                    <a:ea typeface="Noto Sans SC"/>
                    <a:cs typeface="Noto Sans SC"/>
                  </a:rPr>
                  <a:t>误差与残差</a:t>
                </a:r>
              </a:p>
            </p:txBody>
          </p:sp>
          <p:sp>
            <p:nvSpPr>
              <p:cNvPr id="19" name="textbox_18">
                <a:extLst>
                  <a:ext uri="{FF2B5EF4-FFF2-40B4-BE49-F238E27FC236}">
                    <a16:creationId xmlns:a16="http://schemas.microsoft.com/office/drawing/2014/main" id="{047A4649-96FA-4B80-B29D-747D7AD9369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747153" y="1596033"/>
                <a:ext cx="2788968" cy="518517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295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295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295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rPr>
                  <a:t>用户任务 / 目标 / 预算</a:t>
                </a:r>
              </a:p>
            </p:txBody>
          </p:sp>
          <p:sp>
            <p:nvSpPr>
              <p:cNvPr id="20" name="textbox_19">
                <a:extLst>
                  <a:ext uri="{FF2B5EF4-FFF2-40B4-BE49-F238E27FC236}">
                    <a16:creationId xmlns:a16="http://schemas.microsoft.com/office/drawing/2014/main" id="{6A254023-A70F-484E-A68A-FAB3D7C8604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07885" y="4850725"/>
                <a:ext cx="3237595" cy="398859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236" b="1">
                    <a:solidFill>
                      <a:srgbClr val="9C5875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236" b="1">
                    <a:solidFill>
                      <a:srgbClr val="9C5875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236" b="1">
                    <a:solidFill>
                      <a:srgbClr val="9C5875"/>
                    </a:solidFill>
                    <a:latin typeface="Noto Sans SC"/>
                    <a:ea typeface="Noto Sans SC"/>
                    <a:cs typeface="Noto Sans SC"/>
                  </a:rPr>
                  <a:t>执行证据进入实验账本</a:t>
                </a:r>
              </a:p>
            </p:txBody>
          </p:sp>
          <p:sp>
            <p:nvSpPr>
              <p:cNvPr id="21" name="rect_20">
                <a:extLst>
                  <a:ext uri="{FF2B5EF4-FFF2-40B4-BE49-F238E27FC236}">
                    <a16:creationId xmlns:a16="http://schemas.microsoft.com/office/drawing/2014/main" id="{83ED7C77-1649-4B2B-9F31-B9E6E6ADC3F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067675" y="1485900"/>
                <a:ext cx="2990850" cy="1752600"/>
              </a:xfrm>
              <a:prstGeom prst="rect">
                <a:avLst/>
              </a:prstGeom>
              <a:solidFill>
                <a:srgbClr val="FAFBFC"/>
              </a:solidFill>
              <a:ln w="9525">
                <a:solidFill>
                  <a:srgbClr val="D8D9E3"/>
                </a:solidFill>
                <a:prstDash val="solid"/>
              </a:ln>
            </p:spPr>
          </p:sp>
          <p:sp>
            <p:nvSpPr>
              <p:cNvPr id="22" name="rect_21">
                <a:extLst>
                  <a:ext uri="{FF2B5EF4-FFF2-40B4-BE49-F238E27FC236}">
                    <a16:creationId xmlns:a16="http://schemas.microsoft.com/office/drawing/2014/main" id="{534E3118-23D5-4DDE-AFA5-3D9AE3BECA7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067675" y="1485900"/>
                <a:ext cx="2990850" cy="295275"/>
              </a:xfrm>
              <a:prstGeom prst="rect">
                <a:avLst/>
              </a:prstGeom>
              <a:solidFill>
                <a:srgbClr val="38385B"/>
              </a:solidFill>
              <a:ln w="0">
                <a:noFill/>
                <a:prstDash val="solid"/>
              </a:ln>
            </p:spPr>
          </p:sp>
          <p:sp>
            <p:nvSpPr>
              <p:cNvPr id="23" name="textbox_22">
                <a:extLst>
                  <a:ext uri="{FF2B5EF4-FFF2-40B4-BE49-F238E27FC236}">
                    <a16:creationId xmlns:a16="http://schemas.microsoft.com/office/drawing/2014/main" id="{C7A87985-139E-44DE-AB38-33FF0829C39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181975" y="1543050"/>
                <a:ext cx="2295716" cy="27432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35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35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5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Controller 负责</a:t>
                </a:r>
              </a:p>
            </p:txBody>
          </p:sp>
          <p:sp>
            <p:nvSpPr>
              <p:cNvPr id="24" name="textbox_23">
                <a:extLst>
                  <a:ext uri="{FF2B5EF4-FFF2-40B4-BE49-F238E27FC236}">
                    <a16:creationId xmlns:a16="http://schemas.microsoft.com/office/drawing/2014/main" id="{13271707-FB54-46E4-9638-2A34EF84600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210550" y="1924050"/>
                <a:ext cx="2648903" cy="27432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理解目标、组织工具顺序、检查状</a:t>
                </a:r>
              </a:p>
            </p:txBody>
          </p:sp>
          <p:sp>
            <p:nvSpPr>
              <p:cNvPr id="25" name="textbox_24">
                <a:extLst>
                  <a:ext uri="{FF2B5EF4-FFF2-40B4-BE49-F238E27FC236}">
                    <a16:creationId xmlns:a16="http://schemas.microsoft.com/office/drawing/2014/main" id="{E0751CB1-734C-40BB-86CE-9D4531025DB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210550" y="2206943"/>
                <a:ext cx="2119122" cy="27432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态、处理异常、汇总报告。</a:t>
                </a:r>
              </a:p>
            </p:txBody>
          </p:sp>
          <p:sp>
            <p:nvSpPr>
              <p:cNvPr id="26" name="rect_25">
                <a:extLst>
                  <a:ext uri="{FF2B5EF4-FFF2-40B4-BE49-F238E27FC236}">
                    <a16:creationId xmlns:a16="http://schemas.microsoft.com/office/drawing/2014/main" id="{AD6A91AD-4B78-4DAD-B091-5041F456750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067675" y="3419475"/>
                <a:ext cx="2990850" cy="2028825"/>
              </a:xfrm>
              <a:prstGeom prst="rect">
                <a:avLst/>
              </a:prstGeom>
              <a:solidFill>
                <a:srgbClr val="FAFBFC"/>
              </a:solidFill>
              <a:ln w="9525">
                <a:solidFill>
                  <a:srgbClr val="D8D9E3"/>
                </a:solidFill>
                <a:prstDash val="solid"/>
              </a:ln>
            </p:spPr>
          </p:sp>
          <p:sp>
            <p:nvSpPr>
              <p:cNvPr id="27" name="rect_26">
                <a:extLst>
                  <a:ext uri="{FF2B5EF4-FFF2-40B4-BE49-F238E27FC236}">
                    <a16:creationId xmlns:a16="http://schemas.microsoft.com/office/drawing/2014/main" id="{4976F1DF-9C7E-4037-A154-D93120D2EBE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067675" y="3419475"/>
                <a:ext cx="2990850" cy="295275"/>
              </a:xfrm>
              <a:prstGeom prst="rect">
                <a:avLst/>
              </a:prstGeom>
              <a:solidFill>
                <a:srgbClr val="38385B"/>
              </a:solidFill>
              <a:ln w="0">
                <a:noFill/>
                <a:prstDash val="solid"/>
              </a:ln>
            </p:spPr>
          </p:sp>
          <p:sp>
            <p:nvSpPr>
              <p:cNvPr id="28" name="textbox_27">
                <a:extLst>
                  <a:ext uri="{FF2B5EF4-FFF2-40B4-BE49-F238E27FC236}">
                    <a16:creationId xmlns:a16="http://schemas.microsoft.com/office/drawing/2014/main" id="{3AF92D4A-3CE7-408B-B018-912A655DACA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181975" y="3476625"/>
                <a:ext cx="706374" cy="27432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35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35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5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工具负责</a:t>
                </a:r>
              </a:p>
            </p:txBody>
          </p:sp>
          <p:sp>
            <p:nvSpPr>
              <p:cNvPr id="29" name="textbox_28">
                <a:extLst>
                  <a:ext uri="{FF2B5EF4-FFF2-40B4-BE49-F238E27FC236}">
                    <a16:creationId xmlns:a16="http://schemas.microsoft.com/office/drawing/2014/main" id="{6A51AD8C-1E8F-4472-86EC-6E2CF26CE60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210550" y="3857625"/>
                <a:ext cx="2648903" cy="27432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特征计算、候选排序、训练、误差</a:t>
                </a:r>
              </a:p>
            </p:txBody>
          </p:sp>
          <p:sp>
            <p:nvSpPr>
              <p:cNvPr id="30" name="textbox_29">
                <a:extLst>
                  <a:ext uri="{FF2B5EF4-FFF2-40B4-BE49-F238E27FC236}">
                    <a16:creationId xmlns:a16="http://schemas.microsoft.com/office/drawing/2014/main" id="{773F86CE-CC56-4CFA-B3C1-73731A7EFD3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210550" y="4140518"/>
                <a:ext cx="1412748" cy="27432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评估和成本记账。</a:t>
                </a:r>
              </a:p>
            </p:txBody>
          </p:sp>
          <p:sp>
            <p:nvSpPr>
              <p:cNvPr id="31" name="textbox_30">
                <a:extLst>
                  <a:ext uri="{FF2B5EF4-FFF2-40B4-BE49-F238E27FC236}">
                    <a16:creationId xmlns:a16="http://schemas.microsoft.com/office/drawing/2014/main" id="{468184DD-24C1-422B-B154-7A3A1EB7DA3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210550" y="4423410"/>
                <a:ext cx="2472309" cy="27432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训练成功以产物及检查结果为依</a:t>
                </a:r>
              </a:p>
            </p:txBody>
          </p:sp>
          <p:sp>
            <p:nvSpPr>
              <p:cNvPr id="32" name="textbox_31">
                <a:extLst>
                  <a:ext uri="{FF2B5EF4-FFF2-40B4-BE49-F238E27FC236}">
                    <a16:creationId xmlns:a16="http://schemas.microsoft.com/office/drawing/2014/main" id="{33B40C96-8FEF-4201-8AF2-B175038D8B8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210550" y="4706303"/>
                <a:ext cx="353187" cy="27432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5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据。</a:t>
                </a:r>
              </a:p>
            </p:txBody>
          </p:sp>
        </p:grpSp>
      </p:grpSp>
      <p:sp>
        <p:nvSpPr>
          <p:cNvPr id="33" name="line_32">
            <a:extLst>
              <a:ext uri="{FF2B5EF4-FFF2-40B4-BE49-F238E27FC236}">
                <a16:creationId xmlns:a16="http://schemas.microsoft.com/office/drawing/2014/main" id="{01601C65-392B-4299-9C31-FDA2ED4A649D}"/>
              </a:ext>
            </a:extLst>
          </p:cNvPr>
          <p:cNvSpPr>
            <a:spLocks/>
          </p:cNvSpPr>
          <p:nvPr/>
        </p:nvSpPr>
        <p:spPr>
          <a:xfrm>
            <a:off x="371475" y="5800725"/>
            <a:ext cx="10687050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34" name="rect_33">
            <a:extLst>
              <a:ext uri="{FF2B5EF4-FFF2-40B4-BE49-F238E27FC236}">
                <a16:creationId xmlns:a16="http://schemas.microsoft.com/office/drawing/2014/main" id="{5A87F685-2CC5-4548-B257-6358F25FF030}"/>
              </a:ext>
            </a:extLst>
          </p:cNvPr>
          <p:cNvSpPr>
            <a:spLocks/>
          </p:cNvSpPr>
          <p:nvPr/>
        </p:nvSpPr>
        <p:spPr>
          <a:xfrm>
            <a:off x="371475" y="5886450"/>
            <a:ext cx="38100" cy="20002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35" name="textbox_34">
            <a:extLst>
              <a:ext uri="{FF2B5EF4-FFF2-40B4-BE49-F238E27FC236}">
                <a16:creationId xmlns:a16="http://schemas.microsoft.com/office/drawing/2014/main" id="{35EF0AB0-2B89-47B5-9568-8F8B40F86002}"/>
              </a:ext>
            </a:extLst>
          </p:cNvPr>
          <p:cNvSpPr>
            <a:spLocks/>
          </p:cNvSpPr>
          <p:nvPr/>
        </p:nvSpPr>
        <p:spPr>
          <a:xfrm>
            <a:off x="495300" y="5848350"/>
            <a:ext cx="1043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Agent 系统承接决策方法；接口与执行证据使研究结果可复现。</a:t>
            </a:r>
          </a:p>
        </p:txBody>
      </p:sp>
      <p:sp>
        <p:nvSpPr>
          <p:cNvPr id="36" name="textbox_35">
            <a:extLst>
              <a:ext uri="{FF2B5EF4-FFF2-40B4-BE49-F238E27FC236}">
                <a16:creationId xmlns:a16="http://schemas.microsoft.com/office/drawing/2014/main" id="{9DFDB6CB-3A10-4135-BD6E-8F6EF7D16E57}"/>
              </a:ext>
            </a:extLst>
          </p:cNvPr>
          <p:cNvSpPr>
            <a:spLocks/>
          </p:cNvSpPr>
          <p:nvPr/>
        </p:nvSpPr>
        <p:spPr>
          <a:xfrm>
            <a:off x="371475" y="6219825"/>
            <a:ext cx="10287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路线 V1.0 · 视觉测试稿 · 研究设计待验证</a:t>
            </a:r>
          </a:p>
        </p:txBody>
      </p:sp>
      <p:sp>
        <p:nvSpPr>
          <p:cNvPr id="37" name="textbox_36">
            <a:extLst>
              <a:ext uri="{FF2B5EF4-FFF2-40B4-BE49-F238E27FC236}">
                <a16:creationId xmlns:a16="http://schemas.microsoft.com/office/drawing/2014/main" id="{FADD2247-180A-4561-90B9-F8EB7F224D61}"/>
              </a:ext>
            </a:extLst>
          </p:cNvPr>
          <p:cNvSpPr>
            <a:spLocks/>
          </p:cNvSpPr>
          <p:nvPr/>
        </p:nvSpPr>
        <p:spPr>
          <a:xfrm>
            <a:off x="10620375" y="619125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85483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_1">
            <a:extLst>
              <a:ext uri="{FF2B5EF4-FFF2-40B4-BE49-F238E27FC236}">
                <a16:creationId xmlns:a16="http://schemas.microsoft.com/office/drawing/2014/main" id="{9649C224-3E17-43E4-A16A-8A309693B2BC}"/>
              </a:ext>
            </a:extLst>
          </p:cNvPr>
          <p:cNvSpPr>
            <a:spLocks/>
          </p:cNvSpPr>
          <p:nvPr/>
        </p:nvSpPr>
        <p:spPr>
          <a:xfrm>
            <a:off x="3714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01  研究问题</a:t>
            </a:r>
          </a:p>
        </p:txBody>
      </p:sp>
      <p:sp>
        <p:nvSpPr>
          <p:cNvPr id="2" name="textbox_2">
            <a:extLst>
              <a:ext uri="{FF2B5EF4-FFF2-40B4-BE49-F238E27FC236}">
                <a16:creationId xmlns:a16="http://schemas.microsoft.com/office/drawing/2014/main" id="{F479FFF1-4811-4F55-9A7E-FD6DBD718DDF}"/>
              </a:ext>
            </a:extLst>
          </p:cNvPr>
          <p:cNvSpPr>
            <a:spLocks/>
          </p:cNvSpPr>
          <p:nvPr/>
        </p:nvSpPr>
        <p:spPr>
          <a:xfrm>
            <a:off x="251460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02  对象与基础</a:t>
            </a:r>
          </a:p>
        </p:txBody>
      </p:sp>
      <p:sp>
        <p:nvSpPr>
          <p:cNvPr id="3" name="textbox_3">
            <a:extLst>
              <a:ext uri="{FF2B5EF4-FFF2-40B4-BE49-F238E27FC236}">
                <a16:creationId xmlns:a16="http://schemas.microsoft.com/office/drawing/2014/main" id="{0C2BF721-DBD8-4D7B-937F-4AFE65B17772}"/>
              </a:ext>
            </a:extLst>
          </p:cNvPr>
          <p:cNvSpPr>
            <a:spLocks/>
          </p:cNvSpPr>
          <p:nvPr/>
        </p:nvSpPr>
        <p:spPr>
          <a:xfrm>
            <a:off x="465772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03  方法与机制</a:t>
            </a:r>
          </a:p>
        </p:txBody>
      </p:sp>
      <p:sp>
        <p:nvSpPr>
          <p:cNvPr id="4" name="textbox_4">
            <a:extLst>
              <a:ext uri="{FF2B5EF4-FFF2-40B4-BE49-F238E27FC236}">
                <a16:creationId xmlns:a16="http://schemas.microsoft.com/office/drawing/2014/main" id="{7C4E7A1B-9AAF-4EA4-B496-4540C6FEF9C2}"/>
              </a:ext>
            </a:extLst>
          </p:cNvPr>
          <p:cNvSpPr>
            <a:spLocks/>
          </p:cNvSpPr>
          <p:nvPr/>
        </p:nvSpPr>
        <p:spPr>
          <a:xfrm>
            <a:off x="680085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04  实验与证据</a:t>
            </a:r>
          </a:p>
        </p:txBody>
      </p:sp>
      <p:sp>
        <p:nvSpPr>
          <p:cNvPr id="5" name="textbox_5">
            <a:extLst>
              <a:ext uri="{FF2B5EF4-FFF2-40B4-BE49-F238E27FC236}">
                <a16:creationId xmlns:a16="http://schemas.microsoft.com/office/drawing/2014/main" id="{9C0C0C91-1CAE-473F-9C02-9F761971D572}"/>
              </a:ext>
            </a:extLst>
          </p:cNvPr>
          <p:cNvSpPr>
            <a:spLocks/>
          </p:cNvSpPr>
          <p:nvPr/>
        </p:nvSpPr>
        <p:spPr>
          <a:xfrm>
            <a:off x="89439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05  实施与产出</a:t>
            </a:r>
          </a:p>
        </p:txBody>
      </p:sp>
      <p:sp>
        <p:nvSpPr>
          <p:cNvPr id="6" name="rect_6">
            <a:extLst>
              <a:ext uri="{FF2B5EF4-FFF2-40B4-BE49-F238E27FC236}">
                <a16:creationId xmlns:a16="http://schemas.microsoft.com/office/drawing/2014/main" id="{43A195F0-DCBA-4527-BE03-6A0AD6344F57}"/>
              </a:ext>
            </a:extLst>
          </p:cNvPr>
          <p:cNvSpPr>
            <a:spLocks/>
          </p:cNvSpPr>
          <p:nvPr/>
        </p:nvSpPr>
        <p:spPr>
          <a:xfrm>
            <a:off x="8943975" y="447675"/>
            <a:ext cx="1238250" cy="2857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7" name="line_7">
            <a:extLst>
              <a:ext uri="{FF2B5EF4-FFF2-40B4-BE49-F238E27FC236}">
                <a16:creationId xmlns:a16="http://schemas.microsoft.com/office/drawing/2014/main" id="{FB1B3DF7-C958-4449-BB07-E36C28DAEF4D}"/>
              </a:ext>
            </a:extLst>
          </p:cNvPr>
          <p:cNvSpPr>
            <a:spLocks/>
          </p:cNvSpPr>
          <p:nvPr/>
        </p:nvSpPr>
        <p:spPr>
          <a:xfrm>
            <a:off x="371475" y="476250"/>
            <a:ext cx="10677525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8" name="slide_title">
            <a:extLst>
              <a:ext uri="{FF2B5EF4-FFF2-40B4-BE49-F238E27FC236}">
                <a16:creationId xmlns:a16="http://schemas.microsoft.com/office/drawing/2014/main" id="{8C76077C-94C0-4B68-82EE-FF17AD626556}"/>
              </a:ext>
            </a:extLst>
          </p:cNvPr>
          <p:cNvSpPr>
            <a:spLocks/>
          </p:cNvSpPr>
          <p:nvPr/>
        </p:nvSpPr>
        <p:spPr>
          <a:xfrm>
            <a:off x="361950" y="685800"/>
            <a:ext cx="10706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defPPr>
          </a:lstStyle>
          <a:p>
            <a: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pP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16</a:t>
            </a:r>
            <a:r>
              <a:rPr sz="2175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  </a:t>
            </a: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已有基础与下一步：把完成记录和研究结果分开</a:t>
            </a:r>
          </a:p>
        </p:txBody>
      </p:sp>
      <p:sp>
        <p:nvSpPr>
          <p:cNvPr id="9" name="textbox_8">
            <a:extLst>
              <a:ext uri="{FF2B5EF4-FFF2-40B4-BE49-F238E27FC236}">
                <a16:creationId xmlns:a16="http://schemas.microsoft.com/office/drawing/2014/main" id="{440F82E4-479D-4EC4-8A48-CEC50C49A1F8}"/>
              </a:ext>
            </a:extLst>
          </p:cNvPr>
          <p:cNvSpPr>
            <a:spLocks/>
          </p:cNvSpPr>
          <p:nvPr/>
        </p:nvSpPr>
        <p:spPr>
          <a:xfrm>
            <a:off x="381000" y="1133475"/>
            <a:ext cx="10668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依据路线 V1.0 的既有状态整理；本次排版工作未重新运行模型实验。</a:t>
            </a:r>
          </a:p>
        </p:txBody>
      </p:sp>
      <p:grpSp>
        <p:nvGrpSpPr>
          <p:cNvPr id="31" name="page_17_stage_1">
            <a:extLst>
              <a:ext uri="{FF2B5EF4-FFF2-40B4-BE49-F238E27FC236}">
                <a16:creationId xmlns:a16="http://schemas.microsoft.com/office/drawing/2014/main" id="{56C0FE3E-6E3E-83AE-A5F0-04DF96F8E768}"/>
              </a:ext>
            </a:extLst>
          </p:cNvPr>
          <p:cNvGrpSpPr/>
          <p:nvPr/>
        </p:nvGrpSpPr>
        <p:grpSpPr>
          <a:xfrm>
            <a:off x="457200" y="1733550"/>
            <a:ext cx="10610850" cy="3343275"/>
            <a:chOff x="457200" y="1733550"/>
            <a:chExt cx="10610850" cy="3343275"/>
          </a:xfrm>
        </p:grpSpPr>
        <p:sp>
          <p:nvSpPr>
            <p:cNvPr id="10" name="chevron_9">
              <a:extLst>
                <a:ext uri="{FF2B5EF4-FFF2-40B4-BE49-F238E27FC236}">
                  <a16:creationId xmlns:a16="http://schemas.microsoft.com/office/drawing/2014/main" id="{864B7AA3-BAD5-4114-B065-272035517CA5}"/>
                </a:ext>
              </a:extLst>
            </p:cNvPr>
            <p:cNvSpPr>
              <a:spLocks/>
            </p:cNvSpPr>
            <p:nvPr/>
          </p:nvSpPr>
          <p:spPr>
            <a:xfrm>
              <a:off x="457200" y="1733550"/>
              <a:ext cx="2524125" cy="666750"/>
            </a:xfrm>
            <a:prstGeom prst="chevron">
              <a:avLst/>
            </a:prstGeom>
            <a:solidFill>
              <a:srgbClr val="38385B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已有记录</a:t>
              </a:r>
            </a:p>
          </p:txBody>
        </p:sp>
        <p:sp>
          <p:nvSpPr>
            <p:cNvPr id="11" name="textbox_10">
              <a:extLst>
                <a:ext uri="{FF2B5EF4-FFF2-40B4-BE49-F238E27FC236}">
                  <a16:creationId xmlns:a16="http://schemas.microsoft.com/office/drawing/2014/main" id="{00EE812B-7A1E-4F38-8853-3405158C4C50}"/>
                </a:ext>
              </a:extLst>
            </p:cNvPr>
            <p:cNvSpPr>
              <a:spLocks/>
            </p:cNvSpPr>
            <p:nvPr/>
          </p:nvSpPr>
          <p:spPr>
            <a:xfrm>
              <a:off x="571500" y="2752725"/>
              <a:ext cx="2390775" cy="15811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6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6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统一环境</a:t>
              </a:r>
            </a:p>
            <a:p>
              <a:pPr algn="l">
                <a:defRPr sz="16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DLinear GPU</a:t>
              </a:r>
            </a:p>
            <a:p>
              <a:pPr algn="l">
                <a:defRPr sz="16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验证导出 / Collector</a:t>
              </a:r>
            </a:p>
          </p:txBody>
        </p:sp>
        <p:sp>
          <p:nvSpPr>
            <p:cNvPr id="12" name="ellipse_11">
              <a:extLst>
                <a:ext uri="{FF2B5EF4-FFF2-40B4-BE49-F238E27FC236}">
                  <a16:creationId xmlns:a16="http://schemas.microsoft.com/office/drawing/2014/main" id="{2C43B60A-D5B8-4250-A85E-51C45E13D3D5}"/>
                </a:ext>
              </a:extLst>
            </p:cNvPr>
            <p:cNvSpPr>
              <a:spLocks/>
            </p:cNvSpPr>
            <p:nvPr/>
          </p:nvSpPr>
          <p:spPr>
            <a:xfrm>
              <a:off x="1352550" y="4619625"/>
              <a:ext cx="457200" cy="457200"/>
            </a:xfrm>
            <a:prstGeom prst="ellipse">
              <a:avLst/>
            </a:prstGeom>
            <a:solidFill>
              <a:srgbClr val="38385B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1</a:t>
              </a:r>
            </a:p>
          </p:txBody>
        </p:sp>
        <p:sp>
          <p:nvSpPr>
            <p:cNvPr id="13" name="rightArrow_12">
              <a:extLst>
                <a:ext uri="{FF2B5EF4-FFF2-40B4-BE49-F238E27FC236}">
                  <a16:creationId xmlns:a16="http://schemas.microsoft.com/office/drawing/2014/main" id="{55D93EAD-57BE-4731-9BC6-88CE6AE88B45}"/>
                </a:ext>
              </a:extLst>
            </p:cNvPr>
            <p:cNvSpPr>
              <a:spLocks/>
            </p:cNvSpPr>
            <p:nvPr/>
          </p:nvSpPr>
          <p:spPr>
            <a:xfrm>
              <a:off x="2762250" y="4695825"/>
              <a:ext cx="476250" cy="247650"/>
            </a:xfrm>
            <a:prstGeom prst="rightArrow">
              <a:avLst/>
            </a:prstGeom>
            <a:solidFill>
              <a:srgbClr val="D5D9E7"/>
            </a:solidFill>
            <a:ln w="0">
              <a:noFill/>
              <a:prstDash val="solid"/>
            </a:ln>
          </p:spPr>
        </p:sp>
        <p:sp>
          <p:nvSpPr>
            <p:cNvPr id="14" name="chevron_13">
              <a:extLst>
                <a:ext uri="{FF2B5EF4-FFF2-40B4-BE49-F238E27FC236}">
                  <a16:creationId xmlns:a16="http://schemas.microsoft.com/office/drawing/2014/main" id="{2FD41722-5F79-4B90-A634-A9BCF3478450}"/>
                </a:ext>
              </a:extLst>
            </p:cNvPr>
            <p:cNvSpPr>
              <a:spLocks/>
            </p:cNvSpPr>
            <p:nvPr/>
          </p:nvSpPr>
          <p:spPr>
            <a:xfrm>
              <a:off x="3152775" y="1733550"/>
              <a:ext cx="2524125" cy="666750"/>
            </a:xfrm>
            <a:prstGeom prst="chevron">
              <a:avLst/>
            </a:prstGeom>
            <a:solidFill>
              <a:srgbClr val="9C5875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配置已准备</a:t>
              </a:r>
            </a:p>
          </p:txBody>
        </p:sp>
        <p:sp>
          <p:nvSpPr>
            <p:cNvPr id="15" name="textbox_14">
              <a:extLst>
                <a:ext uri="{FF2B5EF4-FFF2-40B4-BE49-F238E27FC236}">
                  <a16:creationId xmlns:a16="http://schemas.microsoft.com/office/drawing/2014/main" id="{B5103AA1-2E14-41C2-8596-C3BC012778E1}"/>
                </a:ext>
              </a:extLst>
            </p:cNvPr>
            <p:cNvSpPr>
              <a:spLocks/>
            </p:cNvSpPr>
            <p:nvPr/>
          </p:nvSpPr>
          <p:spPr>
            <a:xfrm>
              <a:off x="3267075" y="2752725"/>
              <a:ext cx="2390775" cy="15811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6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6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六组小对照</a:t>
              </a:r>
            </a:p>
            <a:p>
              <a:pPr algn="l">
                <a:defRPr sz="16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两配置 × 三种子</a:t>
              </a:r>
            </a:p>
            <a:p>
              <a:pPr algn="l">
                <a:defRPr sz="16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等待批量执行</a:t>
              </a:r>
            </a:p>
          </p:txBody>
        </p:sp>
        <p:sp>
          <p:nvSpPr>
            <p:cNvPr id="16" name="ellipse_15">
              <a:extLst>
                <a:ext uri="{FF2B5EF4-FFF2-40B4-BE49-F238E27FC236}">
                  <a16:creationId xmlns:a16="http://schemas.microsoft.com/office/drawing/2014/main" id="{89936AC6-65C6-4848-9A8D-5B312CEB98C4}"/>
                </a:ext>
              </a:extLst>
            </p:cNvPr>
            <p:cNvSpPr>
              <a:spLocks/>
            </p:cNvSpPr>
            <p:nvPr/>
          </p:nvSpPr>
          <p:spPr>
            <a:xfrm>
              <a:off x="4048125" y="4619625"/>
              <a:ext cx="457200" cy="457200"/>
            </a:xfrm>
            <a:prstGeom prst="ellipse">
              <a:avLst/>
            </a:prstGeom>
            <a:solidFill>
              <a:srgbClr val="9C5875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2</a:t>
              </a:r>
            </a:p>
          </p:txBody>
        </p:sp>
        <p:sp>
          <p:nvSpPr>
            <p:cNvPr id="17" name="rightArrow_16">
              <a:extLst>
                <a:ext uri="{FF2B5EF4-FFF2-40B4-BE49-F238E27FC236}">
                  <a16:creationId xmlns:a16="http://schemas.microsoft.com/office/drawing/2014/main" id="{9053CACA-5968-44A8-A932-2FA84E7097CD}"/>
                </a:ext>
              </a:extLst>
            </p:cNvPr>
            <p:cNvSpPr>
              <a:spLocks/>
            </p:cNvSpPr>
            <p:nvPr/>
          </p:nvSpPr>
          <p:spPr>
            <a:xfrm>
              <a:off x="5457825" y="4695825"/>
              <a:ext cx="476250" cy="247650"/>
            </a:xfrm>
            <a:prstGeom prst="rightArrow">
              <a:avLst/>
            </a:prstGeom>
            <a:solidFill>
              <a:srgbClr val="D5D9E7"/>
            </a:solidFill>
            <a:ln w="0">
              <a:noFill/>
              <a:prstDash val="solid"/>
            </a:ln>
          </p:spPr>
        </p:sp>
        <p:sp>
          <p:nvSpPr>
            <p:cNvPr id="18" name="chevron_17">
              <a:extLst>
                <a:ext uri="{FF2B5EF4-FFF2-40B4-BE49-F238E27FC236}">
                  <a16:creationId xmlns:a16="http://schemas.microsoft.com/office/drawing/2014/main" id="{4AB8CAFD-A5B6-43B7-975A-136CD5DCA22B}"/>
                </a:ext>
              </a:extLst>
            </p:cNvPr>
            <p:cNvSpPr>
              <a:spLocks/>
            </p:cNvSpPr>
            <p:nvPr/>
          </p:nvSpPr>
          <p:spPr>
            <a:xfrm>
              <a:off x="5848350" y="1733550"/>
              <a:ext cx="2524125" cy="666750"/>
            </a:xfrm>
            <a:prstGeom prst="chevron">
              <a:avLst/>
            </a:prstGeom>
            <a:solidFill>
              <a:srgbClr val="9A754A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下一实现</a:t>
              </a:r>
            </a:p>
          </p:txBody>
        </p:sp>
        <p:sp>
          <p:nvSpPr>
            <p:cNvPr id="19" name="textbox_18">
              <a:extLst>
                <a:ext uri="{FF2B5EF4-FFF2-40B4-BE49-F238E27FC236}">
                  <a16:creationId xmlns:a16="http://schemas.microsoft.com/office/drawing/2014/main" id="{74AF4012-4B5B-4FF9-8FEE-236973F73351}"/>
                </a:ext>
              </a:extLst>
            </p:cNvPr>
            <p:cNvSpPr>
              <a:spLocks/>
            </p:cNvSpPr>
            <p:nvPr/>
          </p:nvSpPr>
          <p:spPr>
            <a:xfrm>
              <a:off x="5962650" y="2752725"/>
              <a:ext cx="2390775" cy="15811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6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6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PatchTST / TimesNet</a:t>
              </a:r>
            </a:p>
            <a:p>
              <a:pPr algn="l">
                <a:defRPr sz="16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同窗口输出</a:t>
              </a:r>
            </a:p>
            <a:p>
              <a:pPr algn="l">
                <a:defRPr sz="16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特征与静态元模型</a:t>
              </a:r>
            </a:p>
          </p:txBody>
        </p:sp>
        <p:sp>
          <p:nvSpPr>
            <p:cNvPr id="20" name="ellipse_19">
              <a:extLst>
                <a:ext uri="{FF2B5EF4-FFF2-40B4-BE49-F238E27FC236}">
                  <a16:creationId xmlns:a16="http://schemas.microsoft.com/office/drawing/2014/main" id="{EB73B777-D298-4FD0-B919-56434BFBF2DF}"/>
                </a:ext>
              </a:extLst>
            </p:cNvPr>
            <p:cNvSpPr>
              <a:spLocks/>
            </p:cNvSpPr>
            <p:nvPr/>
          </p:nvSpPr>
          <p:spPr>
            <a:xfrm>
              <a:off x="6743700" y="4619625"/>
              <a:ext cx="457200" cy="457200"/>
            </a:xfrm>
            <a:prstGeom prst="ellipse">
              <a:avLst/>
            </a:prstGeom>
            <a:solidFill>
              <a:srgbClr val="9A754A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3</a:t>
              </a:r>
            </a:p>
          </p:txBody>
        </p:sp>
        <p:sp>
          <p:nvSpPr>
            <p:cNvPr id="21" name="rightArrow_20">
              <a:extLst>
                <a:ext uri="{FF2B5EF4-FFF2-40B4-BE49-F238E27FC236}">
                  <a16:creationId xmlns:a16="http://schemas.microsoft.com/office/drawing/2014/main" id="{25A652B9-A8AC-459D-AF53-AD315EF72D7E}"/>
                </a:ext>
              </a:extLst>
            </p:cNvPr>
            <p:cNvSpPr>
              <a:spLocks/>
            </p:cNvSpPr>
            <p:nvPr/>
          </p:nvSpPr>
          <p:spPr>
            <a:xfrm>
              <a:off x="8153400" y="4695825"/>
              <a:ext cx="476250" cy="247650"/>
            </a:xfrm>
            <a:prstGeom prst="rightArrow">
              <a:avLst/>
            </a:prstGeom>
            <a:solidFill>
              <a:srgbClr val="D5D9E7"/>
            </a:solidFill>
            <a:ln w="0">
              <a:noFill/>
              <a:prstDash val="solid"/>
            </a:ln>
          </p:spPr>
        </p:sp>
        <p:sp>
          <p:nvSpPr>
            <p:cNvPr id="22" name="chevron_21">
              <a:extLst>
                <a:ext uri="{FF2B5EF4-FFF2-40B4-BE49-F238E27FC236}">
                  <a16:creationId xmlns:a16="http://schemas.microsoft.com/office/drawing/2014/main" id="{8BC64B0E-B6DC-4D52-98DF-A9EC0B2E5D40}"/>
                </a:ext>
              </a:extLst>
            </p:cNvPr>
            <p:cNvSpPr>
              <a:spLocks/>
            </p:cNvSpPr>
            <p:nvPr/>
          </p:nvSpPr>
          <p:spPr>
            <a:xfrm>
              <a:off x="8543925" y="1733550"/>
              <a:ext cx="2524125" cy="666750"/>
            </a:xfrm>
            <a:prstGeom prst="chevron">
              <a:avLst/>
            </a:prstGeom>
            <a:solidFill>
              <a:srgbClr val="8B4D64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核心验证</a:t>
              </a:r>
            </a:p>
          </p:txBody>
        </p:sp>
        <p:sp>
          <p:nvSpPr>
            <p:cNvPr id="23" name="textbox_22">
              <a:extLst>
                <a:ext uri="{FF2B5EF4-FFF2-40B4-BE49-F238E27FC236}">
                  <a16:creationId xmlns:a16="http://schemas.microsoft.com/office/drawing/2014/main" id="{717AF9CB-4F96-409A-88AE-9E45A610C5AC}"/>
                </a:ext>
              </a:extLst>
            </p:cNvPr>
            <p:cNvSpPr>
              <a:spLocks/>
            </p:cNvSpPr>
            <p:nvPr/>
          </p:nvSpPr>
          <p:spPr>
            <a:xfrm>
              <a:off x="8658225" y="2752725"/>
              <a:ext cx="2390775" cy="15811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6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6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同历史 B/C</a:t>
              </a:r>
            </a:p>
            <a:p>
              <a:pPr algn="l">
                <a:defRPr sz="16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预算内搜索</a:t>
              </a:r>
            </a:p>
            <a:p>
              <a:pPr algn="l">
                <a:defRPr sz="16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跨来源泛化</a:t>
              </a:r>
            </a:p>
          </p:txBody>
        </p:sp>
        <p:sp>
          <p:nvSpPr>
            <p:cNvPr id="24" name="ellipse_23">
              <a:extLst>
                <a:ext uri="{FF2B5EF4-FFF2-40B4-BE49-F238E27FC236}">
                  <a16:creationId xmlns:a16="http://schemas.microsoft.com/office/drawing/2014/main" id="{E82B3E88-7D7F-49D1-A619-9973D12218D4}"/>
                </a:ext>
              </a:extLst>
            </p:cNvPr>
            <p:cNvSpPr>
              <a:spLocks/>
            </p:cNvSpPr>
            <p:nvPr/>
          </p:nvSpPr>
          <p:spPr>
            <a:xfrm>
              <a:off x="9439275" y="4619625"/>
              <a:ext cx="457200" cy="457200"/>
            </a:xfrm>
            <a:prstGeom prst="ellipse">
              <a:avLst/>
            </a:prstGeom>
            <a:solidFill>
              <a:srgbClr val="8B4D64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4</a:t>
              </a:r>
            </a:p>
          </p:txBody>
        </p:sp>
      </p:grpSp>
      <p:sp>
        <p:nvSpPr>
          <p:cNvPr id="25" name="line_24">
            <a:extLst>
              <a:ext uri="{FF2B5EF4-FFF2-40B4-BE49-F238E27FC236}">
                <a16:creationId xmlns:a16="http://schemas.microsoft.com/office/drawing/2014/main" id="{AADF7A0C-5DA2-4302-B2E7-62385C915C90}"/>
              </a:ext>
            </a:extLst>
          </p:cNvPr>
          <p:cNvSpPr>
            <a:spLocks/>
          </p:cNvSpPr>
          <p:nvPr/>
        </p:nvSpPr>
        <p:spPr>
          <a:xfrm>
            <a:off x="371475" y="5800725"/>
            <a:ext cx="10687050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26" name="rect_25">
            <a:extLst>
              <a:ext uri="{FF2B5EF4-FFF2-40B4-BE49-F238E27FC236}">
                <a16:creationId xmlns:a16="http://schemas.microsoft.com/office/drawing/2014/main" id="{9D792C84-716B-4A29-8CD0-6008E99A0C55}"/>
              </a:ext>
            </a:extLst>
          </p:cNvPr>
          <p:cNvSpPr>
            <a:spLocks/>
          </p:cNvSpPr>
          <p:nvPr/>
        </p:nvSpPr>
        <p:spPr>
          <a:xfrm>
            <a:off x="371475" y="5886450"/>
            <a:ext cx="38100" cy="20002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27" name="textbox_26">
            <a:extLst>
              <a:ext uri="{FF2B5EF4-FFF2-40B4-BE49-F238E27FC236}">
                <a16:creationId xmlns:a16="http://schemas.microsoft.com/office/drawing/2014/main" id="{3A8EFB6E-963A-43DC-9B20-F6A33829A49B}"/>
              </a:ext>
            </a:extLst>
          </p:cNvPr>
          <p:cNvSpPr>
            <a:spLocks/>
          </p:cNvSpPr>
          <p:nvPr/>
        </p:nvSpPr>
        <p:spPr>
          <a:xfrm>
            <a:off x="495300" y="5848350"/>
            <a:ext cx="1043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当前可以确认实验基础；反馈方法的效果仍是待回答的研究问题。</a:t>
            </a:r>
          </a:p>
        </p:txBody>
      </p:sp>
      <p:sp>
        <p:nvSpPr>
          <p:cNvPr id="28" name="textbox_27">
            <a:extLst>
              <a:ext uri="{FF2B5EF4-FFF2-40B4-BE49-F238E27FC236}">
                <a16:creationId xmlns:a16="http://schemas.microsoft.com/office/drawing/2014/main" id="{1D67376A-1609-4F44-95F9-C8B83A635740}"/>
              </a:ext>
            </a:extLst>
          </p:cNvPr>
          <p:cNvSpPr>
            <a:spLocks/>
          </p:cNvSpPr>
          <p:nvPr/>
        </p:nvSpPr>
        <p:spPr>
          <a:xfrm>
            <a:off x="371475" y="6219825"/>
            <a:ext cx="10287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路线 V1.0 · 视觉测试稿 · 研究设计待验证</a:t>
            </a:r>
          </a:p>
        </p:txBody>
      </p:sp>
      <p:sp>
        <p:nvSpPr>
          <p:cNvPr id="29" name="textbox_28">
            <a:extLst>
              <a:ext uri="{FF2B5EF4-FFF2-40B4-BE49-F238E27FC236}">
                <a16:creationId xmlns:a16="http://schemas.microsoft.com/office/drawing/2014/main" id="{8FAC9D9E-747E-485E-9844-CED1671D6B95}"/>
              </a:ext>
            </a:extLst>
          </p:cNvPr>
          <p:cNvSpPr>
            <a:spLocks/>
          </p:cNvSpPr>
          <p:nvPr/>
        </p:nvSpPr>
        <p:spPr>
          <a:xfrm>
            <a:off x="10620375" y="619125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87417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_1">
            <a:extLst>
              <a:ext uri="{FF2B5EF4-FFF2-40B4-BE49-F238E27FC236}">
                <a16:creationId xmlns:a16="http://schemas.microsoft.com/office/drawing/2014/main" id="{ADCBAA3F-BABC-4F52-BD56-3F6A2C749054}"/>
              </a:ext>
            </a:extLst>
          </p:cNvPr>
          <p:cNvSpPr>
            <a:spLocks/>
          </p:cNvSpPr>
          <p:nvPr/>
        </p:nvSpPr>
        <p:spPr>
          <a:xfrm>
            <a:off x="3714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01  研究问题</a:t>
            </a:r>
          </a:p>
        </p:txBody>
      </p:sp>
      <p:sp>
        <p:nvSpPr>
          <p:cNvPr id="2" name="textbox_2">
            <a:extLst>
              <a:ext uri="{FF2B5EF4-FFF2-40B4-BE49-F238E27FC236}">
                <a16:creationId xmlns:a16="http://schemas.microsoft.com/office/drawing/2014/main" id="{8CC5935E-3BFA-489C-B69A-D20665DFD08A}"/>
              </a:ext>
            </a:extLst>
          </p:cNvPr>
          <p:cNvSpPr>
            <a:spLocks/>
          </p:cNvSpPr>
          <p:nvPr/>
        </p:nvSpPr>
        <p:spPr>
          <a:xfrm>
            <a:off x="251460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02  对象与基础</a:t>
            </a:r>
          </a:p>
        </p:txBody>
      </p:sp>
      <p:sp>
        <p:nvSpPr>
          <p:cNvPr id="3" name="textbox_3">
            <a:extLst>
              <a:ext uri="{FF2B5EF4-FFF2-40B4-BE49-F238E27FC236}">
                <a16:creationId xmlns:a16="http://schemas.microsoft.com/office/drawing/2014/main" id="{1D342BB1-4C66-440D-9534-2FD0C4F410DA}"/>
              </a:ext>
            </a:extLst>
          </p:cNvPr>
          <p:cNvSpPr>
            <a:spLocks/>
          </p:cNvSpPr>
          <p:nvPr/>
        </p:nvSpPr>
        <p:spPr>
          <a:xfrm>
            <a:off x="465772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03  方法与机制</a:t>
            </a:r>
          </a:p>
        </p:txBody>
      </p:sp>
      <p:sp>
        <p:nvSpPr>
          <p:cNvPr id="4" name="textbox_4">
            <a:extLst>
              <a:ext uri="{FF2B5EF4-FFF2-40B4-BE49-F238E27FC236}">
                <a16:creationId xmlns:a16="http://schemas.microsoft.com/office/drawing/2014/main" id="{B058CD6A-1CFC-4A67-8DAC-DDE8114317D2}"/>
              </a:ext>
            </a:extLst>
          </p:cNvPr>
          <p:cNvSpPr>
            <a:spLocks/>
          </p:cNvSpPr>
          <p:nvPr/>
        </p:nvSpPr>
        <p:spPr>
          <a:xfrm>
            <a:off x="680085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04  实验与证据</a:t>
            </a:r>
          </a:p>
        </p:txBody>
      </p:sp>
      <p:sp>
        <p:nvSpPr>
          <p:cNvPr id="5" name="textbox_5">
            <a:extLst>
              <a:ext uri="{FF2B5EF4-FFF2-40B4-BE49-F238E27FC236}">
                <a16:creationId xmlns:a16="http://schemas.microsoft.com/office/drawing/2014/main" id="{C6E5537E-3890-47C9-9DDF-A4F8D7321424}"/>
              </a:ext>
            </a:extLst>
          </p:cNvPr>
          <p:cNvSpPr>
            <a:spLocks/>
          </p:cNvSpPr>
          <p:nvPr/>
        </p:nvSpPr>
        <p:spPr>
          <a:xfrm>
            <a:off x="89439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05  实施与产出</a:t>
            </a:r>
          </a:p>
        </p:txBody>
      </p:sp>
      <p:sp>
        <p:nvSpPr>
          <p:cNvPr id="6" name="rect_6">
            <a:extLst>
              <a:ext uri="{FF2B5EF4-FFF2-40B4-BE49-F238E27FC236}">
                <a16:creationId xmlns:a16="http://schemas.microsoft.com/office/drawing/2014/main" id="{634A8F4C-730D-40BE-BC12-3DF55905AD87}"/>
              </a:ext>
            </a:extLst>
          </p:cNvPr>
          <p:cNvSpPr>
            <a:spLocks/>
          </p:cNvSpPr>
          <p:nvPr/>
        </p:nvSpPr>
        <p:spPr>
          <a:xfrm>
            <a:off x="8943975" y="447675"/>
            <a:ext cx="1238250" cy="2857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7" name="line_7">
            <a:extLst>
              <a:ext uri="{FF2B5EF4-FFF2-40B4-BE49-F238E27FC236}">
                <a16:creationId xmlns:a16="http://schemas.microsoft.com/office/drawing/2014/main" id="{FCA39E79-EC89-4563-956C-C2E5BB4B0E07}"/>
              </a:ext>
            </a:extLst>
          </p:cNvPr>
          <p:cNvSpPr>
            <a:spLocks/>
          </p:cNvSpPr>
          <p:nvPr/>
        </p:nvSpPr>
        <p:spPr>
          <a:xfrm>
            <a:off x="371475" y="476250"/>
            <a:ext cx="10677525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8" name="slide_title">
            <a:extLst>
              <a:ext uri="{FF2B5EF4-FFF2-40B4-BE49-F238E27FC236}">
                <a16:creationId xmlns:a16="http://schemas.microsoft.com/office/drawing/2014/main" id="{BA66BBF3-3C57-4E3D-B84D-A6200384C947}"/>
              </a:ext>
            </a:extLst>
          </p:cNvPr>
          <p:cNvSpPr>
            <a:spLocks/>
          </p:cNvSpPr>
          <p:nvPr/>
        </p:nvSpPr>
        <p:spPr>
          <a:xfrm>
            <a:off x="361950" y="685800"/>
            <a:ext cx="10706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defPPr>
          </a:lstStyle>
          <a:p>
            <a: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pP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17</a:t>
            </a:r>
            <a:r>
              <a:rPr sz="2175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  </a:t>
            </a: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分阶段推进：以可检查产物作为下一阶段的入口</a:t>
            </a:r>
          </a:p>
        </p:txBody>
      </p:sp>
      <p:sp>
        <p:nvSpPr>
          <p:cNvPr id="9" name="textbox_8">
            <a:extLst>
              <a:ext uri="{FF2B5EF4-FFF2-40B4-BE49-F238E27FC236}">
                <a16:creationId xmlns:a16="http://schemas.microsoft.com/office/drawing/2014/main" id="{80E82E8F-631D-4886-BE12-34D718AEE4FD}"/>
              </a:ext>
            </a:extLst>
          </p:cNvPr>
          <p:cNvSpPr>
            <a:spLocks/>
          </p:cNvSpPr>
          <p:nvPr/>
        </p:nvSpPr>
        <p:spPr>
          <a:xfrm>
            <a:off x="381000" y="1133475"/>
            <a:ext cx="10668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建议工作量沿用路线 V1.0；正式论文实验可能超过这段原型周期。</a:t>
            </a:r>
          </a:p>
        </p:txBody>
      </p:sp>
      <p:grpSp>
        <p:nvGrpSpPr>
          <p:cNvPr id="50" name="page_18_stage_1">
            <a:extLst>
              <a:ext uri="{FF2B5EF4-FFF2-40B4-BE49-F238E27FC236}">
                <a16:creationId xmlns:a16="http://schemas.microsoft.com/office/drawing/2014/main" id="{8DA0C39F-0007-270C-2124-15A29A316ADB}"/>
              </a:ext>
            </a:extLst>
          </p:cNvPr>
          <p:cNvGrpSpPr/>
          <p:nvPr/>
        </p:nvGrpSpPr>
        <p:grpSpPr>
          <a:xfrm>
            <a:off x="361950" y="1771491"/>
            <a:ext cx="7255879" cy="3423206"/>
            <a:chOff x="361950" y="1771491"/>
            <a:chExt cx="7255879" cy="3423206"/>
          </a:xfrm>
        </p:grpSpPr>
        <p:sp>
          <p:nvSpPr>
            <p:cNvPr id="10" name="textbox_9">
              <a:extLst>
                <a:ext uri="{FF2B5EF4-FFF2-40B4-BE49-F238E27FC236}">
                  <a16:creationId xmlns:a16="http://schemas.microsoft.com/office/drawing/2014/main" id="{0253A06C-0EB3-47A4-8398-0E48D04182D6}"/>
                </a:ext>
              </a:extLst>
            </p:cNvPr>
            <p:cNvSpPr>
              <a:spLocks/>
            </p:cNvSpPr>
            <p:nvPr/>
          </p:nvSpPr>
          <p:spPr>
            <a:xfrm>
              <a:off x="2272589" y="4970224"/>
              <a:ext cx="341186" cy="22447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1</a:t>
              </a:r>
            </a:p>
          </p:txBody>
        </p:sp>
        <p:sp>
          <p:nvSpPr>
            <p:cNvPr id="11" name="textbox_10">
              <a:extLst>
                <a:ext uri="{FF2B5EF4-FFF2-40B4-BE49-F238E27FC236}">
                  <a16:creationId xmlns:a16="http://schemas.microsoft.com/office/drawing/2014/main" id="{B9FED929-959E-4CC7-B070-16D34A3DB4A4}"/>
                </a:ext>
              </a:extLst>
            </p:cNvPr>
            <p:cNvSpPr>
              <a:spLocks/>
            </p:cNvSpPr>
            <p:nvPr/>
          </p:nvSpPr>
          <p:spPr>
            <a:xfrm>
              <a:off x="2689593" y="4970224"/>
              <a:ext cx="341186" cy="22447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2</a:t>
              </a:r>
            </a:p>
          </p:txBody>
        </p:sp>
        <p:sp>
          <p:nvSpPr>
            <p:cNvPr id="12" name="textbox_11">
              <a:extLst>
                <a:ext uri="{FF2B5EF4-FFF2-40B4-BE49-F238E27FC236}">
                  <a16:creationId xmlns:a16="http://schemas.microsoft.com/office/drawing/2014/main" id="{B89F6114-FD68-428C-84D7-76A149DD1E5B}"/>
                </a:ext>
              </a:extLst>
            </p:cNvPr>
            <p:cNvSpPr>
              <a:spLocks/>
            </p:cNvSpPr>
            <p:nvPr/>
          </p:nvSpPr>
          <p:spPr>
            <a:xfrm>
              <a:off x="3106598" y="4970224"/>
              <a:ext cx="341186" cy="22447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3</a:t>
              </a:r>
            </a:p>
          </p:txBody>
        </p:sp>
        <p:sp>
          <p:nvSpPr>
            <p:cNvPr id="13" name="textbox_12">
              <a:extLst>
                <a:ext uri="{FF2B5EF4-FFF2-40B4-BE49-F238E27FC236}">
                  <a16:creationId xmlns:a16="http://schemas.microsoft.com/office/drawing/2014/main" id="{F76A5C60-9779-4403-A5E4-C65E8070C11F}"/>
                </a:ext>
              </a:extLst>
            </p:cNvPr>
            <p:cNvSpPr>
              <a:spLocks/>
            </p:cNvSpPr>
            <p:nvPr/>
          </p:nvSpPr>
          <p:spPr>
            <a:xfrm>
              <a:off x="3523602" y="4970224"/>
              <a:ext cx="341186" cy="22447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4</a:t>
              </a:r>
            </a:p>
          </p:txBody>
        </p:sp>
        <p:sp>
          <p:nvSpPr>
            <p:cNvPr id="14" name="textbox_13">
              <a:extLst>
                <a:ext uri="{FF2B5EF4-FFF2-40B4-BE49-F238E27FC236}">
                  <a16:creationId xmlns:a16="http://schemas.microsoft.com/office/drawing/2014/main" id="{6F6CE9E3-71D0-4ECE-97A1-0430ED76B946}"/>
                </a:ext>
              </a:extLst>
            </p:cNvPr>
            <p:cNvSpPr>
              <a:spLocks/>
            </p:cNvSpPr>
            <p:nvPr/>
          </p:nvSpPr>
          <p:spPr>
            <a:xfrm>
              <a:off x="3940607" y="4970224"/>
              <a:ext cx="341186" cy="22447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5</a:t>
              </a:r>
            </a:p>
          </p:txBody>
        </p:sp>
        <p:sp>
          <p:nvSpPr>
            <p:cNvPr id="15" name="textbox_14">
              <a:extLst>
                <a:ext uri="{FF2B5EF4-FFF2-40B4-BE49-F238E27FC236}">
                  <a16:creationId xmlns:a16="http://schemas.microsoft.com/office/drawing/2014/main" id="{30D5D577-AA63-4159-AE58-8CA0FA2F62CB}"/>
                </a:ext>
              </a:extLst>
            </p:cNvPr>
            <p:cNvSpPr>
              <a:spLocks/>
            </p:cNvSpPr>
            <p:nvPr/>
          </p:nvSpPr>
          <p:spPr>
            <a:xfrm>
              <a:off x="4357611" y="4970224"/>
              <a:ext cx="341186" cy="22447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6</a:t>
              </a:r>
            </a:p>
          </p:txBody>
        </p:sp>
        <p:sp>
          <p:nvSpPr>
            <p:cNvPr id="16" name="textbox_15">
              <a:extLst>
                <a:ext uri="{FF2B5EF4-FFF2-40B4-BE49-F238E27FC236}">
                  <a16:creationId xmlns:a16="http://schemas.microsoft.com/office/drawing/2014/main" id="{1BAD22A7-C195-4BD8-A9AD-166F6CD5598F}"/>
                </a:ext>
              </a:extLst>
            </p:cNvPr>
            <p:cNvSpPr>
              <a:spLocks/>
            </p:cNvSpPr>
            <p:nvPr/>
          </p:nvSpPr>
          <p:spPr>
            <a:xfrm>
              <a:off x="4774616" y="4970224"/>
              <a:ext cx="341186" cy="22447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7</a:t>
              </a:r>
            </a:p>
          </p:txBody>
        </p:sp>
        <p:sp>
          <p:nvSpPr>
            <p:cNvPr id="17" name="textbox_16">
              <a:extLst>
                <a:ext uri="{FF2B5EF4-FFF2-40B4-BE49-F238E27FC236}">
                  <a16:creationId xmlns:a16="http://schemas.microsoft.com/office/drawing/2014/main" id="{6BB10D01-AE39-48ED-85BA-612E80A1AB62}"/>
                </a:ext>
              </a:extLst>
            </p:cNvPr>
            <p:cNvSpPr>
              <a:spLocks/>
            </p:cNvSpPr>
            <p:nvPr/>
          </p:nvSpPr>
          <p:spPr>
            <a:xfrm>
              <a:off x="5191620" y="4970224"/>
              <a:ext cx="341186" cy="22447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8</a:t>
              </a:r>
            </a:p>
          </p:txBody>
        </p:sp>
        <p:sp>
          <p:nvSpPr>
            <p:cNvPr id="18" name="textbox_17">
              <a:extLst>
                <a:ext uri="{FF2B5EF4-FFF2-40B4-BE49-F238E27FC236}">
                  <a16:creationId xmlns:a16="http://schemas.microsoft.com/office/drawing/2014/main" id="{F725FDD2-0F2B-486E-8A8C-4A05AB0EA5B5}"/>
                </a:ext>
              </a:extLst>
            </p:cNvPr>
            <p:cNvSpPr>
              <a:spLocks/>
            </p:cNvSpPr>
            <p:nvPr/>
          </p:nvSpPr>
          <p:spPr>
            <a:xfrm>
              <a:off x="5608625" y="4970224"/>
              <a:ext cx="341186" cy="22447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9</a:t>
              </a:r>
            </a:p>
          </p:txBody>
        </p:sp>
        <p:sp>
          <p:nvSpPr>
            <p:cNvPr id="19" name="textbox_18">
              <a:extLst>
                <a:ext uri="{FF2B5EF4-FFF2-40B4-BE49-F238E27FC236}">
                  <a16:creationId xmlns:a16="http://schemas.microsoft.com/office/drawing/2014/main" id="{7FAA816C-0623-438E-BD0E-E3F78430D272}"/>
                </a:ext>
              </a:extLst>
            </p:cNvPr>
            <p:cNvSpPr>
              <a:spLocks/>
            </p:cNvSpPr>
            <p:nvPr/>
          </p:nvSpPr>
          <p:spPr>
            <a:xfrm>
              <a:off x="6025629" y="4970224"/>
              <a:ext cx="341186" cy="22447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10</a:t>
              </a:r>
            </a:p>
          </p:txBody>
        </p:sp>
        <p:sp>
          <p:nvSpPr>
            <p:cNvPr id="20" name="textbox_19">
              <a:extLst>
                <a:ext uri="{FF2B5EF4-FFF2-40B4-BE49-F238E27FC236}">
                  <a16:creationId xmlns:a16="http://schemas.microsoft.com/office/drawing/2014/main" id="{17EAF759-F50D-4F8D-9CA8-20FE6F46BA17}"/>
                </a:ext>
              </a:extLst>
            </p:cNvPr>
            <p:cNvSpPr>
              <a:spLocks/>
            </p:cNvSpPr>
            <p:nvPr/>
          </p:nvSpPr>
          <p:spPr>
            <a:xfrm>
              <a:off x="6442634" y="4970224"/>
              <a:ext cx="341186" cy="22447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11</a:t>
              </a:r>
            </a:p>
          </p:txBody>
        </p:sp>
        <p:sp>
          <p:nvSpPr>
            <p:cNvPr id="21" name="textbox_20">
              <a:extLst>
                <a:ext uri="{FF2B5EF4-FFF2-40B4-BE49-F238E27FC236}">
                  <a16:creationId xmlns:a16="http://schemas.microsoft.com/office/drawing/2014/main" id="{5D201D22-DD36-4894-8E49-8C8D6F999551}"/>
                </a:ext>
              </a:extLst>
            </p:cNvPr>
            <p:cNvSpPr>
              <a:spLocks/>
            </p:cNvSpPr>
            <p:nvPr/>
          </p:nvSpPr>
          <p:spPr>
            <a:xfrm>
              <a:off x="6859638" y="4970224"/>
              <a:ext cx="341186" cy="22447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12</a:t>
              </a:r>
            </a:p>
          </p:txBody>
        </p:sp>
        <p:sp>
          <p:nvSpPr>
            <p:cNvPr id="22" name="textbox_21">
              <a:extLst>
                <a:ext uri="{FF2B5EF4-FFF2-40B4-BE49-F238E27FC236}">
                  <a16:creationId xmlns:a16="http://schemas.microsoft.com/office/drawing/2014/main" id="{BC36B772-7DBD-460C-97DF-7D2B7419DD51}"/>
                </a:ext>
              </a:extLst>
            </p:cNvPr>
            <p:cNvSpPr>
              <a:spLocks/>
            </p:cNvSpPr>
            <p:nvPr/>
          </p:nvSpPr>
          <p:spPr>
            <a:xfrm>
              <a:off x="7276643" y="4970224"/>
              <a:ext cx="341186" cy="22447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015" b="0">
                  <a:solidFill>
                    <a:srgbClr val="6C7182"/>
                  </a:solidFill>
                  <a:latin typeface="Noto Sans SC"/>
                  <a:ea typeface="Noto Sans SC"/>
                  <a:cs typeface="Noto Sans SC"/>
                </a:rPr>
                <a:t>13</a:t>
              </a:r>
            </a:p>
          </p:txBody>
        </p:sp>
        <p:sp>
          <p:nvSpPr>
            <p:cNvPr id="23" name="textbox_22">
              <a:extLst>
                <a:ext uri="{FF2B5EF4-FFF2-40B4-BE49-F238E27FC236}">
                  <a16:creationId xmlns:a16="http://schemas.microsoft.com/office/drawing/2014/main" id="{D30D93A0-64A6-4C59-B912-475C2137BC8F}"/>
                </a:ext>
              </a:extLst>
            </p:cNvPr>
            <p:cNvSpPr>
              <a:spLocks/>
            </p:cNvSpPr>
            <p:nvPr/>
          </p:nvSpPr>
          <p:spPr>
            <a:xfrm>
              <a:off x="361950" y="1827609"/>
              <a:ext cx="1804492" cy="27257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13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313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313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统一模型接口</a:t>
              </a:r>
            </a:p>
          </p:txBody>
        </p:sp>
        <p:sp>
          <p:nvSpPr>
            <p:cNvPr id="24" name="chevron_23">
              <a:extLst>
                <a:ext uri="{FF2B5EF4-FFF2-40B4-BE49-F238E27FC236}">
                  <a16:creationId xmlns:a16="http://schemas.microsoft.com/office/drawing/2014/main" id="{36BB634D-AEDC-42BE-821F-F50721167206}"/>
                </a:ext>
              </a:extLst>
            </p:cNvPr>
            <p:cNvSpPr>
              <a:spLocks/>
            </p:cNvSpPr>
            <p:nvPr/>
          </p:nvSpPr>
          <p:spPr>
            <a:xfrm>
              <a:off x="2219516" y="1771491"/>
              <a:ext cx="834009" cy="288608"/>
            </a:xfrm>
            <a:prstGeom prst="chevron">
              <a:avLst/>
            </a:prstGeom>
            <a:solidFill>
              <a:srgbClr val="38385B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134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134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1–2</a:t>
              </a:r>
            </a:p>
          </p:txBody>
        </p:sp>
        <p:sp>
          <p:nvSpPr>
            <p:cNvPr id="25" name="textbox_24">
              <a:extLst>
                <a:ext uri="{FF2B5EF4-FFF2-40B4-BE49-F238E27FC236}">
                  <a16:creationId xmlns:a16="http://schemas.microsoft.com/office/drawing/2014/main" id="{01BBEA72-515F-4E2D-A80B-5828B49E33F3}"/>
                </a:ext>
              </a:extLst>
            </p:cNvPr>
            <p:cNvSpPr>
              <a:spLocks/>
            </p:cNvSpPr>
            <p:nvPr/>
          </p:nvSpPr>
          <p:spPr>
            <a:xfrm>
              <a:off x="361950" y="2308622"/>
              <a:ext cx="1804492" cy="27257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13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313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313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任务与残差特征</a:t>
              </a:r>
            </a:p>
          </p:txBody>
        </p:sp>
        <p:sp>
          <p:nvSpPr>
            <p:cNvPr id="26" name="chevron_25">
              <a:extLst>
                <a:ext uri="{FF2B5EF4-FFF2-40B4-BE49-F238E27FC236}">
                  <a16:creationId xmlns:a16="http://schemas.microsoft.com/office/drawing/2014/main" id="{57CD3C06-28A0-4E12-AF72-DF497E08B4A9}"/>
                </a:ext>
              </a:extLst>
            </p:cNvPr>
            <p:cNvSpPr>
              <a:spLocks/>
            </p:cNvSpPr>
            <p:nvPr/>
          </p:nvSpPr>
          <p:spPr>
            <a:xfrm>
              <a:off x="3053525" y="2252504"/>
              <a:ext cx="417005" cy="288608"/>
            </a:xfrm>
            <a:prstGeom prst="chevron">
              <a:avLst/>
            </a:prstGeom>
            <a:solidFill>
              <a:srgbClr val="38385B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134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134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3</a:t>
              </a:r>
            </a:p>
          </p:txBody>
        </p:sp>
        <p:sp>
          <p:nvSpPr>
            <p:cNvPr id="27" name="textbox_26">
              <a:extLst>
                <a:ext uri="{FF2B5EF4-FFF2-40B4-BE49-F238E27FC236}">
                  <a16:creationId xmlns:a16="http://schemas.microsoft.com/office/drawing/2014/main" id="{D281F9FF-4B7E-40EB-9AD8-4940DC14AD44}"/>
                </a:ext>
              </a:extLst>
            </p:cNvPr>
            <p:cNvSpPr>
              <a:spLocks/>
            </p:cNvSpPr>
            <p:nvPr/>
          </p:nvSpPr>
          <p:spPr>
            <a:xfrm>
              <a:off x="361950" y="2789634"/>
              <a:ext cx="1804492" cy="27257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13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313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313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静态元模型</a:t>
              </a:r>
            </a:p>
          </p:txBody>
        </p:sp>
        <p:sp>
          <p:nvSpPr>
            <p:cNvPr id="28" name="chevron_27">
              <a:extLst>
                <a:ext uri="{FF2B5EF4-FFF2-40B4-BE49-F238E27FC236}">
                  <a16:creationId xmlns:a16="http://schemas.microsoft.com/office/drawing/2014/main" id="{B086C19D-FF44-45D0-AFBF-7B25FC998C42}"/>
                </a:ext>
              </a:extLst>
            </p:cNvPr>
            <p:cNvSpPr>
              <a:spLocks/>
            </p:cNvSpPr>
            <p:nvPr/>
          </p:nvSpPr>
          <p:spPr>
            <a:xfrm>
              <a:off x="3470529" y="2733516"/>
              <a:ext cx="834009" cy="288608"/>
            </a:xfrm>
            <a:prstGeom prst="chevron">
              <a:avLst/>
            </a:prstGeom>
            <a:solidFill>
              <a:srgbClr val="9C5875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134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134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4–5</a:t>
              </a:r>
            </a:p>
          </p:txBody>
        </p:sp>
        <p:sp>
          <p:nvSpPr>
            <p:cNvPr id="29" name="textbox_28">
              <a:extLst>
                <a:ext uri="{FF2B5EF4-FFF2-40B4-BE49-F238E27FC236}">
                  <a16:creationId xmlns:a16="http://schemas.microsoft.com/office/drawing/2014/main" id="{96F8995F-97EC-4315-94CD-8F700EA81667}"/>
                </a:ext>
              </a:extLst>
            </p:cNvPr>
            <p:cNvSpPr>
              <a:spLocks/>
            </p:cNvSpPr>
            <p:nvPr/>
          </p:nvSpPr>
          <p:spPr>
            <a:xfrm>
              <a:off x="361950" y="3270647"/>
              <a:ext cx="1804492" cy="27257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13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313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313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反馈与预算搜索</a:t>
              </a:r>
            </a:p>
          </p:txBody>
        </p:sp>
        <p:sp>
          <p:nvSpPr>
            <p:cNvPr id="30" name="chevron_29">
              <a:extLst>
                <a:ext uri="{FF2B5EF4-FFF2-40B4-BE49-F238E27FC236}">
                  <a16:creationId xmlns:a16="http://schemas.microsoft.com/office/drawing/2014/main" id="{980B8272-5C30-4ABA-8CA1-EB716CC48E3B}"/>
                </a:ext>
              </a:extLst>
            </p:cNvPr>
            <p:cNvSpPr>
              <a:spLocks/>
            </p:cNvSpPr>
            <p:nvPr/>
          </p:nvSpPr>
          <p:spPr>
            <a:xfrm>
              <a:off x="4304538" y="3214529"/>
              <a:ext cx="1251014" cy="288608"/>
            </a:xfrm>
            <a:prstGeom prst="chevron">
              <a:avLst/>
            </a:prstGeom>
            <a:solidFill>
              <a:srgbClr val="9C5875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134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134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6–8</a:t>
              </a:r>
            </a:p>
          </p:txBody>
        </p:sp>
        <p:sp>
          <p:nvSpPr>
            <p:cNvPr id="31" name="textbox_30">
              <a:extLst>
                <a:ext uri="{FF2B5EF4-FFF2-40B4-BE49-F238E27FC236}">
                  <a16:creationId xmlns:a16="http://schemas.microsoft.com/office/drawing/2014/main" id="{29768C85-5562-4154-AC3E-A7F5C0B8398F}"/>
                </a:ext>
              </a:extLst>
            </p:cNvPr>
            <p:cNvSpPr>
              <a:spLocks/>
            </p:cNvSpPr>
            <p:nvPr/>
          </p:nvSpPr>
          <p:spPr>
            <a:xfrm>
              <a:off x="361950" y="3751659"/>
              <a:ext cx="1804492" cy="27257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13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313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313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Agent 集成</a:t>
              </a:r>
            </a:p>
          </p:txBody>
        </p:sp>
        <p:sp>
          <p:nvSpPr>
            <p:cNvPr id="32" name="chevron_31">
              <a:extLst>
                <a:ext uri="{FF2B5EF4-FFF2-40B4-BE49-F238E27FC236}">
                  <a16:creationId xmlns:a16="http://schemas.microsoft.com/office/drawing/2014/main" id="{0B7D8835-736E-4929-8FF4-339B732DA5F8}"/>
                </a:ext>
              </a:extLst>
            </p:cNvPr>
            <p:cNvSpPr>
              <a:spLocks/>
            </p:cNvSpPr>
            <p:nvPr/>
          </p:nvSpPr>
          <p:spPr>
            <a:xfrm>
              <a:off x="5555552" y="3695541"/>
              <a:ext cx="1251014" cy="288608"/>
            </a:xfrm>
            <a:prstGeom prst="chevron">
              <a:avLst/>
            </a:prstGeom>
            <a:solidFill>
              <a:srgbClr val="8DAFBD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134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134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9–11</a:t>
              </a:r>
            </a:p>
          </p:txBody>
        </p:sp>
        <p:sp>
          <p:nvSpPr>
            <p:cNvPr id="33" name="textbox_32">
              <a:extLst>
                <a:ext uri="{FF2B5EF4-FFF2-40B4-BE49-F238E27FC236}">
                  <a16:creationId xmlns:a16="http://schemas.microsoft.com/office/drawing/2014/main" id="{E99E689C-5D1D-4466-B26B-3CB5DFDDA480}"/>
                </a:ext>
              </a:extLst>
            </p:cNvPr>
            <p:cNvSpPr>
              <a:spLocks/>
            </p:cNvSpPr>
            <p:nvPr/>
          </p:nvSpPr>
          <p:spPr>
            <a:xfrm>
              <a:off x="361950" y="4232672"/>
              <a:ext cx="1804492" cy="272574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13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313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313" b="0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论文证据整理</a:t>
              </a:r>
            </a:p>
          </p:txBody>
        </p:sp>
        <p:sp>
          <p:nvSpPr>
            <p:cNvPr id="34" name="roundRect_33">
              <a:extLst>
                <a:ext uri="{FF2B5EF4-FFF2-40B4-BE49-F238E27FC236}">
                  <a16:creationId xmlns:a16="http://schemas.microsoft.com/office/drawing/2014/main" id="{7F1EEC51-499B-4706-A6CC-FBCB044DA534}"/>
                </a:ext>
              </a:extLst>
            </p:cNvPr>
            <p:cNvSpPr>
              <a:spLocks/>
            </p:cNvSpPr>
            <p:nvPr/>
          </p:nvSpPr>
          <p:spPr>
            <a:xfrm>
              <a:off x="6806565" y="4176554"/>
              <a:ext cx="667207" cy="288608"/>
            </a:xfrm>
            <a:prstGeom prst="roundRect">
              <a:avLst>
                <a:gd name="adj" fmla="val 33003"/>
              </a:avLst>
            </a:prstGeom>
            <a:solidFill>
              <a:srgbClr val="9A754A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134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134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12+</a:t>
              </a:r>
            </a:p>
          </p:txBody>
        </p:sp>
      </p:grpSp>
      <p:grpSp>
        <p:nvGrpSpPr>
          <p:cNvPr id="51" name="page_18_stage_2">
            <a:extLst>
              <a:ext uri="{FF2B5EF4-FFF2-40B4-BE49-F238E27FC236}">
                <a16:creationId xmlns:a16="http://schemas.microsoft.com/office/drawing/2014/main" id="{29A7347D-1F3B-FA21-9A52-1560A493B209}"/>
              </a:ext>
            </a:extLst>
          </p:cNvPr>
          <p:cNvGrpSpPr/>
          <p:nvPr/>
        </p:nvGrpSpPr>
        <p:grpSpPr>
          <a:xfrm>
            <a:off x="8201025" y="1590675"/>
            <a:ext cx="2867025" cy="3486150"/>
            <a:chOff x="8201025" y="1590675"/>
            <a:chExt cx="2867025" cy="3486150"/>
          </a:xfrm>
        </p:grpSpPr>
        <p:sp>
          <p:nvSpPr>
            <p:cNvPr id="35" name="textbox_34">
              <a:extLst>
                <a:ext uri="{FF2B5EF4-FFF2-40B4-BE49-F238E27FC236}">
                  <a16:creationId xmlns:a16="http://schemas.microsoft.com/office/drawing/2014/main" id="{55560A9E-DC27-42E4-94C4-57FA84853A71}"/>
                </a:ext>
              </a:extLst>
            </p:cNvPr>
            <p:cNvSpPr>
              <a:spLocks/>
            </p:cNvSpPr>
            <p:nvPr/>
          </p:nvSpPr>
          <p:spPr>
            <a:xfrm>
              <a:off x="8239125" y="1590675"/>
              <a:ext cx="2714625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9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9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95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阶段验收</a:t>
              </a:r>
            </a:p>
          </p:txBody>
        </p:sp>
        <p:sp>
          <p:nvSpPr>
            <p:cNvPr id="36" name="ellipse_35">
              <a:extLst>
                <a:ext uri="{FF2B5EF4-FFF2-40B4-BE49-F238E27FC236}">
                  <a16:creationId xmlns:a16="http://schemas.microsoft.com/office/drawing/2014/main" id="{82462F9B-A079-4227-8FB3-0E84B6CD29A4}"/>
                </a:ext>
              </a:extLst>
            </p:cNvPr>
            <p:cNvSpPr>
              <a:spLocks/>
            </p:cNvSpPr>
            <p:nvPr/>
          </p:nvSpPr>
          <p:spPr>
            <a:xfrm>
              <a:off x="8201025" y="2238375"/>
              <a:ext cx="457200" cy="457200"/>
            </a:xfrm>
            <a:prstGeom prst="ellipse">
              <a:avLst/>
            </a:prstGeom>
            <a:solidFill>
              <a:srgbClr val="38385B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1</a:t>
              </a:r>
            </a:p>
          </p:txBody>
        </p:sp>
        <p:sp>
          <p:nvSpPr>
            <p:cNvPr id="37" name="textbox_36">
              <a:extLst>
                <a:ext uri="{FF2B5EF4-FFF2-40B4-BE49-F238E27FC236}">
                  <a16:creationId xmlns:a16="http://schemas.microsoft.com/office/drawing/2014/main" id="{2B688273-27EA-4816-B79E-1EF2C2C80A12}"/>
                </a:ext>
              </a:extLst>
            </p:cNvPr>
            <p:cNvSpPr>
              <a:spLocks/>
            </p:cNvSpPr>
            <p:nvPr/>
          </p:nvSpPr>
          <p:spPr>
            <a:xfrm>
              <a:off x="8810625" y="2314575"/>
              <a:ext cx="2257425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425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425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425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可比实验：同协议输出</a:t>
              </a:r>
            </a:p>
          </p:txBody>
        </p:sp>
        <p:sp>
          <p:nvSpPr>
            <p:cNvPr id="38" name="ellipse_37">
              <a:extLst>
                <a:ext uri="{FF2B5EF4-FFF2-40B4-BE49-F238E27FC236}">
                  <a16:creationId xmlns:a16="http://schemas.microsoft.com/office/drawing/2014/main" id="{984C7FAA-7A29-47CF-AB07-3E05C9DBB5F1}"/>
                </a:ext>
              </a:extLst>
            </p:cNvPr>
            <p:cNvSpPr>
              <a:spLocks/>
            </p:cNvSpPr>
            <p:nvPr/>
          </p:nvSpPr>
          <p:spPr>
            <a:xfrm>
              <a:off x="8201025" y="3000375"/>
              <a:ext cx="457200" cy="457200"/>
            </a:xfrm>
            <a:prstGeom prst="ellipse">
              <a:avLst/>
            </a:prstGeom>
            <a:solidFill>
              <a:srgbClr val="38385B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2</a:t>
              </a:r>
            </a:p>
          </p:txBody>
        </p:sp>
        <p:sp>
          <p:nvSpPr>
            <p:cNvPr id="39" name="textbox_38">
              <a:extLst>
                <a:ext uri="{FF2B5EF4-FFF2-40B4-BE49-F238E27FC236}">
                  <a16:creationId xmlns:a16="http://schemas.microsoft.com/office/drawing/2014/main" id="{21B61B4E-C81A-4ED4-86DB-EFACB52540B3}"/>
                </a:ext>
              </a:extLst>
            </p:cNvPr>
            <p:cNvSpPr>
              <a:spLocks/>
            </p:cNvSpPr>
            <p:nvPr/>
          </p:nvSpPr>
          <p:spPr>
            <a:xfrm>
              <a:off x="8810625" y="3076575"/>
              <a:ext cx="2257425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425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425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425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静态推荐：跨来源评价</a:t>
              </a:r>
            </a:p>
          </p:txBody>
        </p:sp>
        <p:sp>
          <p:nvSpPr>
            <p:cNvPr id="40" name="ellipse_39">
              <a:extLst>
                <a:ext uri="{FF2B5EF4-FFF2-40B4-BE49-F238E27FC236}">
                  <a16:creationId xmlns:a16="http://schemas.microsoft.com/office/drawing/2014/main" id="{04553D20-A76C-4DC9-9B77-5B9DA3F44DCB}"/>
                </a:ext>
              </a:extLst>
            </p:cNvPr>
            <p:cNvSpPr>
              <a:spLocks/>
            </p:cNvSpPr>
            <p:nvPr/>
          </p:nvSpPr>
          <p:spPr>
            <a:xfrm>
              <a:off x="8201025" y="3762375"/>
              <a:ext cx="457200" cy="457200"/>
            </a:xfrm>
            <a:prstGeom prst="ellipse">
              <a:avLst/>
            </a:prstGeom>
            <a:solidFill>
              <a:srgbClr val="9C5875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3</a:t>
              </a:r>
            </a:p>
          </p:txBody>
        </p:sp>
        <p:sp>
          <p:nvSpPr>
            <p:cNvPr id="41" name="textbox_40">
              <a:extLst>
                <a:ext uri="{FF2B5EF4-FFF2-40B4-BE49-F238E27FC236}">
                  <a16:creationId xmlns:a16="http://schemas.microsoft.com/office/drawing/2014/main" id="{ED343B06-6D75-4CA1-B196-D8D2CAFD088B}"/>
                </a:ext>
              </a:extLst>
            </p:cNvPr>
            <p:cNvSpPr>
              <a:spLocks/>
            </p:cNvSpPr>
            <p:nvPr/>
          </p:nvSpPr>
          <p:spPr>
            <a:xfrm>
              <a:off x="8810625" y="3838575"/>
              <a:ext cx="2257425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425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425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425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残差增量：同历史 B/C</a:t>
              </a:r>
            </a:p>
          </p:txBody>
        </p:sp>
        <p:sp>
          <p:nvSpPr>
            <p:cNvPr id="42" name="ellipse_41">
              <a:extLst>
                <a:ext uri="{FF2B5EF4-FFF2-40B4-BE49-F238E27FC236}">
                  <a16:creationId xmlns:a16="http://schemas.microsoft.com/office/drawing/2014/main" id="{EA4CC45D-2926-4C54-B1D3-351890D5C701}"/>
                </a:ext>
              </a:extLst>
            </p:cNvPr>
            <p:cNvSpPr>
              <a:spLocks/>
            </p:cNvSpPr>
            <p:nvPr/>
          </p:nvSpPr>
          <p:spPr>
            <a:xfrm>
              <a:off x="8201025" y="4524375"/>
              <a:ext cx="457200" cy="457200"/>
            </a:xfrm>
            <a:prstGeom prst="ellipse">
              <a:avLst/>
            </a:prstGeom>
            <a:solidFill>
              <a:srgbClr val="38385B"/>
            </a:solidFill>
            <a:ln w="9525">
              <a:solidFill>
                <a:srgbClr val="D8D9E3"/>
              </a:solidFill>
              <a:prstDash val="solid"/>
            </a:ln>
          </p:spPr>
          <p:txBody>
            <a:bodyPr wrap="square" lIns="85725" tIns="85725" rIns="85725" bIns="85725" anchor="ctr">
              <a:noAutofit/>
            </a:bodyPr>
            <a:lstStyle>
              <a:def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ctr">
                <a:defRPr sz="1725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t>4</a:t>
              </a:r>
            </a:p>
          </p:txBody>
        </p:sp>
        <p:sp>
          <p:nvSpPr>
            <p:cNvPr id="43" name="textbox_42">
              <a:extLst>
                <a:ext uri="{FF2B5EF4-FFF2-40B4-BE49-F238E27FC236}">
                  <a16:creationId xmlns:a16="http://schemas.microsoft.com/office/drawing/2014/main" id="{FAC371BC-06B7-4772-AA90-EEEDB32BF6C0}"/>
                </a:ext>
              </a:extLst>
            </p:cNvPr>
            <p:cNvSpPr>
              <a:spLocks/>
            </p:cNvSpPr>
            <p:nvPr/>
          </p:nvSpPr>
          <p:spPr>
            <a:xfrm>
              <a:off x="8810625" y="4600575"/>
              <a:ext cx="2257425" cy="4762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425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425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425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预算闭环：真实成本</a:t>
              </a:r>
            </a:p>
          </p:txBody>
        </p:sp>
      </p:grpSp>
      <p:sp>
        <p:nvSpPr>
          <p:cNvPr id="44" name="line_43">
            <a:extLst>
              <a:ext uri="{FF2B5EF4-FFF2-40B4-BE49-F238E27FC236}">
                <a16:creationId xmlns:a16="http://schemas.microsoft.com/office/drawing/2014/main" id="{9DE8FD60-06AB-4065-8FEE-54D41B3FB3F7}"/>
              </a:ext>
            </a:extLst>
          </p:cNvPr>
          <p:cNvSpPr>
            <a:spLocks/>
          </p:cNvSpPr>
          <p:nvPr/>
        </p:nvSpPr>
        <p:spPr>
          <a:xfrm>
            <a:off x="371475" y="5800725"/>
            <a:ext cx="10687050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45" name="rect_44">
            <a:extLst>
              <a:ext uri="{FF2B5EF4-FFF2-40B4-BE49-F238E27FC236}">
                <a16:creationId xmlns:a16="http://schemas.microsoft.com/office/drawing/2014/main" id="{290D70A9-D3BC-4AB4-849F-1F752B50B64A}"/>
              </a:ext>
            </a:extLst>
          </p:cNvPr>
          <p:cNvSpPr>
            <a:spLocks/>
          </p:cNvSpPr>
          <p:nvPr/>
        </p:nvSpPr>
        <p:spPr>
          <a:xfrm>
            <a:off x="371475" y="5886450"/>
            <a:ext cx="38100" cy="20002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46" name="textbox_45">
            <a:extLst>
              <a:ext uri="{FF2B5EF4-FFF2-40B4-BE49-F238E27FC236}">
                <a16:creationId xmlns:a16="http://schemas.microsoft.com/office/drawing/2014/main" id="{7A936950-0146-4478-9FA4-0B319C481D60}"/>
              </a:ext>
            </a:extLst>
          </p:cNvPr>
          <p:cNvSpPr>
            <a:spLocks/>
          </p:cNvSpPr>
          <p:nvPr/>
        </p:nvSpPr>
        <p:spPr>
          <a:xfrm>
            <a:off x="495300" y="5848350"/>
            <a:ext cx="1043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时间表用于安排投入；阶段验收决定是否值得继续扩大系统。</a:t>
            </a:r>
          </a:p>
        </p:txBody>
      </p:sp>
      <p:sp>
        <p:nvSpPr>
          <p:cNvPr id="47" name="textbox_46">
            <a:extLst>
              <a:ext uri="{FF2B5EF4-FFF2-40B4-BE49-F238E27FC236}">
                <a16:creationId xmlns:a16="http://schemas.microsoft.com/office/drawing/2014/main" id="{344B8ED7-5019-44FA-BE76-F68AD0A0BF12}"/>
              </a:ext>
            </a:extLst>
          </p:cNvPr>
          <p:cNvSpPr>
            <a:spLocks/>
          </p:cNvSpPr>
          <p:nvPr/>
        </p:nvSpPr>
        <p:spPr>
          <a:xfrm>
            <a:off x="371475" y="6219825"/>
            <a:ext cx="10287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路线 V1.0 · 视觉测试稿 · 研究设计待验证</a:t>
            </a:r>
          </a:p>
        </p:txBody>
      </p:sp>
      <p:sp>
        <p:nvSpPr>
          <p:cNvPr id="48" name="textbox_47">
            <a:extLst>
              <a:ext uri="{FF2B5EF4-FFF2-40B4-BE49-F238E27FC236}">
                <a16:creationId xmlns:a16="http://schemas.microsoft.com/office/drawing/2014/main" id="{327A1059-DB7E-45E2-AEEC-F712E67CE963}"/>
              </a:ext>
            </a:extLst>
          </p:cNvPr>
          <p:cNvSpPr>
            <a:spLocks/>
          </p:cNvSpPr>
          <p:nvPr/>
        </p:nvSpPr>
        <p:spPr>
          <a:xfrm>
            <a:off x="10620375" y="619125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86061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_1">
            <a:extLst>
              <a:ext uri="{FF2B5EF4-FFF2-40B4-BE49-F238E27FC236}">
                <a16:creationId xmlns:a16="http://schemas.microsoft.com/office/drawing/2014/main" id="{2737C08A-AC1E-42D3-9501-13CED223351D}"/>
              </a:ext>
            </a:extLst>
          </p:cNvPr>
          <p:cNvSpPr>
            <a:spLocks/>
          </p:cNvSpPr>
          <p:nvPr/>
        </p:nvSpPr>
        <p:spPr>
          <a:xfrm>
            <a:off x="3714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01  研究问题</a:t>
            </a:r>
          </a:p>
        </p:txBody>
      </p:sp>
      <p:sp>
        <p:nvSpPr>
          <p:cNvPr id="2" name="textbox_2">
            <a:extLst>
              <a:ext uri="{FF2B5EF4-FFF2-40B4-BE49-F238E27FC236}">
                <a16:creationId xmlns:a16="http://schemas.microsoft.com/office/drawing/2014/main" id="{D81E6498-6B4A-45F3-A4D8-D9674B929BD0}"/>
              </a:ext>
            </a:extLst>
          </p:cNvPr>
          <p:cNvSpPr>
            <a:spLocks/>
          </p:cNvSpPr>
          <p:nvPr/>
        </p:nvSpPr>
        <p:spPr>
          <a:xfrm>
            <a:off x="251460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02  对象与基础</a:t>
            </a:r>
          </a:p>
        </p:txBody>
      </p:sp>
      <p:sp>
        <p:nvSpPr>
          <p:cNvPr id="3" name="textbox_3">
            <a:extLst>
              <a:ext uri="{FF2B5EF4-FFF2-40B4-BE49-F238E27FC236}">
                <a16:creationId xmlns:a16="http://schemas.microsoft.com/office/drawing/2014/main" id="{23F7FB66-02E2-4A3E-899E-8883A9DBA6B4}"/>
              </a:ext>
            </a:extLst>
          </p:cNvPr>
          <p:cNvSpPr>
            <a:spLocks/>
          </p:cNvSpPr>
          <p:nvPr/>
        </p:nvSpPr>
        <p:spPr>
          <a:xfrm>
            <a:off x="465772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03  方法与机制</a:t>
            </a:r>
          </a:p>
        </p:txBody>
      </p:sp>
      <p:sp>
        <p:nvSpPr>
          <p:cNvPr id="4" name="textbox_4">
            <a:extLst>
              <a:ext uri="{FF2B5EF4-FFF2-40B4-BE49-F238E27FC236}">
                <a16:creationId xmlns:a16="http://schemas.microsoft.com/office/drawing/2014/main" id="{4049F0E9-3EE2-467F-92B6-5C87133FCC08}"/>
              </a:ext>
            </a:extLst>
          </p:cNvPr>
          <p:cNvSpPr>
            <a:spLocks/>
          </p:cNvSpPr>
          <p:nvPr/>
        </p:nvSpPr>
        <p:spPr>
          <a:xfrm>
            <a:off x="680085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04  实验与证据</a:t>
            </a:r>
          </a:p>
        </p:txBody>
      </p:sp>
      <p:sp>
        <p:nvSpPr>
          <p:cNvPr id="5" name="textbox_5">
            <a:extLst>
              <a:ext uri="{FF2B5EF4-FFF2-40B4-BE49-F238E27FC236}">
                <a16:creationId xmlns:a16="http://schemas.microsoft.com/office/drawing/2014/main" id="{5A3EC365-EF80-442E-A1CF-607853475B40}"/>
              </a:ext>
            </a:extLst>
          </p:cNvPr>
          <p:cNvSpPr>
            <a:spLocks/>
          </p:cNvSpPr>
          <p:nvPr/>
        </p:nvSpPr>
        <p:spPr>
          <a:xfrm>
            <a:off x="89439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05  实施与产出</a:t>
            </a:r>
          </a:p>
        </p:txBody>
      </p:sp>
      <p:sp>
        <p:nvSpPr>
          <p:cNvPr id="6" name="rect_6">
            <a:extLst>
              <a:ext uri="{FF2B5EF4-FFF2-40B4-BE49-F238E27FC236}">
                <a16:creationId xmlns:a16="http://schemas.microsoft.com/office/drawing/2014/main" id="{55AC1A4F-88D6-41D6-8F99-60468F36127F}"/>
              </a:ext>
            </a:extLst>
          </p:cNvPr>
          <p:cNvSpPr>
            <a:spLocks/>
          </p:cNvSpPr>
          <p:nvPr/>
        </p:nvSpPr>
        <p:spPr>
          <a:xfrm>
            <a:off x="8943975" y="447675"/>
            <a:ext cx="1238250" cy="2857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7" name="line_7">
            <a:extLst>
              <a:ext uri="{FF2B5EF4-FFF2-40B4-BE49-F238E27FC236}">
                <a16:creationId xmlns:a16="http://schemas.microsoft.com/office/drawing/2014/main" id="{6954D9C8-5E5F-4B6C-AA2C-E5BAC7047C2F}"/>
              </a:ext>
            </a:extLst>
          </p:cNvPr>
          <p:cNvSpPr>
            <a:spLocks/>
          </p:cNvSpPr>
          <p:nvPr/>
        </p:nvSpPr>
        <p:spPr>
          <a:xfrm>
            <a:off x="371475" y="476250"/>
            <a:ext cx="10677525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8" name="slide_title">
            <a:extLst>
              <a:ext uri="{FF2B5EF4-FFF2-40B4-BE49-F238E27FC236}">
                <a16:creationId xmlns:a16="http://schemas.microsoft.com/office/drawing/2014/main" id="{7835BF37-9CB3-4E7F-9C67-66895AB9CC91}"/>
              </a:ext>
            </a:extLst>
          </p:cNvPr>
          <p:cNvSpPr>
            <a:spLocks/>
          </p:cNvSpPr>
          <p:nvPr/>
        </p:nvSpPr>
        <p:spPr>
          <a:xfrm>
            <a:off x="361950" y="685800"/>
            <a:ext cx="10706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defPPr>
          </a:lstStyle>
          <a:p>
            <a: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pP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18</a:t>
            </a:r>
            <a:r>
              <a:rPr sz="2175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  </a:t>
            </a: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预期贡献：让每个贡献点都落在可验证的证据上</a:t>
            </a:r>
          </a:p>
        </p:txBody>
      </p:sp>
      <p:sp>
        <p:nvSpPr>
          <p:cNvPr id="9" name="textbox_8">
            <a:extLst>
              <a:ext uri="{FF2B5EF4-FFF2-40B4-BE49-F238E27FC236}">
                <a16:creationId xmlns:a16="http://schemas.microsoft.com/office/drawing/2014/main" id="{E271F733-CADC-4401-8C4B-4C898DFC5661}"/>
              </a:ext>
            </a:extLst>
          </p:cNvPr>
          <p:cNvSpPr>
            <a:spLocks/>
          </p:cNvSpPr>
          <p:nvPr/>
        </p:nvSpPr>
        <p:spPr>
          <a:xfrm>
            <a:off x="381000" y="1133475"/>
            <a:ext cx="10668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这些是拟议研究贡献；最终保留哪些，取决于实验。</a:t>
            </a:r>
          </a:p>
        </p:txBody>
      </p:sp>
      <p:grpSp>
        <p:nvGrpSpPr>
          <p:cNvPr id="28" name="page_19_stage_1">
            <a:extLst>
              <a:ext uri="{FF2B5EF4-FFF2-40B4-BE49-F238E27FC236}">
                <a16:creationId xmlns:a16="http://schemas.microsoft.com/office/drawing/2014/main" id="{FA84DDFD-8B12-B890-0D3B-7951731841A3}"/>
              </a:ext>
            </a:extLst>
          </p:cNvPr>
          <p:cNvGrpSpPr/>
          <p:nvPr/>
        </p:nvGrpSpPr>
        <p:grpSpPr>
          <a:xfrm>
            <a:off x="476250" y="1619250"/>
            <a:ext cx="10077450" cy="876300"/>
            <a:chOff x="476250" y="1619250"/>
            <a:chExt cx="10077450" cy="876300"/>
          </a:xfrm>
        </p:grpSpPr>
        <p:sp>
          <p:nvSpPr>
            <p:cNvPr id="10" name="banner_9">
              <a:extLst>
                <a:ext uri="{FF2B5EF4-FFF2-40B4-BE49-F238E27FC236}">
                  <a16:creationId xmlns:a16="http://schemas.microsoft.com/office/drawing/2014/main" id="{EC472C0A-4DDF-420F-AAF8-5DAF3F288F7E}"/>
                </a:ext>
              </a:extLst>
            </p:cNvPr>
            <p:cNvSpPr>
              <a:spLocks/>
            </p:cNvSpPr>
            <p:nvPr/>
          </p:nvSpPr>
          <p:spPr>
            <a:xfrm>
              <a:off x="476250" y="1619250"/>
              <a:ext cx="2333625" cy="866775"/>
            </a:xfrm>
            <a:custGeom>
              <a:avLst/>
              <a:gdLst/>
              <a:ahLst/>
              <a:cxnLst/>
              <a:rect l="0" t="0" r="0" b="0"/>
              <a:pathLst>
                <a:path w="2333625" h="866775">
                  <a:moveTo>
                    <a:pt x="0" y="0"/>
                  </a:moveTo>
                  <a:lnTo>
                    <a:pt x="1900238" y="0"/>
                  </a:lnTo>
                  <a:lnTo>
                    <a:pt x="2333625" y="433388"/>
                  </a:lnTo>
                  <a:lnTo>
                    <a:pt x="1900238" y="866775"/>
                  </a:lnTo>
                  <a:lnTo>
                    <a:pt x="0" y="866775"/>
                  </a:lnTo>
                  <a:lnTo>
                    <a:pt x="0" y="0"/>
                  </a:lnTo>
                </a:path>
              </a:pathLst>
            </a:custGeom>
            <a:solidFill>
              <a:srgbClr val="38385B"/>
            </a:solidFill>
            <a:ln w="0">
              <a:noFill/>
            </a:ln>
          </p:spPr>
        </p:sp>
        <p:sp>
          <p:nvSpPr>
            <p:cNvPr id="11" name="textbox_10">
              <a:extLst>
                <a:ext uri="{FF2B5EF4-FFF2-40B4-BE49-F238E27FC236}">
                  <a16:creationId xmlns:a16="http://schemas.microsoft.com/office/drawing/2014/main" id="{4EECF454-3244-42B8-B32F-6F2A6CC31A39}"/>
                </a:ext>
              </a:extLst>
            </p:cNvPr>
            <p:cNvSpPr>
              <a:spLocks/>
            </p:cNvSpPr>
            <p:nvPr/>
          </p:nvSpPr>
          <p:spPr>
            <a:xfrm>
              <a:off x="695325" y="1771650"/>
              <a:ext cx="17145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任务感知</a:t>
              </a:r>
            </a:p>
            <a:p>
              <a: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表现估计</a:t>
              </a:r>
            </a:p>
          </p:txBody>
        </p:sp>
        <p:sp>
          <p:nvSpPr>
            <p:cNvPr id="12" name="textbox_11">
              <a:extLst>
                <a:ext uri="{FF2B5EF4-FFF2-40B4-BE49-F238E27FC236}">
                  <a16:creationId xmlns:a16="http://schemas.microsoft.com/office/drawing/2014/main" id="{DD2B8666-40CA-43C3-8116-AAE4526016F5}"/>
                </a:ext>
              </a:extLst>
            </p:cNvPr>
            <p:cNvSpPr>
              <a:spLocks/>
            </p:cNvSpPr>
            <p:nvPr/>
          </p:nvSpPr>
          <p:spPr>
            <a:xfrm>
              <a:off x="3171825" y="1657350"/>
              <a:ext cx="7381875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8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8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8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证据：未见来源优于简单参照</a:t>
              </a:r>
            </a:p>
          </p:txBody>
        </p:sp>
        <p:sp>
          <p:nvSpPr>
            <p:cNvPr id="13" name="textbox_12">
              <a:extLst>
                <a:ext uri="{FF2B5EF4-FFF2-40B4-BE49-F238E27FC236}">
                  <a16:creationId xmlns:a16="http://schemas.microsoft.com/office/drawing/2014/main" id="{6499E518-E44A-4EFA-A293-F25402F065B1}"/>
                </a:ext>
              </a:extLst>
            </p:cNvPr>
            <p:cNvSpPr>
              <a:spLocks/>
            </p:cNvSpPr>
            <p:nvPr/>
          </p:nvSpPr>
          <p:spPr>
            <a:xfrm>
              <a:off x="3171825" y="2114550"/>
              <a:ext cx="7381875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50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50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产物：实验库、特征模块、元模型</a:t>
              </a:r>
            </a:p>
          </p:txBody>
        </p:sp>
      </p:grpSp>
      <p:grpSp>
        <p:nvGrpSpPr>
          <p:cNvPr id="29" name="page_19_stage_2">
            <a:extLst>
              <a:ext uri="{FF2B5EF4-FFF2-40B4-BE49-F238E27FC236}">
                <a16:creationId xmlns:a16="http://schemas.microsoft.com/office/drawing/2014/main" id="{9417D121-6EB1-B781-1CB1-82C43EE75115}"/>
              </a:ext>
            </a:extLst>
          </p:cNvPr>
          <p:cNvGrpSpPr/>
          <p:nvPr/>
        </p:nvGrpSpPr>
        <p:grpSpPr>
          <a:xfrm>
            <a:off x="1333500" y="2847975"/>
            <a:ext cx="9220200" cy="876300"/>
            <a:chOff x="1333500" y="2847975"/>
            <a:chExt cx="9220200" cy="876300"/>
          </a:xfrm>
        </p:grpSpPr>
        <p:sp>
          <p:nvSpPr>
            <p:cNvPr id="14" name="banner_13">
              <a:extLst>
                <a:ext uri="{FF2B5EF4-FFF2-40B4-BE49-F238E27FC236}">
                  <a16:creationId xmlns:a16="http://schemas.microsoft.com/office/drawing/2014/main" id="{2ECA94EA-F35F-42D4-91E7-C529F28665AB}"/>
                </a:ext>
              </a:extLst>
            </p:cNvPr>
            <p:cNvSpPr>
              <a:spLocks/>
            </p:cNvSpPr>
            <p:nvPr/>
          </p:nvSpPr>
          <p:spPr>
            <a:xfrm>
              <a:off x="1333500" y="2847975"/>
              <a:ext cx="2333625" cy="866775"/>
            </a:xfrm>
            <a:custGeom>
              <a:avLst/>
              <a:gdLst/>
              <a:ahLst/>
              <a:cxnLst/>
              <a:rect l="0" t="0" r="0" b="0"/>
              <a:pathLst>
                <a:path w="2333625" h="866775">
                  <a:moveTo>
                    <a:pt x="0" y="0"/>
                  </a:moveTo>
                  <a:lnTo>
                    <a:pt x="1900238" y="0"/>
                  </a:lnTo>
                  <a:lnTo>
                    <a:pt x="2333625" y="433388"/>
                  </a:lnTo>
                  <a:lnTo>
                    <a:pt x="1900238" y="866775"/>
                  </a:lnTo>
                  <a:lnTo>
                    <a:pt x="0" y="866775"/>
                  </a:lnTo>
                  <a:lnTo>
                    <a:pt x="0" y="0"/>
                  </a:lnTo>
                </a:path>
              </a:pathLst>
            </a:custGeom>
            <a:solidFill>
              <a:srgbClr val="9C5875"/>
            </a:solidFill>
            <a:ln w="0">
              <a:noFill/>
            </a:ln>
          </p:spPr>
        </p:sp>
        <p:sp>
          <p:nvSpPr>
            <p:cNvPr id="15" name="textbox_14">
              <a:extLst>
                <a:ext uri="{FF2B5EF4-FFF2-40B4-BE49-F238E27FC236}">
                  <a16:creationId xmlns:a16="http://schemas.microsoft.com/office/drawing/2014/main" id="{F066014E-F584-4A7E-8C2D-75D5B025F70B}"/>
                </a:ext>
              </a:extLst>
            </p:cNvPr>
            <p:cNvSpPr>
              <a:spLocks/>
            </p:cNvSpPr>
            <p:nvPr/>
          </p:nvSpPr>
          <p:spPr>
            <a:xfrm>
              <a:off x="1552575" y="3000375"/>
              <a:ext cx="17145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残差反馈</a:t>
              </a:r>
            </a:p>
            <a:p>
              <a: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选模机制</a:t>
              </a:r>
            </a:p>
          </p:txBody>
        </p:sp>
        <p:sp>
          <p:nvSpPr>
            <p:cNvPr id="16" name="textbox_15">
              <a:extLst>
                <a:ext uri="{FF2B5EF4-FFF2-40B4-BE49-F238E27FC236}">
                  <a16:creationId xmlns:a16="http://schemas.microsoft.com/office/drawing/2014/main" id="{409F07C8-C1DF-42C7-9EAA-DCDE03C7C9A8}"/>
                </a:ext>
              </a:extLst>
            </p:cNvPr>
            <p:cNvSpPr>
              <a:spLocks/>
            </p:cNvSpPr>
            <p:nvPr/>
          </p:nvSpPr>
          <p:spPr>
            <a:xfrm>
              <a:off x="4029075" y="2886075"/>
              <a:ext cx="6524625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8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8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8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证据：同历史 C 对 B 的增量</a:t>
              </a:r>
            </a:p>
          </p:txBody>
        </p:sp>
        <p:sp>
          <p:nvSpPr>
            <p:cNvPr id="17" name="textbox_16">
              <a:extLst>
                <a:ext uri="{FF2B5EF4-FFF2-40B4-BE49-F238E27FC236}">
                  <a16:creationId xmlns:a16="http://schemas.microsoft.com/office/drawing/2014/main" id="{76B4D273-C645-46B2-B8EA-7C15F404C50B}"/>
                </a:ext>
              </a:extLst>
            </p:cNvPr>
            <p:cNvSpPr>
              <a:spLocks/>
            </p:cNvSpPr>
            <p:nvPr/>
          </p:nvSpPr>
          <p:spPr>
            <a:xfrm>
              <a:off x="4029075" y="3343275"/>
              <a:ext cx="6524625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50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50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产物：反馈表示、消融与失败分析</a:t>
              </a:r>
            </a:p>
          </p:txBody>
        </p:sp>
      </p:grpSp>
      <p:grpSp>
        <p:nvGrpSpPr>
          <p:cNvPr id="30" name="page_19_stage_3">
            <a:extLst>
              <a:ext uri="{FF2B5EF4-FFF2-40B4-BE49-F238E27FC236}">
                <a16:creationId xmlns:a16="http://schemas.microsoft.com/office/drawing/2014/main" id="{4675E2F9-FED5-B133-2DBE-D892067E1244}"/>
              </a:ext>
            </a:extLst>
          </p:cNvPr>
          <p:cNvGrpSpPr/>
          <p:nvPr/>
        </p:nvGrpSpPr>
        <p:grpSpPr>
          <a:xfrm>
            <a:off x="2190750" y="4076700"/>
            <a:ext cx="8362950" cy="876300"/>
            <a:chOff x="2190750" y="4076700"/>
            <a:chExt cx="8362950" cy="876300"/>
          </a:xfrm>
        </p:grpSpPr>
        <p:sp>
          <p:nvSpPr>
            <p:cNvPr id="18" name="banner_17">
              <a:extLst>
                <a:ext uri="{FF2B5EF4-FFF2-40B4-BE49-F238E27FC236}">
                  <a16:creationId xmlns:a16="http://schemas.microsoft.com/office/drawing/2014/main" id="{831796DE-B6C5-4A54-876B-C7EE1B1E1E97}"/>
                </a:ext>
              </a:extLst>
            </p:cNvPr>
            <p:cNvSpPr>
              <a:spLocks/>
            </p:cNvSpPr>
            <p:nvPr/>
          </p:nvSpPr>
          <p:spPr>
            <a:xfrm>
              <a:off x="2190750" y="4076700"/>
              <a:ext cx="2333625" cy="866775"/>
            </a:xfrm>
            <a:custGeom>
              <a:avLst/>
              <a:gdLst/>
              <a:ahLst/>
              <a:cxnLst/>
              <a:rect l="0" t="0" r="0" b="0"/>
              <a:pathLst>
                <a:path w="2333625" h="866775">
                  <a:moveTo>
                    <a:pt x="0" y="0"/>
                  </a:moveTo>
                  <a:lnTo>
                    <a:pt x="1900238" y="0"/>
                  </a:lnTo>
                  <a:lnTo>
                    <a:pt x="2333625" y="433388"/>
                  </a:lnTo>
                  <a:lnTo>
                    <a:pt x="1900238" y="866775"/>
                  </a:lnTo>
                  <a:lnTo>
                    <a:pt x="0" y="866775"/>
                  </a:lnTo>
                  <a:lnTo>
                    <a:pt x="0" y="0"/>
                  </a:lnTo>
                </a:path>
              </a:pathLst>
            </a:custGeom>
            <a:solidFill>
              <a:srgbClr val="38385B"/>
            </a:solidFill>
            <a:ln w="0">
              <a:noFill/>
            </a:ln>
          </p:spPr>
        </p:sp>
        <p:sp>
          <p:nvSpPr>
            <p:cNvPr id="19" name="textbox_18">
              <a:extLst>
                <a:ext uri="{FF2B5EF4-FFF2-40B4-BE49-F238E27FC236}">
                  <a16:creationId xmlns:a16="http://schemas.microsoft.com/office/drawing/2014/main" id="{46317EBD-CCB9-43AA-9213-E2C0E7F8A096}"/>
                </a:ext>
              </a:extLst>
            </p:cNvPr>
            <p:cNvSpPr>
              <a:spLocks/>
            </p:cNvSpPr>
            <p:nvPr/>
          </p:nvSpPr>
          <p:spPr>
            <a:xfrm>
              <a:off x="2409825" y="4229100"/>
              <a:ext cx="1714500" cy="6286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预算约束</a:t>
              </a:r>
            </a:p>
            <a:p>
              <a:pPr algn="l">
                <a:def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650" b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</a:rPr>
                <a:t>自动建模</a:t>
              </a:r>
            </a:p>
          </p:txBody>
        </p:sp>
        <p:sp>
          <p:nvSpPr>
            <p:cNvPr id="20" name="textbox_19">
              <a:extLst>
                <a:ext uri="{FF2B5EF4-FFF2-40B4-BE49-F238E27FC236}">
                  <a16:creationId xmlns:a16="http://schemas.microsoft.com/office/drawing/2014/main" id="{E8EAB7CF-A523-4CB3-AF84-1D678430380B}"/>
                </a:ext>
              </a:extLst>
            </p:cNvPr>
            <p:cNvSpPr>
              <a:spLocks/>
            </p:cNvSpPr>
            <p:nvPr/>
          </p:nvSpPr>
          <p:spPr>
            <a:xfrm>
              <a:off x="4886325" y="4114800"/>
              <a:ext cx="5667375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8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8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800" b="1">
                  <a:solidFill>
                    <a:srgbClr val="38385B"/>
                  </a:solidFill>
                  <a:latin typeface="Noto Sans SC"/>
                  <a:ea typeface="Noto Sans SC"/>
                  <a:cs typeface="Noto Sans SC"/>
                </a:rPr>
                <a:t>证据：同预算优于强搜索基线</a:t>
              </a:r>
            </a:p>
          </p:txBody>
        </p:sp>
        <p:sp>
          <p:nvSpPr>
            <p:cNvPr id="21" name="textbox_20">
              <a:extLst>
                <a:ext uri="{FF2B5EF4-FFF2-40B4-BE49-F238E27FC236}">
                  <a16:creationId xmlns:a16="http://schemas.microsoft.com/office/drawing/2014/main" id="{5F345FAB-1BB7-411F-A25F-D0B8572C6AA6}"/>
                </a:ext>
              </a:extLst>
            </p:cNvPr>
            <p:cNvSpPr>
              <a:spLocks/>
            </p:cNvSpPr>
            <p:nvPr/>
          </p:nvSpPr>
          <p:spPr>
            <a:xfrm>
              <a:off x="4886325" y="4572000"/>
              <a:ext cx="5667375" cy="3810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50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50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sz="1500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rPr>
                <a:t>产物：选择策略、回放协议、工具 Agent</a:t>
              </a:r>
            </a:p>
          </p:txBody>
        </p:sp>
      </p:grpSp>
      <p:sp>
        <p:nvSpPr>
          <p:cNvPr id="22" name="line_21">
            <a:extLst>
              <a:ext uri="{FF2B5EF4-FFF2-40B4-BE49-F238E27FC236}">
                <a16:creationId xmlns:a16="http://schemas.microsoft.com/office/drawing/2014/main" id="{8C3342FF-A80D-4BF3-808D-DB3FD8DD6ABD}"/>
              </a:ext>
            </a:extLst>
          </p:cNvPr>
          <p:cNvSpPr>
            <a:spLocks/>
          </p:cNvSpPr>
          <p:nvPr/>
        </p:nvSpPr>
        <p:spPr>
          <a:xfrm>
            <a:off x="371475" y="5800725"/>
            <a:ext cx="10687050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23" name="rect_22">
            <a:extLst>
              <a:ext uri="{FF2B5EF4-FFF2-40B4-BE49-F238E27FC236}">
                <a16:creationId xmlns:a16="http://schemas.microsoft.com/office/drawing/2014/main" id="{FE7E5263-EC73-474A-A4A3-33CC2A4C8588}"/>
              </a:ext>
            </a:extLst>
          </p:cNvPr>
          <p:cNvSpPr>
            <a:spLocks/>
          </p:cNvSpPr>
          <p:nvPr/>
        </p:nvSpPr>
        <p:spPr>
          <a:xfrm>
            <a:off x="371475" y="5886450"/>
            <a:ext cx="38100" cy="20002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24" name="textbox_23">
            <a:extLst>
              <a:ext uri="{FF2B5EF4-FFF2-40B4-BE49-F238E27FC236}">
                <a16:creationId xmlns:a16="http://schemas.microsoft.com/office/drawing/2014/main" id="{D557A404-8271-4141-B972-FA3AFAC1F3C7}"/>
              </a:ext>
            </a:extLst>
          </p:cNvPr>
          <p:cNvSpPr>
            <a:spLocks/>
          </p:cNvSpPr>
          <p:nvPr/>
        </p:nvSpPr>
        <p:spPr>
          <a:xfrm>
            <a:off x="495300" y="5848350"/>
            <a:ext cx="1043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贡献的强度来自方法与证据的对应关系。</a:t>
            </a:r>
          </a:p>
        </p:txBody>
      </p:sp>
      <p:sp>
        <p:nvSpPr>
          <p:cNvPr id="25" name="textbox_24">
            <a:extLst>
              <a:ext uri="{FF2B5EF4-FFF2-40B4-BE49-F238E27FC236}">
                <a16:creationId xmlns:a16="http://schemas.microsoft.com/office/drawing/2014/main" id="{5245CA57-03DC-4DD8-B4BF-3DE6CAF1D6B8}"/>
              </a:ext>
            </a:extLst>
          </p:cNvPr>
          <p:cNvSpPr>
            <a:spLocks/>
          </p:cNvSpPr>
          <p:nvPr/>
        </p:nvSpPr>
        <p:spPr>
          <a:xfrm>
            <a:off x="371475" y="6219825"/>
            <a:ext cx="10287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路线 V1.0 · 视觉测试稿 · 研究设计待验证</a:t>
            </a:r>
          </a:p>
        </p:txBody>
      </p:sp>
      <p:sp>
        <p:nvSpPr>
          <p:cNvPr id="26" name="textbox_25">
            <a:extLst>
              <a:ext uri="{FF2B5EF4-FFF2-40B4-BE49-F238E27FC236}">
                <a16:creationId xmlns:a16="http://schemas.microsoft.com/office/drawing/2014/main" id="{E146A868-6590-44E6-B950-263EE20DC67C}"/>
              </a:ext>
            </a:extLst>
          </p:cNvPr>
          <p:cNvSpPr>
            <a:spLocks/>
          </p:cNvSpPr>
          <p:nvPr/>
        </p:nvSpPr>
        <p:spPr>
          <a:xfrm>
            <a:off x="10620375" y="619125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045696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_1">
            <a:extLst>
              <a:ext uri="{FF2B5EF4-FFF2-40B4-BE49-F238E27FC236}">
                <a16:creationId xmlns:a16="http://schemas.microsoft.com/office/drawing/2014/main" id="{CEE4D9CF-D97A-4D2C-94A6-C6AA9FFCE172}"/>
              </a:ext>
            </a:extLst>
          </p:cNvPr>
          <p:cNvSpPr>
            <a:spLocks/>
          </p:cNvSpPr>
          <p:nvPr/>
        </p:nvSpPr>
        <p:spPr>
          <a:xfrm>
            <a:off x="3714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01  研究问题</a:t>
            </a:r>
          </a:p>
        </p:txBody>
      </p:sp>
      <p:sp>
        <p:nvSpPr>
          <p:cNvPr id="2" name="textbox_2">
            <a:extLst>
              <a:ext uri="{FF2B5EF4-FFF2-40B4-BE49-F238E27FC236}">
                <a16:creationId xmlns:a16="http://schemas.microsoft.com/office/drawing/2014/main" id="{88161129-CF29-47F3-A631-912D52273C13}"/>
              </a:ext>
            </a:extLst>
          </p:cNvPr>
          <p:cNvSpPr>
            <a:spLocks/>
          </p:cNvSpPr>
          <p:nvPr/>
        </p:nvSpPr>
        <p:spPr>
          <a:xfrm>
            <a:off x="251460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02  对象与基础</a:t>
            </a:r>
          </a:p>
        </p:txBody>
      </p:sp>
      <p:sp>
        <p:nvSpPr>
          <p:cNvPr id="3" name="textbox_3">
            <a:extLst>
              <a:ext uri="{FF2B5EF4-FFF2-40B4-BE49-F238E27FC236}">
                <a16:creationId xmlns:a16="http://schemas.microsoft.com/office/drawing/2014/main" id="{8E78ABB3-B261-447C-890D-B55E150156D8}"/>
              </a:ext>
            </a:extLst>
          </p:cNvPr>
          <p:cNvSpPr>
            <a:spLocks/>
          </p:cNvSpPr>
          <p:nvPr/>
        </p:nvSpPr>
        <p:spPr>
          <a:xfrm>
            <a:off x="465772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03  方法与机制</a:t>
            </a:r>
          </a:p>
        </p:txBody>
      </p:sp>
      <p:sp>
        <p:nvSpPr>
          <p:cNvPr id="4" name="textbox_4">
            <a:extLst>
              <a:ext uri="{FF2B5EF4-FFF2-40B4-BE49-F238E27FC236}">
                <a16:creationId xmlns:a16="http://schemas.microsoft.com/office/drawing/2014/main" id="{2546BD10-09B7-40D4-AD80-CD84435A7AE8}"/>
              </a:ext>
            </a:extLst>
          </p:cNvPr>
          <p:cNvSpPr>
            <a:spLocks/>
          </p:cNvSpPr>
          <p:nvPr/>
        </p:nvSpPr>
        <p:spPr>
          <a:xfrm>
            <a:off x="680085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04  实验与证据</a:t>
            </a:r>
          </a:p>
        </p:txBody>
      </p:sp>
      <p:sp>
        <p:nvSpPr>
          <p:cNvPr id="5" name="textbox_5">
            <a:extLst>
              <a:ext uri="{FF2B5EF4-FFF2-40B4-BE49-F238E27FC236}">
                <a16:creationId xmlns:a16="http://schemas.microsoft.com/office/drawing/2014/main" id="{0944301F-B121-4C48-8571-ACF3E3ECAA23}"/>
              </a:ext>
            </a:extLst>
          </p:cNvPr>
          <p:cNvSpPr>
            <a:spLocks/>
          </p:cNvSpPr>
          <p:nvPr/>
        </p:nvSpPr>
        <p:spPr>
          <a:xfrm>
            <a:off x="89439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05  实施与产出</a:t>
            </a:r>
          </a:p>
        </p:txBody>
      </p:sp>
      <p:sp>
        <p:nvSpPr>
          <p:cNvPr id="6" name="rect_6">
            <a:extLst>
              <a:ext uri="{FF2B5EF4-FFF2-40B4-BE49-F238E27FC236}">
                <a16:creationId xmlns:a16="http://schemas.microsoft.com/office/drawing/2014/main" id="{514DF427-51DE-45C9-AFC5-9E40E0A9903A}"/>
              </a:ext>
            </a:extLst>
          </p:cNvPr>
          <p:cNvSpPr>
            <a:spLocks/>
          </p:cNvSpPr>
          <p:nvPr/>
        </p:nvSpPr>
        <p:spPr>
          <a:xfrm>
            <a:off x="8943975" y="447675"/>
            <a:ext cx="1238250" cy="2857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7" name="line_7">
            <a:extLst>
              <a:ext uri="{FF2B5EF4-FFF2-40B4-BE49-F238E27FC236}">
                <a16:creationId xmlns:a16="http://schemas.microsoft.com/office/drawing/2014/main" id="{6138F6C2-2784-4A2B-8CFB-B322785BC85C}"/>
              </a:ext>
            </a:extLst>
          </p:cNvPr>
          <p:cNvSpPr>
            <a:spLocks/>
          </p:cNvSpPr>
          <p:nvPr/>
        </p:nvSpPr>
        <p:spPr>
          <a:xfrm>
            <a:off x="371475" y="476250"/>
            <a:ext cx="10677525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8" name="slide_title">
            <a:extLst>
              <a:ext uri="{FF2B5EF4-FFF2-40B4-BE49-F238E27FC236}">
                <a16:creationId xmlns:a16="http://schemas.microsoft.com/office/drawing/2014/main" id="{599C35B8-ED27-4D58-B525-697FA115E371}"/>
              </a:ext>
            </a:extLst>
          </p:cNvPr>
          <p:cNvSpPr>
            <a:spLocks/>
          </p:cNvSpPr>
          <p:nvPr/>
        </p:nvSpPr>
        <p:spPr>
          <a:xfrm>
            <a:off x="361950" y="685800"/>
            <a:ext cx="10706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defPPr>
          </a:lstStyle>
          <a:p>
            <a: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pP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19</a:t>
            </a:r>
            <a:r>
              <a:rPr sz="2175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  </a:t>
            </a: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开始做的第一轮：一项练习、一份记录、一次解释</a:t>
            </a:r>
          </a:p>
        </p:txBody>
      </p:sp>
      <p:sp>
        <p:nvSpPr>
          <p:cNvPr id="9" name="textbox_8">
            <a:extLst>
              <a:ext uri="{FF2B5EF4-FFF2-40B4-BE49-F238E27FC236}">
                <a16:creationId xmlns:a16="http://schemas.microsoft.com/office/drawing/2014/main" id="{44052B13-1818-4678-AEB9-D6BC06BBFC3D}"/>
              </a:ext>
            </a:extLst>
          </p:cNvPr>
          <p:cNvSpPr>
            <a:spLocks/>
          </p:cNvSpPr>
          <p:nvPr/>
        </p:nvSpPr>
        <p:spPr>
          <a:xfrm>
            <a:off x="381000" y="1133475"/>
            <a:ext cx="10668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先掌握一个完整实验，再把规模逐步扩展到多模型与多任务。</a:t>
            </a:r>
          </a:p>
        </p:txBody>
      </p:sp>
      <p:grpSp>
        <p:nvGrpSpPr>
          <p:cNvPr id="25" name="complete_diagram_with_connectors">
            <a:extLst>
              <a:ext uri="{FF2B5EF4-FFF2-40B4-BE49-F238E27FC236}">
                <a16:creationId xmlns:a16="http://schemas.microsoft.com/office/drawing/2014/main" id="{E3DB6374-DAC1-231F-DC3A-56D48BE8E62A}"/>
              </a:ext>
            </a:extLst>
          </p:cNvPr>
          <p:cNvGrpSpPr/>
          <p:nvPr/>
        </p:nvGrpSpPr>
        <p:grpSpPr>
          <a:xfrm>
            <a:off x="571500" y="1781175"/>
            <a:ext cx="10229850" cy="3609975"/>
            <a:chOff x="571500" y="1781175"/>
            <a:chExt cx="10229850" cy="3609975"/>
          </a:xfrm>
        </p:grpSpPr>
        <p:cxnSp>
          <p:nvCxnSpPr>
            <p:cNvPr id="13" name="connector_9">
              <a:extLst>
                <a:ext uri="{FF2B5EF4-FFF2-40B4-BE49-F238E27FC236}">
                  <a16:creationId xmlns:a16="http://schemas.microsoft.com/office/drawing/2014/main" id="{80960929-A4D3-443F-9A2C-7EC2E62B1119}"/>
                </a:ext>
              </a:extLst>
            </p:cNvPr>
            <p:cNvCxnSpPr>
              <a:stCxn id="10" idx="3"/>
              <a:endCxn id="11" idx="0"/>
            </p:cNvCxnSpPr>
            <p:nvPr/>
          </p:nvCxnSpPr>
          <p:spPr>
            <a:xfrm>
              <a:off x="3276600" y="2290763"/>
              <a:ext cx="2012156" cy="728663"/>
            </a:xfrm>
            <a:prstGeom prst="bentConnector2">
              <a:avLst/>
            </a:prstGeom>
            <a:ln w="20955">
              <a:solidFill>
                <a:srgbClr val="9C5875"/>
              </a:solidFill>
              <a:prstDash val="solid"/>
              <a:tailEnd type="triangle" w="med" len="med"/>
            </a:ln>
          </p:spPr>
        </p:cxnSp>
        <p:cxnSp>
          <p:nvCxnSpPr>
            <p:cNvPr id="14" name="connector_10">
              <a:extLst>
                <a:ext uri="{FF2B5EF4-FFF2-40B4-BE49-F238E27FC236}">
                  <a16:creationId xmlns:a16="http://schemas.microsoft.com/office/drawing/2014/main" id="{0CFC3B30-B0D4-4AC9-8AF0-0BECF3F29BEE}"/>
                </a:ext>
              </a:extLst>
            </p:cNvPr>
            <p:cNvCxnSpPr>
              <a:stCxn id="11" idx="3"/>
              <a:endCxn id="12" idx="0"/>
            </p:cNvCxnSpPr>
            <p:nvPr/>
          </p:nvCxnSpPr>
          <p:spPr>
            <a:xfrm>
              <a:off x="6896100" y="3529013"/>
              <a:ext cx="1974056" cy="728663"/>
            </a:xfrm>
            <a:prstGeom prst="bentConnector4">
              <a:avLst>
                <a:gd name="adj1" fmla="val 11580"/>
                <a:gd name="adj2" fmla="val 68627"/>
              </a:avLst>
            </a:prstGeom>
            <a:ln w="20955">
              <a:solidFill>
                <a:srgbClr val="9C5875"/>
              </a:solidFill>
              <a:prstDash val="solid"/>
              <a:tailEnd type="triangle" w="med" len="med"/>
            </a:ln>
          </p:spPr>
        </p:cxnSp>
        <p:grpSp>
          <p:nvGrpSpPr>
            <p:cNvPr id="24" name="page_20_stage_1">
              <a:extLst>
                <a:ext uri="{FF2B5EF4-FFF2-40B4-BE49-F238E27FC236}">
                  <a16:creationId xmlns:a16="http://schemas.microsoft.com/office/drawing/2014/main" id="{408151DA-1721-B922-81C1-73C9A8B03A5D}"/>
                </a:ext>
              </a:extLst>
            </p:cNvPr>
            <p:cNvGrpSpPr/>
            <p:nvPr/>
          </p:nvGrpSpPr>
          <p:grpSpPr>
            <a:xfrm>
              <a:off x="571500" y="1781175"/>
              <a:ext cx="10229850" cy="3609975"/>
              <a:chOff x="571500" y="1781175"/>
              <a:chExt cx="10229850" cy="3609975"/>
            </a:xfrm>
          </p:grpSpPr>
          <p:sp>
            <p:nvSpPr>
              <p:cNvPr id="10" name="reveal_action_1">
                <a:extLst>
                  <a:ext uri="{FF2B5EF4-FFF2-40B4-BE49-F238E27FC236}">
                    <a16:creationId xmlns:a16="http://schemas.microsoft.com/office/drawing/2014/main" id="{7FED5732-9AE3-4377-99F4-E4540B60263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71500" y="1781175"/>
                <a:ext cx="2705100" cy="1019175"/>
              </a:xfrm>
              <a:prstGeom prst="chevron">
                <a:avLst/>
              </a:prstGeom>
              <a:solidFill>
                <a:srgbClr val="38385B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180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180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80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01 跑通并理解</a:t>
                </a:r>
              </a:p>
              <a:p>
                <a:pPr algn="ctr">
                  <a:defRPr sz="180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125" b="0">
                    <a:solidFill>
                      <a:srgbClr val="DAE8EE"/>
                    </a:solidFill>
                    <a:latin typeface="Noto Sans SC"/>
                    <a:ea typeface="Noto Sans SC"/>
                    <a:cs typeface="Noto Sans SC"/>
                  </a:rPr>
                  <a:t>亲自解释一次 DLinear 实验</a:t>
                </a:r>
              </a:p>
            </p:txBody>
          </p:sp>
          <p:sp>
            <p:nvSpPr>
              <p:cNvPr id="11" name="reveal_action_2">
                <a:extLst>
                  <a:ext uri="{FF2B5EF4-FFF2-40B4-BE49-F238E27FC236}">
                    <a16:creationId xmlns:a16="http://schemas.microsoft.com/office/drawing/2014/main" id="{ACCA7275-86A5-4163-94A2-C8C027FB376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91000" y="3019425"/>
                <a:ext cx="2705100" cy="1019175"/>
              </a:xfrm>
              <a:prstGeom prst="chevron">
                <a:avLst/>
              </a:prstGeom>
              <a:solidFill>
                <a:srgbClr val="9C5875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180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180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80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02 比较并记录</a:t>
                </a:r>
              </a:p>
              <a:p>
                <a:pPr algn="ctr">
                  <a:defRPr sz="180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32" b="0">
                    <a:solidFill>
                      <a:srgbClr val="DAE8EE"/>
                    </a:solidFill>
                    <a:latin typeface="Noto Sans SC"/>
                    <a:ea typeface="Noto Sans SC"/>
                    <a:cs typeface="Noto Sans SC"/>
                  </a:rPr>
                  <a:t>六组小对照与种子波动</a:t>
                </a:r>
              </a:p>
            </p:txBody>
          </p:sp>
          <p:sp>
            <p:nvSpPr>
              <p:cNvPr id="12" name="reveal_action_3">
                <a:extLst>
                  <a:ext uri="{FF2B5EF4-FFF2-40B4-BE49-F238E27FC236}">
                    <a16:creationId xmlns:a16="http://schemas.microsoft.com/office/drawing/2014/main" id="{19BB21AE-AE0B-41A1-88F1-43934C8BB16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772400" y="4257675"/>
                <a:ext cx="2705100" cy="1019175"/>
              </a:xfrm>
              <a:prstGeom prst="chevron">
                <a:avLst/>
              </a:prstGeom>
              <a:solidFill>
                <a:srgbClr val="38385B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180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180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80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03 接入并核对</a:t>
                </a:r>
              </a:p>
              <a:p>
                <a:pPr algn="ctr">
                  <a:defRPr sz="1800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332" b="0">
                    <a:solidFill>
                      <a:srgbClr val="DAE8EE"/>
                    </a:solidFill>
                    <a:latin typeface="Noto Sans SC"/>
                    <a:ea typeface="Noto Sans SC"/>
                    <a:cs typeface="Noto Sans SC"/>
                  </a:rPr>
                  <a:t>三种模型的同窗口输出</a:t>
                </a:r>
              </a:p>
            </p:txBody>
          </p:sp>
          <p:sp>
            <p:nvSpPr>
              <p:cNvPr id="15" name="textbox_11">
                <a:extLst>
                  <a:ext uri="{FF2B5EF4-FFF2-40B4-BE49-F238E27FC236}">
                    <a16:creationId xmlns:a16="http://schemas.microsoft.com/office/drawing/2014/main" id="{AF5FCD49-0D43-4CED-9A13-6F512DC19FC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95325" y="3200400"/>
                <a:ext cx="2752725" cy="11430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575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575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575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画输入、预测与真值</a:t>
                </a:r>
              </a:p>
              <a:p>
                <a:pPr algn="l">
                  <a:defRPr sz="1575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575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解释张量维度与指标</a:t>
                </a:r>
              </a:p>
              <a:p>
                <a:pPr algn="l">
                  <a:defRPr sz="1575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575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记录最佳轮次及耗时</a:t>
                </a:r>
              </a:p>
            </p:txBody>
          </p:sp>
          <p:sp>
            <p:nvSpPr>
              <p:cNvPr id="16" name="textbox_12">
                <a:extLst>
                  <a:ext uri="{FF2B5EF4-FFF2-40B4-BE49-F238E27FC236}">
                    <a16:creationId xmlns:a16="http://schemas.microsoft.com/office/drawing/2014/main" id="{5138BF10-445A-4AD5-95E1-D87A7D09BC7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286250" y="4438650"/>
                <a:ext cx="2914650" cy="9525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575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575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575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按配置汇总重复实验</a:t>
                </a:r>
              </a:p>
              <a:p>
                <a:pPr algn="l">
                  <a:defRPr sz="1575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575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保留真实运行成本</a:t>
                </a:r>
              </a:p>
              <a:p>
                <a:pPr algn="l">
                  <a:defRPr sz="1575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575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检查全部产物</a:t>
                </a:r>
              </a:p>
            </p:txBody>
          </p:sp>
          <p:sp>
            <p:nvSpPr>
              <p:cNvPr id="17" name="textbox_13">
                <a:extLst>
                  <a:ext uri="{FF2B5EF4-FFF2-40B4-BE49-F238E27FC236}">
                    <a16:creationId xmlns:a16="http://schemas.microsoft.com/office/drawing/2014/main" id="{44440649-287F-4CC8-AC8A-C3B9CEFF50A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791450" y="2028825"/>
                <a:ext cx="3009900" cy="14668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575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575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575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先掌握一项完整实验，</a:t>
                </a:r>
              </a:p>
              <a:p>
                <a:pPr algn="l">
                  <a:defRPr sz="1575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575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再进入特征与元模型。</a:t>
                </a:r>
              </a:p>
              <a:p>
                <a:endParaRPr sz="1575" b="0">
                  <a:solidFill>
                    <a:srgbClr val="30323E"/>
                  </a:solidFill>
                  <a:latin typeface="Noto Sans SC"/>
                  <a:ea typeface="Noto Sans SC"/>
                  <a:cs typeface="Noto Sans SC"/>
                </a:endParaRPr>
              </a:p>
              <a:p>
                <a:pPr algn="l">
                  <a:defRPr sz="1575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575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每次扩展都核对时间</a:t>
                </a:r>
              </a:p>
              <a:p>
                <a:pPr algn="l">
                  <a:defRPr sz="1575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575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索引、目标窗口和尺度。</a:t>
                </a:r>
              </a:p>
            </p:txBody>
          </p:sp>
        </p:grpSp>
      </p:grpSp>
      <p:sp>
        <p:nvSpPr>
          <p:cNvPr id="18" name="line_14">
            <a:extLst>
              <a:ext uri="{FF2B5EF4-FFF2-40B4-BE49-F238E27FC236}">
                <a16:creationId xmlns:a16="http://schemas.microsoft.com/office/drawing/2014/main" id="{B08F5699-B5D5-4782-9D31-23C2A9435B6E}"/>
              </a:ext>
            </a:extLst>
          </p:cNvPr>
          <p:cNvSpPr>
            <a:spLocks/>
          </p:cNvSpPr>
          <p:nvPr/>
        </p:nvSpPr>
        <p:spPr>
          <a:xfrm>
            <a:off x="371475" y="5800725"/>
            <a:ext cx="10687050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19" name="rect_15">
            <a:extLst>
              <a:ext uri="{FF2B5EF4-FFF2-40B4-BE49-F238E27FC236}">
                <a16:creationId xmlns:a16="http://schemas.microsoft.com/office/drawing/2014/main" id="{002394FA-DC80-4B5F-B646-D10C5990C14F}"/>
              </a:ext>
            </a:extLst>
          </p:cNvPr>
          <p:cNvSpPr>
            <a:spLocks/>
          </p:cNvSpPr>
          <p:nvPr/>
        </p:nvSpPr>
        <p:spPr>
          <a:xfrm>
            <a:off x="371475" y="5886450"/>
            <a:ext cx="38100" cy="20002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20" name="textbox_16">
            <a:extLst>
              <a:ext uri="{FF2B5EF4-FFF2-40B4-BE49-F238E27FC236}">
                <a16:creationId xmlns:a16="http://schemas.microsoft.com/office/drawing/2014/main" id="{107A7F7C-4B16-4600-A034-267BC95C15F9}"/>
              </a:ext>
            </a:extLst>
          </p:cNvPr>
          <p:cNvSpPr>
            <a:spLocks/>
          </p:cNvSpPr>
          <p:nvPr/>
        </p:nvSpPr>
        <p:spPr>
          <a:xfrm>
            <a:off x="495300" y="5848350"/>
            <a:ext cx="1043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第一份学习产物：自己能够解释的一次实验记录。</a:t>
            </a:r>
          </a:p>
        </p:txBody>
      </p:sp>
      <p:sp>
        <p:nvSpPr>
          <p:cNvPr id="21" name="textbox_17">
            <a:extLst>
              <a:ext uri="{FF2B5EF4-FFF2-40B4-BE49-F238E27FC236}">
                <a16:creationId xmlns:a16="http://schemas.microsoft.com/office/drawing/2014/main" id="{7E9559B3-2874-4576-87B2-19AA9136F870}"/>
              </a:ext>
            </a:extLst>
          </p:cNvPr>
          <p:cNvSpPr>
            <a:spLocks/>
          </p:cNvSpPr>
          <p:nvPr/>
        </p:nvSpPr>
        <p:spPr>
          <a:xfrm>
            <a:off x="371475" y="6219825"/>
            <a:ext cx="10287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路线 V1.0 · 视觉测试稿 · 研究设计待验证</a:t>
            </a:r>
          </a:p>
        </p:txBody>
      </p:sp>
      <p:sp>
        <p:nvSpPr>
          <p:cNvPr id="22" name="textbox_18">
            <a:extLst>
              <a:ext uri="{FF2B5EF4-FFF2-40B4-BE49-F238E27FC236}">
                <a16:creationId xmlns:a16="http://schemas.microsoft.com/office/drawing/2014/main" id="{DF1501A4-7CEC-4003-B81E-595A4E6D3105}"/>
              </a:ext>
            </a:extLst>
          </p:cNvPr>
          <p:cNvSpPr>
            <a:spLocks/>
          </p:cNvSpPr>
          <p:nvPr/>
        </p:nvSpPr>
        <p:spPr>
          <a:xfrm>
            <a:off x="10620375" y="619125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5527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_1">
            <a:extLst>
              <a:ext uri="{FF2B5EF4-FFF2-40B4-BE49-F238E27FC236}">
                <a16:creationId xmlns:a16="http://schemas.microsoft.com/office/drawing/2014/main" id="{D410BA86-BC59-49D1-BA7F-D6BE33774974}"/>
              </a:ext>
            </a:extLst>
          </p:cNvPr>
          <p:cNvSpPr>
            <a:spLocks/>
          </p:cNvSpPr>
          <p:nvPr/>
        </p:nvSpPr>
        <p:spPr>
          <a:xfrm>
            <a:off x="3714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01  研究问题</a:t>
            </a:r>
          </a:p>
        </p:txBody>
      </p:sp>
      <p:sp>
        <p:nvSpPr>
          <p:cNvPr id="2" name="textbox_2">
            <a:extLst>
              <a:ext uri="{FF2B5EF4-FFF2-40B4-BE49-F238E27FC236}">
                <a16:creationId xmlns:a16="http://schemas.microsoft.com/office/drawing/2014/main" id="{9A820B9A-FFB5-4836-9F7D-0245F7731FB7}"/>
              </a:ext>
            </a:extLst>
          </p:cNvPr>
          <p:cNvSpPr>
            <a:spLocks/>
          </p:cNvSpPr>
          <p:nvPr/>
        </p:nvSpPr>
        <p:spPr>
          <a:xfrm>
            <a:off x="251460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02  对象与基础</a:t>
            </a:r>
          </a:p>
        </p:txBody>
      </p:sp>
      <p:sp>
        <p:nvSpPr>
          <p:cNvPr id="3" name="textbox_3">
            <a:extLst>
              <a:ext uri="{FF2B5EF4-FFF2-40B4-BE49-F238E27FC236}">
                <a16:creationId xmlns:a16="http://schemas.microsoft.com/office/drawing/2014/main" id="{618B5A20-A52E-42D3-86C8-33C6828D5CD8}"/>
              </a:ext>
            </a:extLst>
          </p:cNvPr>
          <p:cNvSpPr>
            <a:spLocks/>
          </p:cNvSpPr>
          <p:nvPr/>
        </p:nvSpPr>
        <p:spPr>
          <a:xfrm>
            <a:off x="465772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03  方法与机制</a:t>
            </a:r>
          </a:p>
        </p:txBody>
      </p:sp>
      <p:sp>
        <p:nvSpPr>
          <p:cNvPr id="4" name="textbox_4">
            <a:extLst>
              <a:ext uri="{FF2B5EF4-FFF2-40B4-BE49-F238E27FC236}">
                <a16:creationId xmlns:a16="http://schemas.microsoft.com/office/drawing/2014/main" id="{A4A5AE21-ECEE-4D56-BE67-3164094240EA}"/>
              </a:ext>
            </a:extLst>
          </p:cNvPr>
          <p:cNvSpPr>
            <a:spLocks/>
          </p:cNvSpPr>
          <p:nvPr/>
        </p:nvSpPr>
        <p:spPr>
          <a:xfrm>
            <a:off x="680085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04  实验与证据</a:t>
            </a:r>
          </a:p>
        </p:txBody>
      </p:sp>
      <p:sp>
        <p:nvSpPr>
          <p:cNvPr id="5" name="textbox_5">
            <a:extLst>
              <a:ext uri="{FF2B5EF4-FFF2-40B4-BE49-F238E27FC236}">
                <a16:creationId xmlns:a16="http://schemas.microsoft.com/office/drawing/2014/main" id="{A4602746-B7AA-41DD-AA3F-C0D5A6D5C338}"/>
              </a:ext>
            </a:extLst>
          </p:cNvPr>
          <p:cNvSpPr>
            <a:spLocks/>
          </p:cNvSpPr>
          <p:nvPr/>
        </p:nvSpPr>
        <p:spPr>
          <a:xfrm>
            <a:off x="89439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05  实施与产出</a:t>
            </a:r>
          </a:p>
        </p:txBody>
      </p:sp>
      <p:sp>
        <p:nvSpPr>
          <p:cNvPr id="6" name="rect_6">
            <a:extLst>
              <a:ext uri="{FF2B5EF4-FFF2-40B4-BE49-F238E27FC236}">
                <a16:creationId xmlns:a16="http://schemas.microsoft.com/office/drawing/2014/main" id="{DDFB851D-87E5-438A-8336-4AAD476DA2D3}"/>
              </a:ext>
            </a:extLst>
          </p:cNvPr>
          <p:cNvSpPr>
            <a:spLocks/>
          </p:cNvSpPr>
          <p:nvPr/>
        </p:nvSpPr>
        <p:spPr>
          <a:xfrm>
            <a:off x="8943975" y="447675"/>
            <a:ext cx="1238250" cy="2857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7" name="line_7">
            <a:extLst>
              <a:ext uri="{FF2B5EF4-FFF2-40B4-BE49-F238E27FC236}">
                <a16:creationId xmlns:a16="http://schemas.microsoft.com/office/drawing/2014/main" id="{2A81E62A-6D21-403C-B293-8DED93039104}"/>
              </a:ext>
            </a:extLst>
          </p:cNvPr>
          <p:cNvSpPr>
            <a:spLocks/>
          </p:cNvSpPr>
          <p:nvPr/>
        </p:nvSpPr>
        <p:spPr>
          <a:xfrm>
            <a:off x="371475" y="476250"/>
            <a:ext cx="10677525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8" name="slide_title">
            <a:extLst>
              <a:ext uri="{FF2B5EF4-FFF2-40B4-BE49-F238E27FC236}">
                <a16:creationId xmlns:a16="http://schemas.microsoft.com/office/drawing/2014/main" id="{20AA1AC4-2E2E-4521-8B6D-14BA7B0FFCB4}"/>
              </a:ext>
            </a:extLst>
          </p:cNvPr>
          <p:cNvSpPr>
            <a:spLocks/>
          </p:cNvSpPr>
          <p:nvPr/>
        </p:nvSpPr>
        <p:spPr>
          <a:xfrm>
            <a:off x="361950" y="685800"/>
            <a:ext cx="10706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defPPr>
          </a:lstStyle>
          <a:p>
            <a: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pP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20</a:t>
            </a:r>
            <a:r>
              <a:rPr sz="2175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  </a:t>
            </a: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阅读地图：按你现在要解决的问题进入文献</a:t>
            </a:r>
          </a:p>
        </p:txBody>
      </p:sp>
      <p:sp>
        <p:nvSpPr>
          <p:cNvPr id="9" name="textbox_8">
            <a:extLst>
              <a:ext uri="{FF2B5EF4-FFF2-40B4-BE49-F238E27FC236}">
                <a16:creationId xmlns:a16="http://schemas.microsoft.com/office/drawing/2014/main" id="{DFD5C4D0-D24E-40D2-8BF5-AD393D5A51EA}"/>
              </a:ext>
            </a:extLst>
          </p:cNvPr>
          <p:cNvSpPr>
            <a:spLocks/>
          </p:cNvSpPr>
          <p:nvPr/>
        </p:nvSpPr>
        <p:spPr>
          <a:xfrm>
            <a:off x="381000" y="1133475"/>
            <a:ext cx="10668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先理解机制与实验协议，再扩展元学习、模型选择和预算搜索文献。</a:t>
            </a:r>
          </a:p>
        </p:txBody>
      </p:sp>
      <p:grpSp>
        <p:nvGrpSpPr>
          <p:cNvPr id="31" name="complete_diagram_with_connectors">
            <a:extLst>
              <a:ext uri="{FF2B5EF4-FFF2-40B4-BE49-F238E27FC236}">
                <a16:creationId xmlns:a16="http://schemas.microsoft.com/office/drawing/2014/main" id="{E2155224-6EA1-40DD-90DE-6F00F10A7160}"/>
              </a:ext>
            </a:extLst>
          </p:cNvPr>
          <p:cNvGrpSpPr/>
          <p:nvPr/>
        </p:nvGrpSpPr>
        <p:grpSpPr>
          <a:xfrm>
            <a:off x="476250" y="1514475"/>
            <a:ext cx="10477500" cy="3581400"/>
            <a:chOff x="476250" y="1514475"/>
            <a:chExt cx="10477500" cy="3581400"/>
          </a:xfrm>
        </p:grpSpPr>
        <p:cxnSp>
          <p:nvCxnSpPr>
            <p:cNvPr id="13" name="connector_12">
              <a:extLst>
                <a:ext uri="{FF2B5EF4-FFF2-40B4-BE49-F238E27FC236}">
                  <a16:creationId xmlns:a16="http://schemas.microsoft.com/office/drawing/2014/main" id="{41FC4A78-C74C-4B2C-AA6F-EEE231D4F788}"/>
                </a:ext>
              </a:extLst>
            </p:cNvPr>
            <p:cNvCxnSpPr>
              <a:stCxn id="11" idx="3"/>
              <a:endCxn id="12" idx="1"/>
            </p:cNvCxnSpPr>
            <p:nvPr/>
          </p:nvCxnSpPr>
          <p:spPr>
            <a:xfrm flipV="1">
              <a:off x="3200400" y="1876425"/>
              <a:ext cx="1790700" cy="1533525"/>
            </a:xfrm>
            <a:prstGeom prst="bentConnector3">
              <a:avLst>
                <a:gd name="adj1" fmla="val 50000"/>
              </a:avLst>
            </a:prstGeom>
            <a:ln w="20955">
              <a:solidFill>
                <a:srgbClr val="949CBD"/>
              </a:solidFill>
              <a:prstDash val="solid"/>
              <a:tailEnd type="triangle" w="med" len="med"/>
            </a:ln>
          </p:spPr>
        </p:cxnSp>
        <p:cxnSp>
          <p:nvCxnSpPr>
            <p:cNvPr id="16" name="connector_15">
              <a:extLst>
                <a:ext uri="{FF2B5EF4-FFF2-40B4-BE49-F238E27FC236}">
                  <a16:creationId xmlns:a16="http://schemas.microsoft.com/office/drawing/2014/main" id="{303CDB11-76F6-4EE7-BCEC-3005902AB8B3}"/>
                </a:ext>
              </a:extLst>
            </p:cNvPr>
            <p:cNvCxnSpPr>
              <a:stCxn id="11" idx="3"/>
              <a:endCxn id="15" idx="1"/>
            </p:cNvCxnSpPr>
            <p:nvPr/>
          </p:nvCxnSpPr>
          <p:spPr>
            <a:xfrm flipV="1">
              <a:off x="3200400" y="2838450"/>
              <a:ext cx="1790700" cy="571500"/>
            </a:xfrm>
            <a:prstGeom prst="bentConnector3">
              <a:avLst>
                <a:gd name="adj1" fmla="val 40691"/>
              </a:avLst>
            </a:prstGeom>
            <a:ln w="20955">
              <a:solidFill>
                <a:srgbClr val="949CBD"/>
              </a:solidFill>
              <a:prstDash val="solid"/>
              <a:tailEnd type="triangle" w="med" len="med"/>
            </a:ln>
          </p:spPr>
        </p:cxnSp>
        <p:cxnSp>
          <p:nvCxnSpPr>
            <p:cNvPr id="19" name="connector_18">
              <a:extLst>
                <a:ext uri="{FF2B5EF4-FFF2-40B4-BE49-F238E27FC236}">
                  <a16:creationId xmlns:a16="http://schemas.microsoft.com/office/drawing/2014/main" id="{AE0358FA-8974-41D5-A9F7-B9715144F365}"/>
                </a:ext>
              </a:extLst>
            </p:cNvPr>
            <p:cNvCxnSpPr>
              <a:stCxn id="11" idx="3"/>
              <a:endCxn id="18" idx="1"/>
            </p:cNvCxnSpPr>
            <p:nvPr/>
          </p:nvCxnSpPr>
          <p:spPr>
            <a:xfrm>
              <a:off x="3200400" y="3409950"/>
              <a:ext cx="1790700" cy="390525"/>
            </a:xfrm>
            <a:prstGeom prst="bentConnector3">
              <a:avLst>
                <a:gd name="adj1" fmla="val 40691"/>
              </a:avLst>
            </a:prstGeom>
            <a:ln w="20955">
              <a:solidFill>
                <a:srgbClr val="949CBD"/>
              </a:solidFill>
              <a:prstDash val="solid"/>
              <a:tailEnd type="triangle" w="med" len="med"/>
            </a:ln>
          </p:spPr>
        </p:cxnSp>
        <p:cxnSp>
          <p:nvCxnSpPr>
            <p:cNvPr id="22" name="connector_21">
              <a:extLst>
                <a:ext uri="{FF2B5EF4-FFF2-40B4-BE49-F238E27FC236}">
                  <a16:creationId xmlns:a16="http://schemas.microsoft.com/office/drawing/2014/main" id="{0F0053BF-EF1D-438D-B7E4-8D5CF3EBDF74}"/>
                </a:ext>
              </a:extLst>
            </p:cNvPr>
            <p:cNvCxnSpPr>
              <a:stCxn id="11" idx="3"/>
              <a:endCxn id="21" idx="1"/>
            </p:cNvCxnSpPr>
            <p:nvPr/>
          </p:nvCxnSpPr>
          <p:spPr>
            <a:xfrm>
              <a:off x="3200400" y="3409950"/>
              <a:ext cx="1790700" cy="1352550"/>
            </a:xfrm>
            <a:prstGeom prst="bentConnector3">
              <a:avLst>
                <a:gd name="adj1" fmla="val 40691"/>
              </a:avLst>
            </a:prstGeom>
            <a:ln w="20955">
              <a:solidFill>
                <a:srgbClr val="949CBD"/>
              </a:solidFill>
              <a:prstDash val="solid"/>
              <a:tailEnd type="triangle" w="med" len="med"/>
            </a:ln>
          </p:spPr>
        </p:cxnSp>
        <p:grpSp>
          <p:nvGrpSpPr>
            <p:cNvPr id="30" name="page_21_stage_1">
              <a:extLst>
                <a:ext uri="{FF2B5EF4-FFF2-40B4-BE49-F238E27FC236}">
                  <a16:creationId xmlns:a16="http://schemas.microsoft.com/office/drawing/2014/main" id="{E4CAAB87-606B-DF5F-AC54-B647381B60B6}"/>
                </a:ext>
              </a:extLst>
            </p:cNvPr>
            <p:cNvGrpSpPr/>
            <p:nvPr/>
          </p:nvGrpSpPr>
          <p:grpSpPr>
            <a:xfrm>
              <a:off x="476250" y="1514475"/>
              <a:ext cx="10477500" cy="3581400"/>
              <a:chOff x="476250" y="1514475"/>
              <a:chExt cx="10477500" cy="3581400"/>
            </a:xfrm>
          </p:grpSpPr>
          <p:sp>
            <p:nvSpPr>
              <p:cNvPr id="10" name="textbox_9">
                <a:extLst>
                  <a:ext uri="{FF2B5EF4-FFF2-40B4-BE49-F238E27FC236}">
                    <a16:creationId xmlns:a16="http://schemas.microsoft.com/office/drawing/2014/main" id="{29A00C1B-8DBE-4D39-AC16-32005DF2B47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76250" y="1514475"/>
                <a:ext cx="5000625" cy="40005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2100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2100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2100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rPr>
                  <a:t>一篇论文的阅读记录</a:t>
                </a:r>
              </a:p>
            </p:txBody>
          </p:sp>
          <p:sp>
            <p:nvSpPr>
              <p:cNvPr id="11" name="flowChartDocument_10">
                <a:extLst>
                  <a:ext uri="{FF2B5EF4-FFF2-40B4-BE49-F238E27FC236}">
                    <a16:creationId xmlns:a16="http://schemas.microsoft.com/office/drawing/2014/main" id="{184EC9F6-E729-497C-8AE1-710826674BC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81050" y="2390775"/>
                <a:ext cx="2419350" cy="2038350"/>
              </a:xfrm>
              <a:prstGeom prst="flowChartDocument">
                <a:avLst/>
              </a:prstGeom>
              <a:solidFill>
                <a:srgbClr val="38385B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2025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2025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2025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rPr>
                  <a:t>机制与证据</a:t>
                </a:r>
              </a:p>
              <a:p>
                <a:pPr algn="ctr">
                  <a:defRPr sz="2025" b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499" b="0">
                    <a:solidFill>
                      <a:srgbClr val="DAE8EE"/>
                    </a:solidFill>
                    <a:latin typeface="Noto Sans SC"/>
                    <a:ea typeface="Noto Sans SC"/>
                    <a:cs typeface="Noto Sans SC"/>
                  </a:rPr>
                  <a:t>读论文，回到实验核对</a:t>
                </a:r>
              </a:p>
            </p:txBody>
          </p:sp>
          <p:sp>
            <p:nvSpPr>
              <p:cNvPr id="12" name="chevron_11">
                <a:extLst>
                  <a:ext uri="{FF2B5EF4-FFF2-40B4-BE49-F238E27FC236}">
                    <a16:creationId xmlns:a16="http://schemas.microsoft.com/office/drawing/2014/main" id="{E80BDCEB-9F76-4B92-9F2D-8A2F19C2931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57725" y="1543050"/>
                <a:ext cx="1962150" cy="666750"/>
              </a:xfrm>
              <a:prstGeom prst="chevron">
                <a:avLst/>
              </a:prstGeom>
              <a:solidFill>
                <a:srgbClr val="EEF0F7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1650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1650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t>DLinear</a:t>
                </a:r>
              </a:p>
            </p:txBody>
          </p:sp>
          <p:sp>
            <p:nvSpPr>
              <p:cNvPr id="14" name="textbox_13">
                <a:extLst>
                  <a:ext uri="{FF2B5EF4-FFF2-40B4-BE49-F238E27FC236}">
                    <a16:creationId xmlns:a16="http://schemas.microsoft.com/office/drawing/2014/main" id="{91A71F37-18C1-44D3-B4CF-FC3AFAF7924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924675" y="1714500"/>
                <a:ext cx="4029075" cy="4953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50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50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50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分解余项、线性映射与预测残差</a:t>
                </a:r>
              </a:p>
            </p:txBody>
          </p:sp>
          <p:sp>
            <p:nvSpPr>
              <p:cNvPr id="15" name="chevron_14">
                <a:extLst>
                  <a:ext uri="{FF2B5EF4-FFF2-40B4-BE49-F238E27FC236}">
                    <a16:creationId xmlns:a16="http://schemas.microsoft.com/office/drawing/2014/main" id="{D0D31AAC-89BB-43FE-99C2-6FD6D0B8B67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57725" y="2505075"/>
                <a:ext cx="1962150" cy="666750"/>
              </a:xfrm>
              <a:prstGeom prst="chevron">
                <a:avLst/>
              </a:prstGeom>
              <a:solidFill>
                <a:srgbClr val="EEF0F7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1650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1650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t>PatchTST</a:t>
                </a:r>
              </a:p>
            </p:txBody>
          </p:sp>
          <p:sp>
            <p:nvSpPr>
              <p:cNvPr id="17" name="textbox_16">
                <a:extLst>
                  <a:ext uri="{FF2B5EF4-FFF2-40B4-BE49-F238E27FC236}">
                    <a16:creationId xmlns:a16="http://schemas.microsoft.com/office/drawing/2014/main" id="{CDD8EAC9-7D94-46F1-9A27-FE905DD7655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924675" y="2676525"/>
                <a:ext cx="4029075" cy="4953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50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50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50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patch、stride 与通道独立</a:t>
                </a:r>
              </a:p>
            </p:txBody>
          </p:sp>
          <p:sp>
            <p:nvSpPr>
              <p:cNvPr id="18" name="chevron_17">
                <a:extLst>
                  <a:ext uri="{FF2B5EF4-FFF2-40B4-BE49-F238E27FC236}">
                    <a16:creationId xmlns:a16="http://schemas.microsoft.com/office/drawing/2014/main" id="{611CD903-F58A-465A-86BC-06A975652DA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57725" y="3467100"/>
                <a:ext cx="1962150" cy="666750"/>
              </a:xfrm>
              <a:prstGeom prst="chevron">
                <a:avLst/>
              </a:prstGeom>
              <a:solidFill>
                <a:srgbClr val="EEF0F7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1650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1650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t>TimesNet</a:t>
                </a:r>
              </a:p>
            </p:txBody>
          </p:sp>
          <p:sp>
            <p:nvSpPr>
              <p:cNvPr id="20" name="textbox_19">
                <a:extLst>
                  <a:ext uri="{FF2B5EF4-FFF2-40B4-BE49-F238E27FC236}">
                    <a16:creationId xmlns:a16="http://schemas.microsoft.com/office/drawing/2014/main" id="{1824D749-B62E-4AF1-B099-0F78C271D75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924675" y="3638550"/>
                <a:ext cx="4029075" cy="4953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50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50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50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周期提取、二维重排与聚合</a:t>
                </a:r>
              </a:p>
            </p:txBody>
          </p:sp>
          <p:sp>
            <p:nvSpPr>
              <p:cNvPr id="21" name="chevron_20">
                <a:extLst>
                  <a:ext uri="{FF2B5EF4-FFF2-40B4-BE49-F238E27FC236}">
                    <a16:creationId xmlns:a16="http://schemas.microsoft.com/office/drawing/2014/main" id="{8F6883C8-4996-43EB-BA82-301F697F600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657725" y="4429125"/>
                <a:ext cx="1962150" cy="666750"/>
              </a:xfrm>
              <a:prstGeom prst="chevron">
                <a:avLst/>
              </a:prstGeom>
              <a:solidFill>
                <a:srgbClr val="F3E5EB"/>
              </a:solidFill>
              <a:ln w="9525">
                <a:solidFill>
                  <a:srgbClr val="D8D9E3"/>
                </a:solidFill>
                <a:prstDash val="solid"/>
              </a:ln>
            </p:spPr>
            <p:txBody>
              <a:bodyPr wrap="square" lIns="85725" tIns="85725" rIns="85725" bIns="85725" anchor="ctr">
                <a:noAutofit/>
              </a:bodyPr>
              <a:lstStyle>
                <a:defPPr algn="ctr">
                  <a:defRPr sz="1650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ctr">
                  <a:defRPr sz="1650" b="1">
                    <a:solidFill>
                      <a:srgbClr val="38385B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t>元学习与 HPO</a:t>
                </a:r>
              </a:p>
            </p:txBody>
          </p:sp>
          <p:sp>
            <p:nvSpPr>
              <p:cNvPr id="23" name="textbox_22">
                <a:extLst>
                  <a:ext uri="{FF2B5EF4-FFF2-40B4-BE49-F238E27FC236}">
                    <a16:creationId xmlns:a16="http://schemas.microsoft.com/office/drawing/2014/main" id="{EEA45CD4-DFA4-4ECC-AFAF-F6D8A4CD033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924675" y="4600575"/>
                <a:ext cx="4029075" cy="4953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 wrap="square" lIns="0" tIns="0" rIns="0" bIns="0" anchor="t">
                <a:noAutofit/>
              </a:bodyPr>
              <a:lstStyle>
                <a:defPPr algn="l">
                  <a:defRPr sz="150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defPPr>
              </a:lstStyle>
              <a:p>
                <a:pPr algn="l">
                  <a:defRPr sz="150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sz="1500" b="0">
                    <a:solidFill>
                      <a:srgbClr val="30323E"/>
                    </a:solidFill>
                    <a:latin typeface="Noto Sans SC"/>
                    <a:ea typeface="Noto Sans SC"/>
                    <a:cs typeface="Noto Sans SC"/>
                  </a:rPr>
                  <a:t>任务迁移、候选池与预算协议</a:t>
                </a:r>
              </a:p>
            </p:txBody>
          </p:sp>
        </p:grpSp>
      </p:grpSp>
      <p:sp>
        <p:nvSpPr>
          <p:cNvPr id="24" name="line_23">
            <a:extLst>
              <a:ext uri="{FF2B5EF4-FFF2-40B4-BE49-F238E27FC236}">
                <a16:creationId xmlns:a16="http://schemas.microsoft.com/office/drawing/2014/main" id="{A105866C-CE5D-4D88-B7DB-2D9E81452FDC}"/>
              </a:ext>
            </a:extLst>
          </p:cNvPr>
          <p:cNvSpPr>
            <a:spLocks/>
          </p:cNvSpPr>
          <p:nvPr/>
        </p:nvSpPr>
        <p:spPr>
          <a:xfrm>
            <a:off x="371475" y="5800725"/>
            <a:ext cx="10687050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25" name="rect_24">
            <a:extLst>
              <a:ext uri="{FF2B5EF4-FFF2-40B4-BE49-F238E27FC236}">
                <a16:creationId xmlns:a16="http://schemas.microsoft.com/office/drawing/2014/main" id="{948F3ACD-BF94-4CB3-BFFF-E68C1852B391}"/>
              </a:ext>
            </a:extLst>
          </p:cNvPr>
          <p:cNvSpPr>
            <a:spLocks/>
          </p:cNvSpPr>
          <p:nvPr/>
        </p:nvSpPr>
        <p:spPr>
          <a:xfrm>
            <a:off x="371475" y="5886450"/>
            <a:ext cx="38100" cy="20002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26" name="textbox_25">
            <a:extLst>
              <a:ext uri="{FF2B5EF4-FFF2-40B4-BE49-F238E27FC236}">
                <a16:creationId xmlns:a16="http://schemas.microsoft.com/office/drawing/2014/main" id="{A203453A-BCEC-4EC9-8D61-9FCEBC1C910B}"/>
              </a:ext>
            </a:extLst>
          </p:cNvPr>
          <p:cNvSpPr>
            <a:spLocks/>
          </p:cNvSpPr>
          <p:nvPr/>
        </p:nvSpPr>
        <p:spPr>
          <a:xfrm>
            <a:off x="495300" y="5848350"/>
            <a:ext cx="1043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读完一篇，至少留下：机制图、实验设置、可复现入口、与课题的一个连接点。</a:t>
            </a:r>
          </a:p>
        </p:txBody>
      </p:sp>
      <p:sp>
        <p:nvSpPr>
          <p:cNvPr id="27" name="textbox_26">
            <a:extLst>
              <a:ext uri="{FF2B5EF4-FFF2-40B4-BE49-F238E27FC236}">
                <a16:creationId xmlns:a16="http://schemas.microsoft.com/office/drawing/2014/main" id="{6C0170E7-959C-4158-BFA9-421B55DBB4FA}"/>
              </a:ext>
            </a:extLst>
          </p:cNvPr>
          <p:cNvSpPr>
            <a:spLocks/>
          </p:cNvSpPr>
          <p:nvPr/>
        </p:nvSpPr>
        <p:spPr>
          <a:xfrm>
            <a:off x="371475" y="6219825"/>
            <a:ext cx="10287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路线 V1.0 · 视觉测试稿 · 研究设计待验证</a:t>
            </a:r>
          </a:p>
        </p:txBody>
      </p:sp>
      <p:sp>
        <p:nvSpPr>
          <p:cNvPr id="28" name="textbox_27">
            <a:extLst>
              <a:ext uri="{FF2B5EF4-FFF2-40B4-BE49-F238E27FC236}">
                <a16:creationId xmlns:a16="http://schemas.microsoft.com/office/drawing/2014/main" id="{A7720657-52B4-44FC-8F4F-84E26F637C0A}"/>
              </a:ext>
            </a:extLst>
          </p:cNvPr>
          <p:cNvSpPr>
            <a:spLocks/>
          </p:cNvSpPr>
          <p:nvPr/>
        </p:nvSpPr>
        <p:spPr>
          <a:xfrm>
            <a:off x="10620375" y="619125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667607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 thruBlk="1"/>
      </p:transition>
    </mc:Choice>
    <mc:Fallback xmlns="">
      <p:transition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_1">
            <a:extLst>
              <a:ext uri="{FF2B5EF4-FFF2-40B4-BE49-F238E27FC236}">
                <a16:creationId xmlns:a16="http://schemas.microsoft.com/office/drawing/2014/main" id="{4A084907-5066-4E6A-B19B-4A38B2E26F26}"/>
              </a:ext>
            </a:extLst>
          </p:cNvPr>
          <p:cNvSpPr>
            <a:spLocks/>
          </p:cNvSpPr>
          <p:nvPr/>
        </p:nvSpPr>
        <p:spPr>
          <a:xfrm>
            <a:off x="3714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01  研究问题</a:t>
            </a:r>
          </a:p>
        </p:txBody>
      </p:sp>
      <p:sp>
        <p:nvSpPr>
          <p:cNvPr id="2" name="textbox_2">
            <a:extLst>
              <a:ext uri="{FF2B5EF4-FFF2-40B4-BE49-F238E27FC236}">
                <a16:creationId xmlns:a16="http://schemas.microsoft.com/office/drawing/2014/main" id="{E0377A75-9715-4829-875D-C61D0BCD26D5}"/>
              </a:ext>
            </a:extLst>
          </p:cNvPr>
          <p:cNvSpPr>
            <a:spLocks/>
          </p:cNvSpPr>
          <p:nvPr/>
        </p:nvSpPr>
        <p:spPr>
          <a:xfrm>
            <a:off x="251460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02  对象与基础</a:t>
            </a:r>
          </a:p>
        </p:txBody>
      </p:sp>
      <p:sp>
        <p:nvSpPr>
          <p:cNvPr id="3" name="textbox_3">
            <a:extLst>
              <a:ext uri="{FF2B5EF4-FFF2-40B4-BE49-F238E27FC236}">
                <a16:creationId xmlns:a16="http://schemas.microsoft.com/office/drawing/2014/main" id="{163EFA86-F5F7-4A24-82F2-7E756F6C30A9}"/>
              </a:ext>
            </a:extLst>
          </p:cNvPr>
          <p:cNvSpPr>
            <a:spLocks/>
          </p:cNvSpPr>
          <p:nvPr/>
        </p:nvSpPr>
        <p:spPr>
          <a:xfrm>
            <a:off x="465772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03  方法与机制</a:t>
            </a:r>
          </a:p>
        </p:txBody>
      </p:sp>
      <p:sp>
        <p:nvSpPr>
          <p:cNvPr id="4" name="textbox_4">
            <a:extLst>
              <a:ext uri="{FF2B5EF4-FFF2-40B4-BE49-F238E27FC236}">
                <a16:creationId xmlns:a16="http://schemas.microsoft.com/office/drawing/2014/main" id="{5AA85C08-F3D5-4EC4-AE0A-025ED93E2AEF}"/>
              </a:ext>
            </a:extLst>
          </p:cNvPr>
          <p:cNvSpPr>
            <a:spLocks/>
          </p:cNvSpPr>
          <p:nvPr/>
        </p:nvSpPr>
        <p:spPr>
          <a:xfrm>
            <a:off x="6800850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8C8E9A"/>
                </a:solidFill>
                <a:latin typeface="Noto Sans SC"/>
                <a:ea typeface="Noto Sans SC"/>
                <a:cs typeface="Noto Sans SC"/>
              </a:rPr>
              <a:t>04  实验与证据</a:t>
            </a:r>
          </a:p>
        </p:txBody>
      </p:sp>
      <p:sp>
        <p:nvSpPr>
          <p:cNvPr id="5" name="textbox_5">
            <a:extLst>
              <a:ext uri="{FF2B5EF4-FFF2-40B4-BE49-F238E27FC236}">
                <a16:creationId xmlns:a16="http://schemas.microsoft.com/office/drawing/2014/main" id="{747769C0-7C1A-4276-90E4-6A5C43E0D0D5}"/>
              </a:ext>
            </a:extLst>
          </p:cNvPr>
          <p:cNvSpPr>
            <a:spLocks/>
          </p:cNvSpPr>
          <p:nvPr/>
        </p:nvSpPr>
        <p:spPr>
          <a:xfrm>
            <a:off x="8943975" y="161925"/>
            <a:ext cx="1943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05  实施与产出</a:t>
            </a:r>
          </a:p>
        </p:txBody>
      </p:sp>
      <p:sp>
        <p:nvSpPr>
          <p:cNvPr id="6" name="rect_6">
            <a:extLst>
              <a:ext uri="{FF2B5EF4-FFF2-40B4-BE49-F238E27FC236}">
                <a16:creationId xmlns:a16="http://schemas.microsoft.com/office/drawing/2014/main" id="{F1EBF8B1-3565-4EE9-B2EA-26630C61EEF2}"/>
              </a:ext>
            </a:extLst>
          </p:cNvPr>
          <p:cNvSpPr>
            <a:spLocks/>
          </p:cNvSpPr>
          <p:nvPr/>
        </p:nvSpPr>
        <p:spPr>
          <a:xfrm>
            <a:off x="8943975" y="447675"/>
            <a:ext cx="1238250" cy="2857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7" name="line_7">
            <a:extLst>
              <a:ext uri="{FF2B5EF4-FFF2-40B4-BE49-F238E27FC236}">
                <a16:creationId xmlns:a16="http://schemas.microsoft.com/office/drawing/2014/main" id="{C0AECEF6-3927-4C1D-BFE9-5A398BDC0CBD}"/>
              </a:ext>
            </a:extLst>
          </p:cNvPr>
          <p:cNvSpPr>
            <a:spLocks/>
          </p:cNvSpPr>
          <p:nvPr/>
        </p:nvSpPr>
        <p:spPr>
          <a:xfrm>
            <a:off x="371475" y="476250"/>
            <a:ext cx="10677525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8" name="slide_title">
            <a:extLst>
              <a:ext uri="{FF2B5EF4-FFF2-40B4-BE49-F238E27FC236}">
                <a16:creationId xmlns:a16="http://schemas.microsoft.com/office/drawing/2014/main" id="{DCD8A2EE-AE1F-489A-8049-E26B8B76A794}"/>
              </a:ext>
            </a:extLst>
          </p:cNvPr>
          <p:cNvSpPr>
            <a:spLocks/>
          </p:cNvSpPr>
          <p:nvPr/>
        </p:nvSpPr>
        <p:spPr>
          <a:xfrm>
            <a:off x="361950" y="685800"/>
            <a:ext cx="10706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defPPr>
          </a:lstStyle>
          <a:p>
            <a:pPr algn="l">
              <a:defRPr sz="2175" b="0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defRPr>
            </a:pP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21</a:t>
            </a:r>
            <a:r>
              <a:rPr sz="2175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  </a:t>
            </a:r>
            <a:r>
              <a:rPr sz="2175">
                <a:solidFill>
                  <a:srgbClr val="38385B"/>
                </a:solidFill>
                <a:latin typeface="Source Han Serif SC Heavy"/>
                <a:ea typeface="Source Han Serif SC Heavy"/>
                <a:cs typeface="Source Han Serif SC Heavy"/>
              </a:rPr>
              <a:t>资料与图形说明</a:t>
            </a:r>
          </a:p>
        </p:txBody>
      </p:sp>
      <p:sp>
        <p:nvSpPr>
          <p:cNvPr id="9" name="textbox_8">
            <a:extLst>
              <a:ext uri="{FF2B5EF4-FFF2-40B4-BE49-F238E27FC236}">
                <a16:creationId xmlns:a16="http://schemas.microsoft.com/office/drawing/2014/main" id="{B9272BED-61BE-4D2A-A7A1-6F14FE01CB2D}"/>
              </a:ext>
            </a:extLst>
          </p:cNvPr>
          <p:cNvSpPr>
            <a:spLocks/>
          </p:cNvSpPr>
          <p:nvPr/>
        </p:nvSpPr>
        <p:spPr>
          <a:xfrm>
            <a:off x="381000" y="1133475"/>
            <a:ext cx="10668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本版图示按参考构图重建为原生对象；机制出处和研究假设分别标明。</a:t>
            </a:r>
          </a:p>
        </p:txBody>
      </p:sp>
      <p:sp>
        <p:nvSpPr>
          <p:cNvPr id="10" name="textbox_9">
            <a:extLst>
              <a:ext uri="{FF2B5EF4-FFF2-40B4-BE49-F238E27FC236}">
                <a16:creationId xmlns:a16="http://schemas.microsoft.com/office/drawing/2014/main" id="{9E9FBE08-F690-4DA1-8166-EFF981753071}"/>
              </a:ext>
            </a:extLst>
          </p:cNvPr>
          <p:cNvSpPr>
            <a:spLocks/>
          </p:cNvSpPr>
          <p:nvPr/>
        </p:nvSpPr>
        <p:spPr>
          <a:xfrm>
            <a:off x="400050" y="1495425"/>
            <a:ext cx="215836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50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[1] DLinear</a:t>
            </a:r>
          </a:p>
        </p:txBody>
      </p:sp>
      <p:sp>
        <p:nvSpPr>
          <p:cNvPr id="11" name="textbox_10">
            <a:extLst>
              <a:ext uri="{FF2B5EF4-FFF2-40B4-BE49-F238E27FC236}">
                <a16:creationId xmlns:a16="http://schemas.microsoft.com/office/drawing/2014/main" id="{25B923E8-7C1B-454B-9CDE-0B35144C6F67}"/>
              </a:ext>
            </a:extLst>
          </p:cNvPr>
          <p:cNvSpPr>
            <a:spLocks/>
          </p:cNvSpPr>
          <p:nvPr/>
        </p:nvSpPr>
        <p:spPr>
          <a:xfrm>
            <a:off x="2143125" y="1495425"/>
            <a:ext cx="8943975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30323E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275" b="0">
                <a:solidFill>
                  <a:srgbClr val="30323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30323E"/>
                </a:solidFill>
                <a:latin typeface="Noto Sans SC"/>
                <a:ea typeface="Noto Sans SC"/>
                <a:cs typeface="Noto Sans SC"/>
              </a:rPr>
              <a:t>Zeng et al. Are Transformers Effective for Time Series Forecasting? AAAI 2023.</a:t>
            </a:r>
          </a:p>
        </p:txBody>
      </p:sp>
      <p:sp>
        <p:nvSpPr>
          <p:cNvPr id="12" name="textbox_11">
            <a:extLst>
              <a:ext uri="{FF2B5EF4-FFF2-40B4-BE49-F238E27FC236}">
                <a16:creationId xmlns:a16="http://schemas.microsoft.com/office/drawing/2014/main" id="{683C23B2-EB8E-4DBF-AEE3-CD69A5D91F2C}"/>
              </a:ext>
            </a:extLst>
          </p:cNvPr>
          <p:cNvSpPr>
            <a:spLocks/>
          </p:cNvSpPr>
          <p:nvPr/>
        </p:nvSpPr>
        <p:spPr>
          <a:xfrm>
            <a:off x="2143125" y="2000250"/>
            <a:ext cx="470916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9C5875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25" b="0">
                <a:solidFill>
                  <a:srgbClr val="9C587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9C5875"/>
                </a:solidFill>
                <a:latin typeface="Noto Sans SC"/>
                <a:ea typeface="Noto Sans SC"/>
                <a:cs typeface="Noto Sans SC"/>
              </a:rPr>
              <a:t>https://arxiv.org/abs/2205.13504</a:t>
            </a:r>
          </a:p>
        </p:txBody>
      </p:sp>
      <p:sp>
        <p:nvSpPr>
          <p:cNvPr id="13" name="textbox_12">
            <a:extLst>
              <a:ext uri="{FF2B5EF4-FFF2-40B4-BE49-F238E27FC236}">
                <a16:creationId xmlns:a16="http://schemas.microsoft.com/office/drawing/2014/main" id="{CE640F12-381A-4BD3-82C8-6B5918F48F22}"/>
              </a:ext>
            </a:extLst>
          </p:cNvPr>
          <p:cNvSpPr>
            <a:spLocks/>
          </p:cNvSpPr>
          <p:nvPr/>
        </p:nvSpPr>
        <p:spPr>
          <a:xfrm>
            <a:off x="400050" y="2495550"/>
            <a:ext cx="235458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50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[2] PatchTST</a:t>
            </a:r>
          </a:p>
        </p:txBody>
      </p:sp>
      <p:sp>
        <p:nvSpPr>
          <p:cNvPr id="14" name="textbox_13">
            <a:extLst>
              <a:ext uri="{FF2B5EF4-FFF2-40B4-BE49-F238E27FC236}">
                <a16:creationId xmlns:a16="http://schemas.microsoft.com/office/drawing/2014/main" id="{3EDC0A83-0A23-45B8-8957-28B20468D28B}"/>
              </a:ext>
            </a:extLst>
          </p:cNvPr>
          <p:cNvSpPr>
            <a:spLocks/>
          </p:cNvSpPr>
          <p:nvPr/>
        </p:nvSpPr>
        <p:spPr>
          <a:xfrm>
            <a:off x="2143125" y="2495550"/>
            <a:ext cx="8943975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30323E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275" b="0">
                <a:solidFill>
                  <a:srgbClr val="30323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30323E"/>
                </a:solidFill>
                <a:latin typeface="Noto Sans SC"/>
                <a:ea typeface="Noto Sans SC"/>
                <a:cs typeface="Noto Sans SC"/>
              </a:rPr>
              <a:t>Nie et al. A Time Series is Worth 64 Words: Long-term Forecasting with Transformers. ICLR 2023.</a:t>
            </a:r>
          </a:p>
        </p:txBody>
      </p:sp>
      <p:sp>
        <p:nvSpPr>
          <p:cNvPr id="15" name="textbox_14">
            <a:extLst>
              <a:ext uri="{FF2B5EF4-FFF2-40B4-BE49-F238E27FC236}">
                <a16:creationId xmlns:a16="http://schemas.microsoft.com/office/drawing/2014/main" id="{8E719116-1B88-48E3-A427-38F2C81180BD}"/>
              </a:ext>
            </a:extLst>
          </p:cNvPr>
          <p:cNvSpPr>
            <a:spLocks/>
          </p:cNvSpPr>
          <p:nvPr/>
        </p:nvSpPr>
        <p:spPr>
          <a:xfrm>
            <a:off x="2143125" y="3000375"/>
            <a:ext cx="6327934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9C5875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25" b="0">
                <a:solidFill>
                  <a:srgbClr val="9C587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9C5875"/>
                </a:solidFill>
                <a:latin typeface="Noto Sans SC"/>
                <a:ea typeface="Noto Sans SC"/>
                <a:cs typeface="Noto Sans SC"/>
              </a:rPr>
              <a:t>https://openreview.net/forum?id=Jbdc0vTOcol</a:t>
            </a:r>
          </a:p>
        </p:txBody>
      </p:sp>
      <p:sp>
        <p:nvSpPr>
          <p:cNvPr id="16" name="textbox_15">
            <a:extLst>
              <a:ext uri="{FF2B5EF4-FFF2-40B4-BE49-F238E27FC236}">
                <a16:creationId xmlns:a16="http://schemas.microsoft.com/office/drawing/2014/main" id="{3FD0148E-6746-4BB4-BCB8-794293CC5804}"/>
              </a:ext>
            </a:extLst>
          </p:cNvPr>
          <p:cNvSpPr>
            <a:spLocks/>
          </p:cNvSpPr>
          <p:nvPr/>
        </p:nvSpPr>
        <p:spPr>
          <a:xfrm>
            <a:off x="400050" y="3495675"/>
            <a:ext cx="235458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50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[3] TimesNet</a:t>
            </a:r>
          </a:p>
        </p:txBody>
      </p:sp>
      <p:sp>
        <p:nvSpPr>
          <p:cNvPr id="17" name="textbox_16">
            <a:extLst>
              <a:ext uri="{FF2B5EF4-FFF2-40B4-BE49-F238E27FC236}">
                <a16:creationId xmlns:a16="http://schemas.microsoft.com/office/drawing/2014/main" id="{DB61C9F5-BA2F-4C3E-B4F6-D562802214F9}"/>
              </a:ext>
            </a:extLst>
          </p:cNvPr>
          <p:cNvSpPr>
            <a:spLocks/>
          </p:cNvSpPr>
          <p:nvPr/>
        </p:nvSpPr>
        <p:spPr>
          <a:xfrm>
            <a:off x="2143125" y="3495675"/>
            <a:ext cx="8943975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30323E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275" b="0">
                <a:solidFill>
                  <a:srgbClr val="30323E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30323E"/>
                </a:solidFill>
                <a:latin typeface="Noto Sans SC"/>
                <a:ea typeface="Noto Sans SC"/>
                <a:cs typeface="Noto Sans SC"/>
              </a:rPr>
              <a:t>Wu et al. TimesNet: Temporal 2D-Variation Modeling for General Time Series Analysis. ICLR 2023.</a:t>
            </a:r>
          </a:p>
        </p:txBody>
      </p:sp>
      <p:sp>
        <p:nvSpPr>
          <p:cNvPr id="18" name="textbox_17">
            <a:extLst>
              <a:ext uri="{FF2B5EF4-FFF2-40B4-BE49-F238E27FC236}">
                <a16:creationId xmlns:a16="http://schemas.microsoft.com/office/drawing/2014/main" id="{7E22C08B-C619-446C-87C2-66011B395284}"/>
              </a:ext>
            </a:extLst>
          </p:cNvPr>
          <p:cNvSpPr>
            <a:spLocks/>
          </p:cNvSpPr>
          <p:nvPr/>
        </p:nvSpPr>
        <p:spPr>
          <a:xfrm>
            <a:off x="2143125" y="4000500"/>
            <a:ext cx="6327934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9C5875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25" b="0">
                <a:solidFill>
                  <a:srgbClr val="9C587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9C5875"/>
                </a:solidFill>
                <a:latin typeface="Noto Sans SC"/>
                <a:ea typeface="Noto Sans SC"/>
                <a:cs typeface="Noto Sans SC"/>
              </a:rPr>
              <a:t>https://openreview.net/forum?id=ju_Uqw384Oq</a:t>
            </a:r>
          </a:p>
        </p:txBody>
      </p:sp>
      <p:sp>
        <p:nvSpPr>
          <p:cNvPr id="19" name="line_18">
            <a:extLst>
              <a:ext uri="{FF2B5EF4-FFF2-40B4-BE49-F238E27FC236}">
                <a16:creationId xmlns:a16="http://schemas.microsoft.com/office/drawing/2014/main" id="{2BA93D53-17C5-4357-9B84-AFF1A31E909D}"/>
              </a:ext>
            </a:extLst>
          </p:cNvPr>
          <p:cNvSpPr>
            <a:spLocks/>
          </p:cNvSpPr>
          <p:nvPr/>
        </p:nvSpPr>
        <p:spPr>
          <a:xfrm>
            <a:off x="390525" y="4591050"/>
            <a:ext cx="10658475" cy="953"/>
          </a:xfrm>
          <a:prstGeom prst="line">
            <a:avLst/>
          </a:prstGeom>
          <a:noFill/>
          <a:ln w="6668">
            <a:solidFill>
              <a:srgbClr val="D8D9E3"/>
            </a:solidFill>
            <a:prstDash val="solid"/>
          </a:ln>
        </p:spPr>
      </p:sp>
      <p:sp>
        <p:nvSpPr>
          <p:cNvPr id="20" name="textbox_19">
            <a:extLst>
              <a:ext uri="{FF2B5EF4-FFF2-40B4-BE49-F238E27FC236}">
                <a16:creationId xmlns:a16="http://schemas.microsoft.com/office/drawing/2014/main" id="{E0FDDD05-7360-4627-9F83-E68F893AC2D5}"/>
              </a:ext>
            </a:extLst>
          </p:cNvPr>
          <p:cNvSpPr>
            <a:spLocks/>
          </p:cNvSpPr>
          <p:nvPr/>
        </p:nvSpPr>
        <p:spPr>
          <a:xfrm>
            <a:off x="409575" y="4743450"/>
            <a:ext cx="10677525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30323E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350" b="0">
                <a:solidFill>
                  <a:srgbClr val="30323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30323E"/>
                </a:solidFill>
                <a:latin typeface="Noto Sans SC"/>
                <a:ea typeface="Noto Sans SC"/>
                <a:cs typeface="Noto Sans SC"/>
              </a:rPr>
              <a:t>内容基础：用户提供的研究路线 V1.0。研究假设、特征口径与算法流程属于本课题设计。等 MAE 图为明确标注的数学教学构造；当前状态</a:t>
            </a:r>
          </a:p>
        </p:txBody>
      </p:sp>
      <p:sp>
        <p:nvSpPr>
          <p:cNvPr id="21" name="textbox_20">
            <a:extLst>
              <a:ext uri="{FF2B5EF4-FFF2-40B4-BE49-F238E27FC236}">
                <a16:creationId xmlns:a16="http://schemas.microsoft.com/office/drawing/2014/main" id="{D7580868-D73E-4D99-8A09-88B7F5A4B7C8}"/>
              </a:ext>
            </a:extLst>
          </p:cNvPr>
          <p:cNvSpPr>
            <a:spLocks/>
          </p:cNvSpPr>
          <p:nvPr/>
        </p:nvSpPr>
        <p:spPr>
          <a:xfrm>
            <a:off x="409575" y="5026343"/>
            <a:ext cx="3355277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30323E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350" b="0">
                <a:solidFill>
                  <a:srgbClr val="30323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30323E"/>
                </a:solidFill>
                <a:latin typeface="Noto Sans SC"/>
                <a:ea typeface="Noto Sans SC"/>
                <a:cs typeface="Noto Sans SC"/>
              </a:rPr>
              <a:t>为既有记录，本次没有生成新的训练结果。</a:t>
            </a:r>
          </a:p>
        </p:txBody>
      </p:sp>
      <p:sp>
        <p:nvSpPr>
          <p:cNvPr id="22" name="line_21">
            <a:extLst>
              <a:ext uri="{FF2B5EF4-FFF2-40B4-BE49-F238E27FC236}">
                <a16:creationId xmlns:a16="http://schemas.microsoft.com/office/drawing/2014/main" id="{F9923164-DC6B-4702-BC16-13752F85A575}"/>
              </a:ext>
            </a:extLst>
          </p:cNvPr>
          <p:cNvSpPr>
            <a:spLocks/>
          </p:cNvSpPr>
          <p:nvPr/>
        </p:nvSpPr>
        <p:spPr>
          <a:xfrm>
            <a:off x="371475" y="5800725"/>
            <a:ext cx="10687050" cy="953"/>
          </a:xfrm>
          <a:prstGeom prst="line">
            <a:avLst/>
          </a:prstGeom>
          <a:noFill/>
          <a:ln w="7620">
            <a:solidFill>
              <a:srgbClr val="D8D9E3"/>
            </a:solidFill>
            <a:prstDash val="solid"/>
          </a:ln>
        </p:spPr>
      </p:sp>
      <p:sp>
        <p:nvSpPr>
          <p:cNvPr id="23" name="rect_22">
            <a:extLst>
              <a:ext uri="{FF2B5EF4-FFF2-40B4-BE49-F238E27FC236}">
                <a16:creationId xmlns:a16="http://schemas.microsoft.com/office/drawing/2014/main" id="{5E01CE13-EA08-46E5-8E73-166555AC7332}"/>
              </a:ext>
            </a:extLst>
          </p:cNvPr>
          <p:cNvSpPr>
            <a:spLocks/>
          </p:cNvSpPr>
          <p:nvPr/>
        </p:nvSpPr>
        <p:spPr>
          <a:xfrm>
            <a:off x="371475" y="5886450"/>
            <a:ext cx="38100" cy="200025"/>
          </a:xfrm>
          <a:prstGeom prst="rect">
            <a:avLst/>
          </a:prstGeom>
          <a:solidFill>
            <a:srgbClr val="9C5875"/>
          </a:solidFill>
          <a:ln w="0">
            <a:noFill/>
            <a:prstDash val="solid"/>
          </a:ln>
        </p:spPr>
      </p:sp>
      <p:sp>
        <p:nvSpPr>
          <p:cNvPr id="24" name="textbox_23">
            <a:extLst>
              <a:ext uri="{FF2B5EF4-FFF2-40B4-BE49-F238E27FC236}">
                <a16:creationId xmlns:a16="http://schemas.microsoft.com/office/drawing/2014/main" id="{EEE499A8-A650-4350-9D17-7BC5E492FC97}"/>
              </a:ext>
            </a:extLst>
          </p:cNvPr>
          <p:cNvSpPr>
            <a:spLocks/>
          </p:cNvSpPr>
          <p:nvPr/>
        </p:nvSpPr>
        <p:spPr>
          <a:xfrm>
            <a:off x="495300" y="5848350"/>
            <a:ext cx="1043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8385B"/>
                </a:solidFill>
                <a:latin typeface="Noto Sans SC"/>
                <a:ea typeface="Noto Sans SC"/>
                <a:cs typeface="Noto Sans SC"/>
              </a:rPr>
              <a:t>图形可以说明方法如何工作；研究结论需要随后真实实验来支持。</a:t>
            </a:r>
          </a:p>
        </p:txBody>
      </p:sp>
      <p:sp>
        <p:nvSpPr>
          <p:cNvPr id="25" name="textbox_24">
            <a:extLst>
              <a:ext uri="{FF2B5EF4-FFF2-40B4-BE49-F238E27FC236}">
                <a16:creationId xmlns:a16="http://schemas.microsoft.com/office/drawing/2014/main" id="{C908A623-9A68-4F89-9544-A0759A871D35}"/>
              </a:ext>
            </a:extLst>
          </p:cNvPr>
          <p:cNvSpPr>
            <a:spLocks/>
          </p:cNvSpPr>
          <p:nvPr/>
        </p:nvSpPr>
        <p:spPr>
          <a:xfrm>
            <a:off x="371475" y="6219825"/>
            <a:ext cx="10287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750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路线 V1.0 · 视觉测试稿 · 研究设计待验证</a:t>
            </a:r>
          </a:p>
        </p:txBody>
      </p:sp>
      <p:sp>
        <p:nvSpPr>
          <p:cNvPr id="26" name="textbox_25">
            <a:extLst>
              <a:ext uri="{FF2B5EF4-FFF2-40B4-BE49-F238E27FC236}">
                <a16:creationId xmlns:a16="http://schemas.microsoft.com/office/drawing/2014/main" id="{4765C05D-526A-475A-B5D8-60F8D55ACD0A}"/>
              </a:ext>
            </a:extLst>
          </p:cNvPr>
          <p:cNvSpPr>
            <a:spLocks/>
          </p:cNvSpPr>
          <p:nvPr/>
        </p:nvSpPr>
        <p:spPr>
          <a:xfrm>
            <a:off x="10620375" y="6191250"/>
            <a:ext cx="428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C7182"/>
                </a:solidFill>
                <a:latin typeface="Noto Sans SC"/>
                <a:ea typeface="Noto Sans SC"/>
                <a:cs typeface="Noto Sans SC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62625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 thruBlk="1"/>
      </p:transition>
    </mc:Choice>
    <mc:Fallback xmlns="">
      <p:transition>
        <p:fade thruBlk="1"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38385B"/>
      </a:dk1>
      <a:lt1>
        <a:srgbClr val="FFFFFF"/>
      </a:lt1>
      <a:dk2>
        <a:srgbClr val="6C7182"/>
      </a:dk2>
      <a:lt2>
        <a:srgbClr val="EEF0F7"/>
      </a:lt2>
      <a:accent1>
        <a:srgbClr val="7884B4"/>
      </a:accent1>
      <a:accent2>
        <a:srgbClr val="9C5875"/>
      </a:accent2>
      <a:accent3>
        <a:srgbClr val="9A754A"/>
      </a:accent3>
      <a:accent4>
        <a:srgbClr val="6A9B91"/>
      </a:accent4>
      <a:accent5>
        <a:srgbClr val="A398C4"/>
      </a:accent5>
      <a:accent6>
        <a:srgbClr val="B9C2DD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Noto Sans SC"/>
        <a:cs typeface=""/>
      </a:majorFont>
      <a:minorFont>
        <a:latin typeface="Arial"/>
        <a:ea typeface="Noto Sans SC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2868</Words>
  <Application>Microsoft Office PowerPoint</Application>
  <DocSecurity>0</DocSecurity>
  <PresentationFormat>自定义</PresentationFormat>
  <Paragraphs>855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7" baseType="lpstr">
      <vt:lpstr>Noto Sans SC</vt:lpstr>
      <vt:lpstr>Source Han Serif SC Heavy</vt:lpstr>
      <vt:lpstr>Aptos</vt:lpstr>
      <vt:lpstr>Georgia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ASUS</cp:lastModifiedBy>
  <cp:revision>3</cp:revision>
  <dcterms:created xsi:type="dcterms:W3CDTF">2026-10-14T10:20:35Z</dcterms:created>
  <dcterms:modified xsi:type="dcterms:W3CDTF">2026-10-14T10:35:01Z</dcterms:modified>
</cp:coreProperties>
</file>